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70" r:id="rId5"/>
    <p:sldId id="262" r:id="rId6"/>
    <p:sldId id="268" r:id="rId7"/>
    <p:sldId id="263" r:id="rId8"/>
    <p:sldId id="264" r:id="rId9"/>
    <p:sldId id="261" r:id="rId10"/>
    <p:sldId id="260" r:id="rId11"/>
    <p:sldId id="271" r:id="rId12"/>
    <p:sldId id="273" r:id="rId13"/>
    <p:sldId id="275" r:id="rId14"/>
    <p:sldId id="266" r:id="rId15"/>
    <p:sldId id="290" r:id="rId16"/>
    <p:sldId id="267" r:id="rId17"/>
    <p:sldId id="269" r:id="rId18"/>
    <p:sldId id="258" r:id="rId19"/>
    <p:sldId id="272" r:id="rId20"/>
    <p:sldId id="2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ndia" initials="i"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3-17T22:11:14.260" idx="1">
    <p:pos x="448" y="785"/>
    <p:tex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0"/>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sz="4400" i="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‘REACHING THE UNREACHED’  </a:t>
            </a:r>
            <a:br>
              <a:rPr lang="en-US" sz="4400" i="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br>
            <a:r>
              <a:rPr lang="en-US" sz="4400" i="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PART II</a:t>
            </a:r>
            <a:br>
              <a:rPr lang="en-US" sz="4400" i="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rPr>
            </a:br>
            <a:endParaRPr lang="en-US" sz="4400" i="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p:txBody>
      </p:sp>
      <p:sp>
        <p:nvSpPr>
          <p:cNvPr id="3" name="Subtitle 2"/>
          <p:cNvSpPr>
            <a:spLocks noGrp="1"/>
          </p:cNvSpPr>
          <p:nvPr>
            <p:ph type="subTitle" idx="1"/>
          </p:nvPr>
        </p:nvSpPr>
        <p:spPr/>
        <p:txBody>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b="1" dirty="0" smtClean="0">
                <a:solidFill>
                  <a:srgbClr val="FF0000"/>
                </a:solidFill>
                <a:effectLst>
                  <a:glow rad="101600">
                    <a:schemeClr val="tx1">
                      <a:alpha val="60000"/>
                    </a:schemeClr>
                  </a:glow>
                </a:effectLst>
                <a:latin typeface="David" panose="020E0502060401010101" pitchFamily="34" charset="-79"/>
                <a:cs typeface="David" panose="020E0502060401010101" pitchFamily="34" charset="-79"/>
                <a:sym typeface="+mn-ea"/>
              </a:rPr>
            </a:br>
            <a:br>
              <a:rPr lang="en-US" b="1" dirty="0" smtClean="0">
                <a:solidFill>
                  <a:srgbClr val="FF0000"/>
                </a:solidFill>
                <a:effectLst>
                  <a:glow rad="101600">
                    <a:schemeClr val="tx1">
                      <a:alpha val="60000"/>
                    </a:schemeClr>
                  </a:glow>
                </a:effectLst>
                <a:latin typeface="David" panose="020E0502060401010101" pitchFamily="34" charset="-79"/>
                <a:cs typeface="David" panose="020E0502060401010101" pitchFamily="34" charset="-79"/>
                <a:sym typeface="+mn-ea"/>
              </a:rPr>
            </a:br>
            <a:r>
              <a:rPr lang="en-US" b="1" dirty="0" smtClean="0">
                <a:solidFill>
                  <a:schemeClr val="accent3"/>
                </a:solidFill>
                <a:effectLst>
                  <a:glow rad="101600">
                    <a:schemeClr val="tx1">
                      <a:alpha val="60000"/>
                    </a:schemeClr>
                  </a:glow>
                </a:effectLst>
                <a:latin typeface="David" panose="020E0502060401010101" pitchFamily="34" charset="-79"/>
                <a:cs typeface="David" panose="020E0502060401010101" pitchFamily="34" charset="-79"/>
                <a:sym typeface="+mn-ea"/>
              </a:rPr>
              <a:t>We need to rely on the Power and Wisdom of God  !</a:t>
            </a:r>
            <a:br>
              <a:rPr lang="en-US" b="1" dirty="0" smtClean="0">
                <a:solidFill>
                  <a:schemeClr val="accent3"/>
                </a:solidFill>
                <a:effectLst>
                  <a:glow rad="101600">
                    <a:schemeClr val="tx1">
                      <a:alpha val="60000"/>
                    </a:schemeClr>
                  </a:glow>
                </a:effectLst>
                <a:latin typeface="David" panose="020E0502060401010101" pitchFamily="34" charset="-79"/>
                <a:cs typeface="David" panose="020E0502060401010101" pitchFamily="34" charset="-79"/>
                <a:sym typeface="+mn-ea"/>
              </a:rPr>
            </a:br>
            <a:endParaRPr lang="en-US" b="1" dirty="0" smtClean="0">
              <a:solidFill>
                <a:schemeClr val="accent3"/>
              </a:solidFill>
              <a:effectLst>
                <a:glow rad="101600">
                  <a:schemeClr val="tx1">
                    <a:alpha val="60000"/>
                  </a:schemeClr>
                </a:glow>
              </a:effectLst>
              <a:latin typeface="David" panose="020E0502060401010101" pitchFamily="34" charset="-79"/>
              <a:cs typeface="David" panose="020E0502060401010101" pitchFamily="34" charset="-79"/>
              <a:sym typeface="+mn-ea"/>
            </a:endParaRPr>
          </a:p>
        </p:txBody>
      </p:sp>
      <p:sp>
        <p:nvSpPr>
          <p:cNvPr id="3" name="Content Placeholder 2"/>
          <p:cNvSpPr/>
          <p:nvPr>
            <p:ph idx="1"/>
          </p:nvPr>
        </p:nvSpPr>
        <p:spPr/>
        <p:txBody>
          <a:bodyPr/>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PRAYER is the priority......</a:t>
            </a:r>
            <a:endPar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A </a:t>
            </a:r>
            <a:r>
              <a:rPr lang="en-US" b="1" noProof="0" dirty="0" err="1"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Counsellor</a:t>
            </a:r>
            <a:r>
              <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  needs to rely on the Power &amp; Wisdom and Counsel of God .......</a:t>
            </a:r>
            <a:endParaRPr kumimoji="0" lang="en-US" b="1" i="0" u="none" strike="noStrike" kern="1200" cap="none" spc="0" normalizeH="0" baseline="0" noProof="0" dirty="0" smtClean="0">
              <a:ln>
                <a:noFill/>
              </a:ln>
              <a:solidFill>
                <a:schemeClr val="accent1">
                  <a:lumMod val="50000"/>
                </a:schemeClr>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So also an Evangelist .......</a:t>
            </a:r>
            <a:endParaRPr kumimoji="0" lang="en-US" b="1" i="0" u="none" strike="noStrike" kern="1200" cap="none" spc="0" normalizeH="0" baseline="0" noProof="0" dirty="0" smtClean="0">
              <a:ln>
                <a:noFill/>
              </a:ln>
              <a:solidFill>
                <a:schemeClr val="accent1">
                  <a:lumMod val="50000"/>
                </a:schemeClr>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‘My knowledge lacks God’s power but God’s knowledge </a:t>
            </a:r>
            <a:endPar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    comes </a:t>
            </a:r>
            <a:r>
              <a:rPr lang="en-US" b="1" i="1" u="sng"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with His</a:t>
            </a:r>
            <a:r>
              <a:rPr lang="en-US" b="1" noProof="0" dirty="0" smtClean="0">
                <a:ln>
                  <a:noFill/>
                </a:ln>
                <a:solidFill>
                  <a:schemeClr val="accent1">
                    <a:lumMod val="50000"/>
                  </a:schemeClr>
                </a:solidFill>
                <a:effectLst/>
                <a:uLnTx/>
                <a:uFillTx/>
                <a:latin typeface="Baskerville Old Face" panose="02020602080505020303" pitchFamily="18" charset="0"/>
                <a:cs typeface="Baskerville Old Face" panose="02020602080505020303" pitchFamily="18" charset="0"/>
                <a:sym typeface="+mn-ea"/>
              </a:rPr>
              <a:t> power.		        Rev Isaac Johnson</a:t>
            </a:r>
            <a:endParaRPr kumimoji="0" lang="en-US" b="1" i="0" u="none" strike="noStrike" kern="1200" cap="none" spc="0" normalizeH="0" baseline="0" noProof="0" dirty="0">
              <a:ln>
                <a:noFill/>
              </a:ln>
              <a:solidFill>
                <a:schemeClr val="accent1">
                  <a:lumMod val="50000"/>
                </a:schemeClr>
              </a:solidFill>
              <a:effectLst/>
              <a:uLnTx/>
              <a:uFillTx/>
              <a:latin typeface="Baskerville Old Face" panose="02020602080505020303" pitchFamily="18" charset="0"/>
              <a:ea typeface="+mn-ea"/>
              <a:cs typeface="Baskerville Old Face" panose="02020602080505020303" pitchFamily="18" charset="0"/>
            </a:endParaRPr>
          </a:p>
          <a:p>
            <a:endParaRPr lang="en-US">
              <a:latin typeface="Baskerville Old Face" panose="02020602080505020303" pitchFamily="18" charset="0"/>
              <a:cs typeface="Baskerville Old Face" panose="02020602080505020303" pitchFamily="18" charset="0"/>
            </a:endParaRPr>
          </a:p>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i="1">
                <a:solidFill>
                  <a:srgbClr val="FF0000"/>
                </a:solidFill>
                <a:latin typeface="Baskerville Old Face" panose="02020602080505020303" pitchFamily="18" charset="0"/>
                <a:cs typeface="Baskerville Old Face" panose="02020602080505020303" pitchFamily="18" charset="0"/>
              </a:rPr>
              <a:t>ESSENTIAL QUALITIES OF A </a:t>
            </a:r>
            <a:br>
              <a:rPr lang="en-US" i="1">
                <a:solidFill>
                  <a:srgbClr val="FF0000"/>
                </a:solidFill>
                <a:latin typeface="Baskerville Old Face" panose="02020602080505020303" pitchFamily="18" charset="0"/>
                <a:cs typeface="Baskerville Old Face" panose="02020602080505020303" pitchFamily="18" charset="0"/>
              </a:rPr>
            </a:br>
            <a:r>
              <a:rPr lang="en-US" i="1">
                <a:solidFill>
                  <a:srgbClr val="FF0000"/>
                </a:solidFill>
                <a:latin typeface="Baskerville Old Face" panose="02020602080505020303" pitchFamily="18" charset="0"/>
                <a:cs typeface="Baskerville Old Face" panose="02020602080505020303" pitchFamily="18" charset="0"/>
              </a:rPr>
              <a:t>CHRISTIAN COUNSELLOR &amp; EVANGELIST</a:t>
            </a:r>
            <a:endParaRPr lang="en-US" i="1">
              <a:solidFill>
                <a:srgbClr val="FF0000"/>
              </a:solidFill>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p:txBody>
          <a:bodyPr/>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GOOD LISTENER </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ETHICAL </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TRUST &amp; CONFIDENTIALITY</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EMPATHETIC </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GENUINENESS</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KEEPING PACE </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OPEN  MINDED</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UN BIASED</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NON JUDGEMENTAL</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CHEERFUL  DISPOSITION </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PERSONAL WARMTH </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v"/>
              <a:defRPr/>
            </a:pPr>
            <a:r>
              <a:rPr lang="en-US" sz="2000" b="1" i="1" noProof="0" dirty="0" smtClean="0">
                <a:ln>
                  <a:noFill/>
                </a:ln>
                <a:solidFill>
                  <a:schemeClr val="accent1">
                    <a:lumMod val="50000"/>
                  </a:schemeClr>
                </a:solidFill>
                <a:effectLst/>
                <a:uLnTx/>
                <a:uFillTx/>
                <a:sym typeface="+mn-ea"/>
              </a:rPr>
              <a:t>APPROACHABILITY</a:t>
            </a:r>
            <a:endParaRPr kumimoji="0" lang="en-US" sz="2000" b="1" i="1" u="none" strike="noStrike" kern="1200" cap="none" spc="0" normalizeH="0" baseline="0" noProof="0" dirty="0" smtClean="0">
              <a:ln>
                <a:noFill/>
              </a:ln>
              <a:solidFill>
                <a:schemeClr val="accent1">
                  <a:lumMod val="50000"/>
                </a:schemeClr>
              </a:solidFill>
              <a:effectLst/>
              <a:uLnTx/>
              <a:uFillTx/>
              <a:latin typeface="+mn-lt"/>
              <a:ea typeface="+mn-ea"/>
              <a:cs typeface="+mn-cs"/>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endParaRPr kumimoji="0" lang="en-US" sz="2000" b="1" i="0" u="none" strike="noStrike" kern="1200" cap="none" spc="0" normalizeH="0" baseline="0" noProof="0" dirty="0" smtClean="0">
              <a:ln>
                <a:noFill/>
              </a:ln>
              <a:solidFill>
                <a:schemeClr val="tx2"/>
              </a:solidFill>
              <a:effectLst/>
              <a:uLnTx/>
              <a:uFillTx/>
              <a:latin typeface="+mn-lt"/>
              <a:ea typeface="+mn-ea"/>
              <a:cs typeface="+mn-cs"/>
            </a:endParaRPr>
          </a:p>
          <a:p>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91160"/>
            <a:ext cx="10972800" cy="783590"/>
          </a:xfrm>
        </p:spPr>
        <p:txBody>
          <a:bodyPr/>
          <a:p>
            <a:pPr algn="ctr"/>
            <a:r>
              <a:rPr lang="en-US">
                <a:solidFill>
                  <a:srgbClr val="FF0000"/>
                </a:solidFill>
                <a:latin typeface="Baskerville Old Face" panose="02020602080505020303" pitchFamily="18" charset="0"/>
                <a:cs typeface="Baskerville Old Face" panose="02020602080505020303" pitchFamily="18" charset="0"/>
              </a:rPr>
              <a:t>ETHICS of a Counsellor/Evangelist</a:t>
            </a:r>
            <a:endParaRPr lang="en-US">
              <a:solidFill>
                <a:srgbClr val="FF0000"/>
              </a:solidFill>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p:txBody>
          <a:bodyPr/>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endPar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DO NOT TAKE GIFTS/FAVOURS  from the </a:t>
            </a:r>
            <a:r>
              <a:rPr lang="en-US" sz="2400" b="1" noProof="0" dirty="0" err="1" smtClean="0">
                <a:ln>
                  <a:noFill/>
                </a:ln>
                <a:solidFill>
                  <a:srgbClr val="FF0000"/>
                </a:solidFill>
                <a:effectLst/>
                <a:uLnTx/>
                <a:uFillTx/>
                <a:latin typeface="Times New Roman" panose="02020603050405020304" pitchFamily="18" charset="0"/>
                <a:cs typeface="Times New Roman" panose="02020603050405020304" pitchFamily="18" charset="0"/>
                <a:sym typeface="+mn-ea"/>
              </a:rPr>
              <a:t>Counsellee</a:t>
            </a: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/Client</a:t>
            </a:r>
            <a:endParaRPr kumimoji="0" 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DO NOT USE THE GOOD OFFICES OF CLIENT FOR YOUR BENEFIT</a:t>
            </a:r>
            <a:endParaRPr kumimoji="0" 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DO NOT  PROMOTE MARKETING OR BUSINESS THROUGH CLIENT </a:t>
            </a:r>
            <a:endParaRPr kumimoji="0" 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50000"/>
              </a:lnSpc>
              <a:spcBef>
                <a:spcPts val="600"/>
              </a:spcBef>
              <a:spcAft>
                <a:spcPts val="0"/>
              </a:spcAft>
              <a:buClr>
                <a:schemeClr val="accent1"/>
              </a:buClr>
              <a:buSzPct val="70000"/>
              <a:buFont typeface="Wingdings" panose="05000000000000000000"/>
              <a:buChar char=""/>
              <a:defRPr/>
            </a:pP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MAINTAIN PROFESSIONAL DISTANCE</a:t>
            </a:r>
            <a:endParaRPr kumimoji="0" 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AVOID attending SOCIAL FUNCTIONS with </a:t>
            </a:r>
            <a:r>
              <a:rPr lang="en-US" sz="2400" b="1" noProof="0" dirty="0" err="1" smtClean="0">
                <a:ln>
                  <a:noFill/>
                </a:ln>
                <a:solidFill>
                  <a:srgbClr val="FF0000"/>
                </a:solidFill>
                <a:effectLst/>
                <a:uLnTx/>
                <a:uFillTx/>
                <a:latin typeface="Times New Roman" panose="02020603050405020304" pitchFamily="18" charset="0"/>
                <a:cs typeface="Times New Roman" panose="02020603050405020304" pitchFamily="18" charset="0"/>
                <a:sym typeface="+mn-ea"/>
              </a:rPr>
              <a:t>Counsellee</a:t>
            </a:r>
            <a:endParaRPr kumimoji="0" 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AVOID PERSONAL RELATIONSHIPS WITH COUNSELLEE</a:t>
            </a:r>
            <a:endParaRPr kumimoji="0" 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DO NOT EXPLOIT YOUR CLIENT IN ANY WAY, PSYCHOLOGICALLY, PHYSICALLY OR SOCIALLY ….</a:t>
            </a:r>
            <a:endParaRPr lang="en-US" sz="24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i="1" cap="small"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br>
            <a:r>
              <a:rPr lang="en-US" sz="4000" i="1" cap="small"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TRUST &amp; CONFIDENTIALITY</a:t>
            </a:r>
            <a:endParaRPr lang="en-US" sz="4000" i="1" cap="small"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endParaRPr>
          </a:p>
        </p:txBody>
      </p:sp>
      <p:sp>
        <p:nvSpPr>
          <p:cNvPr id="3" name="Content Placeholder 2"/>
          <p:cNvSpPr>
            <a:spLocks noGrp="1"/>
          </p:cNvSpPr>
          <p:nvPr>
            <p:ph sz="half" idx="1"/>
          </p:nvPr>
        </p:nvSpPr>
        <p:spPr>
          <a:xfrm>
            <a:off x="609600" y="1174750"/>
            <a:ext cx="11325225" cy="4953000"/>
          </a:xfrm>
        </p:spPr>
        <p:txBody>
          <a:bodyPr/>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a:t>
            </a:r>
            <a:endPar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Build trust with the </a:t>
            </a:r>
            <a:r>
              <a:rPr lang="en-US" b="1" noProof="0" dirty="0" err="1"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counsellee</a:t>
            </a: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  it is important to keep building on it </a:t>
            </a:r>
            <a:endParaRPr kumimoji="0" lang="en-US" b="1" i="0" u="none" strike="noStrike" kern="1200" cap="none" spc="0" normalizeH="0" baseline="0" noProof="0" dirty="0" smtClean="0">
              <a:ln>
                <a:noFill/>
              </a:ln>
              <a:solidFill>
                <a:schemeClr val="accent1">
                  <a:lumMod val="75000"/>
                </a:schemeClr>
              </a:solidFill>
              <a:effectLst/>
              <a:uLnTx/>
              <a:uFillTx/>
              <a:latin typeface="Baskerville Old Face" panose="02020602080505020303" pitchFamily="18" charset="0"/>
              <a:ea typeface="+mn-ea"/>
              <a:cs typeface="Baskerville Old Face" panose="02020602080505020303" pitchFamily="18" charset="0"/>
            </a:endParaRPr>
          </a:p>
          <a:p>
            <a:pPr marL="731520" marR="0" lvl="1"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err="1"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Counsellor</a:t>
            </a: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should maintain CONFIDENTIALITY at all times …</a:t>
            </a:r>
            <a:endParaRPr kumimoji="0" lang="en-US" b="1" i="0" u="none" strike="noStrike" kern="1200" cap="none" spc="0" normalizeH="0" baseline="0" noProof="0" dirty="0" smtClean="0">
              <a:ln>
                <a:noFill/>
              </a:ln>
              <a:solidFill>
                <a:schemeClr val="accent1">
                  <a:lumMod val="75000"/>
                </a:schemeClr>
              </a:solidFill>
              <a:effectLst/>
              <a:uLnTx/>
              <a:uFillTx/>
              <a:latin typeface="Baskerville Old Face" panose="02020602080505020303" pitchFamily="18" charset="0"/>
              <a:ea typeface="+mn-ea"/>
              <a:cs typeface="Baskerville Old Face" panose="02020602080505020303" pitchFamily="18" charset="0"/>
            </a:endParaRPr>
          </a:p>
          <a:p>
            <a:pPr marL="731520" marR="0" lvl="1"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Assure the </a:t>
            </a:r>
            <a:r>
              <a:rPr lang="en-US" b="1" noProof="0" dirty="0" err="1"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counsellee</a:t>
            </a: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that none of the conversations would be leaked out </a:t>
            </a:r>
            <a:endParaRPr kumimoji="0" lang="en-US" b="1" i="0" u="none" strike="noStrike" kern="1200" cap="none" spc="0" normalizeH="0" baseline="0" noProof="0" dirty="0" smtClean="0">
              <a:ln>
                <a:noFill/>
              </a:ln>
              <a:solidFill>
                <a:schemeClr val="accent1">
                  <a:lumMod val="75000"/>
                </a:schemeClr>
              </a:solidFill>
              <a:effectLst/>
              <a:uLnTx/>
              <a:uFillTx/>
              <a:latin typeface="Baskerville Old Face" panose="02020602080505020303" pitchFamily="18" charset="0"/>
              <a:ea typeface="+mn-ea"/>
              <a:cs typeface="Baskerville Old Face" panose="02020602080505020303" pitchFamily="18" charset="0"/>
            </a:endParaRPr>
          </a:p>
          <a:p>
            <a:pPr marL="731520" marR="0" lvl="1"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Maintain </a:t>
            </a:r>
            <a:r>
              <a:rPr lang="en-US" b="1" noProof="0" dirty="0" err="1"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confidentality</a:t>
            </a: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of </a:t>
            </a:r>
            <a:r>
              <a:rPr lang="en-US" b="1" noProof="0" dirty="0" err="1"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counselling</a:t>
            </a: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sessions</a:t>
            </a:r>
            <a:endParaRPr kumimoji="0" lang="en-US" b="1" i="0" u="none" strike="noStrike" kern="1200" cap="none" spc="0" normalizeH="0" baseline="0" noProof="0" dirty="0" smtClean="0">
              <a:ln>
                <a:noFill/>
              </a:ln>
              <a:solidFill>
                <a:schemeClr val="accent1">
                  <a:lumMod val="75000"/>
                </a:schemeClr>
              </a:solidFill>
              <a:effectLst/>
              <a:uLnTx/>
              <a:uFillTx/>
              <a:latin typeface="Baskerville Old Face" panose="02020602080505020303" pitchFamily="18" charset="0"/>
              <a:ea typeface="+mn-ea"/>
              <a:cs typeface="Baskerville Old Face" panose="02020602080505020303" pitchFamily="18" charset="0"/>
            </a:endParaRPr>
          </a:p>
          <a:p>
            <a:pPr marL="731520" marR="0" lvl="1"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Not </a:t>
            </a:r>
            <a:r>
              <a:rPr lang="en-US" b="1" noProof="0" dirty="0" err="1"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adviseable</a:t>
            </a: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 to share prayer request in prayer groups.</a:t>
            </a:r>
            <a:endParaRPr kumimoji="0" lang="en-US" b="1" i="0" u="none" strike="noStrike" kern="1200" cap="none" spc="0" normalizeH="0" baseline="0" noProof="0" dirty="0" smtClean="0">
              <a:ln>
                <a:noFill/>
              </a:ln>
              <a:solidFill>
                <a:schemeClr val="accent1">
                  <a:lumMod val="75000"/>
                </a:schemeClr>
              </a:solidFill>
              <a:effectLst/>
              <a:uLnTx/>
              <a:uFillTx/>
              <a:latin typeface="Baskerville Old Face" panose="02020602080505020303" pitchFamily="18" charset="0"/>
              <a:ea typeface="+mn-ea"/>
              <a:cs typeface="Baskerville Old Face" panose="02020602080505020303" pitchFamily="18" charset="0"/>
            </a:endParaRPr>
          </a:p>
          <a:p>
            <a:pPr marL="731520" marR="0" lvl="1"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chemeClr val="accent1">
                    <a:lumMod val="75000"/>
                  </a:schemeClr>
                </a:solidFill>
                <a:effectLst/>
                <a:uLnTx/>
                <a:uFillTx/>
                <a:latin typeface="Baskerville Old Face" panose="02020602080505020303" pitchFamily="18" charset="0"/>
                <a:cs typeface="Baskerville Old Face" panose="02020602080505020303" pitchFamily="18" charset="0"/>
                <a:sym typeface="+mn-ea"/>
              </a:rPr>
              <a:t>Be cautious about Self-disclosure</a:t>
            </a:r>
            <a:endParaRPr kumimoji="0" lang="en-US" b="1" i="0" u="none" strike="noStrike" kern="1200" cap="none" spc="0" normalizeH="0" baseline="0" noProof="0" dirty="0" smtClean="0">
              <a:ln>
                <a:noFill/>
              </a:ln>
              <a:solidFill>
                <a:schemeClr val="accent1">
                  <a:lumMod val="75000"/>
                </a:schemeClr>
              </a:solidFill>
              <a:effectLst/>
              <a:uLnTx/>
              <a:uFillTx/>
              <a:latin typeface="Baskerville Old Face" panose="02020602080505020303" pitchFamily="18" charset="0"/>
              <a:ea typeface="+mn-ea"/>
              <a:cs typeface="Baskerville Old Face" panose="02020602080505020303" pitchFamily="18" charset="0"/>
            </a:endParaRPr>
          </a:p>
          <a:p>
            <a:endParaRPr lang="en-US">
              <a:latin typeface="Baskerville Old Face" panose="02020602080505020303" pitchFamily="18" charset="0"/>
              <a:cs typeface="Baskerville Old Face" panose="02020602080505020303" pitchFamily="18" charset="0"/>
            </a:endParaRPr>
          </a:p>
        </p:txBody>
      </p:sp>
      <p:pic>
        <p:nvPicPr>
          <p:cNvPr id="5" name="Content Placeholder 4" descr="images.png"/>
          <p:cNvPicPr>
            <a:picLocks noChangeAspect="1"/>
          </p:cNvPicPr>
          <p:nvPr>
            <p:ph sz="half" idx="2"/>
          </p:nvPr>
        </p:nvPicPr>
        <p:blipFill>
          <a:blip r:embed="rId1" cstate="print"/>
          <a:stretch>
            <a:fillRect/>
          </a:stretch>
        </p:blipFill>
        <p:spPr>
          <a:xfrm>
            <a:off x="7379335" y="190500"/>
            <a:ext cx="3341370" cy="1460500"/>
          </a:xfrm>
          <a:prstGeom prst="rect">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655320"/>
            <a:ext cx="10972800" cy="1248410"/>
          </a:xfrm>
        </p:spPr>
        <p:txBody>
          <a:bodyPr/>
          <a:p>
            <a:pPr algn="ctr"/>
            <a:r>
              <a:rPr lang="en-US" u="sng">
                <a:solidFill>
                  <a:srgbClr val="FF0000"/>
                </a:solidFill>
                <a:latin typeface="Baskerville Old Face" panose="02020602080505020303" pitchFamily="18" charset="0"/>
                <a:cs typeface="Baskerville Old Face" panose="02020602080505020303" pitchFamily="18" charset="0"/>
              </a:rPr>
              <a:t>GENUINENESS</a:t>
            </a:r>
            <a:endParaRPr lang="en-US" u="sng">
              <a:solidFill>
                <a:srgbClr val="FF0000"/>
              </a:solidFill>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a:xfrm>
            <a:off x="609600" y="2094230"/>
            <a:ext cx="10972800" cy="4033520"/>
          </a:xfrm>
        </p:spPr>
        <p:txBody>
          <a:bodyPr/>
          <a:p>
            <a:endParaRPr lang="en-US"/>
          </a:p>
        </p:txBody>
      </p:sp>
      <p:sp>
        <p:nvSpPr>
          <p:cNvPr id="4" name="Text Box 3"/>
          <p:cNvSpPr txBox="1"/>
          <p:nvPr/>
        </p:nvSpPr>
        <p:spPr>
          <a:xfrm>
            <a:off x="694055" y="2093595"/>
            <a:ext cx="10026015" cy="3491865"/>
          </a:xfrm>
          <a:prstGeom prst="rect">
            <a:avLst/>
          </a:prstGeom>
          <a:noFill/>
        </p:spPr>
        <p:txBody>
          <a:bodyPr wrap="square" rtlCol="0" anchor="t">
            <a:spAutoFit/>
          </a:bodyPr>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The Importance of </a:t>
            </a:r>
            <a:r>
              <a:rPr lang="en-US" sz="2800" b="1" u="sng"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Genuineness </a:t>
            </a: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in </a:t>
            </a:r>
            <a:r>
              <a:rPr lang="en-US" sz="2800" b="1" noProof="0" dirty="0" err="1"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Counselling</a:t>
            </a: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was pointed out both by Rogers and </a:t>
            </a:r>
            <a:r>
              <a:rPr lang="en-US" sz="2800" b="1" noProof="0" dirty="0" err="1"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Truax</a:t>
            </a: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(1967) </a:t>
            </a:r>
            <a:endParaRPr kumimoji="0" lang="en-US" sz="2800"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en-US" sz="2800"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It is the </a:t>
            </a:r>
            <a:r>
              <a:rPr lang="en-US" sz="2800" b="1" u="sng"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INTENT</a:t>
            </a: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rather than a Public Front , </a:t>
            </a:r>
            <a:endPar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the INTENTION has to be genuine.</a:t>
            </a:r>
            <a:endParaRPr kumimoji="0" lang="en-US" sz="2800"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a:t>
            </a:r>
            <a:endParaRPr lang="en-US" sz="28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48080"/>
          </a:xfrm>
        </p:spPr>
        <p:txBody>
          <a:bodyPr/>
          <a:p>
            <a:pPr algn="ctr"/>
            <a:br>
              <a:rPr lang="en-US" b="1" cap="small" noProof="0" dirty="0" smtClean="0">
                <a:ln>
                  <a:noFill/>
                </a:ln>
                <a:solidFill>
                  <a:srgbClr val="C00000"/>
                </a:solidFill>
                <a:effectLst/>
                <a:uLnTx/>
                <a:uFillTx/>
                <a:sym typeface="+mn-ea"/>
              </a:rPr>
            </a:br>
            <a:br>
              <a:rPr lang="en-US" b="1" cap="small" noProof="0" dirty="0" smtClean="0">
                <a:ln>
                  <a:noFill/>
                </a:ln>
                <a:solidFill>
                  <a:srgbClr val="C00000"/>
                </a:solidFill>
                <a:effectLst/>
                <a:uLnTx/>
                <a:uFillTx/>
                <a:sym typeface="+mn-ea"/>
              </a:rPr>
            </a:br>
            <a:r>
              <a:rPr lang="en-US" b="1" i="1" cap="small" noProof="0" dirty="0" smtClean="0">
                <a:ln>
                  <a:noFill/>
                </a:ln>
                <a:solidFill>
                  <a:srgbClr val="C00000"/>
                </a:solidFill>
                <a:effectLst/>
                <a:uLnTx/>
                <a:uFillTx/>
                <a:latin typeface="Baskerville Old Face" panose="02020602080505020303" pitchFamily="18" charset="0"/>
                <a:cs typeface="Baskerville Old Face" panose="02020602080505020303" pitchFamily="18" charset="0"/>
                <a:sym typeface="+mn-ea"/>
              </a:rPr>
              <a:t>ATTITUDE </a:t>
            </a:r>
            <a:br>
              <a:rPr kumimoji="0" lang="en-US" b="1" i="1" u="none" strike="noStrike" kern="1200" cap="small" spc="0" normalizeH="0" baseline="0" noProof="0" dirty="0">
                <a:ln>
                  <a:noFill/>
                </a:ln>
                <a:solidFill>
                  <a:srgbClr val="C00000"/>
                </a:solidFill>
                <a:effectLst/>
                <a:uLnTx/>
                <a:uFillTx/>
                <a:latin typeface="Baskerville Old Face" panose="02020602080505020303" pitchFamily="18" charset="0"/>
                <a:ea typeface="+mj-ea"/>
                <a:cs typeface="Baskerville Old Face" panose="02020602080505020303" pitchFamily="18" charset="0"/>
              </a:rPr>
            </a:br>
            <a:endParaRPr lang="en-US" i="1">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p:txBody>
          <a:bodyPr/>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lang="en-US" b="1" noProof="0" dirty="0" smtClean="0">
              <a:ln>
                <a:noFill/>
              </a:ln>
              <a:solidFill>
                <a:srgbClr val="FF0000"/>
              </a:solidFill>
              <a:effectLst/>
              <a:uLnTx/>
              <a:uFillTx/>
              <a:sym typeface="+mn-ea"/>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Respect the </a:t>
            </a:r>
            <a:r>
              <a:rPr lang="en-US" b="1" noProof="0" dirty="0" err="1"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counsellee</a:t>
            </a: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Be OPEN  MINDED</a:t>
            </a: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UN BIASED</a:t>
            </a: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NON JUDGEMENTAL</a:t>
            </a: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No ‘I’m OK, you’re NOT OK’  attitude </a:t>
            </a: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No Superiority Complex </a:t>
            </a: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 Our Self- worth is in Christ</a:t>
            </a: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en-US"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endParaRPr lang="en-US"/>
          </a:p>
        </p:txBody>
      </p:sp>
      <p:sp>
        <p:nvSpPr>
          <p:cNvPr id="3" name="Content Placeholder 2"/>
          <p:cNvSpPr>
            <a:spLocks noGrp="1"/>
          </p:cNvSpPr>
          <p:nvPr>
            <p:ph sz="half" idx="1"/>
          </p:nvPr>
        </p:nvSpPr>
        <p:spPr>
          <a:xfrm>
            <a:off x="609600" y="1174750"/>
            <a:ext cx="10848340" cy="4953000"/>
          </a:xfrm>
        </p:spPr>
        <p:txBody>
          <a:bodyPr/>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3200" b="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CHEERFUL  DISPOSITION </a:t>
            </a:r>
            <a:endParaRPr kumimoji="0" lang="en-US" sz="3200" b="1" i="0"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endParaRPr kumimoji="0" lang="en-US" sz="3200" b="1" i="0" u="none" strike="noStrike" kern="1200" cap="small" spc="0" normalizeH="0" baseline="0" noProof="0" dirty="0" smtClean="0">
              <a:ln>
                <a:noFill/>
              </a:ln>
              <a:solidFill>
                <a:srgbClr val="FF0000"/>
              </a:solidFill>
              <a:effectLst/>
              <a:uLnTx/>
              <a:uFillTx/>
              <a:latin typeface="+mn-lt"/>
              <a:ea typeface="+mn-ea"/>
              <a:cs typeface="+mn-cs"/>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r>
              <a:rPr lang="en-US" sz="3200" b="1" cap="small" noProof="0" dirty="0" smtClean="0">
                <a:ln>
                  <a:noFill/>
                </a:ln>
                <a:solidFill>
                  <a:srgbClr val="FF0000"/>
                </a:solidFill>
                <a:effectLst/>
                <a:uLnTx/>
                <a:uFillTx/>
                <a:sym typeface="+mn-ea"/>
              </a:rPr>
              <a:t> </a:t>
            </a:r>
            <a:endParaRPr kumimoji="0" lang="en-US" sz="3200" b="0" i="0" u="none" strike="noStrike" kern="1200" cap="small" spc="0" normalizeH="0" baseline="0" noProof="0" dirty="0" smtClean="0">
              <a:ln>
                <a:noFill/>
              </a:ln>
              <a:solidFill>
                <a:srgbClr val="FF0000"/>
              </a:solidFill>
              <a:effectLst/>
              <a:uLnTx/>
              <a:uFillTx/>
              <a:latin typeface="+mn-lt"/>
              <a:ea typeface="+mn-ea"/>
              <a:cs typeface="+mn-cs"/>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endParaRPr kumimoji="0" lang="en-US" sz="3200" b="0" i="0" u="none" strike="noStrike" kern="1200" cap="small" spc="0" normalizeH="0" baseline="0" noProof="0" dirty="0" smtClean="0">
              <a:ln>
                <a:noFill/>
              </a:ln>
              <a:solidFill>
                <a:srgbClr val="FF0000"/>
              </a:solidFill>
              <a:effectLst/>
              <a:uLnTx/>
              <a:uFillTx/>
              <a:latin typeface="+mn-lt"/>
              <a:ea typeface="+mn-ea"/>
              <a:cs typeface="+mn-cs"/>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endParaRPr kumimoji="0" lang="en-US" sz="3200" b="0" i="0" u="none" strike="noStrike" kern="1200" cap="small" spc="0" normalizeH="0" baseline="0" noProof="0" dirty="0" smtClean="0">
              <a:ln>
                <a:noFill/>
              </a:ln>
              <a:solidFill>
                <a:srgbClr val="FF0000"/>
              </a:solidFill>
              <a:effectLst/>
              <a:uLnTx/>
              <a:uFillTx/>
              <a:latin typeface="+mn-lt"/>
              <a:ea typeface="+mn-ea"/>
              <a:cs typeface="+mn-cs"/>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endParaRPr kumimoji="0" lang="en-US" sz="3200" b="0" i="0" u="none" strike="noStrike" kern="1200" cap="small" spc="0" normalizeH="0" baseline="0" noProof="0" dirty="0" smtClean="0">
              <a:ln>
                <a:noFill/>
              </a:ln>
              <a:solidFill>
                <a:srgbClr val="FF0000"/>
              </a:solidFill>
              <a:effectLst/>
              <a:uLnTx/>
              <a:uFillTx/>
              <a:latin typeface="+mn-lt"/>
              <a:ea typeface="+mn-ea"/>
              <a:cs typeface="+mn-cs"/>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endParaRPr kumimoji="0" lang="en-US" sz="3200" b="0" i="0" u="none" strike="noStrike" kern="1200" cap="small" spc="0" normalizeH="0" baseline="0" noProof="0" dirty="0" smtClean="0">
              <a:ln>
                <a:noFill/>
              </a:ln>
              <a:solidFill>
                <a:srgbClr val="FF0000"/>
              </a:solidFill>
              <a:effectLst/>
              <a:uLnTx/>
              <a:uFillTx/>
              <a:latin typeface="+mn-lt"/>
              <a:ea typeface="+mn-ea"/>
              <a:cs typeface="+mn-cs"/>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r>
              <a:rPr lang="en-US" sz="3200" b="1" cap="small" noProof="0" dirty="0" smtClean="0">
                <a:ln>
                  <a:noFill/>
                </a:ln>
                <a:solidFill>
                  <a:srgbClr val="FF0000"/>
                </a:solidFill>
                <a:effectLst/>
                <a:uLnTx/>
                <a:uFillTx/>
                <a:sym typeface="+mn-ea"/>
              </a:rPr>
              <a:t>                             </a:t>
            </a:r>
            <a:r>
              <a:rPr lang="en-US" sz="3200" b="1" cap="small"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PERSONAL WARMTH</a:t>
            </a:r>
            <a:endParaRPr kumimoji="0" lang="en-US" sz="3200" b="1" i="0" u="none" strike="noStrike" kern="1200" cap="small"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en-US" sz="3200" b="0" i="0" u="none" strike="noStrike" kern="1200" cap="none" spc="0" normalizeH="0" baseline="0" noProof="0" dirty="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endParaRPr kumimoji="0" lang="en-US" sz="3200" b="0" i="0" u="none" strike="noStrike" kern="1200" cap="small" spc="0" normalizeH="0" baseline="0" noProof="0" dirty="0" smtClean="0">
              <a:ln>
                <a:noFill/>
              </a:ln>
              <a:solidFill>
                <a:schemeClr val="accent3"/>
              </a:solidFill>
              <a:effectLst/>
              <a:uLnTx/>
              <a:uFillTx/>
              <a:latin typeface="+mn-lt"/>
              <a:ea typeface="+mn-ea"/>
              <a:cs typeface="+mn-cs"/>
            </a:endParaRPr>
          </a:p>
          <a:p>
            <a:pPr marL="2286000" marR="0" lvl="7" indent="-182880" algn="l" defTabSz="914400" rtl="0" eaLnBrk="1" fontAlgn="auto" latinLnBrk="0" hangingPunct="1">
              <a:lnSpc>
                <a:spcPct val="100000"/>
              </a:lnSpc>
              <a:spcBef>
                <a:spcPct val="20000"/>
              </a:spcBef>
              <a:spcAft>
                <a:spcPts val="0"/>
              </a:spcAft>
              <a:buClr>
                <a:schemeClr val="accent2"/>
              </a:buClr>
              <a:buSzTx/>
              <a:buFontTx/>
              <a:buNone/>
              <a:defRPr/>
            </a:pPr>
            <a:r>
              <a:rPr lang="en-US" sz="3200" b="1" cap="small" noProof="0" dirty="0" smtClean="0">
                <a:ln>
                  <a:noFill/>
                </a:ln>
                <a:solidFill>
                  <a:schemeClr val="accent3"/>
                </a:solidFill>
                <a:effectLst/>
                <a:uLnTx/>
                <a:uFillTx/>
                <a:sym typeface="+mn-ea"/>
              </a:rPr>
              <a:t>* PERSONAL WARMTH</a:t>
            </a:r>
            <a:endParaRPr kumimoji="0" lang="en-US" sz="3200" b="1" i="0" u="none" strike="noStrike" kern="1200" cap="small" spc="0" normalizeH="0" baseline="0" noProof="0" dirty="0" smtClean="0">
              <a:ln>
                <a:noFill/>
              </a:ln>
              <a:solidFill>
                <a:schemeClr val="accent3"/>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lang="en-US"/>
          </a:p>
        </p:txBody>
      </p:sp>
      <p:pic>
        <p:nvPicPr>
          <p:cNvPr id="25604" name="Picture 3" descr="C:\Users\india\AppData\Local\Microsoft\Windows\Temporary Internet Files\Content.IE5\59EBIYCD\1200px-SNice.svg[1].png"/>
          <p:cNvPicPr>
            <a:picLocks noChangeAspect="1"/>
          </p:cNvPicPr>
          <p:nvPr>
            <p:ph sz="half" idx="2"/>
          </p:nvPr>
        </p:nvPicPr>
        <p:blipFill>
          <a:blip r:embed="rId1"/>
          <a:stretch>
            <a:fillRect/>
          </a:stretch>
        </p:blipFill>
        <p:spPr>
          <a:xfrm>
            <a:off x="2889250" y="1793240"/>
            <a:ext cx="4903470" cy="327088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30225"/>
            <a:ext cx="10972800" cy="1416685"/>
          </a:xfrm>
        </p:spPr>
        <p:txBody>
          <a:bodyPr/>
          <a:p>
            <a:pPr algn="ctr"/>
            <a:r>
              <a:rPr lang="en-US" sz="4000">
                <a:solidFill>
                  <a:srgbClr val="FF0000"/>
                </a:solidFill>
                <a:latin typeface="Baskerville Old Face" panose="02020602080505020303" pitchFamily="18" charset="0"/>
                <a:cs typeface="Baskerville Old Face" panose="02020602080505020303" pitchFamily="18" charset="0"/>
              </a:rPr>
              <a:t>APPROACHABILITY .......</a:t>
            </a:r>
            <a:endParaRPr lang="en-US" sz="4000">
              <a:solidFill>
                <a:srgbClr val="FF0000"/>
              </a:solidFill>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a:xfrm>
            <a:off x="609600" y="1946910"/>
            <a:ext cx="10972800" cy="4180840"/>
          </a:xfrm>
        </p:spPr>
        <p:txBody>
          <a:bodyPr/>
          <a:p>
            <a:r>
              <a:rPr b="1" dirty="0">
                <a:solidFill>
                  <a:srgbClr val="B32C16"/>
                </a:solidFill>
                <a:latin typeface="Times New Roman" panose="02020603050405020304" pitchFamily="18" charset="0"/>
                <a:cs typeface="Times New Roman" panose="02020603050405020304" pitchFamily="18" charset="0"/>
                <a:sym typeface="+mn-ea"/>
              </a:rPr>
              <a:t>‘....... Always be prepared to give an answer to everyone who asks you to give the reason for the hope that you have. But do this with gentleness and respect, </a:t>
            </a:r>
            <a:r>
              <a:rPr b="1" dirty="0">
                <a:solidFill>
                  <a:srgbClr val="B32C16"/>
                </a:solidFill>
                <a:latin typeface="Times New Roman" panose="02020603050405020304" pitchFamily="18" charset="0"/>
                <a:ea typeface="Times New Roman" panose="02020603050405020304" pitchFamily="18" charset="0"/>
                <a:sym typeface="+mn-ea"/>
              </a:rPr>
              <a:t>…</a:t>
            </a:r>
            <a:r>
              <a:rPr b="1" dirty="0">
                <a:solidFill>
                  <a:srgbClr val="B32C16"/>
                </a:solidFill>
                <a:latin typeface="Times New Roman" panose="02020603050405020304" pitchFamily="18" charset="0"/>
                <a:cs typeface="Times New Roman" panose="02020603050405020304" pitchFamily="18" charset="0"/>
                <a:sym typeface="+mn-ea"/>
              </a:rPr>
              <a:t>.’1 Peter 3:15 NIV. </a:t>
            </a:r>
            <a:endParaRPr b="1" dirty="0">
              <a:solidFill>
                <a:srgbClr val="B32C16"/>
              </a:solidFill>
              <a:latin typeface="Times New Roman" panose="02020603050405020304" pitchFamily="18" charset="0"/>
              <a:cs typeface="Times New Roman" panose="02020603050405020304" pitchFamily="18" charset="0"/>
            </a:endParaRPr>
          </a:p>
          <a:p>
            <a:endParaRPr b="1" dirty="0">
              <a:solidFill>
                <a:srgbClr val="B32C16"/>
              </a:solidFill>
              <a:latin typeface="Times New Roman" panose="02020603050405020304" pitchFamily="18" charset="0"/>
              <a:cs typeface="Times New Roman" panose="02020603050405020304" pitchFamily="18" charset="0"/>
              <a:sym typeface="+mn-ea"/>
            </a:endParaRPr>
          </a:p>
          <a:p>
            <a:r>
              <a:rPr b="1" dirty="0">
                <a:solidFill>
                  <a:srgbClr val="B32C16"/>
                </a:solidFill>
                <a:latin typeface="Times New Roman" panose="02020603050405020304" pitchFamily="18" charset="0"/>
                <a:cs typeface="Times New Roman" panose="02020603050405020304" pitchFamily="18" charset="0"/>
                <a:sym typeface="+mn-ea"/>
              </a:rPr>
              <a:t>‘</a:t>
            </a:r>
            <a:r>
              <a:rPr b="1" dirty="0">
                <a:solidFill>
                  <a:srgbClr val="B32C16"/>
                </a:solidFill>
                <a:latin typeface="Times New Roman" panose="02020603050405020304" pitchFamily="18" charset="0"/>
                <a:ea typeface="Times New Roman" panose="02020603050405020304" pitchFamily="18" charset="0"/>
                <a:sym typeface="+mn-ea"/>
              </a:rPr>
              <a:t>……</a:t>
            </a:r>
            <a:r>
              <a:rPr b="1" dirty="0">
                <a:solidFill>
                  <a:srgbClr val="B32C16"/>
                </a:solidFill>
                <a:latin typeface="Times New Roman" panose="02020603050405020304" pitchFamily="18" charset="0"/>
                <a:cs typeface="Times New Roman" panose="02020603050405020304" pitchFamily="18" charset="0"/>
                <a:sym typeface="+mn-ea"/>
              </a:rPr>
              <a:t> and always be ready to give a defense to everyone who asks you a reason for the hope that is in you, with meekness and fear; </a:t>
            </a:r>
            <a:r>
              <a:rPr b="1" dirty="0">
                <a:solidFill>
                  <a:srgbClr val="B32C16"/>
                </a:solidFill>
                <a:latin typeface="Times New Roman" panose="02020603050405020304" pitchFamily="18" charset="0"/>
                <a:ea typeface="Times New Roman" panose="02020603050405020304" pitchFamily="18" charset="0"/>
                <a:sym typeface="+mn-ea"/>
              </a:rPr>
              <a:t>……</a:t>
            </a:r>
            <a:r>
              <a:rPr b="1" dirty="0">
                <a:solidFill>
                  <a:srgbClr val="B32C16"/>
                </a:solidFill>
                <a:latin typeface="Times New Roman" panose="02020603050405020304" pitchFamily="18" charset="0"/>
                <a:cs typeface="Times New Roman" panose="02020603050405020304" pitchFamily="18" charset="0"/>
                <a:sym typeface="+mn-ea"/>
              </a:rPr>
              <a:t>’ </a:t>
            </a:r>
            <a:r>
              <a:rPr lang="en-US" b="1" dirty="0">
                <a:solidFill>
                  <a:srgbClr val="B32C16"/>
                </a:solidFill>
                <a:latin typeface="Times New Roman" panose="02020603050405020304" pitchFamily="18" charset="0"/>
                <a:cs typeface="Times New Roman" panose="02020603050405020304" pitchFamily="18" charset="0"/>
                <a:sym typeface="+mn-ea"/>
              </a:rPr>
              <a:t>                            </a:t>
            </a:r>
            <a:r>
              <a:rPr b="1" dirty="0">
                <a:solidFill>
                  <a:srgbClr val="B32C16"/>
                </a:solidFill>
                <a:latin typeface="Times New Roman" panose="02020603050405020304" pitchFamily="18" charset="0"/>
                <a:cs typeface="Times New Roman" panose="02020603050405020304" pitchFamily="18" charset="0"/>
                <a:sym typeface="+mn-ea"/>
              </a:rPr>
              <a:t>1 Peter 3 : 15 (Open Bible ).</a:t>
            </a:r>
            <a:endParaRPr b="1" dirty="0">
              <a:solidFill>
                <a:srgbClr val="B32C16"/>
              </a:solidFill>
              <a:latin typeface="Times New Roman" panose="02020603050405020304" pitchFamily="18" charset="0"/>
              <a:cs typeface="Times New Roman" panose="02020603050405020304" pitchFamily="18" charset="0"/>
            </a:endParaRPr>
          </a:p>
          <a:p>
            <a:pPr eaLnBrk="0" hangingPunct="0"/>
            <a:endParaRPr dirty="0">
              <a:latin typeface="Arial" panose="020B0604020202020204" pitchFamily="34" charset="0"/>
            </a:endParaRP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984250"/>
          </a:xfrm>
        </p:spPr>
        <p:txBody>
          <a:bodyPr/>
          <a:p>
            <a:pPr algn="ctr"/>
            <a:r>
              <a:rPr lang="en-US" b="1">
                <a:solidFill>
                  <a:srgbClr val="FF0000"/>
                </a:solidFill>
                <a:latin typeface="Baskerville Old Face" panose="02020602080505020303" pitchFamily="18" charset="0"/>
                <a:cs typeface="Baskerville Old Face" panose="02020602080505020303" pitchFamily="18" charset="0"/>
              </a:rPr>
              <a:t>STRENGTHs of an EVANGELIST</a:t>
            </a:r>
            <a:endParaRPr lang="en-US" b="1">
              <a:solidFill>
                <a:srgbClr val="FF0000"/>
              </a:solidFill>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sz="half" idx="1"/>
          </p:nvPr>
        </p:nvSpPr>
        <p:spPr/>
        <p:txBody>
          <a:bodyPr/>
          <a:p>
            <a:endParaRPr lang="en-US" sz="2800" b="1">
              <a:solidFill>
                <a:srgbClr val="FF0000"/>
              </a:solidFill>
              <a:latin typeface="Baskerville Old Face" panose="02020602080505020303" pitchFamily="18" charset="0"/>
              <a:cs typeface="Baskerville Old Face" panose="02020602080505020303" pitchFamily="18" charset="0"/>
              <a:sym typeface="+mn-ea"/>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SPIRITUAL STRENGTH</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PERSONAL RELATIONSHIP WITH  GOD</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SYSTEMATIC PRAYER LIFE</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BIBLE READING/STUDY</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NON CONDEMNATORY</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NON - JUDGEMENTAL</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p:txBody>
      </p:sp>
      <p:sp>
        <p:nvSpPr>
          <p:cNvPr id="4" name="Content Placeholder 3"/>
          <p:cNvSpPr>
            <a:spLocks noGrp="1"/>
          </p:cNvSpPr>
          <p:nvPr>
            <p:ph sz="half" idx="2"/>
          </p:nvPr>
        </p:nvSpPr>
        <p:spPr/>
        <p:txBody>
          <a:bodyPr/>
          <a:p>
            <a:endParaRPr lang="en-US" sz="2800" b="1">
              <a:solidFill>
                <a:srgbClr val="FF0000"/>
              </a:solidFill>
              <a:latin typeface="Baskerville Old Face" panose="02020602080505020303" pitchFamily="18" charset="0"/>
              <a:cs typeface="Baskerville Old Face" panose="02020602080505020303" pitchFamily="18" charset="0"/>
              <a:sym typeface="+mn-ea"/>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CONFIDENTIALITY :  Assurance to the person he’s speaking with, that none of it would be leaked out..... </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TRUST</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AWARE OF HIS LIMITATIONS </a:t>
            </a:r>
            <a:endParaRPr lang="en-US" sz="28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pPr lvl="1"/>
            <a:r>
              <a:rPr lang="en-US" sz="24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NO OVER-CONFIDENCE</a:t>
            </a:r>
            <a:endParaRPr lang="en-US" sz="24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pPr lvl="1"/>
            <a:r>
              <a:rPr lang="en-US" sz="24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NO MANIPULATIVE SPIRIT</a:t>
            </a:r>
            <a:endParaRPr lang="en-US" sz="2400"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431925"/>
          </a:xfrm>
        </p:spPr>
        <p:txBody>
          <a:bodyPr/>
          <a:p>
            <a:pPr algn="ctr"/>
            <a:r>
              <a:rPr lang="en-US" sz="4000">
                <a:solidFill>
                  <a:srgbClr val="FF0000"/>
                </a:solidFill>
                <a:latin typeface="Baskerville Old Face" panose="02020602080505020303" pitchFamily="18" charset="0"/>
                <a:cs typeface="Baskerville Old Face" panose="02020602080505020303" pitchFamily="18" charset="0"/>
                <a:sym typeface="+mn-ea"/>
              </a:rPr>
              <a:t>AN EVANGELIST</a:t>
            </a:r>
            <a:r>
              <a:rPr lang="en-US">
                <a:solidFill>
                  <a:srgbClr val="FF0000"/>
                </a:solidFill>
                <a:latin typeface="Baskerville Old Face" panose="02020602080505020303" pitchFamily="18" charset="0"/>
                <a:cs typeface="Baskerville Old Face" panose="02020602080505020303" pitchFamily="18" charset="0"/>
                <a:sym typeface="+mn-ea"/>
              </a:rPr>
              <a:t> </a:t>
            </a:r>
            <a:endParaRPr lang="en-US">
              <a:solidFill>
                <a:srgbClr val="FF0000"/>
              </a:solidFill>
              <a:latin typeface="Baskerville Old Face" panose="02020602080505020303" pitchFamily="18" charset="0"/>
              <a:cs typeface="Baskerville Old Face" panose="02020602080505020303" pitchFamily="18" charset="0"/>
              <a:sym typeface="+mn-ea"/>
            </a:endParaRPr>
          </a:p>
        </p:txBody>
      </p:sp>
      <p:sp>
        <p:nvSpPr>
          <p:cNvPr id="3" name="Content Placeholder 2"/>
          <p:cNvSpPr>
            <a:spLocks noGrp="1"/>
          </p:cNvSpPr>
          <p:nvPr>
            <p:ph sz="half" idx="1"/>
          </p:nvPr>
        </p:nvSpPr>
        <p:spPr/>
        <p:txBody>
          <a:bodyPr/>
          <a:p>
            <a:r>
              <a:rPr lang="en-US">
                <a:solidFill>
                  <a:srgbClr val="FF0000"/>
                </a:solidFill>
                <a:latin typeface="Baskerville Old Face" panose="02020602080505020303" pitchFamily="18" charset="0"/>
                <a:cs typeface="Baskerville Old Face" panose="02020602080505020303" pitchFamily="18" charset="0"/>
                <a:sym typeface="+mn-ea"/>
              </a:rPr>
              <a:t>MUST HAVE ....</a:t>
            </a:r>
            <a:r>
              <a:rPr lang="en-US" sz="2800">
                <a:solidFill>
                  <a:srgbClr val="FF0000"/>
                </a:solidFill>
                <a:sym typeface="+mn-ea"/>
              </a:rPr>
              <a:t>.</a:t>
            </a:r>
            <a:endParaRPr lang="en-US">
              <a:sym typeface="+mn-ea"/>
            </a:endParaRPr>
          </a:p>
          <a:p>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ACCEPTED JESUS CHRIST AS HIS/HER LORD &amp; PERSONAL SAVIOUR</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rPr>
              <a:t>BIBLE KNOWLEDGE</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EXPERIENCE IN WALKING WITH GOD  </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p:txBody>
      </p:sp>
      <p:sp>
        <p:nvSpPr>
          <p:cNvPr id="4" name="Content Placeholder 3"/>
          <p:cNvSpPr>
            <a:spLocks noGrp="1"/>
          </p:cNvSpPr>
          <p:nvPr>
            <p:ph sz="half" idx="2"/>
          </p:nvPr>
        </p:nvSpPr>
        <p:spPr/>
        <p:txBody>
          <a:bodyPr/>
          <a:p>
            <a:r>
              <a:rPr lang="en-US">
                <a:solidFill>
                  <a:srgbClr val="FF0000"/>
                </a:solidFill>
                <a:latin typeface="Baskerville Old Face" panose="02020602080505020303" pitchFamily="18" charset="0"/>
                <a:cs typeface="Baskerville Old Face" panose="02020602080505020303" pitchFamily="18" charset="0"/>
                <a:sym typeface="+mn-ea"/>
              </a:rPr>
              <a:t>BE A ....</a:t>
            </a:r>
            <a:endParaRPr lang="en-US">
              <a:solidFill>
                <a:srgbClr val="FF0000"/>
              </a:solidFill>
              <a:latin typeface="Baskerville Old Face" panose="02020602080505020303" pitchFamily="18" charset="0"/>
              <a:cs typeface="Baskerville Old Face" panose="02020602080505020303" pitchFamily="18" charset="0"/>
              <a:sym typeface="+mn-ea"/>
            </a:endParaRPr>
          </a:p>
          <a:p>
            <a:pPr lvl="1"/>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PRAYER WARRIOR</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endParaRPr>
          </a:p>
          <a:p>
            <a:pPr lvl="1"/>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A GOOD LISTENER</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r>
              <a:rPr lang="en-US" b="1">
                <a:solidFill>
                  <a:srgbClr val="FF0000"/>
                </a:solidFill>
                <a:latin typeface="Baskerville Old Face" panose="02020602080505020303" pitchFamily="18" charset="0"/>
                <a:cs typeface="Baskerville Old Face" panose="02020602080505020303" pitchFamily="18" charset="0"/>
                <a:sym typeface="+mn-ea"/>
              </a:rPr>
              <a:t>BE</a:t>
            </a:r>
            <a:endParaRPr lang="en-US" b="1">
              <a:solidFill>
                <a:srgbClr val="FF0000"/>
              </a:solidFill>
              <a:latin typeface="Baskerville Old Face" panose="02020602080505020303" pitchFamily="18" charset="0"/>
              <a:cs typeface="Baskerville Old Face" panose="02020602080505020303" pitchFamily="18" charset="0"/>
              <a:sym typeface="+mn-ea"/>
            </a:endParaRPr>
          </a:p>
          <a:p>
            <a:pPr lvl="1"/>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PATIENT</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pPr lvl="1"/>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COMPASSIONATE</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pPr lvl="1"/>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EMPATHETIC</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pPr lvl="1"/>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sym typeface="+mn-ea"/>
              </a:rPr>
              <a:t>ENCOURAGING</a:t>
            </a:r>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a:p>
            <a:endPar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solidFill>
                  <a:srgbClr val="FF0000"/>
                </a:solidFill>
                <a:latin typeface="David" panose="020E0502060401010101" pitchFamily="34" charset="-79"/>
                <a:cs typeface="David" panose="020E0502060401010101" pitchFamily="34" charset="-79"/>
                <a:sym typeface="+mn-ea"/>
              </a:rPr>
              <a:t>YOUR PROBLEM IS SIN --- STOP  IT !</a:t>
            </a:r>
            <a:r>
              <a:rPr lang="en-US" b="1" dirty="0" smtClean="0">
                <a:solidFill>
                  <a:schemeClr val="bg1"/>
                </a:solidFill>
                <a:latin typeface="David" panose="020E0502060401010101" pitchFamily="34" charset="-79"/>
                <a:cs typeface="David" panose="020E0502060401010101" pitchFamily="34" charset="-79"/>
                <a:sym typeface="+mn-ea"/>
              </a:rPr>
              <a:t>!</a:t>
            </a:r>
            <a:endParaRPr lang="en-US"/>
          </a:p>
        </p:txBody>
      </p:sp>
      <p:sp>
        <p:nvSpPr>
          <p:cNvPr id="3" name="Content Placeholder 2"/>
          <p:cNvSpPr>
            <a:spLocks noGrp="1"/>
          </p:cNvSpPr>
          <p:nvPr>
            <p:ph sz="half" idx="1"/>
          </p:nvPr>
        </p:nvSpPr>
        <p:spPr/>
        <p:txBody>
          <a:bodyPr/>
          <a:p>
            <a:r>
              <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rPr>
              <a:t>Ezekiel  33: 7 – 9</a:t>
            </a:r>
            <a:endPar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pPr marL="0" indent="0">
              <a:buNone/>
            </a:pPr>
            <a:r>
              <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rPr>
              <a:t>‘We are the Watchmen’ – have to tell them they are sinners !</a:t>
            </a:r>
            <a:endPar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endPar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endParaRPr>
          </a:p>
          <a:p>
            <a:r>
              <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rPr>
              <a:t>The counselee is often </a:t>
            </a:r>
            <a:endPar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pPr marL="0" indent="0">
              <a:buNone/>
            </a:pPr>
            <a:r>
              <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rPr>
              <a:t>resistant  to being told </a:t>
            </a:r>
            <a:endPar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pPr marL="0" indent="0">
              <a:buNone/>
            </a:pPr>
            <a:r>
              <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rPr>
              <a:t>their disorder is really </a:t>
            </a:r>
            <a:endPar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pPr marL="0" indent="0">
              <a:buNone/>
            </a:pPr>
            <a:r>
              <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rPr>
              <a:t>just sin. </a:t>
            </a:r>
            <a:endParaRPr lang="en-US" b="1" dirty="0" smtClean="0">
              <a:gradFill>
                <a:gsLst>
                  <a:gs pos="0">
                    <a:srgbClr val="FE4444"/>
                  </a:gs>
                  <a:gs pos="100000">
                    <a:srgbClr val="832B2B"/>
                  </a:gs>
                </a:gsLst>
                <a:lin scaled="0"/>
              </a:gra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endParaRPr lang="en-US" b="1" dirty="0" smtClean="0">
              <a:gradFill>
                <a:gsLst>
                  <a:gs pos="0">
                    <a:srgbClr val="FE4444"/>
                  </a:gs>
                  <a:gs pos="100000">
                    <a:srgbClr val="832B2B"/>
                  </a:gs>
                </a:gsLst>
                <a:lin scaled="0"/>
              </a:gradFill>
              <a:latin typeface="Times New Roman" panose="02020603050405020304" pitchFamily="18" charset="0"/>
              <a:cs typeface="Times New Roman" panose="02020603050405020304" pitchFamily="18" charset="0"/>
            </a:endParaRPr>
          </a:p>
          <a:p>
            <a:endParaRPr lang="en-US" b="1" dirty="0">
              <a:solidFill>
                <a:srgbClr val="FF0000"/>
              </a:solidFill>
              <a:effectLst>
                <a:glow rad="101600">
                  <a:schemeClr val="tx1">
                    <a:alpha val="60000"/>
                  </a:schemeClr>
                </a:glow>
              </a:effectLst>
              <a:latin typeface="Times New Roman" panose="02020603050405020304" pitchFamily="18" charset="0"/>
              <a:cs typeface="Times New Roman" panose="02020603050405020304" pitchFamily="18" charset="0"/>
            </a:endParaRPr>
          </a:p>
          <a:p>
            <a:endParaRPr lang="en-US"/>
          </a:p>
        </p:txBody>
      </p:sp>
      <p:sp>
        <p:nvSpPr>
          <p:cNvPr id="4" name="Content Placeholder 3"/>
          <p:cNvSpPr>
            <a:spLocks noGrp="1"/>
          </p:cNvSpPr>
          <p:nvPr>
            <p:ph sz="half" idx="2"/>
          </p:nvPr>
        </p:nvSpPr>
        <p:spPr>
          <a:xfrm>
            <a:off x="6197600" y="772795"/>
            <a:ext cx="5384800" cy="5354955"/>
          </a:xfrm>
        </p:spPr>
        <p:txBody>
          <a:bodyPr/>
          <a:p>
            <a:r>
              <a:rPr lang="en-US" b="1" dirty="0" smtClean="0">
                <a:gradFill>
                  <a:gsLst>
                    <a:gs pos="0">
                      <a:srgbClr val="FE4444"/>
                    </a:gs>
                    <a:gs pos="100000">
                      <a:srgbClr val="832B2B"/>
                    </a:gs>
                  </a:gsLst>
                  <a:lin scaled="0"/>
                </a:gradFill>
                <a:effectLst>
                  <a:glow rad="101600">
                    <a:schemeClr val="tx1">
                      <a:alpha val="60000"/>
                    </a:schemeClr>
                  </a:glow>
                </a:effectLst>
                <a:latin typeface="Baskerville Old Face" panose="02020602080505020303" pitchFamily="18" charset="0"/>
                <a:cs typeface="Baskerville Old Face" panose="02020602080505020303" pitchFamily="18" charset="0"/>
                <a:sym typeface="+mn-ea"/>
              </a:rPr>
              <a:t>If the counselee is in the world’s label already, they will almost certainly be resistant to calling their behavior sin. </a:t>
            </a:r>
            <a:endParaRPr lang="en-US" b="1" dirty="0" smtClean="0">
              <a:gradFill>
                <a:gsLst>
                  <a:gs pos="0">
                    <a:srgbClr val="FE4444"/>
                  </a:gs>
                  <a:gs pos="100000">
                    <a:srgbClr val="832B2B"/>
                  </a:gs>
                </a:gsLst>
                <a:lin scaled="0"/>
              </a:gradFill>
              <a:effectLst>
                <a:glow rad="101600">
                  <a:schemeClr val="tx1">
                    <a:alpha val="60000"/>
                  </a:schemeClr>
                </a:glow>
              </a:effectLst>
              <a:latin typeface="Baskerville Old Face" panose="02020602080505020303" pitchFamily="18" charset="0"/>
              <a:cs typeface="Baskerville Old Face" panose="02020602080505020303" pitchFamily="18" charset="0"/>
              <a:sym typeface="+mn-ea"/>
            </a:endParaRPr>
          </a:p>
          <a:p>
            <a:endParaRPr lang="en-US" b="1" dirty="0" smtClean="0">
              <a:gradFill>
                <a:gsLst>
                  <a:gs pos="0">
                    <a:srgbClr val="FE4444"/>
                  </a:gs>
                  <a:gs pos="100000">
                    <a:srgbClr val="832B2B"/>
                  </a:gs>
                </a:gsLst>
                <a:lin scaled="0"/>
              </a:gradFill>
              <a:effectLst>
                <a:glow rad="101600">
                  <a:schemeClr val="tx1">
                    <a:alpha val="60000"/>
                  </a:schemeClr>
                </a:glow>
              </a:effectLst>
              <a:latin typeface="Baskerville Old Face" panose="02020602080505020303" pitchFamily="18" charset="0"/>
              <a:cs typeface="Baskerville Old Face" panose="02020602080505020303" pitchFamily="18" charset="0"/>
              <a:sym typeface="+mn-ea"/>
            </a:endParaRPr>
          </a:p>
          <a:p>
            <a:r>
              <a:rPr lang="en-US" b="1">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rPr>
              <a:t>How do you confront them without being accusatory/condemnatory, is </a:t>
            </a:r>
            <a:r>
              <a:rPr lang="en-US" b="1" u="sng">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rPr>
              <a:t>the skill of confrontation !</a:t>
            </a:r>
            <a:endParaRPr lang="en-US" b="1" u="sng">
              <a:gradFill>
                <a:gsLst>
                  <a:gs pos="0">
                    <a:srgbClr val="FE4444"/>
                  </a:gs>
                  <a:gs pos="100000">
                    <a:srgbClr val="832B2B"/>
                  </a:gs>
                </a:gsLst>
                <a:lin scaled="0"/>
              </a:gradFill>
              <a:latin typeface="Baskerville Old Face" panose="02020602080505020303" pitchFamily="18" charset="0"/>
              <a:cs typeface="Baskerville Old Face" panose="020206020805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a:solidFill>
                  <a:srgbClr val="FF0000"/>
                </a:solidFill>
                <a:latin typeface="Baskerville Old Face" panose="02020602080505020303" pitchFamily="18" charset="0"/>
                <a:cs typeface="Baskerville Old Face" panose="02020602080505020303" pitchFamily="18" charset="0"/>
                <a:sym typeface="+mn-ea"/>
              </a:rPr>
              <a:t>WHAT EVANGELISM IS NOT !</a:t>
            </a:r>
            <a:endParaRPr lang="en-US" b="1" i="1">
              <a:solidFill>
                <a:srgbClr val="FF0000"/>
              </a:solidFill>
              <a:latin typeface="Baskerville Old Face" panose="02020602080505020303" pitchFamily="18" charset="0"/>
              <a:cs typeface="Baskerville Old Face" panose="02020602080505020303" pitchFamily="18" charset="0"/>
              <a:sym typeface="+mn-ea"/>
            </a:endParaRPr>
          </a:p>
        </p:txBody>
      </p:sp>
      <p:sp>
        <p:nvSpPr>
          <p:cNvPr id="3" name="Content Placeholder 2"/>
          <p:cNvSpPr>
            <a:spLocks noGrp="1"/>
          </p:cNvSpPr>
          <p:nvPr>
            <p:ph idx="1"/>
          </p:nvPr>
        </p:nvSpPr>
        <p:spPr>
          <a:xfrm>
            <a:off x="609600" y="1098550"/>
            <a:ext cx="10972800" cy="5029200"/>
          </a:xfrm>
        </p:spPr>
        <p:txBody>
          <a:bodyPr/>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A glamorous activity of giving advice ; </a:t>
            </a:r>
            <a:r>
              <a:rPr lang="en-US" sz="2800" b="1" i="1">
                <a:solidFill>
                  <a:srgbClr val="FF0000"/>
                </a:solidFill>
                <a:latin typeface="Baskerville Old Face" panose="02020602080505020303" pitchFamily="18" charset="0"/>
                <a:cs typeface="Baskerville Old Face" panose="02020602080505020303" pitchFamily="18" charset="0"/>
                <a:sym typeface="+mn-ea"/>
              </a:rPr>
              <a:t>Counselling is NOT Advice</a:t>
            </a:r>
            <a:endParaRPr kumimoji="0" lang="en-US" sz="2800" b="1" i="1"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Of passing </a:t>
            </a:r>
            <a:r>
              <a:rPr lang="en-US" sz="2800" b="1" i="1" noProof="0" dirty="0" err="1"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judgement</a:t>
            </a:r>
            <a:endParaRPr kumimoji="0" lang="en-US" sz="2800" b="1" i="1"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A ‘feel good’ attitude about oneself</a:t>
            </a:r>
            <a:endParaRPr kumimoji="0" lang="en-US" sz="2800" b="1" i="1" u="none" strike="noStrike" kern="1200" cap="none" spc="0" normalizeH="0" baseline="0" noProof="0" dirty="0" smtClean="0">
              <a:ln>
                <a:noFill/>
              </a:ln>
              <a:solidFill>
                <a:srgbClr val="FF0000"/>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Being biased</a:t>
            </a:r>
            <a:endParaRPr lang="en-US" sz="2800" b="1" i="1"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a:solidFill>
                  <a:srgbClr val="FF0000"/>
                </a:solidFill>
                <a:latin typeface="Baskerville Old Face" panose="02020602080505020303" pitchFamily="18" charset="0"/>
                <a:cs typeface="Baskerville Old Face" panose="02020602080505020303" pitchFamily="18" charset="0"/>
              </a:rPr>
              <a:t>Being Condemnatory</a:t>
            </a:r>
            <a:endParaRPr lang="en-US" sz="2800" b="1" i="1">
              <a:solidFill>
                <a:srgbClr val="FF0000"/>
              </a:solidFill>
              <a:latin typeface="Baskerville Old Face" panose="02020602080505020303" pitchFamily="18" charset="0"/>
              <a:cs typeface="Baskerville Old Face" panose="02020602080505020303" pitchFamily="18" charset="0"/>
            </a:endParaRPr>
          </a:p>
          <a:p>
            <a:pPr marL="731520" marR="0" lvl="1"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450" b="1" i="1">
                <a:solidFill>
                  <a:srgbClr val="FF0000"/>
                </a:solidFill>
                <a:latin typeface="Baskerville Old Face" panose="02020602080505020303" pitchFamily="18" charset="0"/>
                <a:cs typeface="Baskerville Old Face" panose="02020602080505020303" pitchFamily="18" charset="0"/>
              </a:rPr>
              <a:t>Condemning other’s faith; Humbling others;  ‘</a:t>
            </a:r>
            <a:endParaRPr lang="en-US" sz="2450" b="1" i="1">
              <a:solidFill>
                <a:srgbClr val="FF0000"/>
              </a:solidFill>
              <a:latin typeface="Baskerville Old Face" panose="02020602080505020303" pitchFamily="18" charset="0"/>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a:solidFill>
                  <a:srgbClr val="FF0000"/>
                </a:solidFill>
                <a:latin typeface="Baskerville Old Face" panose="02020602080505020303" pitchFamily="18" charset="0"/>
                <a:cs typeface="Baskerville Old Face" panose="02020602080505020303" pitchFamily="18" charset="0"/>
              </a:rPr>
              <a:t>Machine-gun’  Evangelism</a:t>
            </a:r>
            <a:endParaRPr lang="en-US" sz="2800" b="1" i="1">
              <a:solidFill>
                <a:srgbClr val="FF0000"/>
              </a:solidFill>
              <a:latin typeface="Baskerville Old Face" panose="02020602080505020303" pitchFamily="18" charset="0"/>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a:solidFill>
                  <a:srgbClr val="FF0000"/>
                </a:solidFill>
                <a:latin typeface="Baskerville Old Face" panose="02020602080505020303" pitchFamily="18" charset="0"/>
                <a:cs typeface="Baskerville Old Face" panose="02020602080505020303" pitchFamily="18" charset="0"/>
              </a:rPr>
              <a:t>‘I’m OK, You’re not  OK’ Attitude</a:t>
            </a:r>
            <a:endParaRPr lang="en-US" sz="2800" b="1" i="1">
              <a:solidFill>
                <a:srgbClr val="FF0000"/>
              </a:solidFill>
              <a:latin typeface="Baskerville Old Face" panose="02020602080505020303" pitchFamily="18" charset="0"/>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sz="2800" b="1" i="1">
                <a:solidFill>
                  <a:srgbClr val="FF0000"/>
                </a:solidFill>
                <a:latin typeface="Baskerville Old Face" panose="02020602080505020303" pitchFamily="18" charset="0"/>
                <a:cs typeface="Baskerville Old Face" panose="02020602080505020303" pitchFamily="18" charset="0"/>
              </a:rPr>
              <a:t>Using Bombastic battle language;  </a:t>
            </a:r>
            <a:endParaRPr lang="en-US" sz="2800" b="1" i="1">
              <a:solidFill>
                <a:srgbClr val="FF0000"/>
              </a:solidFill>
              <a:latin typeface="Baskerville Old Face" panose="02020602080505020303" pitchFamily="18" charset="0"/>
              <a:cs typeface="Baskerville Old Face" panose="02020602080505020303" pitchFamily="18" charset="0"/>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endParaRPr lang="en-US" sz="2800" b="1" i="1">
              <a:solidFill>
                <a:srgbClr val="FF0000"/>
              </a:solidFill>
              <a:latin typeface="Baskerville Old Face" panose="02020602080505020303" pitchFamily="18" charset="0"/>
              <a:cs typeface="Baskerville Old Face" panose="020206020805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a:solidFill>
                  <a:srgbClr val="FF0000"/>
                </a:solidFill>
                <a:latin typeface="Baskerville Old Face" panose="02020602080505020303" pitchFamily="18" charset="0"/>
                <a:cs typeface="Baskerville Old Face" panose="02020602080505020303" pitchFamily="18" charset="0"/>
                <a:sym typeface="+mn-ea"/>
              </a:rPr>
              <a:t>WHAT EVANGELISM IS NOT !</a:t>
            </a:r>
            <a:endParaRPr lang="en-US"/>
          </a:p>
        </p:txBody>
      </p:sp>
      <p:sp>
        <p:nvSpPr>
          <p:cNvPr id="3" name="Content Placeholder 2"/>
          <p:cNvSpPr>
            <a:spLocks noGrp="1"/>
          </p:cNvSpPr>
          <p:nvPr>
            <p:ph idx="1"/>
          </p:nvPr>
        </p:nvSpPr>
        <p:spPr/>
        <p:txBody>
          <a:bodyPr/>
          <a:p>
            <a:pPr marR="0" lvl="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v"/>
              <a:defRPr/>
            </a:pPr>
            <a:r>
              <a:rPr lang="en-US" b="1" i="1">
                <a:solidFill>
                  <a:srgbClr val="FF0000"/>
                </a:solidFill>
                <a:latin typeface="Baskerville Old Face" panose="02020602080505020303" pitchFamily="18" charset="0"/>
                <a:cs typeface="Baskerville Old Face" panose="02020602080505020303" pitchFamily="18" charset="0"/>
                <a:sym typeface="+mn-ea"/>
              </a:rPr>
              <a:t>Testimony sharing ; </a:t>
            </a:r>
            <a:endParaRPr lang="en-US" b="1" i="1">
              <a:solidFill>
                <a:srgbClr val="FF0000"/>
              </a:solidFill>
              <a:latin typeface="Baskerville Old Face" panose="02020602080505020303" pitchFamily="18" charset="0"/>
              <a:cs typeface="Baskerville Old Face" panose="02020602080505020303" pitchFamily="18" charset="0"/>
              <a:sym typeface="+mn-ea"/>
            </a:endParaRPr>
          </a:p>
          <a:p>
            <a:pPr marR="0" lvl="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v"/>
              <a:defRPr/>
            </a:pPr>
            <a:r>
              <a:rPr lang="en-US" b="1" i="1">
                <a:solidFill>
                  <a:srgbClr val="FF0000"/>
                </a:solidFill>
                <a:latin typeface="Baskerville Old Face" panose="02020602080505020303" pitchFamily="18" charset="0"/>
                <a:cs typeface="Baskerville Old Face" panose="02020602080505020303" pitchFamily="18" charset="0"/>
                <a:sym typeface="+mn-ea"/>
              </a:rPr>
              <a:t>“Giving &amp; Receiving” ; Missions in India; 	</a:t>
            </a:r>
            <a:endParaRPr lang="en-US" b="1" i="1">
              <a:solidFill>
                <a:srgbClr val="FF0000"/>
              </a:solidFill>
              <a:latin typeface="Baskerville Old Face" panose="02020602080505020303" pitchFamily="18" charset="0"/>
              <a:cs typeface="Baskerville Old Face" panose="02020602080505020303" pitchFamily="18" charset="0"/>
              <a:sym typeface="+mn-ea"/>
            </a:endParaRPr>
          </a:p>
          <a:p>
            <a:pPr marR="0" lvl="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v"/>
              <a:defRPr/>
            </a:pPr>
            <a:r>
              <a:rPr lang="en-US" b="1" i="1">
                <a:solidFill>
                  <a:srgbClr val="FF0000"/>
                </a:solidFill>
                <a:latin typeface="Baskerville Old Face" panose="02020602080505020303" pitchFamily="18" charset="0"/>
                <a:cs typeface="Baskerville Old Face" panose="02020602080505020303" pitchFamily="18" charset="0"/>
                <a:sym typeface="+mn-ea"/>
              </a:rPr>
              <a:t>‘Soup, Soap &amp;  Salvation’;  </a:t>
            </a:r>
            <a:endParaRPr lang="en-US" b="1" i="1">
              <a:solidFill>
                <a:srgbClr val="FF0000"/>
              </a:solidFill>
              <a:latin typeface="Baskerville Old Face" panose="02020602080505020303" pitchFamily="18" charset="0"/>
              <a:cs typeface="Baskerville Old Face" panose="02020602080505020303" pitchFamily="18" charset="0"/>
            </a:endParaRPr>
          </a:p>
          <a:p>
            <a:pPr marR="0" lvl="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v"/>
              <a:defRPr/>
            </a:pPr>
            <a:r>
              <a:rPr lang="en-US" b="1" i="1">
                <a:solidFill>
                  <a:srgbClr val="FF0000"/>
                </a:solidFill>
                <a:latin typeface="Baskerville Old Face" panose="02020602080505020303" pitchFamily="18" charset="0"/>
                <a:cs typeface="Baskerville Old Face" panose="02020602080505020303" pitchFamily="18" charset="0"/>
                <a:sym typeface="+mn-ea"/>
              </a:rPr>
              <a:t>External Stimuli to Salvation ?  </a:t>
            </a:r>
            <a:r>
              <a:rPr lang="en-US" sz="2400" b="1" i="1">
                <a:solidFill>
                  <a:srgbClr val="FF0000"/>
                </a:solidFill>
                <a:latin typeface="Baskerville Old Face" panose="02020602080505020303" pitchFamily="18" charset="0"/>
                <a:cs typeface="Baskerville Old Face" panose="02020602080505020303" pitchFamily="18" charset="0"/>
                <a:sym typeface="+mn-ea"/>
              </a:rPr>
              <a:t>Wisdom in giving material </a:t>
            </a:r>
            <a:endParaRPr lang="en-US" sz="2400" b="1" i="1">
              <a:solidFill>
                <a:srgbClr val="FF0000"/>
              </a:solidFill>
              <a:latin typeface="Baskerville Old Face" panose="02020602080505020303" pitchFamily="18" charset="0"/>
              <a:cs typeface="Baskerville Old Face" panose="02020602080505020303" pitchFamily="18" charset="0"/>
              <a:sym typeface="+mn-ea"/>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None/>
              <a:defRPr/>
            </a:pPr>
            <a:r>
              <a:rPr lang="en-US" sz="2400" b="1" i="1">
                <a:solidFill>
                  <a:srgbClr val="FF0000"/>
                </a:solidFill>
                <a:latin typeface="Baskerville Old Face" panose="02020602080505020303" pitchFamily="18" charset="0"/>
                <a:cs typeface="Baskerville Old Face" panose="02020602080505020303" pitchFamily="18" charset="0"/>
                <a:sym typeface="+mn-ea"/>
              </a:rPr>
              <a:t>gifts, with the motive of bearing evangelistic fruits, must be monitored.</a:t>
            </a:r>
            <a:endParaRPr lang="en-US" sz="2400" b="1" i="1">
              <a:solidFill>
                <a:srgbClr val="FF0000"/>
              </a:solidFill>
              <a:latin typeface="Baskerville Old Face" panose="02020602080505020303" pitchFamily="18" charset="0"/>
              <a:cs typeface="Baskerville Old Face" panose="02020602080505020303" pitchFamily="18" charset="0"/>
              <a:sym typeface="+mn-ea"/>
            </a:endParaRPr>
          </a:p>
          <a:p>
            <a:pPr marR="0" lvl="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v"/>
              <a:defRPr/>
            </a:pPr>
            <a:r>
              <a:rPr lang="en-US" b="1" i="1">
                <a:solidFill>
                  <a:srgbClr val="FF0000"/>
                </a:solidFill>
                <a:latin typeface="Baskerville Old Face" panose="02020602080505020303" pitchFamily="18" charset="0"/>
                <a:cs typeface="Baskerville Old Face" panose="02020602080505020303" pitchFamily="18" charset="0"/>
                <a:sym typeface="+mn-ea"/>
              </a:rPr>
              <a:t>Praying with non-Christians.</a:t>
            </a:r>
            <a:endParaRPr lang="en-US" b="1" i="1">
              <a:solidFill>
                <a:srgbClr val="FF0000"/>
              </a:solidFill>
              <a:latin typeface="Baskerville Old Face" panose="02020602080505020303" pitchFamily="18" charset="0"/>
              <a:cs typeface="Baskerville Old Face" panose="02020602080505020303" pitchFamily="18" charset="0"/>
              <a:sym typeface="+mn-ea"/>
            </a:endParaRPr>
          </a:p>
          <a:p>
            <a:pPr marR="0" lvl="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v"/>
              <a:defRPr/>
            </a:pPr>
            <a:r>
              <a:rPr lang="en-US" sz="2800" b="1" i="1">
                <a:gradFill>
                  <a:gsLst>
                    <a:gs pos="0">
                      <a:srgbClr val="14CD68"/>
                    </a:gs>
                    <a:gs pos="100000">
                      <a:srgbClr val="035C7D"/>
                    </a:gs>
                  </a:gsLst>
                  <a:lin scaled="0"/>
                </a:gradFill>
                <a:latin typeface="Baskerville Old Face" panose="02020602080505020303" pitchFamily="18" charset="0"/>
                <a:cs typeface="Baskerville Old Face" panose="02020602080505020303" pitchFamily="18" charset="0"/>
              </a:rPr>
              <a:t>‘I sowed the seed, Apollos watered, God gave the increase’</a:t>
            </a:r>
            <a:endParaRPr lang="en-US" sz="2800" b="1" i="1">
              <a:gradFill>
                <a:gsLst>
                  <a:gs pos="0">
                    <a:srgbClr val="14CD68"/>
                  </a:gs>
                  <a:gs pos="100000">
                    <a:srgbClr val="035C7D"/>
                  </a:gs>
                </a:gsLst>
                <a:lin scaled="0"/>
              </a:gradFill>
              <a:latin typeface="Baskerville Old Face" panose="02020602080505020303" pitchFamily="18" charset="0"/>
              <a:cs typeface="Baskerville Old Face" panose="02020602080505020303" pitchFamily="18" charset="0"/>
            </a:endParaRPr>
          </a:p>
          <a:p>
            <a:pPr marR="0" lvl="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v"/>
              <a:defRPr/>
            </a:pPr>
            <a:r>
              <a:rPr lang="en-US" sz="2800" b="1" i="1">
                <a:gradFill>
                  <a:gsLst>
                    <a:gs pos="0">
                      <a:srgbClr val="14CD68"/>
                    </a:gs>
                    <a:gs pos="100000">
                      <a:srgbClr val="035C7D"/>
                    </a:gs>
                  </a:gsLst>
                  <a:lin scaled="0"/>
                </a:gradFill>
                <a:latin typeface="Baskerville Old Face" panose="02020602080505020303" pitchFamily="18" charset="0"/>
                <a:cs typeface="Baskerville Old Face" panose="02020602080505020303" pitchFamily="18" charset="0"/>
              </a:rPr>
              <a:t>Story of a new Pastor preaching to one old lady during Sunday service ........</a:t>
            </a:r>
            <a:endParaRPr lang="en-US" sz="2800" b="1" i="1">
              <a:gradFill>
                <a:gsLst>
                  <a:gs pos="0">
                    <a:srgbClr val="14CD68"/>
                  </a:gs>
                  <a:gs pos="100000">
                    <a:srgbClr val="035C7D"/>
                  </a:gs>
                </a:gsLst>
                <a:lin scaled="0"/>
              </a:gradFill>
              <a:latin typeface="Baskerville Old Face" panose="02020602080505020303" pitchFamily="18" charset="0"/>
              <a:cs typeface="Baskerville Old Face" panose="020206020805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59435"/>
            <a:ext cx="10972800" cy="697230"/>
          </a:xfrm>
        </p:spPr>
        <p:txBody>
          <a:bodyPr/>
          <a:p>
            <a:r>
              <a:rPr lang="en-US" sz="3200" b="1" cap="small" noProof="0" dirty="0"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Limitations &amp; Boundaries of a </a:t>
            </a:r>
            <a:r>
              <a:rPr lang="en-US" sz="3200" b="1" cap="small" noProof="0" dirty="0" err="1" smtClean="0">
                <a:ln>
                  <a:noFill/>
                </a:ln>
                <a:solidFill>
                  <a:srgbClr val="FF0000"/>
                </a:solidFill>
                <a:effectLst/>
                <a:uLnTx/>
                <a:uFillTx/>
                <a:latin typeface="Baskerville Old Face" panose="02020602080505020303" pitchFamily="18" charset="0"/>
                <a:cs typeface="Baskerville Old Face" panose="02020602080505020303" pitchFamily="18" charset="0"/>
                <a:sym typeface="+mn-ea"/>
              </a:rPr>
              <a:t>counsellor</a:t>
            </a:r>
            <a:r>
              <a:rPr kumimoji="0" lang="en-US" sz="3200" b="1" i="0" u="none" strike="noStrike" kern="1200" cap="small" spc="0" normalizeH="0" baseline="0" noProof="0" dirty="0">
                <a:ln>
                  <a:noFill/>
                </a:ln>
                <a:solidFill>
                  <a:srgbClr val="FF0000"/>
                </a:solidFill>
                <a:effectLst/>
                <a:uLnTx/>
                <a:uFillTx/>
                <a:latin typeface="Baskerville Old Face" panose="02020602080505020303" pitchFamily="18" charset="0"/>
                <a:ea typeface="+mj-ea"/>
                <a:cs typeface="Baskerville Old Face" panose="02020602080505020303" pitchFamily="18" charset="0"/>
              </a:rPr>
              <a:t> or EVANGELIST </a:t>
            </a:r>
            <a:endParaRPr kumimoji="0" lang="en-US" sz="3200" b="1" i="0" u="none" strike="noStrike" kern="1200" cap="small" spc="0" normalizeH="0" baseline="0" noProof="0" dirty="0">
              <a:ln>
                <a:noFill/>
              </a:ln>
              <a:solidFill>
                <a:srgbClr val="FF0000"/>
              </a:solidFill>
              <a:effectLst/>
              <a:uLnTx/>
              <a:uFillTx/>
              <a:latin typeface="Baskerville Old Face" panose="02020602080505020303" pitchFamily="18" charset="0"/>
              <a:ea typeface="+mj-ea"/>
              <a:cs typeface="Baskerville Old Face" panose="02020602080505020303" pitchFamily="18" charset="0"/>
            </a:endParaRPr>
          </a:p>
        </p:txBody>
      </p:sp>
      <p:sp>
        <p:nvSpPr>
          <p:cNvPr id="3" name="Content Placeholder 2"/>
          <p:cNvSpPr>
            <a:spLocks noGrp="1"/>
          </p:cNvSpPr>
          <p:nvPr>
            <p:ph idx="1"/>
          </p:nvPr>
        </p:nvSpPr>
        <p:spPr>
          <a:xfrm>
            <a:off x="609600" y="1501775"/>
            <a:ext cx="10972800" cy="4625975"/>
          </a:xfrm>
        </p:spPr>
        <p:txBody>
          <a:bodyPr/>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i="1" noProof="0" dirty="0" smtClean="0">
                <a:ln>
                  <a:noFill/>
                </a:ln>
                <a:gradFill>
                  <a:gsLst>
                    <a:gs pos="0">
                      <a:srgbClr val="FE4444"/>
                    </a:gs>
                    <a:gs pos="100000">
                      <a:srgbClr val="832B2B"/>
                    </a:gs>
                  </a:gsLst>
                  <a:lin scaled="0"/>
                </a:gradFill>
                <a:effectLst/>
                <a:uLnTx/>
                <a:uFillTx/>
                <a:latin typeface="Baskerville Old Face" panose="02020602080505020303" pitchFamily="18" charset="0"/>
                <a:cs typeface="Baskerville Old Face" panose="02020602080505020303" pitchFamily="18" charset="0"/>
                <a:sym typeface="+mn-ea"/>
              </a:rPr>
              <a:t>Counseling people of same sex </a:t>
            </a:r>
            <a:endParaRPr kumimoji="0" lang="en-US" b="1" i="1" u="none" strike="noStrike" kern="1200" cap="none" spc="0" normalizeH="0" baseline="0" noProof="0" dirty="0" smtClean="0">
              <a:ln>
                <a:noFill/>
              </a:ln>
              <a:gradFill>
                <a:gsLst>
                  <a:gs pos="0">
                    <a:srgbClr val="FE4444"/>
                  </a:gs>
                  <a:gs pos="100000">
                    <a:srgbClr val="832B2B"/>
                  </a:gs>
                </a:gsLst>
                <a:lin scaled="0"/>
              </a:gra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i="1" noProof="0" dirty="0" smtClean="0">
                <a:ln>
                  <a:noFill/>
                </a:ln>
                <a:gradFill>
                  <a:gsLst>
                    <a:gs pos="0">
                      <a:srgbClr val="FE4444"/>
                    </a:gs>
                    <a:gs pos="100000">
                      <a:srgbClr val="832B2B"/>
                    </a:gs>
                  </a:gsLst>
                  <a:lin scaled="0"/>
                </a:gradFill>
                <a:effectLst/>
                <a:uLnTx/>
                <a:uFillTx/>
                <a:latin typeface="Baskerville Old Face" panose="02020602080505020303" pitchFamily="18" charset="0"/>
                <a:cs typeface="Baskerville Old Face" panose="02020602080505020303" pitchFamily="18" charset="0"/>
                <a:sym typeface="+mn-ea"/>
              </a:rPr>
              <a:t>Time</a:t>
            </a:r>
            <a:endParaRPr kumimoji="0" lang="en-US" b="1" i="1" u="none" strike="noStrike" kern="1200" cap="none" spc="0" normalizeH="0" baseline="0" noProof="0" dirty="0" smtClean="0">
              <a:ln>
                <a:noFill/>
              </a:ln>
              <a:gradFill>
                <a:gsLst>
                  <a:gs pos="0">
                    <a:srgbClr val="FE4444"/>
                  </a:gs>
                  <a:gs pos="100000">
                    <a:srgbClr val="832B2B"/>
                  </a:gs>
                </a:gsLst>
                <a:lin scaled="0"/>
              </a:gra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i="1" noProof="0" dirty="0" smtClean="0">
                <a:ln>
                  <a:noFill/>
                </a:ln>
                <a:gradFill>
                  <a:gsLst>
                    <a:gs pos="0">
                      <a:srgbClr val="FE4444"/>
                    </a:gs>
                    <a:gs pos="100000">
                      <a:srgbClr val="832B2B"/>
                    </a:gs>
                  </a:gsLst>
                  <a:lin scaled="0"/>
                </a:gradFill>
                <a:effectLst/>
                <a:uLnTx/>
                <a:uFillTx/>
                <a:latin typeface="Baskerville Old Face" panose="02020602080505020303" pitchFamily="18" charset="0"/>
                <a:cs typeface="Baskerville Old Face" panose="02020602080505020303" pitchFamily="18" charset="0"/>
                <a:sym typeface="+mn-ea"/>
              </a:rPr>
              <a:t>Place of holding sessions </a:t>
            </a:r>
            <a:endParaRPr kumimoji="0" lang="en-US" b="1" i="1" u="none" strike="noStrike" kern="1200" cap="none" spc="0" normalizeH="0" baseline="0" noProof="0" dirty="0" smtClean="0">
              <a:ln>
                <a:noFill/>
              </a:ln>
              <a:gradFill>
                <a:gsLst>
                  <a:gs pos="0">
                    <a:srgbClr val="FE4444"/>
                  </a:gs>
                  <a:gs pos="100000">
                    <a:srgbClr val="832B2B"/>
                  </a:gs>
                </a:gsLst>
                <a:lin scaled="0"/>
              </a:gra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i="1" noProof="0" dirty="0" smtClean="0">
                <a:ln>
                  <a:noFill/>
                </a:ln>
                <a:gradFill>
                  <a:gsLst>
                    <a:gs pos="0">
                      <a:srgbClr val="FE4444"/>
                    </a:gs>
                    <a:gs pos="100000">
                      <a:srgbClr val="832B2B"/>
                    </a:gs>
                  </a:gsLst>
                  <a:lin scaled="0"/>
                </a:gradFill>
                <a:effectLst/>
                <a:uLnTx/>
                <a:uFillTx/>
                <a:latin typeface="Baskerville Old Face" panose="02020602080505020303" pitchFamily="18" charset="0"/>
                <a:cs typeface="Baskerville Old Face" panose="02020602080505020303" pitchFamily="18" charset="0"/>
                <a:sym typeface="+mn-ea"/>
              </a:rPr>
              <a:t>Avoid physical contact </a:t>
            </a:r>
            <a:endParaRPr kumimoji="0" lang="en-US" b="1" i="1" u="none" strike="noStrike" kern="1200" cap="none" spc="0" normalizeH="0" baseline="0" noProof="0" dirty="0" smtClean="0">
              <a:ln>
                <a:noFill/>
              </a:ln>
              <a:gradFill>
                <a:gsLst>
                  <a:gs pos="0">
                    <a:srgbClr val="FE4444"/>
                  </a:gs>
                  <a:gs pos="100000">
                    <a:srgbClr val="832B2B"/>
                  </a:gs>
                </a:gsLst>
                <a:lin scaled="0"/>
              </a:gra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i="1" noProof="0" dirty="0" smtClean="0">
                <a:ln>
                  <a:noFill/>
                </a:ln>
                <a:gradFill>
                  <a:gsLst>
                    <a:gs pos="0">
                      <a:srgbClr val="FE4444"/>
                    </a:gs>
                    <a:gs pos="100000">
                      <a:srgbClr val="832B2B"/>
                    </a:gs>
                  </a:gsLst>
                  <a:lin scaled="0"/>
                </a:gradFill>
                <a:effectLst/>
                <a:uLnTx/>
                <a:uFillTx/>
                <a:latin typeface="Baskerville Old Face" panose="02020602080505020303" pitchFamily="18" charset="0"/>
                <a:cs typeface="Baskerville Old Face" panose="02020602080505020303" pitchFamily="18" charset="0"/>
                <a:sym typeface="+mn-ea"/>
              </a:rPr>
              <a:t>Non-sexual touching (allowable under boundary crisis like trauma crisis etc.) don’t touch .....</a:t>
            </a:r>
            <a:endParaRPr kumimoji="0" lang="en-US" b="1" i="1" u="none" strike="noStrike" kern="1200" cap="none" spc="0" normalizeH="0" baseline="0" noProof="0" dirty="0" smtClean="0">
              <a:ln>
                <a:noFill/>
              </a:ln>
              <a:gradFill>
                <a:gsLst>
                  <a:gs pos="0">
                    <a:srgbClr val="FE4444"/>
                  </a:gs>
                  <a:gs pos="100000">
                    <a:srgbClr val="832B2B"/>
                  </a:gs>
                </a:gsLst>
                <a:lin scaled="0"/>
              </a:gra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en-US" b="1" i="1" u="sng" noProof="0" dirty="0" smtClean="0">
                <a:ln>
                  <a:noFill/>
                </a:ln>
                <a:gradFill>
                  <a:gsLst>
                    <a:gs pos="0">
                      <a:srgbClr val="FE4444"/>
                    </a:gs>
                    <a:gs pos="100000">
                      <a:srgbClr val="832B2B"/>
                    </a:gs>
                  </a:gsLst>
                  <a:lin scaled="0"/>
                </a:gradFill>
                <a:effectLst/>
                <a:uLnTx/>
                <a:uFillTx/>
                <a:latin typeface="Baskerville Old Face" panose="02020602080505020303" pitchFamily="18" charset="0"/>
                <a:cs typeface="Baskerville Old Face" panose="02020602080505020303" pitchFamily="18" charset="0"/>
                <a:sym typeface="+mn-ea"/>
              </a:rPr>
              <a:t>Boundary violations :  </a:t>
            </a:r>
            <a:r>
              <a:rPr lang="en-US" b="1" i="1" noProof="0" dirty="0" smtClean="0">
                <a:ln>
                  <a:noFill/>
                </a:ln>
                <a:gradFill>
                  <a:gsLst>
                    <a:gs pos="0">
                      <a:srgbClr val="FE4444"/>
                    </a:gs>
                    <a:gs pos="100000">
                      <a:srgbClr val="832B2B"/>
                    </a:gs>
                  </a:gsLst>
                  <a:lin scaled="0"/>
                </a:gradFill>
                <a:effectLst/>
                <a:uLnTx/>
                <a:uFillTx/>
                <a:latin typeface="Baskerville Old Face" panose="02020602080505020303" pitchFamily="18" charset="0"/>
                <a:cs typeface="Baskerville Old Face" panose="02020602080505020303" pitchFamily="18" charset="0"/>
                <a:sym typeface="+mn-ea"/>
              </a:rPr>
              <a:t>Touching may be misconstrued as sexual overture</a:t>
            </a:r>
            <a:r>
              <a:rPr lang="en-US" b="1" noProof="0" dirty="0" smtClean="0">
                <a:ln>
                  <a:noFill/>
                </a:ln>
                <a:solidFill>
                  <a:schemeClr val="accent3"/>
                </a:solidFill>
                <a:effectLst/>
                <a:uLnTx/>
                <a:uFillTx/>
                <a:sym typeface="+mn-ea"/>
              </a:rPr>
              <a:t>s &amp; therefore disallowable under boundary violations </a:t>
            </a:r>
            <a:r>
              <a:rPr lang="en-US" noProof="0" dirty="0" smtClean="0">
                <a:ln>
                  <a:noFill/>
                </a:ln>
                <a:effectLst/>
                <a:uLnTx/>
                <a:uFillTx/>
                <a:sym typeface="+mn-ea"/>
              </a:rPr>
              <a:t>.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cap="small" noProof="0" dirty="0" smtClean="0">
                <a:ln>
                  <a:noFill/>
                </a:ln>
                <a:solidFill>
                  <a:schemeClr val="accent1"/>
                </a:solidFill>
                <a:effectLst/>
                <a:uLnTx/>
                <a:uFillTx/>
                <a:sym typeface="+mn-ea"/>
              </a:rPr>
              <a:t>When you have troubles :</a:t>
            </a:r>
            <a:br>
              <a:rPr kumimoji="0" lang="en-US" b="1" i="1" u="none" strike="noStrike" kern="1200" cap="small" spc="0" normalizeH="0" baseline="0" noProof="0" dirty="0">
                <a:ln>
                  <a:noFill/>
                </a:ln>
                <a:solidFill>
                  <a:schemeClr val="accent1"/>
                </a:solidFill>
                <a:effectLst/>
                <a:uLnTx/>
                <a:uFillTx/>
                <a:latin typeface="+mj-lt"/>
                <a:ea typeface="+mj-ea"/>
                <a:cs typeface="+mj-cs"/>
              </a:rPr>
            </a:br>
            <a:endParaRPr lang="en-US"/>
          </a:p>
        </p:txBody>
      </p:sp>
      <p:sp>
        <p:nvSpPr>
          <p:cNvPr id="3" name="Content Placeholder 2"/>
          <p:cNvSpPr>
            <a:spLocks noGrp="1"/>
          </p:cNvSpPr>
          <p:nvPr>
            <p:ph sz="half" idx="1"/>
          </p:nvPr>
        </p:nvSpPr>
        <p:spPr>
          <a:xfrm>
            <a:off x="609600" y="1174750"/>
            <a:ext cx="9277350" cy="4953000"/>
          </a:xfrm>
        </p:spPr>
        <p:txBody>
          <a:bodyPr/>
          <a:p>
            <a:pPr>
              <a:buClr>
                <a:schemeClr val="accent1"/>
              </a:buClr>
              <a:buSzPct val="70000"/>
              <a:buFont typeface="Wingdings" panose="05000000000000000000" pitchFamily="2" charset="2"/>
              <a:buNone/>
            </a:pPr>
            <a:r>
              <a:rPr sz="3200" b="1" dirty="0">
                <a:sym typeface="+mn-ea"/>
              </a:rPr>
              <a:t>2</a:t>
            </a:r>
            <a:r>
              <a:rPr sz="2000" b="1" dirty="0">
                <a:sym typeface="+mn-ea"/>
              </a:rPr>
              <a:t> Cor 1:3b,4 ‘…… the Father of  compassion and the God of all comfort, who comforts us in all our troubles, so that we can comfort those in any trouble with the comfort we ourselves have received from God.’ </a:t>
            </a:r>
            <a:endParaRPr sz="2000" dirty="0"/>
          </a:p>
          <a:p>
            <a:pPr>
              <a:buClr>
                <a:schemeClr val="accent1"/>
              </a:buClr>
              <a:buSzPct val="70000"/>
              <a:buFont typeface="Wingdings" panose="05000000000000000000" pitchFamily="2" charset="2"/>
            </a:pPr>
            <a:endParaRPr sz="2000" b="1" dirty="0"/>
          </a:p>
          <a:p>
            <a:pPr>
              <a:buClr>
                <a:schemeClr val="accent1"/>
              </a:buClr>
              <a:buSzPct val="70000"/>
              <a:buFont typeface="Wingdings" panose="05000000000000000000" pitchFamily="2" charset="2"/>
            </a:pPr>
            <a:r>
              <a:rPr sz="2000" b="1" dirty="0">
                <a:sym typeface="+mn-ea"/>
              </a:rPr>
              <a:t>YOUR TROUBLES  	      </a:t>
            </a:r>
            <a:r>
              <a:rPr lang="en-US" sz="2000" b="1" dirty="0">
                <a:sym typeface="+mn-ea"/>
              </a:rPr>
              <a:t>             </a:t>
            </a:r>
            <a:r>
              <a:rPr sz="2000" b="1" dirty="0">
                <a:sym typeface="+mn-ea"/>
              </a:rPr>
              <a:t>  COMFORT </a:t>
            </a:r>
            <a:r>
              <a:rPr lang="en-US" sz="2000" b="1" dirty="0">
                <a:sym typeface="+mn-ea"/>
              </a:rPr>
              <a:t>from  </a:t>
            </a:r>
            <a:r>
              <a:rPr sz="2000" b="1" dirty="0">
                <a:sym typeface="+mn-ea"/>
              </a:rPr>
              <a:t>CHRIST                      					</a:t>
            </a:r>
            <a:endParaRPr sz="2000" b="1" dirty="0"/>
          </a:p>
          <a:p>
            <a:pPr lvl="4">
              <a:buClr>
                <a:srgbClr val="BDCAE9"/>
              </a:buClr>
              <a:buSzPct val="68000"/>
              <a:buFont typeface="Wingdings 2" panose="05020102010507070707" pitchFamily="18" charset="2"/>
            </a:pPr>
            <a:endParaRPr sz="2000" dirty="0"/>
          </a:p>
          <a:p>
            <a:pPr>
              <a:buClr>
                <a:schemeClr val="accent1"/>
              </a:buClr>
              <a:buSzPct val="70000"/>
              <a:buFont typeface="Wingdings" panose="05000000000000000000" pitchFamily="2" charset="2"/>
              <a:buNone/>
            </a:pPr>
            <a:endParaRPr sz="2000" b="1" dirty="0"/>
          </a:p>
          <a:p>
            <a:pPr>
              <a:buClr>
                <a:schemeClr val="accent1"/>
              </a:buClr>
              <a:buSzPct val="70000"/>
              <a:buFont typeface="Wingdings" panose="05000000000000000000" pitchFamily="2" charset="2"/>
              <a:buNone/>
            </a:pPr>
            <a:r>
              <a:rPr lang="en-US" sz="2000" b="1" dirty="0">
                <a:sym typeface="+mn-ea"/>
              </a:rPr>
              <a:t>         </a:t>
            </a:r>
            <a:r>
              <a:rPr sz="2000" b="1" dirty="0">
                <a:sym typeface="+mn-ea"/>
              </a:rPr>
              <a:t>COMFORT  			    HEALED </a:t>
            </a:r>
            <a:endParaRPr sz="2000" b="1" dirty="0"/>
          </a:p>
          <a:p>
            <a:pPr>
              <a:buClr>
                <a:schemeClr val="accent1"/>
              </a:buClr>
              <a:buSzPct val="70000"/>
              <a:buFont typeface="Wingdings" panose="05000000000000000000" pitchFamily="2" charset="2"/>
              <a:buNone/>
            </a:pPr>
            <a:r>
              <a:rPr lang="en-US" sz="2000" b="1" dirty="0">
                <a:sym typeface="+mn-ea"/>
              </a:rPr>
              <a:t>        </a:t>
            </a:r>
            <a:r>
              <a:rPr sz="2000" b="1" dirty="0">
                <a:sym typeface="+mn-ea"/>
              </a:rPr>
              <a:t>TO  OTHERS </a:t>
            </a:r>
            <a:endParaRPr lang="en-US" sz="2000"/>
          </a:p>
        </p:txBody>
      </p:sp>
      <p:sp>
        <p:nvSpPr>
          <p:cNvPr id="4" name="Content Placeholder 3"/>
          <p:cNvSpPr>
            <a:spLocks noGrp="1"/>
          </p:cNvSpPr>
          <p:nvPr>
            <p:ph sz="half" idx="2"/>
          </p:nvPr>
        </p:nvSpPr>
        <p:spPr>
          <a:xfrm>
            <a:off x="11334115" y="1174750"/>
            <a:ext cx="248285" cy="4953000"/>
          </a:xfrm>
        </p:spPr>
        <p:txBody>
          <a:bodyPr/>
          <a:p>
            <a:endParaRPr lang="en-US"/>
          </a:p>
        </p:txBody>
      </p:sp>
      <p:sp>
        <p:nvSpPr>
          <p:cNvPr id="5" name="Right Arrow 4"/>
          <p:cNvSpPr/>
          <p:nvPr/>
        </p:nvSpPr>
        <p:spPr>
          <a:xfrm>
            <a:off x="3348355" y="2744470"/>
            <a:ext cx="762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ight Arrow 6"/>
          <p:cNvSpPr/>
          <p:nvPr/>
        </p:nvSpPr>
        <p:spPr>
          <a:xfrm rot="10800000">
            <a:off x="3236595" y="4202430"/>
            <a:ext cx="762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Down Arrow 8"/>
          <p:cNvSpPr/>
          <p:nvPr/>
        </p:nvSpPr>
        <p:spPr>
          <a:xfrm>
            <a:off x="5854700" y="3427730"/>
            <a:ext cx="304800" cy="609600"/>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60145"/>
          </a:xfrm>
        </p:spPr>
        <p:txBody>
          <a:bodyPr/>
          <a:p>
            <a:pPr algn="ctr"/>
            <a:br>
              <a:rPr lang="en-US" b="1" dirty="0" smtClean="0">
                <a:solidFill>
                  <a:srgbClr val="FF0000"/>
                </a:solidFill>
                <a:latin typeface="Braeside Lumberboy" pitchFamily="2" charset="0"/>
                <a:sym typeface="+mn-ea"/>
              </a:rPr>
            </a:br>
            <a:r>
              <a:rPr lang="en-US" b="1" i="1" dirty="0" smtClean="0">
                <a:solidFill>
                  <a:srgbClr val="FF0000"/>
                </a:solidFill>
                <a:latin typeface="Baskerville Old Face" panose="02020602080505020303" pitchFamily="18" charset="0"/>
                <a:cs typeface="Baskerville Old Face" panose="02020602080505020303" pitchFamily="18" charset="0"/>
                <a:sym typeface="+mn-ea"/>
              </a:rPr>
              <a:t>AMBASSADORS FOR CHRIST </a:t>
            </a:r>
            <a:br>
              <a:rPr lang="en-US" b="1" i="1" dirty="0" smtClean="0">
                <a:solidFill>
                  <a:srgbClr val="FF0000"/>
                </a:solidFill>
                <a:latin typeface="Baskerville Old Face" panose="02020602080505020303" pitchFamily="18" charset="0"/>
                <a:cs typeface="Baskerville Old Face" panose="02020602080505020303" pitchFamily="18" charset="0"/>
                <a:sym typeface="+mn-ea"/>
              </a:rPr>
            </a:br>
            <a:r>
              <a:rPr lang="en-US" b="1" i="1" dirty="0" smtClean="0">
                <a:solidFill>
                  <a:srgbClr val="FF0000"/>
                </a:solidFill>
                <a:latin typeface="Baskerville Old Face" panose="02020602080505020303" pitchFamily="18" charset="0"/>
                <a:cs typeface="Baskerville Old Face" panose="02020602080505020303" pitchFamily="18" charset="0"/>
                <a:sym typeface="+mn-ea"/>
              </a:rPr>
              <a:t>II Cor. 5:19-20</a:t>
            </a:r>
            <a:br>
              <a:rPr lang="en-US" b="1" i="1" dirty="0" smtClean="0">
                <a:solidFill>
                  <a:srgbClr val="FF0000"/>
                </a:solidFill>
                <a:latin typeface="Baskerville Old Face" panose="02020602080505020303" pitchFamily="18" charset="0"/>
                <a:cs typeface="Baskerville Old Face" panose="02020602080505020303" pitchFamily="18" charset="0"/>
                <a:sym typeface="+mn-ea"/>
              </a:rPr>
            </a:br>
            <a:endParaRPr lang="en-US" b="1" i="1">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p:txBody>
          <a:bodyPr>
            <a:scene3d>
              <a:camera prst="orthographicFront"/>
              <a:lightRig rig="threePt" dir="t"/>
            </a:scene3d>
          </a:bodyPr>
          <a:p>
            <a:r>
              <a:rPr lang="en-US" b="1" dirty="0" smtClean="0">
                <a:solidFill>
                  <a:schemeClr val="accent1"/>
                </a:solidFill>
                <a:effectLst>
                  <a:outerShdw blurRad="38100" dist="25400" dir="5400000" algn="ctr" rotWithShape="0">
                    <a:srgbClr val="6E747A">
                      <a:alpha val="43000"/>
                    </a:srgbClr>
                  </a:outerShdw>
                </a:effectLst>
                <a:latin typeface="Braeside Lumberboy" pitchFamily="2" charset="0"/>
                <a:sym typeface="+mn-ea"/>
              </a:rPr>
              <a:t>II Cor. 5:19-20</a:t>
            </a:r>
            <a:endParaRPr lang="en-US" b="1" dirty="0" smtClean="0">
              <a:solidFill>
                <a:schemeClr val="accent1"/>
              </a:solidFill>
              <a:effectLst>
                <a:outerShdw blurRad="38100" dist="25400" dir="5400000" algn="ctr" rotWithShape="0">
                  <a:srgbClr val="6E747A">
                    <a:alpha val="43000"/>
                  </a:srgbClr>
                </a:outerShdw>
              </a:effectLst>
              <a:latin typeface="Braeside Lumberboy" pitchFamily="2" charset="0"/>
              <a:sym typeface="+mn-ea"/>
            </a:endParaRPr>
          </a:p>
          <a:p>
            <a:pPr algn="just"/>
            <a:r>
              <a:rPr lang="en-US" b="1" dirty="0" smtClean="0">
                <a:solidFill>
                  <a:schemeClr val="accent1"/>
                </a:solidFill>
                <a:effectLst>
                  <a:outerShdw blurRad="38100" dist="25400" dir="5400000" algn="ctr" rotWithShape="0">
                    <a:srgbClr val="6E747A">
                      <a:alpha val="43000"/>
                    </a:srgbClr>
                  </a:outerShdw>
                </a:effectLst>
                <a:latin typeface="Schoolbook" pitchFamily="2" charset="0"/>
                <a:sym typeface="+mn-ea"/>
              </a:rPr>
              <a:t>19     ’.... that God was reconciling the world to 	Himself in Christ, and He has committed to us 	the message of reconciliation [that is, 	restoration to favor with God].</a:t>
            </a:r>
            <a:endParaRPr lang="en-US" b="1" dirty="0" smtClean="0">
              <a:solidFill>
                <a:schemeClr val="accent1"/>
              </a:solidFill>
              <a:effectLst>
                <a:outerShdw blurRad="38100" dist="25400" dir="5400000" algn="ctr" rotWithShape="0">
                  <a:srgbClr val="6E747A">
                    <a:alpha val="43000"/>
                  </a:srgbClr>
                </a:outerShdw>
              </a:effectLst>
              <a:latin typeface="Schoolbook" pitchFamily="2" charset="0"/>
              <a:sym typeface="+mn-ea"/>
            </a:endParaRPr>
          </a:p>
          <a:p>
            <a:pPr algn="just"/>
            <a:r>
              <a:rPr lang="en-US" b="1" dirty="0" smtClean="0">
                <a:solidFill>
                  <a:schemeClr val="accent1"/>
                </a:solidFill>
                <a:effectLst>
                  <a:outerShdw blurRad="38100" dist="25400" dir="5400000" algn="ctr" rotWithShape="0">
                    <a:srgbClr val="6E747A">
                      <a:alpha val="43000"/>
                    </a:srgbClr>
                  </a:outerShdw>
                </a:effectLst>
                <a:latin typeface="Schoolbook" pitchFamily="2" charset="0"/>
                <a:sym typeface="+mn-ea"/>
              </a:rPr>
              <a:t>20      We are therefore ambassadors for Christ, as 	though God were making His appeal through 	us; we [as Christ’s representatives] plead with 	you on behalf of Christ : Be reconciled to God.’</a:t>
            </a:r>
            <a:endParaRPr lang="en-US" b="1" dirty="0" smtClean="0">
              <a:solidFill>
                <a:schemeClr val="accent1"/>
              </a:solidFill>
              <a:effectLst>
                <a:outerShdw blurRad="38100" dist="25400" dir="5400000" algn="ctr" rotWithShape="0">
                  <a:srgbClr val="6E747A">
                    <a:alpha val="43000"/>
                  </a:srgbClr>
                </a:outerShdw>
              </a:effectLst>
              <a:latin typeface="Schoolbook" pitchFamily="2" charset="0"/>
              <a:sym typeface="+mn-ea"/>
            </a:endParaRPr>
          </a:p>
          <a:p>
            <a:endParaRPr lang="en-US" b="1" dirty="0" smtClean="0">
              <a:solidFill>
                <a:schemeClr val="accent1"/>
              </a:solidFill>
              <a:effectLst>
                <a:outerShdw blurRad="38100" dist="25400" dir="5400000" algn="ctr" rotWithShape="0">
                  <a:srgbClr val="6E747A">
                    <a:alpha val="43000"/>
                  </a:srgbClr>
                </a:outerShdw>
              </a:effectLst>
              <a:latin typeface="Schoolbook" pitchFamily="2" charset="0"/>
              <a:sym typeface="+mn-ea"/>
            </a:endParaRPr>
          </a:p>
          <a:p>
            <a:endParaRPr lang="en-US" b="1" dirty="0" smtClean="0">
              <a:solidFill>
                <a:schemeClr val="accent1"/>
              </a:solidFill>
              <a:effectLst>
                <a:outerShdw blurRad="38100" dist="25400" dir="5400000" algn="ctr" rotWithShape="0">
                  <a:srgbClr val="6E747A">
                    <a:alpha val="43000"/>
                  </a:srgbClr>
                </a:outerShdw>
              </a:effectLst>
              <a:latin typeface="Schoolbook" pitchFamily="2"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pPr marL="0" marR="0" lvl="0" indent="0" algn="l" defTabSz="914400" rtl="0" eaLnBrk="0" fontAlgn="base" latinLnBrk="0" hangingPunct="0">
              <a:lnSpc>
                <a:spcPct val="100000"/>
              </a:lnSpc>
              <a:spcBef>
                <a:spcPct val="0"/>
              </a:spcBef>
              <a:spcAft>
                <a:spcPct val="0"/>
              </a:spcAft>
              <a:buClrTx/>
              <a:buSzTx/>
              <a:buFontTx/>
              <a:buNone/>
            </a:pPr>
            <a:r>
              <a:rPr lang="en-US" b="1" dirty="0" smtClean="0">
                <a:ln>
                  <a:noFill/>
                </a:ln>
                <a:solidFill>
                  <a:srgbClr val="FF0000"/>
                </a:solidFill>
                <a:effectLst/>
                <a:latin typeface="Annabel Antique Script" pitchFamily="2" charset="0"/>
                <a:ea typeface="Calibri" panose="020F0502020204030204" charset="0"/>
                <a:cs typeface="Times New Roman" panose="02020603050405020304" pitchFamily="18" charset="0"/>
                <a:sym typeface="+mn-ea"/>
              </a:rPr>
              <a:t>Isaiah 50:4→”[the servant of God says] </a:t>
            </a:r>
            <a:endParaRPr lang="en-US" b="1" dirty="0" smtClean="0">
              <a:ln>
                <a:noFill/>
              </a:ln>
              <a:solidFill>
                <a:srgbClr val="FF0000"/>
              </a:solidFill>
              <a:effectLst/>
              <a:latin typeface="Annabel Antique Script" pitchFamily="2" charset="0"/>
              <a:ea typeface="Calibri" panose="020F0502020204030204" charset="0"/>
              <a:cs typeface="Times New Roman" panose="02020603050405020304" pitchFamily="18" charset="0"/>
              <a:sym typeface="+mn-ea"/>
            </a:endParaRPr>
          </a:p>
          <a:p>
            <a:pPr marL="0" marR="0" lvl="0" indent="0" algn="l" defTabSz="914400" rtl="0" eaLnBrk="0" fontAlgn="base" latinLnBrk="0" hangingPunct="0">
              <a:lnSpc>
                <a:spcPct val="100000"/>
              </a:lnSpc>
              <a:spcBef>
                <a:spcPct val="0"/>
              </a:spcBef>
              <a:spcAft>
                <a:spcPct val="0"/>
              </a:spcAft>
              <a:buClrTx/>
              <a:buSzTx/>
              <a:buFontTx/>
              <a:buNone/>
            </a:pPr>
            <a:r>
              <a:rPr lang="en-US" b="1" dirty="0" smtClean="0">
                <a:ln>
                  <a:noFill/>
                </a:ln>
                <a:solidFill>
                  <a:srgbClr val="FF0000"/>
                </a:solidFill>
                <a:effectLst/>
                <a:latin typeface="Annabel Antique Script" pitchFamily="2" charset="0"/>
                <a:ea typeface="Calibri" panose="020F0502020204030204" charset="0"/>
                <a:cs typeface="Times New Roman" panose="02020603050405020304" pitchFamily="18" charset="0"/>
                <a:sym typeface="+mn-ea"/>
              </a:rPr>
              <a:t>The Lord God has given me the tongue of a disciple and of one who is taught, that I should know how to speak a word in season to him who is weary.”</a:t>
            </a:r>
            <a:endParaRPr lang="en-US" b="1" dirty="0" smtClean="0">
              <a:ln>
                <a:noFill/>
              </a:ln>
              <a:solidFill>
                <a:srgbClr val="FF0000"/>
              </a:solidFill>
              <a:effectLst/>
              <a:latin typeface="Annabel Antique Script" pitchFamily="2" charset="0"/>
              <a:ea typeface="Calibri" panose="020F0502020204030204" charset="0"/>
              <a:cs typeface="Times New Roman" panose="02020603050405020304" pitchFamily="18" charset="0"/>
              <a:sym typeface="+mn-ea"/>
            </a:endParaRPr>
          </a:p>
          <a:p>
            <a:endParaRPr lang="en-US"/>
          </a:p>
        </p:txBody>
      </p:sp>
      <p:sp>
        <p:nvSpPr>
          <p:cNvPr id="4" name="Content Placeholder 3"/>
          <p:cNvSpPr>
            <a:spLocks noGrp="1"/>
          </p:cNvSpPr>
          <p:nvPr>
            <p:ph sz="half" idx="2"/>
          </p:nvPr>
        </p:nvSpPr>
        <p:spPr/>
        <p:txBody>
          <a:bodyPr/>
          <a:p>
            <a:pPr marL="0" marR="0" lvl="0" indent="0" algn="l" defTabSz="914400" rtl="0" eaLnBrk="1" fontAlgn="base" latinLnBrk="0" hangingPunct="1">
              <a:lnSpc>
                <a:spcPct val="100000"/>
              </a:lnSpc>
              <a:spcBef>
                <a:spcPct val="0"/>
              </a:spcBef>
              <a:spcAft>
                <a:spcPct val="0"/>
              </a:spcAft>
              <a:buClrTx/>
              <a:buSzTx/>
              <a:buFontTx/>
              <a:buNone/>
            </a:pPr>
            <a:r>
              <a:rPr lang="en-US" b="1" dirty="0" smtClean="0">
                <a:ln>
                  <a:noFill/>
                </a:ln>
                <a:solidFill>
                  <a:srgbClr val="FF0000"/>
                </a:solidFill>
                <a:effectLst/>
                <a:latin typeface="Annabel Antique Script" pitchFamily="2" charset="0"/>
                <a:ea typeface="Calibri" panose="020F0502020204030204" charset="0"/>
                <a:cs typeface="Times New Roman" panose="02020603050405020304" pitchFamily="18" charset="0"/>
                <a:sym typeface="+mn-ea"/>
              </a:rPr>
              <a:t>Proverbs 25:11→”A word fitly spoken and in due season is like apples of gold in settings of silver.” </a:t>
            </a:r>
            <a:endParaRPr lang="en-US" b="1" dirty="0" smtClean="0">
              <a:ln>
                <a:noFill/>
              </a:ln>
              <a:solidFill>
                <a:srgbClr val="FF0000"/>
              </a:solidFill>
              <a:effectLst/>
              <a:latin typeface="Annabel Antique Script" pitchFamily="2" charset="0"/>
              <a:ea typeface="Calibri" panose="020F0502020204030204" charset="0"/>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pPr>
            <a:endParaRPr kumimoji="0" lang="en-US" b="1" i="0" u="none" strike="noStrike" cap="none" normalizeH="0" baseline="0" dirty="0" smtClean="0">
              <a:ln>
                <a:noFill/>
              </a:ln>
              <a:solidFill>
                <a:srgbClr val="FF0000"/>
              </a:solidFill>
              <a:effectLst/>
              <a:latin typeface="Annabel Antique Script" pitchFamily="2" charset="0"/>
              <a:cs typeface="Arial" panose="020B0604020202020204" pitchFamily="34" charset="0"/>
            </a:endParaRP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pPr algn="ctr"/>
            <a:endParaRPr lang="en-US">
              <a:solidFill>
                <a:srgbClr val="FF0000"/>
              </a:solidFill>
            </a:endParaRPr>
          </a:p>
          <a:p>
            <a:pPr algn="ctr"/>
            <a:endParaRPr lang="en-US">
              <a:solidFill>
                <a:srgbClr val="FF0000"/>
              </a:solidFill>
            </a:endParaRPr>
          </a:p>
          <a:p>
            <a:pPr algn="ctr"/>
            <a:endParaRPr lang="en-US">
              <a:solidFill>
                <a:srgbClr val="FF0000"/>
              </a:solidFill>
            </a:endParaRPr>
          </a:p>
          <a:p>
            <a:pPr algn="ctr"/>
            <a:r>
              <a:rPr lang="en-US">
                <a:solidFill>
                  <a:srgbClr val="FF0000"/>
                </a:solidFill>
              </a:rPr>
              <a:t>THANK YOU !</a:t>
            </a:r>
            <a:endParaRPr lang="en-US">
              <a:solidFill>
                <a:srgbClr val="FF0000"/>
              </a:solidFill>
            </a:endParaRPr>
          </a:p>
        </p:txBody>
      </p:sp>
      <p:sp>
        <p:nvSpPr>
          <p:cNvPr id="4" name="Content Placeholder 3"/>
          <p:cNvSpPr>
            <a:spLocks noGrp="1"/>
          </p:cNvSpPr>
          <p:nvPr>
            <p:ph sz="half" idx="2"/>
          </p:nvPr>
        </p:nvSpPr>
        <p:spPr/>
        <p:txBody>
          <a:bodyPr/>
          <a:p>
            <a:endParaRPr lang="en-US">
              <a:solidFill>
                <a:srgbClr val="FF0000"/>
              </a:solidFill>
              <a:sym typeface="+mn-ea"/>
            </a:endParaRPr>
          </a:p>
          <a:p>
            <a:endParaRPr lang="en-US">
              <a:solidFill>
                <a:srgbClr val="FF0000"/>
              </a:solidFill>
              <a:sym typeface="+mn-ea"/>
            </a:endParaRPr>
          </a:p>
          <a:p>
            <a:endParaRPr lang="en-US">
              <a:solidFill>
                <a:srgbClr val="FF0000"/>
              </a:solidFill>
              <a:sym typeface="+mn-ea"/>
            </a:endParaRPr>
          </a:p>
          <a:p>
            <a:r>
              <a:rPr lang="en-US">
                <a:solidFill>
                  <a:srgbClr val="FF0000"/>
                </a:solidFill>
                <a:sym typeface="+mn-ea"/>
              </a:rPr>
              <a:t>THANK YOU !</a:t>
            </a:r>
            <a:endParaRPr lang="en-US"/>
          </a:p>
        </p:txBody>
      </p:sp>
    </p:spTree>
  </p:cSld>
  <p:clrMapOvr>
    <a:masterClrMapping/>
  </p:clrMapOvr>
</p:sld>
</file>

<file path=ppt/theme/theme1.xml><?xml version="1.0" encoding="utf-8"?>
<a:theme xmlns:a="http://schemas.openxmlformats.org/drawingml/2006/main"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5274</Words>
  <Application>WPS Presentation</Application>
  <PresentationFormat>Widescreen</PresentationFormat>
  <Paragraphs>209</Paragraphs>
  <Slides>19</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19</vt:i4>
      </vt:variant>
    </vt:vector>
  </HeadingPairs>
  <TitlesOfParts>
    <vt:vector size="38" baseType="lpstr">
      <vt:lpstr>Arial</vt:lpstr>
      <vt:lpstr>SimSun</vt:lpstr>
      <vt:lpstr>Wingdings</vt:lpstr>
      <vt:lpstr>Baskerville Old Face</vt:lpstr>
      <vt:lpstr>David</vt:lpstr>
      <vt:lpstr>Wingdings</vt:lpstr>
      <vt:lpstr>Times New Roman</vt:lpstr>
      <vt:lpstr>Wingdings 2</vt:lpstr>
      <vt:lpstr>Braeside Lumberboy</vt:lpstr>
      <vt:lpstr>Segoe Print</vt:lpstr>
      <vt:lpstr>Schoolbook</vt:lpstr>
      <vt:lpstr>Annabel Antique Script</vt:lpstr>
      <vt:lpstr>Calibri</vt:lpstr>
      <vt:lpstr>Microsoft YaHei</vt:lpstr>
      <vt:lpstr>Arial Unicode MS</vt:lpstr>
      <vt:lpstr>Century Schoolbook</vt:lpstr>
      <vt:lpstr>Wingdings</vt:lpstr>
      <vt:lpstr>Algerian</vt:lpstr>
      <vt:lpstr>Green Color</vt:lpstr>
      <vt:lpstr>‘REACHING THE UNREACHED’   PART II </vt:lpstr>
      <vt:lpstr>  We need to rely on the Power and Wisdom of God  ! </vt:lpstr>
      <vt:lpstr>ESSENTIAL QUALITIES OF A  CHRISTIAN COUNSELLOR &amp; EVANGELIST</vt:lpstr>
      <vt:lpstr>ETHICS of a Counsellor/Evangelist</vt:lpstr>
      <vt:lpstr> TRUST &amp; CONFIDENTIALITY</vt:lpstr>
      <vt:lpstr>GENUINENESS</vt:lpstr>
      <vt:lpstr>  ATTITUDE  </vt:lpstr>
      <vt:lpstr>PowerPoint 演示文稿</vt:lpstr>
      <vt:lpstr>APPROACHABILITY .......</vt:lpstr>
      <vt:lpstr>STRENGTHs of an EVANGELIST</vt:lpstr>
      <vt:lpstr>AN EVANGELIST </vt:lpstr>
      <vt:lpstr>YOUR PROBLEM IS SIN --- STOP  IT !!</vt:lpstr>
      <vt:lpstr>WHAT EVANGELISM IS NOT !</vt:lpstr>
      <vt:lpstr>PowerPoint 演示文稿</vt:lpstr>
      <vt:lpstr>Limitations &amp; Boundaries of a counsellor or EVANGELIST </vt:lpstr>
      <vt:lpstr>When you have troubles : </vt:lpstr>
      <vt:lpstr> AMBASSADORS FOR CHRIST  II Cor. 5:19-20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‘REACHING THE UNREACHED’  PART II </dc:title>
  <dc:creator>india</dc:creator>
  <cp:lastModifiedBy>philo kanagaraj</cp:lastModifiedBy>
  <cp:revision>17</cp:revision>
  <dcterms:created xsi:type="dcterms:W3CDTF">2022-03-15T16:42:00Z</dcterms:created>
  <dcterms:modified xsi:type="dcterms:W3CDTF">2022-03-17T16:45:06Z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A25AAEB66B5B4D53B4C6A25C83F3CF3A</vt:lpwstr>
  </property>
  <property fmtid="{D5CDD505-2E9C-101B-9397-08002B2CF9AE}" pid="3" name="KSOProductBuildVer">
    <vt:lpwstr>1033-11.2.0.11042</vt:lpwstr>
  </property>
</Properties>
</file>