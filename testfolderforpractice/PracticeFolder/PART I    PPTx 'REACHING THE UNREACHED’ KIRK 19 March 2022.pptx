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277" r:id="rId4"/>
    <p:sldId id="338" r:id="rId5"/>
    <p:sldId id="344" r:id="rId6"/>
    <p:sldId id="337" r:id="rId7"/>
    <p:sldId id="339" r:id="rId8"/>
    <p:sldId id="340" r:id="rId9"/>
    <p:sldId id="335" r:id="rId10"/>
    <p:sldId id="336" r:id="rId11"/>
    <p:sldId id="345" r:id="rId12"/>
    <p:sldId id="302" r:id="rId13"/>
    <p:sldId id="303" r:id="rId14"/>
    <p:sldId id="304" r:id="rId15"/>
    <p:sldId id="347" r:id="rId16"/>
    <p:sldId id="3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2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fld id="{514247DC-4AE8-497E-B28E-3986A9AE54EC}" type="datetimeFigureOut">
              <a:rPr lang="en-US" smtClean="0"/>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lstStyle>
          <a:p>
            <a:fld id="{61A56E78-4271-405E-9BE7-C3E35C6CDBA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14247DC-4AE8-497E-B28E-3986A9AE54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A56E78-4271-405E-9BE7-C3E35C6CDBAC}" type="slidenum">
              <a:rPr lang="en-US" smtClean="0"/>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514247DC-4AE8-497E-B28E-3986A9AE54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A56E78-4271-405E-9BE7-C3E35C6CDBAC}" type="slidenum">
              <a:rPr lang="en-US" smtClean="0"/>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14247DC-4AE8-497E-B28E-3986A9AE54E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A56E78-4271-405E-9BE7-C3E35C6CDBAC}" type="slidenum">
              <a:rPr lang="en-US" smtClean="0"/>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14247DC-4AE8-497E-B28E-3986A9AE54EC}"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A56E78-4271-405E-9BE7-C3E35C6CDBAC}"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4247DC-4AE8-497E-B28E-3986A9AE54EC}"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A56E78-4271-405E-9BE7-C3E35C6CDBAC}" type="slidenum">
              <a:rPr lang="en-US" smtClean="0"/>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4247DC-4AE8-497E-B28E-3986A9AE54EC}"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A56E78-4271-405E-9BE7-C3E35C6CDBA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514247DC-4AE8-497E-B28E-3986A9AE54E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A56E78-4271-405E-9BE7-C3E35C6CDBAC}"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fld id="{514247DC-4AE8-497E-B28E-3986A9AE54EC}" type="datetimeFigureOut">
              <a:rPr lang="en-US" smtClean="0"/>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61A56E78-4271-405E-9BE7-C3E35C6CDBAC}" type="slidenum">
              <a:rPr lang="en-US" smtClean="0"/>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smtClean="0"/>
              <a:t>Click to edit Master title style</a:t>
            </a:r>
            <a:endParaRPr kumimoji="0" lang="en-US"/>
          </a:p>
        </p:txBody>
      </p:sp>
      <p:sp>
        <p:nvSpPr>
          <p:cNvPr id="8" name="Freeform 7"/>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14247DC-4AE8-497E-B28E-3986A9AE54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A56E78-4271-405E-9BE7-C3E35C6CDBA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14247DC-4AE8-497E-B28E-3986A9AE54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A56E78-4271-405E-9BE7-C3E35C6CDBA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p:nvPr/>
        </p:nvSpPr>
        <p:spPr bwMode="auto">
          <a:xfrm>
            <a:off x="-6042" y="5791253"/>
            <a:ext cx="3402314" cy="1080868"/>
          </a:xfrm>
          <a:prstGeom prst="rtTriangle">
            <a:avLst/>
          </a:prstGeom>
          <a:blipFill>
            <a:blip r:embed="rId1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514247DC-4AE8-497E-B28E-3986A9AE54EC}" type="datetimeFigureOut">
              <a:rPr lang="en-US" smtClean="0"/>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1A56E78-4271-405E-9BE7-C3E35C6CDBA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dirty="0" smtClean="0"/>
              <a:t>‘</a:t>
            </a:r>
            <a:r>
              <a:rPr lang="en-US" i="1" dirty="0" smtClean="0">
                <a:latin typeface="Algerian" panose="04020705040A02060702" pitchFamily="82" charset="0"/>
                <a:cs typeface="Algerian" panose="04020705040A02060702" pitchFamily="82" charset="0"/>
              </a:rPr>
              <a:t>REACHING THE UNREACHED’</a:t>
            </a:r>
            <a:br>
              <a:rPr lang="en-US" i="1" dirty="0" smtClean="0">
                <a:latin typeface="Algerian" panose="04020705040A02060702" pitchFamily="82" charset="0"/>
                <a:cs typeface="Algerian" panose="04020705040A02060702" pitchFamily="82" charset="0"/>
              </a:rPr>
            </a:br>
            <a:r>
              <a:rPr lang="en-US" sz="2665" i="1" dirty="0" smtClean="0">
                <a:latin typeface="Algerian" panose="04020705040A02060702" pitchFamily="82" charset="0"/>
                <a:cs typeface="Algerian" panose="04020705040A02060702" pitchFamily="82" charset="0"/>
              </a:rPr>
              <a:t>PART I </a:t>
            </a:r>
            <a:endParaRPr lang="en-US" sz="2665" i="1" dirty="0" smtClean="0">
              <a:latin typeface="Algerian" panose="04020705040A02060702" pitchFamily="82" charset="0"/>
              <a:cs typeface="Algerian" panose="04020705040A02060702" pitchFamily="82" charset="0"/>
            </a:endParaRPr>
          </a:p>
        </p:txBody>
      </p:sp>
      <p:sp>
        <p:nvSpPr>
          <p:cNvPr id="3" name="Subtitle 2"/>
          <p:cNvSpPr>
            <a:spLocks noGrp="1"/>
          </p:cNvSpPr>
          <p:nvPr>
            <p:ph type="subTitle" idx="1"/>
          </p:nvPr>
        </p:nvSpPr>
        <p:spPr/>
        <p:txBody>
          <a:bodyPr/>
          <a:lstStyle/>
          <a:p>
            <a:r>
              <a:rPr lang="en-US" dirty="0" smtClean="0"/>
              <a:t>by</a:t>
            </a:r>
            <a:endParaRPr lang="en-US" dirty="0" smtClean="0"/>
          </a:p>
          <a:p>
            <a:r>
              <a:rPr lang="en-US" sz="2000" i="1" dirty="0" smtClean="0">
                <a:latin typeface="Baskerville Old Face" panose="02020602080505020303" pitchFamily="18" charset="0"/>
                <a:cs typeface="Baskerville Old Face" panose="02020602080505020303" pitchFamily="18" charset="0"/>
              </a:rPr>
              <a:t>Dr. Mrs. Philomena </a:t>
            </a:r>
            <a:r>
              <a:rPr lang="en-US" sz="2000" i="1" dirty="0" err="1" smtClean="0">
                <a:latin typeface="Baskerville Old Face" panose="02020602080505020303" pitchFamily="18" charset="0"/>
                <a:cs typeface="Baskerville Old Face" panose="02020602080505020303" pitchFamily="18" charset="0"/>
              </a:rPr>
              <a:t>Kanagaraj</a:t>
            </a:r>
            <a:r>
              <a:rPr lang="en-US" i="1" dirty="0" smtClean="0"/>
              <a:t> </a:t>
            </a:r>
            <a:endParaRPr lang="en-US"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1143000"/>
            <a:ext cx="8229600" cy="4888865"/>
          </a:xfrm>
        </p:spPr>
        <p:txBody>
          <a:bodyPr>
            <a:noAutofit/>
          </a:bodyPr>
          <a:p>
            <a:pPr algn="l"/>
            <a:r>
              <a:rPr lang="en-US" sz="2000" b="1">
                <a:latin typeface="Baskerville Old Face" panose="02020602080505020303" pitchFamily="18" charset="0"/>
                <a:cs typeface="Baskerville Old Face" panose="02020602080505020303" pitchFamily="18" charset="0"/>
              </a:rPr>
              <a:t>‘Evangelism is a necessity in helping men and women unerstand what their</a:t>
            </a:r>
            <a:r>
              <a:rPr lang="en-US" sz="2000">
                <a:latin typeface="Baskerville Old Face" panose="02020602080505020303" pitchFamily="18" charset="0"/>
                <a:cs typeface="Baskerville Old Face" panose="02020602080505020303" pitchFamily="18" charset="0"/>
              </a:rPr>
              <a:t> </a:t>
            </a:r>
            <a:r>
              <a:rPr lang="en-US" sz="2000" b="1">
                <a:latin typeface="Baskerville Old Face" panose="02020602080505020303" pitchFamily="18" charset="0"/>
                <a:cs typeface="Baskerville Old Face" panose="02020602080505020303" pitchFamily="18" charset="0"/>
              </a:rPr>
              <a:t>souls are searching for, can be met only through a personal relationship with Jesus Christ.”					        Dr. Selwyn Hughes</a:t>
            </a:r>
            <a:endParaRPr lang="en-US" sz="2000" b="1">
              <a:latin typeface="Baskerville Old Face" panose="02020602080505020303" pitchFamily="18" charset="0"/>
              <a:cs typeface="Baskerville Old Face" panose="02020602080505020303" pitchFamily="18" charset="0"/>
            </a:endParaRPr>
          </a:p>
          <a:p>
            <a:pPr algn="l"/>
            <a:r>
              <a:rPr lang="en-US" sz="2000" b="1">
                <a:latin typeface="Baskerville Old Face" panose="02020602080505020303" pitchFamily="18" charset="0"/>
                <a:cs typeface="Baskerville Old Face" panose="02020602080505020303" pitchFamily="18" charset="0"/>
              </a:rPr>
              <a:t>Evangelism is : ‘The winning of people out of the world to God through Jesus Christ and, incorporating them into local bodies where they grow inintimacy with God and participate in the extension of His Kingdom.’</a:t>
            </a:r>
            <a:endParaRPr lang="en-US" sz="2000" b="1">
              <a:latin typeface="Baskerville Old Face" panose="02020602080505020303" pitchFamily="18" charset="0"/>
              <a:cs typeface="Baskerville Old Face" panose="02020602080505020303" pitchFamily="18" charset="0"/>
            </a:endParaRPr>
          </a:p>
          <a:p>
            <a:pPr algn="l"/>
            <a:endParaRPr lang="en-US" sz="2000" b="1">
              <a:latin typeface="Baskerville Old Face" panose="02020602080505020303" pitchFamily="18" charset="0"/>
              <a:cs typeface="Baskerville Old Face" panose="02020602080505020303" pitchFamily="18" charset="0"/>
            </a:endParaRPr>
          </a:p>
          <a:p>
            <a:pPr algn="l"/>
            <a:r>
              <a:rPr lang="en-US" sz="2000" b="1">
                <a:latin typeface="Baskerville Old Face" panose="02020602080505020303" pitchFamily="18" charset="0"/>
                <a:cs typeface="Baskerville Old Face" panose="02020602080505020303" pitchFamily="18" charset="0"/>
              </a:rPr>
              <a:t>‘The amount of information is directly proportionate to the person’s readiness for the Gospel’                                                Dr. Paul Gupta</a:t>
            </a:r>
            <a:endParaRPr lang="en-US" sz="2000" b="1" dirty="0" smtClean="0">
              <a:latin typeface="Baskerville Old Face" panose="02020602080505020303" pitchFamily="18" charset="0"/>
              <a:cs typeface="Baskerville Old Face" panose="02020602080505020303" pitchFamily="18" charset="0"/>
            </a:endParaRPr>
          </a:p>
          <a:p>
            <a:pPr algn="l"/>
            <a:r>
              <a:rPr lang="en-US" sz="2000" b="1" dirty="0" smtClean="0">
                <a:latin typeface="Baskerville Old Face" panose="02020602080505020303" pitchFamily="18" charset="0"/>
                <a:cs typeface="Baskerville Old Face" panose="02020602080505020303" pitchFamily="18" charset="0"/>
                <a:sym typeface="+mn-ea"/>
              </a:rPr>
              <a:t>‘</a:t>
            </a:r>
            <a:r>
              <a:rPr lang="en-US" sz="2000" b="1" dirty="0" smtClean="0">
                <a:latin typeface="Baskerville Old Face" panose="02020602080505020303" pitchFamily="18" charset="0"/>
                <a:cs typeface="Baskerville Old Face" panose="02020602080505020303" pitchFamily="18" charset="0"/>
                <a:sym typeface="+mn-ea"/>
              </a:rPr>
              <a:t>The methods may change but the message will never change, unto eternity’                   </a:t>
            </a:r>
            <a:endParaRPr lang="en-US" sz="2000" b="1" dirty="0" smtClean="0">
              <a:latin typeface="Baskerville Old Face" panose="02020602080505020303" pitchFamily="18" charset="0"/>
              <a:cs typeface="Baskerville Old Face" panose="02020602080505020303" pitchFamily="18" charset="0"/>
              <a:sym typeface="+mn-ea"/>
            </a:endParaRPr>
          </a:p>
          <a:p>
            <a:pPr algn="l"/>
            <a:r>
              <a:rPr lang="en-US" sz="2000" b="1" dirty="0" smtClean="0">
                <a:latin typeface="Baskerville Old Face" panose="02020602080505020303" pitchFamily="18" charset="0"/>
                <a:cs typeface="Baskerville Old Face" panose="02020602080505020303" pitchFamily="18" charset="0"/>
                <a:sym typeface="+mn-ea"/>
              </a:rPr>
              <a:t>                                                                                       Dr. Naomi Dowdy</a:t>
            </a:r>
            <a:endParaRPr lang="en-US" sz="2000" b="1" i="1" dirty="0" smtClean="0">
              <a:latin typeface="Baskerville Old Face" panose="02020602080505020303" pitchFamily="18" charset="0"/>
              <a:cs typeface="Baskerville Old Face" panose="02020602080505020303" pitchFamily="18" charset="0"/>
            </a:endParaRPr>
          </a:p>
          <a:p>
            <a:pPr algn="l"/>
            <a:r>
              <a:rPr lang="en-US" sz="2000" b="1" i="1" dirty="0" smtClean="0">
                <a:latin typeface="Baskerville Old Face" panose="02020602080505020303" pitchFamily="18" charset="0"/>
                <a:cs typeface="Baskerville Old Face" panose="02020602080505020303" pitchFamily="18" charset="0"/>
                <a:sym typeface="+mn-ea"/>
              </a:rPr>
              <a:t>‘EVANGLION’   in Greek  : The Gospel</a:t>
            </a:r>
            <a:endParaRPr lang="en-US" sz="2000" b="1" i="1" dirty="0" smtClean="0">
              <a:latin typeface="Baskerville Old Face" panose="02020602080505020303" pitchFamily="18" charset="0"/>
              <a:cs typeface="Baskerville Old Face" panose="02020602080505020303" pitchFamily="18" charset="0"/>
              <a:sym typeface="+mn-ea"/>
            </a:endParaRPr>
          </a:p>
          <a:p>
            <a:pPr algn="l"/>
            <a:r>
              <a:rPr lang="en-US" sz="2000" b="1" i="1" dirty="0" smtClean="0">
                <a:latin typeface="Baskerville Old Face" panose="02020602080505020303" pitchFamily="18" charset="0"/>
                <a:cs typeface="Baskerville Old Face" panose="02020602080505020303" pitchFamily="18" charset="0"/>
                <a:sym typeface="+mn-ea"/>
              </a:rPr>
              <a:t>‘EUANGELION’ in Latin  :  The Good News </a:t>
            </a:r>
            <a:endParaRPr lang="en-US" sz="2000" b="1" i="1" dirty="0" smtClean="0">
              <a:latin typeface="Baskerville Old Face" panose="02020602080505020303" pitchFamily="18" charset="0"/>
              <a:cs typeface="Baskerville Old Face" panose="02020602080505020303" pitchFamily="18" charset="0"/>
              <a:sym typeface="+mn-ea"/>
            </a:endParaRPr>
          </a:p>
          <a:p>
            <a:pPr algn="l"/>
            <a:endParaRPr lang="en-US" sz="2000" b="1" i="1" dirty="0" smtClean="0">
              <a:latin typeface="Baskerville Old Face" panose="02020602080505020303" pitchFamily="18" charset="0"/>
              <a:cs typeface="Baskerville Old Face" panose="02020602080505020303" pitchFamily="18" charset="0"/>
            </a:endParaRPr>
          </a:p>
          <a:p>
            <a:pPr algn="l"/>
            <a:endParaRPr lang="en-US" sz="1200" b="1" i="1" dirty="0" smtClean="0">
              <a:latin typeface="Baskerville Old Face" panose="02020602080505020303" pitchFamily="18" charset="0"/>
              <a:cs typeface="Baskerville Old Face" panose="02020602080505020303" pitchFamily="18" charset="0"/>
            </a:endParaRPr>
          </a:p>
        </p:txBody>
      </p:sp>
      <p:sp>
        <p:nvSpPr>
          <p:cNvPr id="3" name="Title 2"/>
          <p:cNvSpPr>
            <a:spLocks noGrp="1"/>
          </p:cNvSpPr>
          <p:nvPr>
            <p:ph type="title"/>
          </p:nvPr>
        </p:nvSpPr>
        <p:spPr/>
        <p:txBody>
          <a:bodyPr/>
          <a:p>
            <a:r>
              <a:rPr lang="en-US" sz="4000" i="1" dirty="0" smtClean="0">
                <a:latin typeface="Baskerville Old Face" panose="02020602080505020303" pitchFamily="18" charset="0"/>
                <a:cs typeface="Baskerville Old Face" panose="02020602080505020303" pitchFamily="18" charset="0"/>
                <a:sym typeface="+mn-ea"/>
              </a:rPr>
              <a:t>What is Evangelism ?</a:t>
            </a:r>
            <a:endParaRPr lang="en-US" sz="4000" i="1">
              <a:latin typeface="Baskerville Old Face" panose="02020602080505020303" pitchFamily="18" charset="0"/>
              <a:cs typeface="Baskerville Old Face" panose="020206020805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1036320"/>
            <a:ext cx="8229600" cy="4971415"/>
          </a:xfrm>
        </p:spPr>
        <p:txBody>
          <a:bodyPr>
            <a:normAutofit fontScale="25000"/>
          </a:bodyPr>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endParaRPr lang="en-US" sz="8000" b="1" noProof="0" dirty="0" smtClean="0">
              <a:ln>
                <a:noFill/>
              </a:ln>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r>
              <a:rPr lang="en-US" sz="8000" b="1" noProof="0" dirty="0" smtClean="0">
                <a:ln>
                  <a:noFill/>
                </a:ln>
                <a:effectLst/>
                <a:uLnTx/>
                <a:uFillTx/>
                <a:latin typeface="Baskerville Old Face" panose="02020602080505020303" pitchFamily="18" charset="0"/>
                <a:cs typeface="Baskerville Old Face" panose="02020602080505020303" pitchFamily="18" charset="0"/>
                <a:sym typeface="+mn-ea"/>
              </a:rPr>
              <a:t>The Goal of the counseling</a:t>
            </a:r>
            <a:r>
              <a:rPr lang="en-US" sz="8000" noProof="0" dirty="0" smtClean="0">
                <a:ln>
                  <a:noFill/>
                </a:ln>
                <a:effectLst/>
                <a:uLnTx/>
                <a:uFillTx/>
                <a:latin typeface="Baskerville Old Face" panose="02020602080505020303" pitchFamily="18" charset="0"/>
                <a:cs typeface="Baskerville Old Face" panose="02020602080505020303" pitchFamily="18" charset="0"/>
                <a:sym typeface="+mn-ea"/>
              </a:rPr>
              <a:t> being that the counselee goes through the process of realizing the cause of his predicament or problem, asks God’s forgiveness and, moves on to a healthier holier and spiritually strong Christian life and future. </a:t>
            </a:r>
            <a:endParaRPr lang="en-US" sz="8000" b="1" noProof="0" dirty="0" smtClean="0">
              <a:ln>
                <a:noFill/>
              </a:ln>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None/>
              <a:defRPr/>
            </a:pPr>
            <a:r>
              <a:rPr lang="en-US" sz="8000" b="1" noProof="0" dirty="0" smtClean="0">
                <a:ln>
                  <a:noFill/>
                </a:ln>
                <a:effectLst/>
                <a:uLnTx/>
                <a:uFillTx/>
                <a:latin typeface="Baskerville Old Face" panose="02020602080505020303" pitchFamily="18" charset="0"/>
                <a:cs typeface="Baskerville Old Face" panose="02020602080505020303" pitchFamily="18" charset="0"/>
                <a:sym typeface="+mn-ea"/>
              </a:rPr>
              <a:t>	Our goal</a:t>
            </a:r>
            <a:r>
              <a:rPr lang="en-US" sz="8000" noProof="0" dirty="0" smtClean="0">
                <a:ln>
                  <a:noFill/>
                </a:ln>
                <a:effectLst/>
                <a:uLnTx/>
                <a:uFillTx/>
                <a:latin typeface="Baskerville Old Face" panose="02020602080505020303" pitchFamily="18" charset="0"/>
                <a:cs typeface="Baskerville Old Face" panose="02020602080505020303" pitchFamily="18" charset="0"/>
                <a:sym typeface="+mn-ea"/>
              </a:rPr>
              <a:t> is not just solving the ……..present problem but, discovering and eliminating the cause and, teaching them skills so they do not need our assistance, and helping them develop an ongoing program ……..  .  </a:t>
            </a:r>
            <a:endParaRPr kumimoji="0" lang="en-US" sz="80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None/>
              <a:defRPr/>
            </a:pPr>
            <a:r>
              <a:rPr lang="en-US" sz="8000" b="1" noProof="0" dirty="0" smtClean="0">
                <a:ln>
                  <a:noFill/>
                </a:ln>
                <a:effectLst/>
                <a:uLnTx/>
                <a:uFillTx/>
                <a:latin typeface="Baskerville Old Face" panose="02020602080505020303" pitchFamily="18" charset="0"/>
                <a:cs typeface="Baskerville Old Face" panose="02020602080505020303" pitchFamily="18" charset="0"/>
                <a:sym typeface="+mn-ea"/>
              </a:rPr>
              <a:t>	</a:t>
            </a:r>
            <a:endParaRPr lang="en-US" sz="8000" b="1" noProof="0" dirty="0" smtClean="0">
              <a:ln>
                <a:noFill/>
              </a:ln>
              <a:effectLst/>
              <a:uLnTx/>
              <a:uFillTx/>
              <a:latin typeface="Baskerville Old Face" panose="02020602080505020303" pitchFamily="18" charset="0"/>
              <a:cs typeface="Baskerville Old Face" panose="02020602080505020303" pitchFamily="18" charset="0"/>
              <a:sym typeface="+mn-ea"/>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None/>
              <a:defRPr/>
            </a:pPr>
            <a:r>
              <a:rPr lang="en-US" sz="8000" b="1" noProof="0" dirty="0" smtClean="0">
                <a:ln>
                  <a:noFill/>
                </a:ln>
                <a:effectLst/>
                <a:uLnTx/>
                <a:uFillTx/>
                <a:latin typeface="Baskerville Old Face" panose="02020602080505020303" pitchFamily="18" charset="0"/>
                <a:cs typeface="Baskerville Old Face" panose="02020602080505020303" pitchFamily="18" charset="0"/>
                <a:sym typeface="+mn-ea"/>
              </a:rPr>
              <a:t>	The spiritual life</a:t>
            </a:r>
            <a:r>
              <a:rPr lang="en-US" sz="8000" noProof="0" dirty="0" smtClean="0">
                <a:ln>
                  <a:noFill/>
                </a:ln>
                <a:effectLst/>
                <a:uLnTx/>
                <a:uFillTx/>
                <a:latin typeface="Baskerville Old Face" panose="02020602080505020303" pitchFamily="18" charset="0"/>
                <a:cs typeface="Baskerville Old Face" panose="02020602080505020303" pitchFamily="18" charset="0"/>
                <a:sym typeface="+mn-ea"/>
              </a:rPr>
              <a:t> of the individual ……. is both part of the healing process and a major developmental goal of </a:t>
            </a:r>
            <a:r>
              <a:rPr lang="en-US" sz="8000" noProof="0" dirty="0" err="1" smtClean="0">
                <a:ln>
                  <a:noFill/>
                </a:ln>
                <a:effectLst/>
                <a:uLnTx/>
                <a:uFillTx/>
                <a:latin typeface="Baskerville Old Face" panose="02020602080505020303" pitchFamily="18" charset="0"/>
                <a:cs typeface="Baskerville Old Face" panose="02020602080505020303" pitchFamily="18" charset="0"/>
                <a:sym typeface="+mn-ea"/>
              </a:rPr>
              <a:t>counselling</a:t>
            </a:r>
            <a:r>
              <a:rPr lang="en-US" sz="8000" noProof="0" dirty="0" smtClean="0">
                <a:ln>
                  <a:noFill/>
                </a:ln>
                <a:effectLst/>
                <a:uLnTx/>
                <a:uFillTx/>
                <a:latin typeface="Baskerville Old Face" panose="02020602080505020303" pitchFamily="18" charset="0"/>
                <a:cs typeface="Baskerville Old Face" panose="02020602080505020303" pitchFamily="18" charset="0"/>
                <a:sym typeface="+mn-ea"/>
              </a:rPr>
              <a:t>.</a:t>
            </a:r>
            <a:endParaRPr kumimoji="0" lang="en-US" sz="80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None/>
              <a:defRPr/>
            </a:pPr>
            <a:endParaRPr kumimoji="0" lang="en-US" sz="80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Baskerville Old Face" panose="02020602080505020303" pitchFamily="18" charset="0"/>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None/>
              <a:defRPr/>
            </a:pPr>
            <a:r>
              <a:rPr lang="en-US" noProof="0" dirty="0" smtClean="0">
                <a:ln>
                  <a:noFill/>
                </a:ln>
                <a:effectLst/>
                <a:uLnTx/>
                <a:uFillTx/>
                <a:sym typeface="+mn-ea"/>
              </a:rPr>
              <a:t>	</a:t>
            </a:r>
            <a:r>
              <a:rPr lang="en-US" sz="1820" noProof="0" dirty="0" smtClean="0">
                <a:ln>
                  <a:noFill/>
                </a:ln>
                <a:effectLst/>
                <a:uLnTx/>
                <a:uFillTx/>
                <a:sym typeface="+mn-ea"/>
              </a:rPr>
              <a:t>Wright H. Norman, ‘A Christian Integrative Approach’ in  </a:t>
            </a:r>
            <a:r>
              <a:rPr lang="en-US" sz="1820" i="1" noProof="0" dirty="0" smtClean="0">
                <a:ln>
                  <a:noFill/>
                </a:ln>
                <a:effectLst/>
                <a:uLnTx/>
                <a:uFillTx/>
                <a:sym typeface="+mn-ea"/>
              </a:rPr>
              <a:t>Christian Marital  </a:t>
            </a:r>
            <a:r>
              <a:rPr lang="en-US" sz="1820" i="1" noProof="0" dirty="0" err="1" smtClean="0">
                <a:ln>
                  <a:noFill/>
                </a:ln>
                <a:effectLst/>
                <a:uLnTx/>
                <a:uFillTx/>
                <a:sym typeface="+mn-ea"/>
              </a:rPr>
              <a:t>Counselling</a:t>
            </a:r>
            <a:r>
              <a:rPr lang="en-US" sz="1820" noProof="0" dirty="0" smtClean="0">
                <a:ln>
                  <a:noFill/>
                </a:ln>
                <a:effectLst/>
                <a:uLnTx/>
                <a:uFillTx/>
                <a:sym typeface="+mn-ea"/>
              </a:rPr>
              <a:t> - </a:t>
            </a:r>
            <a:r>
              <a:rPr lang="en-US" sz="1820" i="1" noProof="0" dirty="0" smtClean="0">
                <a:ln>
                  <a:noFill/>
                </a:ln>
                <a:effectLst/>
                <a:uLnTx/>
                <a:uFillTx/>
                <a:sym typeface="+mn-ea"/>
              </a:rPr>
              <a:t>Eight Approaches to Help </a:t>
            </a:r>
            <a:r>
              <a:rPr lang="en-US" sz="1820" i="1" noProof="0" dirty="0" err="1" smtClean="0">
                <a:ln>
                  <a:noFill/>
                </a:ln>
                <a:effectLst/>
                <a:uLnTx/>
                <a:uFillTx/>
                <a:sym typeface="+mn-ea"/>
              </a:rPr>
              <a:t>ing</a:t>
            </a:r>
            <a:r>
              <a:rPr lang="en-US" sz="1820" i="1" noProof="0" dirty="0" smtClean="0">
                <a:ln>
                  <a:noFill/>
                </a:ln>
                <a:effectLst/>
                <a:uLnTx/>
                <a:uFillTx/>
                <a:sym typeface="+mn-ea"/>
              </a:rPr>
              <a:t> Couples</a:t>
            </a:r>
            <a:r>
              <a:rPr lang="en-US" sz="1820" noProof="0" dirty="0" smtClean="0">
                <a:ln>
                  <a:noFill/>
                </a:ln>
                <a:effectLst/>
                <a:uLnTx/>
                <a:uFillTx/>
                <a:sym typeface="+mn-ea"/>
              </a:rPr>
              <a:t>’, edited by  Worthington Jr. Everett L.,  Copyright (C)1996 by Baker Books, Baker Book House Grand Rapids, Michigan USA, First Indian edition 1999 ,  ISBN 81-7362-209-4. pg 189,191.</a:t>
            </a:r>
            <a:endParaRPr kumimoji="0" lang="en-US" sz="182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endParaRPr lang="en-US" sz="1820"/>
          </a:p>
        </p:txBody>
      </p:sp>
      <p:sp>
        <p:nvSpPr>
          <p:cNvPr id="3" name="Title 2"/>
          <p:cNvSpPr>
            <a:spLocks noGrp="1"/>
          </p:cNvSpPr>
          <p:nvPr>
            <p:ph type="title"/>
          </p:nvPr>
        </p:nvSpPr>
        <p:spPr>
          <a:xfrm>
            <a:off x="457200" y="274955"/>
            <a:ext cx="8229600" cy="873760"/>
          </a:xfrm>
        </p:spPr>
        <p:txBody>
          <a:bodyPr/>
          <a:p>
            <a:pPr algn="ctr"/>
            <a:r>
              <a:rPr lang="en-US" sz="4000" noProof="0" dirty="0" smtClean="0">
                <a:ln>
                  <a:noFill/>
                </a:ln>
                <a:solidFill>
                  <a:schemeClr val="bg2">
                    <a:lumMod val="50000"/>
                  </a:schemeClr>
                </a:solidFill>
                <a:effectLst/>
                <a:uLnTx/>
                <a:uFillTx/>
                <a:latin typeface="Baskerville Old Face" panose="02020602080505020303" pitchFamily="18" charset="0"/>
                <a:cs typeface="Baskerville Old Face" panose="02020602080505020303" pitchFamily="18" charset="0"/>
                <a:sym typeface="+mn-ea"/>
              </a:rPr>
              <a:t>The Goal of the Counseling</a:t>
            </a:r>
            <a:endParaRPr lang="en-US" sz="4000" noProof="0" dirty="0" smtClean="0">
              <a:ln>
                <a:noFill/>
              </a:ln>
              <a:solidFill>
                <a:schemeClr val="bg2">
                  <a:lumMod val="50000"/>
                </a:schemeClr>
              </a:solidFill>
              <a:effectLst/>
              <a:uLnTx/>
              <a:uFillTx/>
              <a:latin typeface="Baskerville Old Face" panose="02020602080505020303" pitchFamily="18" charset="0"/>
              <a:cs typeface="Baskerville Old Face" panose="02020602080505020303" pitchFamily="18"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1219073"/>
            <a:ext cx="8229600" cy="4525963"/>
          </a:xfrm>
        </p:spPr>
        <p:txBody>
          <a:bodyPr>
            <a:normAutofit fontScale="90000"/>
          </a:bodyPr>
          <a:p>
            <a:pPr indent="457200" defTabSz="914400">
              <a:buNone/>
              <a:tabLst>
                <a:tab pos="457200" algn="l"/>
              </a:tabLst>
            </a:pPr>
            <a:r>
              <a:rPr b="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The Counsellor must believe in Christ, and in the Scriptures; </a:t>
            </a:r>
            <a:endParaRPr b="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endParaRPr>
          </a:p>
          <a:p>
            <a:pPr indent="457200" defTabSz="914400">
              <a:buNone/>
              <a:tabLst>
                <a:tab pos="457200" algn="l"/>
              </a:tabLst>
            </a:pPr>
            <a:r>
              <a:rPr b="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He/she must truly  live a life </a:t>
            </a:r>
            <a:r>
              <a:rPr b="1" i="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in</a:t>
            </a:r>
            <a:r>
              <a:rPr b="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 Christ, so that he/she can counsel the Counsellee  in such a way, as to lead them through the process of repentance and re-dedication to Christ ; </a:t>
            </a:r>
            <a:endParaRPr b="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endParaRPr>
          </a:p>
          <a:p>
            <a:pPr indent="457200" defTabSz="914400">
              <a:buNone/>
              <a:tabLst>
                <a:tab pos="457200" algn="l"/>
              </a:tabLst>
            </a:pPr>
            <a:r>
              <a:rPr b="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He/she must help them to love God with all their hearts, minds and souls and, lead them towards the goal of a Victorious, Spiritually Healthy Christian life.</a:t>
            </a:r>
            <a:endParaRPr b="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endParaRPr>
          </a:p>
          <a:p>
            <a:pPr indent="457200" algn="ctr" defTabSz="914400">
              <a:buNone/>
              <a:tabLst>
                <a:tab pos="457200" algn="l"/>
              </a:tabLst>
            </a:pPr>
            <a:r>
              <a:rPr dirty="0">
                <a:latin typeface="Times New Roman" panose="02020603050405020304" pitchFamily="18" charset="0"/>
                <a:ea typeface="Arial" panose="020B0604020202020204" pitchFamily="34" charset="0"/>
                <a:cs typeface="Times New Roman" panose="02020603050405020304" pitchFamily="18" charset="0"/>
                <a:sym typeface="+mn-ea"/>
              </a:rPr>
              <a:t>+++++++</a:t>
            </a:r>
            <a:endParaRPr dirty="0">
              <a:latin typeface="Times New Roman" panose="02020603050405020304" pitchFamily="18" charset="0"/>
              <a:ea typeface="Arial" panose="020B0604020202020204" pitchFamily="34" charset="0"/>
              <a:cs typeface="Times New Roman" panose="02020603050405020304" pitchFamily="18" charset="0"/>
            </a:endParaRPr>
          </a:p>
          <a:p>
            <a:endParaRPr lang="en-US"/>
          </a:p>
        </p:txBody>
      </p:sp>
      <p:sp>
        <p:nvSpPr>
          <p:cNvPr id="3" name="Title 2"/>
          <p:cNvSpPr>
            <a:spLocks noGrp="1"/>
          </p:cNvSpPr>
          <p:nvPr>
            <p:ph type="title"/>
          </p:nvPr>
        </p:nvSpPr>
        <p:spPr>
          <a:xfrm>
            <a:off x="457200" y="274955"/>
            <a:ext cx="8229600" cy="905510"/>
          </a:xfrm>
        </p:spPr>
        <p:txBody>
          <a:bodyPr>
            <a:normAutofit/>
          </a:bodyPr>
          <a:p>
            <a:pPr algn="ctr"/>
            <a:r>
              <a:rPr lang="en-US" sz="4000" i="1" cap="all" noProof="0" dirty="0" smtClean="0">
                <a:ln w="500">
                  <a:solidFill>
                    <a:schemeClr val="tx2">
                      <a:shade val="20000"/>
                      <a:satMod val="120000"/>
                    </a:schemeClr>
                  </a:solidFill>
                </a:ln>
                <a:solidFill>
                  <a:schemeClr val="bg2">
                    <a:lumMod val="25000"/>
                  </a:schemeClr>
                </a:solidFill>
                <a:effectLst/>
                <a:uLnTx/>
                <a:uFillTx/>
                <a:sym typeface="+mn-ea"/>
              </a:rPr>
              <a:t> a </a:t>
            </a:r>
            <a:r>
              <a:rPr lang="en-US" sz="4000" i="1" cap="all" noProof="0" dirty="0" err="1" smtClean="0">
                <a:ln w="500">
                  <a:solidFill>
                    <a:schemeClr val="tx2">
                      <a:shade val="20000"/>
                      <a:satMod val="120000"/>
                    </a:schemeClr>
                  </a:solidFill>
                </a:ln>
                <a:solidFill>
                  <a:schemeClr val="bg2">
                    <a:lumMod val="25000"/>
                  </a:schemeClr>
                </a:solidFill>
                <a:effectLst/>
                <a:uLnTx/>
                <a:uFillTx/>
                <a:sym typeface="+mn-ea"/>
              </a:rPr>
              <a:t>christian</a:t>
            </a:r>
            <a:r>
              <a:rPr lang="en-US" sz="4000" i="1" cap="all" noProof="0" dirty="0" smtClean="0">
                <a:ln w="500">
                  <a:solidFill>
                    <a:schemeClr val="tx2">
                      <a:shade val="20000"/>
                      <a:satMod val="120000"/>
                    </a:schemeClr>
                  </a:solidFill>
                </a:ln>
                <a:solidFill>
                  <a:schemeClr val="bg2">
                    <a:lumMod val="25000"/>
                  </a:schemeClr>
                </a:solidFill>
                <a:effectLst/>
                <a:uLnTx/>
                <a:uFillTx/>
                <a:sym typeface="+mn-ea"/>
              </a:rPr>
              <a:t> </a:t>
            </a:r>
            <a:r>
              <a:rPr lang="en-US" sz="4000" i="1" cap="all" noProof="0" dirty="0" err="1" smtClean="0">
                <a:ln w="500">
                  <a:solidFill>
                    <a:schemeClr val="tx2">
                      <a:shade val="20000"/>
                      <a:satMod val="120000"/>
                    </a:schemeClr>
                  </a:solidFill>
                </a:ln>
                <a:solidFill>
                  <a:schemeClr val="bg2">
                    <a:lumMod val="25000"/>
                  </a:schemeClr>
                </a:solidFill>
                <a:effectLst/>
                <a:uLnTx/>
                <a:uFillTx/>
                <a:sym typeface="+mn-ea"/>
              </a:rPr>
              <a:t>counsellor</a:t>
            </a:r>
            <a:endParaRPr lang="en-US" sz="4000" i="1" cap="all" noProof="0" dirty="0" err="1" smtClean="0">
              <a:ln w="500">
                <a:solidFill>
                  <a:schemeClr val="tx2">
                    <a:shade val="20000"/>
                    <a:satMod val="120000"/>
                  </a:schemeClr>
                </a:solidFill>
              </a:ln>
              <a:solidFill>
                <a:schemeClr val="bg2">
                  <a:lumMod val="25000"/>
                </a:schemeClr>
              </a:solidFill>
              <a:effectLst/>
              <a:uLnTx/>
              <a:uFillTx/>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p:txBody>
          <a:bodyPr>
            <a:normAutofit fontScale="70000"/>
          </a:bodyPr>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r>
              <a:rPr lang="en-US" b="1" noProof="0" dirty="0" smtClean="0">
                <a:ln>
                  <a:noFill/>
                </a:ln>
                <a:solidFill>
                  <a:schemeClr val="bg2">
                    <a:lumMod val="25000"/>
                  </a:schemeClr>
                </a:solidFill>
                <a:effectLst/>
                <a:uLnTx/>
                <a:uFillTx/>
                <a:sym typeface="+mn-ea"/>
              </a:rPr>
              <a:t>‘Christian </a:t>
            </a:r>
            <a:r>
              <a:rPr lang="en-US" b="1" noProof="0" dirty="0" err="1" smtClean="0">
                <a:ln>
                  <a:noFill/>
                </a:ln>
                <a:solidFill>
                  <a:schemeClr val="bg2">
                    <a:lumMod val="25000"/>
                  </a:schemeClr>
                </a:solidFill>
                <a:effectLst/>
                <a:uLnTx/>
                <a:uFillTx/>
                <a:sym typeface="+mn-ea"/>
              </a:rPr>
              <a:t>Counselling</a:t>
            </a:r>
            <a:r>
              <a:rPr lang="en-US" b="1" noProof="0" dirty="0" smtClean="0">
                <a:ln>
                  <a:noFill/>
                </a:ln>
                <a:solidFill>
                  <a:schemeClr val="bg2">
                    <a:lumMod val="25000"/>
                  </a:schemeClr>
                </a:solidFill>
                <a:effectLst/>
                <a:uLnTx/>
                <a:uFillTx/>
                <a:sym typeface="+mn-ea"/>
              </a:rPr>
              <a:t> is an </a:t>
            </a:r>
            <a:r>
              <a:rPr lang="en-US" b="1" i="1" noProof="0" dirty="0" smtClean="0">
                <a:ln>
                  <a:noFill/>
                </a:ln>
                <a:solidFill>
                  <a:schemeClr val="bg2">
                    <a:lumMod val="25000"/>
                  </a:schemeClr>
                </a:solidFill>
                <a:effectLst/>
                <a:uLnTx/>
                <a:uFillTx/>
                <a:sym typeface="+mn-ea"/>
              </a:rPr>
              <a:t>approach</a:t>
            </a:r>
            <a:r>
              <a:rPr lang="en-US" b="1" noProof="0" dirty="0" smtClean="0">
                <a:ln>
                  <a:noFill/>
                </a:ln>
                <a:solidFill>
                  <a:schemeClr val="bg2">
                    <a:lumMod val="25000"/>
                  </a:schemeClr>
                </a:solidFill>
                <a:effectLst/>
                <a:uLnTx/>
                <a:uFillTx/>
                <a:sym typeface="+mn-ea"/>
              </a:rPr>
              <a:t>, based on what God has said and what Christ and His apostles have experienced about human nature and the problems associated with it and, draws on the truths as revealed in the Bible by God, through His prophets and apostles.  </a:t>
            </a:r>
            <a:endParaRPr kumimoji="0" lang="en-US" b="1" i="0" u="none" strike="noStrike" kern="1200" cap="none" spc="0" normalizeH="0" baseline="0" noProof="0" dirty="0" smtClean="0">
              <a:ln>
                <a:noFill/>
              </a:ln>
              <a:solidFill>
                <a:schemeClr val="bg2">
                  <a:lumMod val="25000"/>
                </a:schemeClr>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r>
              <a:rPr lang="en-US" b="1" noProof="0" dirty="0" smtClean="0">
                <a:ln>
                  <a:noFill/>
                </a:ln>
                <a:solidFill>
                  <a:schemeClr val="bg2">
                    <a:lumMod val="25000"/>
                  </a:schemeClr>
                </a:solidFill>
                <a:effectLst/>
                <a:uLnTx/>
                <a:uFillTx/>
                <a:sym typeface="+mn-ea"/>
              </a:rPr>
              <a:t>Thus it can be seen that in this method of Christian </a:t>
            </a:r>
            <a:r>
              <a:rPr lang="en-US" b="1" noProof="0" dirty="0" err="1" smtClean="0">
                <a:ln>
                  <a:noFill/>
                </a:ln>
                <a:solidFill>
                  <a:schemeClr val="bg2">
                    <a:lumMod val="25000"/>
                  </a:schemeClr>
                </a:solidFill>
                <a:effectLst/>
                <a:uLnTx/>
                <a:uFillTx/>
                <a:sym typeface="+mn-ea"/>
              </a:rPr>
              <a:t>Counselling</a:t>
            </a:r>
            <a:r>
              <a:rPr lang="en-US" b="1" noProof="0" dirty="0" smtClean="0">
                <a:ln>
                  <a:noFill/>
                </a:ln>
                <a:solidFill>
                  <a:schemeClr val="bg2">
                    <a:lumMod val="25000"/>
                  </a:schemeClr>
                </a:solidFill>
                <a:effectLst/>
                <a:uLnTx/>
                <a:uFillTx/>
                <a:sym typeface="+mn-ea"/>
              </a:rPr>
              <a:t>, the perspectives are based on the biblical revelation which is the foundation and, on it are built various stages of  </a:t>
            </a:r>
            <a:r>
              <a:rPr lang="en-US" b="1" noProof="0" dirty="0" err="1" smtClean="0">
                <a:ln>
                  <a:noFill/>
                </a:ln>
                <a:solidFill>
                  <a:schemeClr val="bg2">
                    <a:lumMod val="25000"/>
                  </a:schemeClr>
                </a:solidFill>
                <a:effectLst/>
                <a:uLnTx/>
                <a:uFillTx/>
                <a:sym typeface="+mn-ea"/>
              </a:rPr>
              <a:t>Counselling</a:t>
            </a:r>
            <a:r>
              <a:rPr lang="en-US" b="1" noProof="0" dirty="0" smtClean="0">
                <a:ln>
                  <a:noFill/>
                </a:ln>
                <a:solidFill>
                  <a:schemeClr val="bg2">
                    <a:lumMod val="25000"/>
                  </a:schemeClr>
                </a:solidFill>
                <a:effectLst/>
                <a:uLnTx/>
                <a:uFillTx/>
                <a:sym typeface="+mn-ea"/>
              </a:rPr>
              <a:t> methodology to deal with different areas of human psyche.  </a:t>
            </a:r>
            <a:endParaRPr kumimoji="0" lang="en-US" b="1" i="0" u="none" strike="noStrike" kern="1200" cap="none" spc="0" normalizeH="0" baseline="0" noProof="0" dirty="0" smtClean="0">
              <a:ln>
                <a:noFill/>
              </a:ln>
              <a:solidFill>
                <a:schemeClr val="bg2">
                  <a:lumMod val="25000"/>
                </a:schemeClr>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r>
              <a:rPr lang="en-US" b="1" noProof="0" dirty="0" smtClean="0">
                <a:ln>
                  <a:noFill/>
                </a:ln>
                <a:solidFill>
                  <a:schemeClr val="bg2">
                    <a:lumMod val="25000"/>
                  </a:schemeClr>
                </a:solidFill>
                <a:effectLst/>
                <a:uLnTx/>
                <a:uFillTx/>
                <a:sym typeface="+mn-ea"/>
              </a:rPr>
              <a:t>Alternately, Christian </a:t>
            </a:r>
            <a:r>
              <a:rPr lang="en-US" b="1" noProof="0" dirty="0" err="1" smtClean="0">
                <a:ln>
                  <a:noFill/>
                </a:ln>
                <a:solidFill>
                  <a:schemeClr val="bg2">
                    <a:lumMod val="25000"/>
                  </a:schemeClr>
                </a:solidFill>
                <a:effectLst/>
                <a:uLnTx/>
                <a:uFillTx/>
                <a:sym typeface="+mn-ea"/>
              </a:rPr>
              <a:t>Counselling</a:t>
            </a:r>
            <a:r>
              <a:rPr lang="en-US" b="1" noProof="0" dirty="0" smtClean="0">
                <a:ln>
                  <a:noFill/>
                </a:ln>
                <a:solidFill>
                  <a:schemeClr val="bg2">
                    <a:lumMod val="25000"/>
                  </a:schemeClr>
                </a:solidFill>
                <a:effectLst/>
                <a:uLnTx/>
                <a:uFillTx/>
                <a:sym typeface="+mn-ea"/>
              </a:rPr>
              <a:t> can also, be termed as Bible-based </a:t>
            </a:r>
            <a:r>
              <a:rPr lang="en-US" b="1" noProof="0" dirty="0" err="1" smtClean="0">
                <a:ln>
                  <a:noFill/>
                </a:ln>
                <a:solidFill>
                  <a:schemeClr val="bg2">
                    <a:lumMod val="25000"/>
                  </a:schemeClr>
                </a:solidFill>
                <a:effectLst/>
                <a:uLnTx/>
                <a:uFillTx/>
                <a:sym typeface="+mn-ea"/>
              </a:rPr>
              <a:t>Counselling</a:t>
            </a:r>
            <a:r>
              <a:rPr lang="en-US" b="1" noProof="0" dirty="0" smtClean="0">
                <a:ln>
                  <a:noFill/>
                </a:ln>
                <a:solidFill>
                  <a:schemeClr val="bg2">
                    <a:lumMod val="25000"/>
                  </a:schemeClr>
                </a:solidFill>
                <a:effectLst/>
                <a:uLnTx/>
                <a:uFillTx/>
                <a:sym typeface="+mn-ea"/>
              </a:rPr>
              <a:t>’ .</a:t>
            </a:r>
            <a:endParaRPr lang="en-US" b="1" noProof="0" dirty="0" smtClean="0">
              <a:ln>
                <a:noFill/>
              </a:ln>
              <a:solidFill>
                <a:schemeClr val="bg2">
                  <a:lumMod val="25000"/>
                </a:schemeClr>
              </a:solidFill>
              <a:effectLst/>
              <a:uLnTx/>
              <a:uFillTx/>
              <a:sym typeface="+mn-ea"/>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endParaRPr lang="en-US" sz="2000" b="1" noProof="0" dirty="0" smtClean="0">
              <a:ln>
                <a:noFill/>
              </a:ln>
              <a:solidFill>
                <a:schemeClr val="bg2">
                  <a:lumMod val="25000"/>
                </a:schemeClr>
              </a:solidFill>
              <a:effectLst/>
              <a:uLnTx/>
              <a:uFillTx/>
              <a:sym typeface="+mn-ea"/>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r>
              <a:rPr lang="en-IN" sz="2000" b="1" noProof="0" dirty="0" smtClean="0">
                <a:ln>
                  <a:noFill/>
                </a:ln>
                <a:solidFill>
                  <a:schemeClr val="bg2">
                    <a:lumMod val="25000"/>
                  </a:schemeClr>
                </a:solidFill>
                <a:effectLst/>
                <a:uLnTx/>
                <a:uFillTx/>
                <a:sym typeface="+mn-ea"/>
              </a:rPr>
              <a:t>T.S. </a:t>
            </a:r>
            <a:r>
              <a:rPr lang="en-IN" sz="2000" b="1" noProof="0" dirty="0" err="1" smtClean="0">
                <a:ln>
                  <a:noFill/>
                </a:ln>
                <a:solidFill>
                  <a:schemeClr val="bg2">
                    <a:lumMod val="25000"/>
                  </a:schemeClr>
                </a:solidFill>
                <a:effectLst/>
                <a:uLnTx/>
                <a:uFillTx/>
                <a:sym typeface="+mn-ea"/>
              </a:rPr>
              <a:t>Kanagaraj</a:t>
            </a:r>
            <a:r>
              <a:rPr lang="en-IN" sz="2000" b="1" noProof="0" dirty="0" smtClean="0">
                <a:ln>
                  <a:noFill/>
                </a:ln>
                <a:solidFill>
                  <a:schemeClr val="bg2">
                    <a:lumMod val="25000"/>
                  </a:schemeClr>
                </a:solidFill>
                <a:effectLst/>
                <a:uLnTx/>
                <a:uFillTx/>
                <a:sym typeface="+mn-ea"/>
              </a:rPr>
              <a:t> , B.E.(</a:t>
            </a:r>
            <a:r>
              <a:rPr lang="en-IN" sz="2000" b="1" noProof="0" dirty="0" err="1" smtClean="0">
                <a:ln>
                  <a:noFill/>
                </a:ln>
                <a:solidFill>
                  <a:schemeClr val="bg2">
                    <a:lumMod val="25000"/>
                  </a:schemeClr>
                </a:solidFill>
                <a:effectLst/>
                <a:uLnTx/>
                <a:uFillTx/>
                <a:sym typeface="+mn-ea"/>
              </a:rPr>
              <a:t>Mech</a:t>
            </a:r>
            <a:r>
              <a:rPr lang="en-IN" sz="2000" b="1" noProof="0" dirty="0" smtClean="0">
                <a:ln>
                  <a:noFill/>
                </a:ln>
                <a:solidFill>
                  <a:schemeClr val="bg2">
                    <a:lumMod val="25000"/>
                  </a:schemeClr>
                </a:solidFill>
                <a:effectLst/>
                <a:uLnTx/>
                <a:uFillTx/>
                <a:sym typeface="+mn-ea"/>
              </a:rPr>
              <a:t>), M.B.A., M.Div., Christian Counsellor,  Founder</a:t>
            </a:r>
            <a:r>
              <a:rPr lang="en-US" altLang="en-IN" sz="2000" b="1" noProof="0" dirty="0" smtClean="0">
                <a:ln>
                  <a:noFill/>
                </a:ln>
                <a:solidFill>
                  <a:schemeClr val="bg2">
                    <a:lumMod val="25000"/>
                  </a:schemeClr>
                </a:solidFill>
                <a:effectLst/>
                <a:uLnTx/>
                <a:uFillTx/>
                <a:sym typeface="+mn-ea"/>
              </a:rPr>
              <a:t> -</a:t>
            </a:r>
            <a:r>
              <a:rPr lang="en-IN" sz="2000" b="1" noProof="0" dirty="0" err="1" smtClean="0">
                <a:ln>
                  <a:noFill/>
                </a:ln>
                <a:solidFill>
                  <a:schemeClr val="bg2">
                    <a:lumMod val="25000"/>
                  </a:schemeClr>
                </a:solidFill>
                <a:effectLst/>
                <a:uLnTx/>
                <a:uFillTx/>
                <a:sym typeface="+mn-ea"/>
              </a:rPr>
              <a:t>Shantha</a:t>
            </a:r>
            <a:r>
              <a:rPr lang="en-IN" sz="2000" b="1" noProof="0" dirty="0" smtClean="0">
                <a:ln>
                  <a:noFill/>
                </a:ln>
                <a:solidFill>
                  <a:schemeClr val="bg2">
                    <a:lumMod val="25000"/>
                  </a:schemeClr>
                </a:solidFill>
                <a:effectLst/>
                <a:uLnTx/>
                <a:uFillTx/>
                <a:sym typeface="+mn-ea"/>
              </a:rPr>
              <a:t> </a:t>
            </a:r>
            <a:r>
              <a:rPr lang="en-IN" sz="2000" b="1" noProof="0" dirty="0" err="1" smtClean="0">
                <a:ln>
                  <a:noFill/>
                </a:ln>
                <a:solidFill>
                  <a:schemeClr val="bg2">
                    <a:lumMod val="25000"/>
                  </a:schemeClr>
                </a:solidFill>
                <a:effectLst/>
                <a:uLnTx/>
                <a:uFillTx/>
                <a:sym typeface="+mn-ea"/>
              </a:rPr>
              <a:t>C.Ramchander</a:t>
            </a:r>
            <a:r>
              <a:rPr lang="en-IN" sz="2000" b="1" noProof="0" dirty="0" smtClean="0">
                <a:ln>
                  <a:noFill/>
                </a:ln>
                <a:solidFill>
                  <a:schemeClr val="bg2">
                    <a:lumMod val="25000"/>
                  </a:schemeClr>
                </a:solidFill>
                <a:effectLst/>
                <a:uLnTx/>
                <a:uFillTx/>
                <a:sym typeface="+mn-ea"/>
              </a:rPr>
              <a:t> Charitable Trust.</a:t>
            </a:r>
            <a:endParaRPr lang="en-IN" sz="2000" b="1" noProof="0" dirty="0" smtClean="0">
              <a:ln>
                <a:noFill/>
              </a:ln>
              <a:solidFill>
                <a:schemeClr val="bg2">
                  <a:lumMod val="25000"/>
                </a:schemeClr>
              </a:solidFill>
              <a:effectLst/>
              <a:uLnTx/>
              <a:uFillTx/>
              <a:sym typeface="+mn-ea"/>
            </a:endParaRPr>
          </a:p>
        </p:txBody>
      </p:sp>
      <p:sp>
        <p:nvSpPr>
          <p:cNvPr id="3" name="Title 2"/>
          <p:cNvSpPr>
            <a:spLocks noGrp="1"/>
          </p:cNvSpPr>
          <p:nvPr>
            <p:ph type="title"/>
          </p:nvPr>
        </p:nvSpPr>
        <p:spPr/>
        <p:txBody>
          <a:bodyPr>
            <a:normAutofit/>
          </a:bodyPr>
          <a:p>
            <a:pPr algn="ctr"/>
            <a:r>
              <a:rPr lang="en-US" sz="3600">
                <a:latin typeface="Baskerville Old Face" panose="02020602080505020303" pitchFamily="18" charset="0"/>
                <a:cs typeface="Baskerville Old Face" panose="02020602080505020303" pitchFamily="18" charset="0"/>
              </a:rPr>
              <a:t>Christian Counselling - Definition</a:t>
            </a:r>
            <a:endParaRPr lang="en-US" sz="3600">
              <a:latin typeface="Baskerville Old Face" panose="02020602080505020303" pitchFamily="18" charset="0"/>
              <a:cs typeface="Baskerville Old Face" panose="020206020805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p:txBody>
          <a:bodyPr/>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r>
              <a:rPr lang="en-US" sz="2700" noProof="0" dirty="0" smtClean="0">
                <a:ln>
                  <a:noFill/>
                </a:ln>
                <a:effectLst/>
                <a:uLnTx/>
                <a:uFillTx/>
                <a:latin typeface="Britannic Bold" panose="020B0903060703020204" pitchFamily="34" charset="0"/>
                <a:sym typeface="+mn-ea"/>
              </a:rPr>
              <a:t>‘A CHRISTIAN COUNSELLOR’S WORK IS UNSEEN, BUT, HIGHLY POWERFUL AND AFFECTIVE IN GOD’S KINGDOM.  </a:t>
            </a:r>
            <a:endParaRPr kumimoji="0" lang="en-US" sz="2700" b="0" i="0" u="none" strike="noStrike" kern="1200" cap="none" spc="0" normalizeH="0" baseline="0" noProof="0" dirty="0" smtClean="0">
              <a:ln>
                <a:noFill/>
              </a:ln>
              <a:solidFill>
                <a:schemeClr val="tx1"/>
              </a:solidFill>
              <a:effectLst/>
              <a:uLnTx/>
              <a:uFillTx/>
              <a:latin typeface="Britannic Bold" panose="020B0903060703020204" pitchFamily="34" charset="0"/>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panose="05020102010507070707"/>
              <a:buChar char=""/>
              <a:defRPr/>
            </a:pPr>
            <a:r>
              <a:rPr lang="en-US" sz="2700" noProof="0" dirty="0" smtClean="0">
                <a:ln>
                  <a:noFill/>
                </a:ln>
                <a:effectLst/>
                <a:uLnTx/>
                <a:uFillTx/>
                <a:latin typeface="Britannic Bold" panose="020B0903060703020204" pitchFamily="34" charset="0"/>
                <a:sym typeface="+mn-ea"/>
              </a:rPr>
              <a:t>AS WE COUNSEL – THE DIRECTION AND PURPOSE  OF THE COUNSELLEES’ LIVES TURN FOR THE BETTER AND, ULTIMATELY TURN TOWARDS ETERNITY, IN CHRIST.’</a:t>
            </a:r>
            <a:endParaRPr kumimoji="0" lang="en-US" sz="2700" b="0" i="0" u="none" strike="noStrike" kern="1200" cap="none" spc="0" normalizeH="0" baseline="0" noProof="0" dirty="0" smtClean="0">
              <a:ln>
                <a:noFill/>
              </a:ln>
              <a:solidFill>
                <a:schemeClr val="tx1"/>
              </a:solidFill>
              <a:effectLst/>
              <a:uLnTx/>
              <a:uFillTx/>
              <a:latin typeface="Britannic Bold" panose="020B0903060703020204" pitchFamily="34" charset="0"/>
              <a:ea typeface="+mn-ea"/>
              <a:cs typeface="+mn-cs"/>
            </a:endParaRPr>
          </a:p>
          <a:p>
            <a:pPr marL="2057400" marR="0" lvl="8" indent="-182880" algn="l" defTabSz="914400" rtl="0" eaLnBrk="1" fontAlgn="auto" latinLnBrk="0" hangingPunct="1">
              <a:lnSpc>
                <a:spcPct val="100000"/>
              </a:lnSpc>
              <a:spcBef>
                <a:spcPct val="20000"/>
              </a:spcBef>
              <a:spcAft>
                <a:spcPts val="0"/>
              </a:spcAft>
              <a:buClr>
                <a:schemeClr val="accent4"/>
              </a:buClr>
              <a:buSzPct val="100000"/>
              <a:buFont typeface="Wingdings" panose="05000000000000000000"/>
              <a:buChar char="§"/>
              <a:defRPr/>
            </a:pPr>
            <a:r>
              <a:rPr lang="en-US" sz="2700" noProof="0" dirty="0" smtClean="0">
                <a:ln>
                  <a:noFill/>
                </a:ln>
                <a:effectLst/>
                <a:uLnTx/>
                <a:uFillTx/>
                <a:latin typeface="Britannic Bold" panose="020B0903060703020204" pitchFamily="34" charset="0"/>
                <a:sym typeface="+mn-ea"/>
              </a:rPr>
              <a:t>                         Dr. P. </a:t>
            </a:r>
            <a:r>
              <a:rPr lang="en-US" sz="2700" noProof="0" dirty="0" err="1" smtClean="0">
                <a:ln>
                  <a:noFill/>
                </a:ln>
                <a:effectLst/>
                <a:uLnTx/>
                <a:uFillTx/>
                <a:latin typeface="Britannic Bold" panose="020B0903060703020204" pitchFamily="34" charset="0"/>
                <a:sym typeface="+mn-ea"/>
              </a:rPr>
              <a:t>Kanagaraj</a:t>
            </a:r>
            <a:r>
              <a:rPr lang="en-US" sz="2700" noProof="0" dirty="0" smtClean="0">
                <a:ln>
                  <a:noFill/>
                </a:ln>
                <a:effectLst/>
                <a:uLnTx/>
                <a:uFillTx/>
                <a:latin typeface="Britannic Bold" panose="020B0903060703020204" pitchFamily="34" charset="0"/>
                <a:sym typeface="+mn-ea"/>
              </a:rPr>
              <a:t> </a:t>
            </a:r>
            <a:endParaRPr kumimoji="0" lang="en-US" sz="2700" b="0" i="0" u="none" strike="noStrike" kern="1200" cap="none" spc="0" normalizeH="0" baseline="0" noProof="0" dirty="0">
              <a:ln>
                <a:noFill/>
              </a:ln>
              <a:solidFill>
                <a:schemeClr val="tx1"/>
              </a:solidFill>
              <a:effectLst/>
              <a:uLnTx/>
              <a:uFillTx/>
              <a:latin typeface="Britannic Bold" panose="020B0903060703020204" pitchFamily="34" charset="0"/>
              <a:ea typeface="+mn-ea"/>
              <a:cs typeface="+mn-cs"/>
            </a:endParaRPr>
          </a:p>
          <a:p>
            <a:endParaRPr lang="en-US"/>
          </a:p>
        </p:txBody>
      </p:sp>
      <p:sp>
        <p:nvSpPr>
          <p:cNvPr id="3" name="Title 2"/>
          <p:cNvSpPr>
            <a:spLocks noGrp="1"/>
          </p:cNvSpPr>
          <p:nvPr>
            <p:ph type="title"/>
          </p:nvPr>
        </p:nvSpPr>
        <p:spPr/>
        <p:txBody>
          <a:bodyPr/>
          <a:p>
            <a:pPr algn="ctr"/>
            <a:r>
              <a:rPr lang="en-US" i="1">
                <a:solidFill>
                  <a:schemeClr val="bg2">
                    <a:lumMod val="25000"/>
                  </a:schemeClr>
                </a:solidFill>
                <a:latin typeface="Baskerville Old Face" panose="02020602080505020303" pitchFamily="18" charset="0"/>
                <a:cs typeface="Baskerville Old Face" panose="02020602080505020303" pitchFamily="18" charset="0"/>
              </a:rPr>
              <a:t>Evangelism in Counselling</a:t>
            </a:r>
            <a:endParaRPr lang="en-US" i="1">
              <a:solidFill>
                <a:schemeClr val="bg2">
                  <a:lumMod val="25000"/>
                </a:schemeClr>
              </a:solidFill>
              <a:latin typeface="Baskerville Old Face" panose="02020602080505020303" pitchFamily="18" charset="0"/>
              <a:cs typeface="Baskerville Old Face" panose="02020602080505020303"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p:txBody>
          <a:bodyPr>
            <a:normAutofit fontScale="90000" lnSpcReduction="20000"/>
          </a:bodyPr>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The ultimate goal of a Christian Counsellor is to Evangelize.</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However, when the affected person is at his/her most vulnerable</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point in their lives (either ill, bed-ridden or in conflict/ problem) </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they </a:t>
            </a:r>
            <a:r>
              <a:rPr lang="en-US"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should not be</a:t>
            </a: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 talked into the decision to follow Christ. </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endParaRPr>
          </a:p>
          <a:p>
            <a:pPr algn="l" eaLnBrk="0" hangingPunct="0">
              <a:buNone/>
            </a:pP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Evangelizing the Gospel at all times, is imperative.  One has to </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respect their privacy of suffering, before they are led to Christ in </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a gentle manner.  </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If decisions are forced upon them, at such times, chances of such </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people backsliding</a:t>
            </a:r>
            <a:r>
              <a:rPr lang="en-US"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a:t>
            </a: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 into their former religious beliefs or habits, </a:t>
            </a:r>
            <a:endPar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endParaRPr>
          </a:p>
          <a:p>
            <a:pPr algn="l" eaLnBrk="0" hangingPunct="0">
              <a:buNone/>
            </a:pP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later on</a:t>
            </a:r>
            <a:r>
              <a:rPr i="1"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 </a:t>
            </a:r>
            <a:r>
              <a:rPr dirty="0">
                <a:solidFill>
                  <a:schemeClr val="bg2">
                    <a:lumMod val="25000"/>
                  </a:schemeClr>
                </a:solidFill>
                <a:latin typeface="Times New Roman" panose="02020603050405020304" pitchFamily="18" charset="0"/>
                <a:ea typeface="Arial" panose="020B0604020202020204" pitchFamily="34" charset="0"/>
                <a:cs typeface="Calibri" panose="020F0502020204030204" charset="0"/>
                <a:sym typeface="+mn-ea"/>
              </a:rPr>
              <a:t>are high.</a:t>
            </a:r>
            <a:endParaRPr dirty="0">
              <a:solidFill>
                <a:schemeClr val="bg2">
                  <a:lumMod val="25000"/>
                </a:schemeClr>
              </a:solidFill>
              <a:latin typeface="Times New Roman" panose="02020603050405020304" pitchFamily="18" charset="0"/>
              <a:ea typeface="Arial" panose="020B0604020202020204" pitchFamily="34" charset="0"/>
              <a:cs typeface="Times New Roman" panose="02020603050405020304" pitchFamily="18" charset="0"/>
            </a:endParaRPr>
          </a:p>
          <a:p>
            <a:pPr algn="l" eaLnBrk="0" hangingPunct="0">
              <a:buNone/>
            </a:pPr>
            <a:endParaRPr lang="en-US" dirty="0">
              <a:solidFill>
                <a:schemeClr val="bg2">
                  <a:lumMod val="25000"/>
                </a:schemeClr>
              </a:solidFill>
              <a:latin typeface="Times New Roman" panose="02020603050405020304" pitchFamily="18" charset="0"/>
              <a:ea typeface="Arial" panose="020B0604020202020204" pitchFamily="34" charset="0"/>
              <a:cs typeface="Times New Roman" panose="02020603050405020304" pitchFamily="18" charset="0"/>
            </a:endParaRPr>
          </a:p>
        </p:txBody>
      </p:sp>
      <p:sp>
        <p:nvSpPr>
          <p:cNvPr id="3" name="Title 2"/>
          <p:cNvSpPr>
            <a:spLocks noGrp="1"/>
          </p:cNvSpPr>
          <p:nvPr>
            <p:ph type="title"/>
          </p:nvPr>
        </p:nvSpPr>
        <p:spPr/>
        <p:txBody>
          <a:bodyPr>
            <a:normAutofit fontScale="90000"/>
          </a:bodyPr>
          <a:p>
            <a:r>
              <a:rPr lang="en-US" sz="3555" noProof="0" dirty="0" smtClean="0">
                <a:ln>
                  <a:noFill/>
                </a:ln>
                <a:solidFill>
                  <a:schemeClr val="bg2">
                    <a:lumMod val="25000"/>
                  </a:schemeClr>
                </a:solidFill>
                <a:effectLst/>
                <a:uLnTx/>
                <a:uFillTx/>
                <a:latin typeface="Times New Roman" panose="02020603050405020304" pitchFamily="18" charset="0"/>
                <a:ea typeface="Calibri" panose="020F0502020204030204" charset="0"/>
                <a:cs typeface="Times New Roman" panose="02020603050405020304" pitchFamily="18" charset="0"/>
                <a:sym typeface="+mn-ea"/>
              </a:rPr>
              <a:t>‘Christian </a:t>
            </a:r>
            <a:r>
              <a:rPr lang="en-US" sz="3555" noProof="0" dirty="0" err="1" smtClean="0">
                <a:ln>
                  <a:noFill/>
                </a:ln>
                <a:solidFill>
                  <a:schemeClr val="bg2">
                    <a:lumMod val="25000"/>
                  </a:schemeClr>
                </a:solidFill>
                <a:effectLst/>
                <a:uLnTx/>
                <a:uFillTx/>
                <a:latin typeface="Times New Roman" panose="02020603050405020304" pitchFamily="18" charset="0"/>
                <a:ea typeface="Calibri" panose="020F0502020204030204" charset="0"/>
                <a:cs typeface="Times New Roman" panose="02020603050405020304" pitchFamily="18" charset="0"/>
                <a:sym typeface="+mn-ea"/>
              </a:rPr>
              <a:t>Counselling</a:t>
            </a:r>
            <a:r>
              <a:rPr lang="en-US" sz="3555" noProof="0" dirty="0" smtClean="0">
                <a:ln>
                  <a:noFill/>
                </a:ln>
                <a:solidFill>
                  <a:schemeClr val="bg2">
                    <a:lumMod val="25000"/>
                  </a:schemeClr>
                </a:solidFill>
                <a:effectLst/>
                <a:uLnTx/>
                <a:uFillTx/>
                <a:latin typeface="Times New Roman" panose="02020603050405020304" pitchFamily="18" charset="0"/>
                <a:ea typeface="Calibri" panose="020F0502020204030204" charset="0"/>
                <a:cs typeface="Times New Roman" panose="02020603050405020304" pitchFamily="18" charset="0"/>
                <a:sym typeface="+mn-ea"/>
              </a:rPr>
              <a:t>’ as a  ‘Tool for Evangelism’.	</a:t>
            </a:r>
            <a:endParaRPr lang="en-US" sz="3555" noProof="0" dirty="0" smtClean="0">
              <a:ln>
                <a:noFill/>
              </a:ln>
              <a:solidFill>
                <a:schemeClr val="bg2">
                  <a:lumMod val="25000"/>
                </a:schemeClr>
              </a:solidFill>
              <a:effectLst/>
              <a:uLnTx/>
              <a:uFillTx/>
              <a:latin typeface="Times New Roman" panose="02020603050405020304" pitchFamily="18" charset="0"/>
              <a:ea typeface="Calibri" panose="020F0502020204030204" charset="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sz="half" idx="2"/>
          </p:nvPr>
        </p:nvSpPr>
        <p:spPr>
          <a:xfrm>
            <a:off x="8110855" y="1481455"/>
            <a:ext cx="575945" cy="4526280"/>
          </a:xfrm>
        </p:spPr>
        <p:txBody>
          <a:bodyPr/>
          <a:p>
            <a:endParaRPr lang="en-US"/>
          </a:p>
        </p:txBody>
      </p:sp>
      <p:sp>
        <p:nvSpPr>
          <p:cNvPr id="6" name="Title 5"/>
          <p:cNvSpPr>
            <a:spLocks noGrp="1"/>
          </p:cNvSpPr>
          <p:nvPr>
            <p:ph type="title"/>
          </p:nvPr>
        </p:nvSpPr>
        <p:spPr/>
        <p:txBody>
          <a:bodyPr/>
          <a:p>
            <a:r>
              <a:rPr lang="en-US"/>
              <a:t>             GOOD LISTENER !</a:t>
            </a:r>
            <a:endParaRPr lang="en-US"/>
          </a:p>
        </p:txBody>
      </p:sp>
      <p:pic>
        <p:nvPicPr>
          <p:cNvPr id="15364" name="Picture 3" descr="C:\Users\india\AppData\Local\Microsoft\Windows\Temporary Internet Files\Content.IE5\59EBIYCD\listen-woman-listening-young[1].jpg"/>
          <p:cNvPicPr>
            <a:picLocks noChangeAspect="1"/>
          </p:cNvPicPr>
          <p:nvPr>
            <p:ph sz="half" idx="1"/>
          </p:nvPr>
        </p:nvPicPr>
        <p:blipFill>
          <a:blip r:embed="rId1"/>
          <a:stretch>
            <a:fillRect/>
          </a:stretch>
        </p:blipFill>
        <p:spPr>
          <a:xfrm>
            <a:off x="1071245" y="1184275"/>
            <a:ext cx="7039610" cy="520573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sz="half" idx="1"/>
          </p:nvPr>
        </p:nvSpPr>
        <p:spPr>
          <a:xfrm>
            <a:off x="457200" y="1481455"/>
            <a:ext cx="8228965" cy="5375910"/>
          </a:xfrm>
        </p:spPr>
        <p:txBody>
          <a:bodyPr>
            <a:normAutofit lnSpcReduction="10000"/>
          </a:bodyPr>
          <a:p>
            <a:pPr eaLnBrk="1" hangingPunct="1">
              <a:buClr>
                <a:schemeClr val="accent1"/>
              </a:buClr>
              <a:buSzPct val="70000"/>
              <a:buFont typeface="Wingdings" panose="05000000000000000000" pitchFamily="2" charset="2"/>
            </a:pPr>
            <a:r>
              <a:rPr b="1" i="1" dirty="0">
                <a:solidFill>
                  <a:schemeClr val="tx2"/>
                </a:solidFill>
                <a:sym typeface="+mn-ea"/>
              </a:rPr>
              <a:t>We </a:t>
            </a:r>
            <a:r>
              <a:rPr lang="en-US" b="1" i="1" dirty="0">
                <a:solidFill>
                  <a:schemeClr val="tx2"/>
                </a:solidFill>
                <a:sym typeface="+mn-ea"/>
              </a:rPr>
              <a:t>do not listen to understand, but we </a:t>
            </a:r>
            <a:r>
              <a:rPr b="1" i="1" dirty="0">
                <a:solidFill>
                  <a:schemeClr val="tx2"/>
                </a:solidFill>
                <a:sym typeface="+mn-ea"/>
              </a:rPr>
              <a:t>listen </a:t>
            </a:r>
            <a:r>
              <a:rPr lang="en-US" b="1" i="1" dirty="0">
                <a:solidFill>
                  <a:schemeClr val="tx2"/>
                </a:solidFill>
                <a:sym typeface="+mn-ea"/>
              </a:rPr>
              <a:t> to reply </a:t>
            </a:r>
            <a:r>
              <a:rPr b="1" i="1" dirty="0">
                <a:solidFill>
                  <a:schemeClr val="tx2"/>
                </a:solidFill>
                <a:sym typeface="+mn-ea"/>
              </a:rPr>
              <a:t>!</a:t>
            </a:r>
            <a:endParaRPr b="1" i="1" dirty="0">
              <a:solidFill>
                <a:schemeClr val="tx2"/>
              </a:solidFill>
            </a:endParaRPr>
          </a:p>
          <a:p>
            <a:pPr eaLnBrk="1" hangingPunct="1">
              <a:buClr>
                <a:schemeClr val="accent1"/>
              </a:buClr>
              <a:buSzPct val="70000"/>
              <a:buFont typeface="Wingdings" panose="05000000000000000000" pitchFamily="2" charset="2"/>
            </a:pPr>
            <a:r>
              <a:rPr b="1" i="1" dirty="0">
                <a:solidFill>
                  <a:schemeClr val="tx2"/>
                </a:solidFill>
                <a:sym typeface="+mn-ea"/>
              </a:rPr>
              <a:t>Most essential skill of a Counsellor is LISTENING </a:t>
            </a:r>
            <a:endParaRPr b="1" i="1" dirty="0">
              <a:solidFill>
                <a:schemeClr val="tx2"/>
              </a:solidFill>
            </a:endParaRPr>
          </a:p>
          <a:p>
            <a:pPr eaLnBrk="1" hangingPunct="1">
              <a:buClr>
                <a:schemeClr val="accent1"/>
              </a:buClr>
              <a:buSzPct val="70000"/>
              <a:buFont typeface="Wingdings" panose="05000000000000000000" pitchFamily="2" charset="2"/>
            </a:pPr>
            <a:r>
              <a:rPr b="1" i="1" dirty="0">
                <a:solidFill>
                  <a:schemeClr val="tx2"/>
                </a:solidFill>
                <a:sym typeface="+mn-ea"/>
              </a:rPr>
              <a:t>75% of Counselling is Listening …</a:t>
            </a:r>
            <a:endParaRPr b="1" i="1" dirty="0">
              <a:solidFill>
                <a:schemeClr val="tx2"/>
              </a:solidFill>
            </a:endParaRPr>
          </a:p>
          <a:p>
            <a:pPr eaLnBrk="1" hangingPunct="1">
              <a:buClr>
                <a:schemeClr val="accent1"/>
              </a:buClr>
              <a:buSzPct val="70000"/>
              <a:buFont typeface="Wingdings" panose="05000000000000000000" pitchFamily="2" charset="2"/>
            </a:pPr>
            <a:r>
              <a:rPr b="1" i="1" dirty="0">
                <a:solidFill>
                  <a:schemeClr val="tx2"/>
                </a:solidFill>
                <a:sym typeface="+mn-ea"/>
              </a:rPr>
              <a:t>Hearing is to gain information for oneself</a:t>
            </a:r>
            <a:endParaRPr b="1" i="1" dirty="0">
              <a:solidFill>
                <a:schemeClr val="tx2"/>
              </a:solidFill>
            </a:endParaRPr>
          </a:p>
          <a:p>
            <a:pPr eaLnBrk="1" hangingPunct="1">
              <a:buClr>
                <a:schemeClr val="accent1"/>
              </a:buClr>
              <a:buSzPct val="70000"/>
              <a:buFont typeface="Wingdings" panose="05000000000000000000" pitchFamily="2" charset="2"/>
            </a:pPr>
            <a:r>
              <a:rPr b="1" i="1" dirty="0">
                <a:solidFill>
                  <a:schemeClr val="tx2"/>
                </a:solidFill>
                <a:sym typeface="+mn-ea"/>
              </a:rPr>
              <a:t>LISTENING is to hear beyond what the other person is trying to communicate …..</a:t>
            </a:r>
            <a:endParaRPr b="1" i="1" dirty="0">
              <a:solidFill>
                <a:schemeClr val="tx2"/>
              </a:solidFill>
            </a:endParaRPr>
          </a:p>
          <a:p>
            <a:pPr eaLnBrk="1" hangingPunct="1">
              <a:buClr>
                <a:schemeClr val="accent1"/>
              </a:buClr>
              <a:buSzPct val="70000"/>
              <a:buFont typeface="Wingdings" panose="05000000000000000000" pitchFamily="2" charset="2"/>
            </a:pPr>
            <a:r>
              <a:rPr b="1" i="1" dirty="0">
                <a:solidFill>
                  <a:schemeClr val="tx2"/>
                </a:solidFill>
                <a:sym typeface="+mn-ea"/>
              </a:rPr>
              <a:t>LISTEN with your heart …. </a:t>
            </a:r>
            <a:endParaRPr b="1" i="1" dirty="0">
              <a:solidFill>
                <a:schemeClr val="tx2"/>
              </a:solidFill>
            </a:endParaRPr>
          </a:p>
          <a:p>
            <a:pPr eaLnBrk="1" hangingPunct="1">
              <a:buClr>
                <a:schemeClr val="accent1"/>
              </a:buClr>
              <a:buSzPct val="70000"/>
              <a:buFont typeface="Wingdings" panose="05000000000000000000" pitchFamily="2" charset="2"/>
            </a:pPr>
            <a:r>
              <a:rPr b="1" i="1" dirty="0">
                <a:solidFill>
                  <a:schemeClr val="tx2"/>
                </a:solidFill>
                <a:sym typeface="+mn-ea"/>
              </a:rPr>
              <a:t>Be empathetic ….</a:t>
            </a:r>
            <a:endParaRPr b="1" i="1" dirty="0">
              <a:solidFill>
                <a:schemeClr val="tx2"/>
              </a:solidFill>
            </a:endParaRPr>
          </a:p>
          <a:p>
            <a:pPr eaLnBrk="1" hangingPunct="1">
              <a:buClr>
                <a:schemeClr val="accent1"/>
              </a:buClr>
              <a:buSzPct val="70000"/>
              <a:buFont typeface="Wingdings" panose="05000000000000000000" pitchFamily="2" charset="2"/>
            </a:pPr>
            <a:r>
              <a:rPr b="1" i="1" dirty="0">
                <a:solidFill>
                  <a:schemeClr val="tx2"/>
                </a:solidFill>
                <a:sym typeface="+mn-ea"/>
              </a:rPr>
              <a:t>Lots of </a:t>
            </a:r>
            <a:r>
              <a:rPr b="1" i="1" u="sng" dirty="0">
                <a:solidFill>
                  <a:schemeClr val="tx2"/>
                </a:solidFill>
                <a:sym typeface="+mn-ea"/>
              </a:rPr>
              <a:t>patience </a:t>
            </a:r>
            <a:r>
              <a:rPr b="1" i="1" dirty="0">
                <a:solidFill>
                  <a:schemeClr val="tx2"/>
                </a:solidFill>
                <a:sym typeface="+mn-ea"/>
              </a:rPr>
              <a:t>to keep pace with counsellee</a:t>
            </a:r>
            <a:endParaRPr b="1" i="1" dirty="0">
              <a:solidFill>
                <a:schemeClr val="tx2"/>
              </a:solidFill>
            </a:endParaRPr>
          </a:p>
          <a:p>
            <a:endParaRPr lang="en-US" b="1" i="1" dirty="0">
              <a:solidFill>
                <a:schemeClr val="tx2"/>
              </a:solidFill>
            </a:endParaRPr>
          </a:p>
        </p:txBody>
      </p:sp>
      <p:sp>
        <p:nvSpPr>
          <p:cNvPr id="3" name="Content Placeholder 2"/>
          <p:cNvSpPr>
            <a:spLocks noGrp="1"/>
          </p:cNvSpPr>
          <p:nvPr>
            <p:ph sz="half" idx="2"/>
          </p:nvPr>
        </p:nvSpPr>
        <p:spPr>
          <a:xfrm>
            <a:off x="8430260" y="1481455"/>
            <a:ext cx="256540" cy="4526280"/>
          </a:xfrm>
        </p:spPr>
        <p:txBody>
          <a:bodyPr/>
          <a:p>
            <a:endParaRPr lang="en-US"/>
          </a:p>
        </p:txBody>
      </p:sp>
      <p:sp>
        <p:nvSpPr>
          <p:cNvPr id="4" name="Title 3"/>
          <p:cNvSpPr>
            <a:spLocks noGrp="1"/>
          </p:cNvSpPr>
          <p:nvPr>
            <p:ph type="title"/>
          </p:nvPr>
        </p:nvSpPr>
        <p:spPr/>
        <p:txBody>
          <a:bodyPr/>
          <a:p>
            <a:pPr algn="ctr"/>
            <a:r>
              <a:rPr lang="en-US" i="1"/>
              <a:t>LISTENING SKILLS</a:t>
            </a:r>
            <a:endParaRPr lang="en-US" i="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sz="half" idx="1"/>
          </p:nvPr>
        </p:nvSpPr>
        <p:spPr/>
        <p:txBody>
          <a:bodyPr>
            <a:normAutofit fontScale="60000"/>
          </a:bodyPr>
          <a:p>
            <a:pPr marL="342900" indent="-342900"/>
            <a:r>
              <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rPr>
              <a:t>LEARNING TO LISTEN IS A CRUCIAL PART OF COUNSELING.</a:t>
            </a:r>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pPr marL="342900" indent="-342900"/>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endParaRPr>
          </a:p>
          <a:p>
            <a:pPr marL="342900" indent="-342900"/>
            <a:r>
              <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rPr>
              <a:t>THERE IS DIFFERENCE BETWEEN  HEARING  AND LISTENING.  </a:t>
            </a:r>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pPr marL="342900" indent="-342900"/>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endParaRPr>
          </a:p>
          <a:p>
            <a:pPr marL="342900" indent="-342900"/>
            <a:r>
              <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rPr>
              <a:t>HEARING IS THE GAINING OF INFORMATION  FOR  ONESELF.</a:t>
            </a:r>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pPr marL="342900" indent="-342900"/>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endParaRPr>
          </a:p>
          <a:p>
            <a:pPr marL="342900" indent="-342900"/>
            <a:r>
              <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rPr>
              <a:t>LISTENING IS CARING FOR  AND BEING EMPATHETIC TOWARD OTHERS.....</a:t>
            </a:r>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a:p>
            <a:endParaRPr lang="en-US" b="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sz="half" idx="2"/>
          </p:nvPr>
        </p:nvSpPr>
        <p:spPr/>
        <p:txBody>
          <a:bodyPr>
            <a:normAutofit fontScale="25000"/>
          </a:bodyPr>
          <a:p>
            <a:endParaRPr lang="en-US" b="1" dirty="0" smtClean="0">
              <a:solidFill>
                <a:srgbClr val="FF0000"/>
              </a:solidFill>
              <a:effectLst>
                <a:glow rad="101600">
                  <a:schemeClr val="accent6">
                    <a:lumMod val="50000"/>
                    <a:alpha val="60000"/>
                  </a:schemeClr>
                </a:glow>
              </a:effectLst>
              <a:latin typeface="Lucida Calligraphy" panose="03010101010101010101" pitchFamily="66" charset="0"/>
              <a:sym typeface="+mn-ea"/>
            </a:endParaRPr>
          </a:p>
          <a:p>
            <a:pPr marL="109855" indent="0">
              <a:buNone/>
            </a:pPr>
            <a:r>
              <a:rPr lang="en-US" sz="8000"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rPr>
              <a:t>WHEN TO SPEAK AND WHEN                                 NOT TO SPEAK</a:t>
            </a:r>
            <a:endParaRPr lang="en-US" sz="8000" b="1" dirty="0" smtClean="0">
              <a:solidFill>
                <a:schemeClr val="tx1"/>
              </a:solidFill>
              <a:effectLst>
                <a:glow rad="101600">
                  <a:schemeClr val="accent6">
                    <a:lumMod val="50000"/>
                    <a:alpha val="60000"/>
                  </a:schemeClr>
                </a:glow>
              </a:effectLst>
              <a:latin typeface="Lucida Calligraphy" panose="03010101010101010101" pitchFamily="66" charset="0"/>
              <a:sym typeface="+mn-ea"/>
            </a:endParaRPr>
          </a:p>
          <a:p>
            <a:endParaRPr lang="en-US" b="1" dirty="0" smtClean="0">
              <a:solidFill>
                <a:schemeClr val="tx1"/>
              </a:solidFill>
              <a:effectLst>
                <a:glow rad="101600">
                  <a:schemeClr val="accent6">
                    <a:lumMod val="50000"/>
                    <a:alpha val="60000"/>
                  </a:schemeClr>
                </a:glow>
              </a:effectLst>
              <a:latin typeface="Lucida Calligraphy" panose="03010101010101010101" pitchFamily="66" charset="0"/>
              <a:sym typeface="+mn-ea"/>
            </a:endParaRPr>
          </a:p>
          <a:p>
            <a:r>
              <a:rPr lang="en-US" sz="6400" b="1" dirty="0" smtClean="0">
                <a:solidFill>
                  <a:schemeClr val="tx1"/>
                </a:solidFill>
                <a:effectLst>
                  <a:glow rad="101600">
                    <a:schemeClr val="accent6">
                      <a:lumMod val="50000"/>
                      <a:alpha val="60000"/>
                    </a:schemeClr>
                  </a:glow>
                </a:effectLst>
                <a:latin typeface="Baskerville Old Face" panose="02020602080505020303" pitchFamily="18" charset="0"/>
                <a:cs typeface="Baskerville Old Face" panose="02020602080505020303" pitchFamily="18" charset="0"/>
                <a:sym typeface="+mn-ea"/>
              </a:rPr>
              <a:t>Pro 10:19 – “Don’t talk so much. You keep putting your foot  in your mouth. Be sensible and turn off the flow. (Living Bible)</a:t>
            </a:r>
            <a:endParaRPr lang="en-US" sz="6400" b="1" dirty="0" smtClean="0">
              <a:solidFill>
                <a:schemeClr val="tx1"/>
              </a:solidFill>
              <a:effectLst>
                <a:glow rad="101600">
                  <a:schemeClr val="accent6">
                    <a:lumMod val="50000"/>
                    <a:alpha val="60000"/>
                  </a:schemeClr>
                </a:glow>
              </a:effectLst>
              <a:latin typeface="Baskerville Old Face" panose="02020602080505020303" pitchFamily="18" charset="0"/>
              <a:cs typeface="Baskerville Old Face" panose="02020602080505020303" pitchFamily="18" charset="0"/>
              <a:sym typeface="+mn-ea"/>
            </a:endParaRPr>
          </a:p>
          <a:p>
            <a:endParaRPr lang="en-US" sz="6400" b="1" dirty="0" smtClean="0">
              <a:solidFill>
                <a:schemeClr val="tx1"/>
              </a:solidFill>
              <a:effectLst>
                <a:glow rad="101600">
                  <a:schemeClr val="accent6">
                    <a:lumMod val="50000"/>
                    <a:alpha val="60000"/>
                  </a:schemeClr>
                </a:glow>
              </a:effectLst>
              <a:latin typeface="Baskerville Old Face" panose="02020602080505020303" pitchFamily="18" charset="0"/>
              <a:cs typeface="Baskerville Old Face" panose="02020602080505020303" pitchFamily="18" charset="0"/>
            </a:endParaRPr>
          </a:p>
          <a:p>
            <a:r>
              <a:rPr lang="en-US" sz="6400" b="1" dirty="0" smtClean="0">
                <a:solidFill>
                  <a:schemeClr val="tx1"/>
                </a:solidFill>
                <a:effectLst>
                  <a:glow rad="101600">
                    <a:schemeClr val="accent6">
                      <a:lumMod val="50000"/>
                      <a:alpha val="60000"/>
                    </a:schemeClr>
                  </a:glow>
                </a:effectLst>
                <a:latin typeface="Baskerville Old Face" panose="02020602080505020303" pitchFamily="18" charset="0"/>
                <a:cs typeface="Baskerville Old Face" panose="02020602080505020303" pitchFamily="18" charset="0"/>
                <a:sym typeface="+mn-ea"/>
              </a:rPr>
              <a:t>Pro. 17:27 – A man of knowledge uses words with restraint, and a man of understanding is even-tempered.</a:t>
            </a:r>
            <a:endParaRPr lang="en-US" sz="6400" b="1" dirty="0" smtClean="0">
              <a:solidFill>
                <a:schemeClr val="tx1"/>
              </a:solidFill>
              <a:effectLst>
                <a:glow rad="101600">
                  <a:schemeClr val="accent6">
                    <a:lumMod val="50000"/>
                    <a:alpha val="60000"/>
                  </a:schemeClr>
                </a:glow>
              </a:effectLst>
              <a:latin typeface="Baskerville Old Face" panose="02020602080505020303" pitchFamily="18" charset="0"/>
              <a:cs typeface="Baskerville Old Face" panose="02020602080505020303" pitchFamily="18" charset="0"/>
              <a:sym typeface="+mn-ea"/>
            </a:endParaRPr>
          </a:p>
          <a:p>
            <a:endParaRPr lang="en-US" sz="6400" b="1" dirty="0" smtClean="0">
              <a:solidFill>
                <a:schemeClr val="tx1"/>
              </a:solidFill>
              <a:effectLst>
                <a:glow rad="101600">
                  <a:schemeClr val="tx1">
                    <a:alpha val="60000"/>
                  </a:schemeClr>
                </a:glow>
              </a:effectLst>
              <a:latin typeface="Baskerville Old Face" panose="02020602080505020303" pitchFamily="18" charset="0"/>
              <a:cs typeface="Baskerville Old Face" panose="02020602080505020303" pitchFamily="18" charset="0"/>
              <a:sym typeface="+mn-ea"/>
            </a:endParaRPr>
          </a:p>
          <a:p>
            <a:r>
              <a:rPr lang="en-US" sz="6400" b="1" dirty="0" smtClean="0">
                <a:solidFill>
                  <a:schemeClr val="tx1"/>
                </a:solidFill>
                <a:effectLst>
                  <a:glow rad="101600">
                    <a:schemeClr val="tx1">
                      <a:alpha val="60000"/>
                    </a:schemeClr>
                  </a:glow>
                </a:effectLst>
                <a:latin typeface="Sylfaen" panose="010A0502050306030303" pitchFamily="18" charset="0"/>
                <a:cs typeface="Times New Roman" panose="02020603050405020304" pitchFamily="18" charset="0"/>
                <a:sym typeface="+mn-ea"/>
              </a:rPr>
              <a:t>Pr. 12:25 – “Anxiety in a man’s heart weighs it down, but an encouraging word makes it glad”</a:t>
            </a:r>
            <a:endParaRPr lang="en-US" sz="6400" b="1" dirty="0">
              <a:solidFill>
                <a:schemeClr val="tx1"/>
              </a:solidFill>
              <a:effectLst>
                <a:glow rad="101600">
                  <a:schemeClr val="tx1">
                    <a:alpha val="60000"/>
                  </a:schemeClr>
                </a:glow>
              </a:effectLst>
              <a:latin typeface="Sylfaen" panose="010A0502050306030303" pitchFamily="18" charset="0"/>
              <a:cs typeface="Times New Roman" panose="02020603050405020304" pitchFamily="18" charset="0"/>
            </a:endParaRPr>
          </a:p>
          <a:p>
            <a:pPr marL="109855" indent="0">
              <a:buNone/>
            </a:pPr>
            <a:endParaRPr lang="en-US" sz="6400" b="1" dirty="0">
              <a:solidFill>
                <a:schemeClr val="tx1"/>
              </a:solidFill>
              <a:effectLst>
                <a:glow rad="101600">
                  <a:schemeClr val="tx1">
                    <a:alpha val="60000"/>
                  </a:schemeClr>
                </a:glow>
              </a:effectLst>
              <a:latin typeface="Sylfaen" panose="010A0502050306030303" pitchFamily="18" charset="0"/>
              <a:cs typeface="Times New Roman" panose="02020603050405020304" pitchFamily="18" charset="0"/>
            </a:endParaRPr>
          </a:p>
        </p:txBody>
      </p:sp>
      <p:sp>
        <p:nvSpPr>
          <p:cNvPr id="4" name="Title 3"/>
          <p:cNvSpPr>
            <a:spLocks noGrp="1"/>
          </p:cNvSpPr>
          <p:nvPr>
            <p:ph type="title"/>
          </p:nvPr>
        </p:nvSpPr>
        <p:spPr>
          <a:xfrm>
            <a:off x="457200" y="304483"/>
            <a:ext cx="8229600" cy="1143000"/>
          </a:xfrm>
        </p:spPr>
        <p:txBody>
          <a:bodyPr>
            <a:normAutofit fontScale="90000"/>
          </a:bodyPr>
          <a:p>
            <a:pPr algn="ctr"/>
            <a:r>
              <a:rPr lang="en-US" i="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rPr>
              <a:t>LEARNING TO LISTEN</a:t>
            </a:r>
            <a:br>
              <a:rPr lang="en-US" i="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rPr>
            </a:br>
            <a:endParaRPr lang="en-US" i="1" dirty="0" smtClean="0">
              <a:solidFill>
                <a:schemeClr val="tx1"/>
              </a:solidFill>
              <a:effectLst>
                <a:glow rad="101600">
                  <a:schemeClr val="tx1">
                    <a:alpha val="60000"/>
                  </a:schemeClr>
                </a:glow>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p:nvPr/>
        </p:nvSpPr>
        <p:spPr>
          <a:xfrm>
            <a:off x="838200" y="304800"/>
            <a:ext cx="7315200" cy="800100"/>
          </a:xfrm>
          <a:prstGeom prst="rect">
            <a:avLst/>
          </a:prstGeom>
          <a:noFill/>
          <a:ln w="9525">
            <a:noFill/>
          </a:ln>
        </p:spPr>
        <p:txBody>
          <a:bodyPr anchor="ctr" anchorCtr="0">
            <a:spAutoFit/>
          </a:bodyPr>
          <a:p>
            <a:r>
              <a:rPr lang="en-US" altLang="zh-CN" sz="2800" b="1" dirty="0">
                <a:latin typeface="Times New Roman" panose="02020603050405020304" pitchFamily="18" charset="0"/>
              </a:rPr>
              <a:t>Communication and Communication Styles </a:t>
            </a:r>
            <a:endParaRPr lang="en-US" altLang="zh-CN" sz="2800" dirty="0">
              <a:latin typeface="Arial" panose="020B0604020202020204" pitchFamily="34" charset="0"/>
            </a:endParaRPr>
          </a:p>
          <a:p>
            <a:pPr eaLnBrk="0" hangingPunct="0"/>
            <a:endParaRPr lang="en-US" altLang="zh-CN" dirty="0">
              <a:latin typeface="Arial" panose="020B0604020202020204" pitchFamily="34" charset="0"/>
              <a:ea typeface="Calibri" panose="020F0502020204030204" charset="0"/>
            </a:endParaRPr>
          </a:p>
        </p:txBody>
      </p:sp>
      <p:sp>
        <p:nvSpPr>
          <p:cNvPr id="3074" name="Title 1"/>
          <p:cNvSpPr>
            <a:spLocks noGrp="1"/>
          </p:cNvSpPr>
          <p:nvPr/>
        </p:nvSpPr>
        <p:spPr>
          <a:xfrm>
            <a:off x="304800" y="1143000"/>
            <a:ext cx="8229600" cy="304800"/>
          </a:xfrm>
          <a:prstGeom prst="rect">
            <a:avLst/>
          </a:prstGeom>
          <a:noFill/>
          <a:ln w="9525">
            <a:noFill/>
          </a:ln>
        </p:spPr>
        <p:txBody>
          <a:bodyPr anchor="ctr" anchorCtr="0"/>
          <a:p>
            <a:pPr algn="ctr"/>
            <a:r>
              <a:rPr lang="en-US" altLang="zh-CN" sz="2400" b="1" dirty="0">
                <a:latin typeface="Times New Roman" panose="02020603050405020304" pitchFamily="18" charset="0"/>
              </a:rPr>
              <a:t>Communication is a two-way process.</a:t>
            </a:r>
            <a:br>
              <a:rPr lang="en-US" altLang="zh-CN" sz="2400" b="1" dirty="0">
                <a:latin typeface="Times New Roman" panose="02020603050405020304" pitchFamily="18" charset="0"/>
              </a:rPr>
            </a:br>
            <a:r>
              <a:rPr lang="en-US" altLang="zh-CN" sz="2400" dirty="0">
                <a:latin typeface="Times New Roman" panose="02020603050405020304" pitchFamily="18" charset="0"/>
              </a:rPr>
              <a:t>                                                                    </a:t>
            </a:r>
            <a:endParaRPr lang="en-US" altLang="zh-CN" sz="2400" dirty="0">
              <a:latin typeface="Times New Roman" panose="02020603050405020304" pitchFamily="18" charset="0"/>
              <a:ea typeface="Times New Roman" panose="02020603050405020304" pitchFamily="18" charset="0"/>
            </a:endParaRPr>
          </a:p>
        </p:txBody>
      </p:sp>
      <p:sp>
        <p:nvSpPr>
          <p:cNvPr id="4" name="Content Placeholder 2"/>
          <p:cNvSpPr>
            <a:spLocks noGrp="1"/>
          </p:cNvSpPr>
          <p:nvPr/>
        </p:nvSpPr>
        <p:spPr>
          <a:xfrm>
            <a:off x="457200" y="1600200"/>
            <a:ext cx="8229600" cy="4525963"/>
          </a:xfrm>
          <a:prstGeom prst="rect">
            <a:avLst/>
          </a:prstGeom>
        </p:spPr>
        <p:txBody>
          <a:bodyPr>
            <a:normAutofit fontScale="3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IN"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IN"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IN" sz="2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IN" sz="5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TRANSMISSION OF  MESSAGE</a:t>
            </a:r>
            <a:endParaRPr kumimoji="0" lang="en-US" sz="5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sz="55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SENDER        }  						           { </a:t>
            </a: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or   	    }	                                    MEDIA   CHANNEL 	  	           {   RECEIVER          </a:t>
            </a: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					         	           {  </a:t>
            </a: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COMMUNI-  }						           {</a:t>
            </a: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CATOR}	    }						</a:t>
            </a: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FEED BACK</a:t>
            </a:r>
            <a:endParaRPr kumimoji="0" lang="en-US"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43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IN" sz="1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1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Arc 4"/>
          <p:cNvSpPr/>
          <p:nvPr/>
        </p:nvSpPr>
        <p:spPr>
          <a:xfrm>
            <a:off x="2019300" y="1600835"/>
            <a:ext cx="5105400" cy="3048000"/>
          </a:xfrm>
          <a:prstGeom prst="arc">
            <a:avLst>
              <a:gd name="adj1" fmla="val 220561"/>
              <a:gd name="adj2" fmla="val 21463262"/>
            </a:avLst>
          </a:prstGeom>
        </p:spPr>
        <p:style>
          <a:lnRef idx="1">
            <a:schemeClr val="accent1"/>
          </a:lnRef>
          <a:fillRef idx="0">
            <a:schemeClr val="accent1"/>
          </a:fillRef>
          <a:effectRef idx="0">
            <a:schemeClr val="accent1"/>
          </a:effectRef>
          <a:fontRef idx="minor">
            <a:schemeClr val="tx1"/>
          </a:fontRef>
        </p:style>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cxnSp>
        <p:nvCxnSpPr>
          <p:cNvPr id="6" name="Straight Connector 5"/>
          <p:cNvCxnSpPr/>
          <p:nvPr/>
        </p:nvCxnSpPr>
        <p:spPr>
          <a:xfrm>
            <a:off x="2514600" y="3124200"/>
            <a:ext cx="1371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096000" y="3048000"/>
            <a:ext cx="914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079" name="Rectangle 3"/>
          <p:cNvSpPr/>
          <p:nvPr/>
        </p:nvSpPr>
        <p:spPr>
          <a:xfrm>
            <a:off x="0" y="4863148"/>
            <a:ext cx="8779510" cy="1322070"/>
          </a:xfrm>
          <a:prstGeom prst="rect">
            <a:avLst/>
          </a:prstGeom>
          <a:noFill/>
          <a:ln w="9525">
            <a:noFill/>
          </a:ln>
        </p:spPr>
        <p:txBody>
          <a:bodyPr wrap="square" anchor="ctr" anchorCtr="0">
            <a:spAutoFit/>
          </a:bodyPr>
          <a:p>
            <a:pPr indent="571500" defTabSz="914400">
              <a:tabLst>
                <a:tab pos="914400" algn="l"/>
              </a:tabLst>
            </a:pPr>
            <a:r>
              <a:rPr lang="en-US" altLang="zh-CN" b="1" dirty="0">
                <a:latin typeface="Times New Roman" panose="02020603050405020304" pitchFamily="18" charset="0"/>
              </a:rPr>
              <a:t>  Communication is therefore a two-way Process:</a:t>
            </a:r>
            <a:endParaRPr lang="en-US" altLang="zh-CN" dirty="0">
              <a:latin typeface="Arial" panose="020B0604020202020204" pitchFamily="34" charset="0"/>
            </a:endParaRPr>
          </a:p>
          <a:p>
            <a:pPr indent="571500" defTabSz="914400" eaLnBrk="0" hangingPunct="0">
              <a:tabLst>
                <a:tab pos="914400" algn="l"/>
              </a:tabLst>
            </a:pPr>
            <a:r>
              <a:rPr lang="en-US" altLang="zh-CN" b="1" dirty="0">
                <a:latin typeface="Times New Roman" panose="02020603050405020304" pitchFamily="18" charset="0"/>
              </a:rPr>
              <a:t>“Communication is a Process (a Transaction) wherein messages between a </a:t>
            </a:r>
            <a:r>
              <a:rPr lang="en-US" altLang="zh-CN" b="1" i="1" dirty="0">
                <a:latin typeface="Times New Roman" panose="02020603050405020304" pitchFamily="18" charset="0"/>
              </a:rPr>
              <a:t>Sender </a:t>
            </a:r>
            <a:endParaRPr lang="en-US" altLang="zh-CN" b="1" i="1" dirty="0">
              <a:latin typeface="Times New Roman" panose="02020603050405020304" pitchFamily="18" charset="0"/>
            </a:endParaRPr>
          </a:p>
          <a:p>
            <a:pPr indent="571500" defTabSz="914400" eaLnBrk="0" hangingPunct="0">
              <a:tabLst>
                <a:tab pos="914400" algn="l"/>
              </a:tabLst>
            </a:pPr>
            <a:r>
              <a:rPr lang="en-US" altLang="zh-CN" b="1" dirty="0">
                <a:latin typeface="Times New Roman" panose="02020603050405020304" pitchFamily="18" charset="0"/>
              </a:rPr>
              <a:t>  and  a  </a:t>
            </a:r>
            <a:r>
              <a:rPr lang="en-US" altLang="zh-CN" b="1" i="1" dirty="0">
                <a:latin typeface="Times New Roman" panose="02020603050405020304" pitchFamily="18" charset="0"/>
              </a:rPr>
              <a:t>Receiver  </a:t>
            </a:r>
            <a:r>
              <a:rPr lang="en-US" altLang="zh-CN" b="1" dirty="0">
                <a:latin typeface="Times New Roman" panose="02020603050405020304" pitchFamily="18" charset="0"/>
              </a:rPr>
              <a:t>are transmitted through a </a:t>
            </a:r>
            <a:r>
              <a:rPr lang="en-US" altLang="zh-CN" b="1" i="1" dirty="0">
                <a:latin typeface="Times New Roman" panose="02020603050405020304" pitchFamily="18" charset="0"/>
              </a:rPr>
              <a:t>MEDIA </a:t>
            </a:r>
            <a:r>
              <a:rPr lang="en-US" altLang="zh-CN" b="1" dirty="0">
                <a:latin typeface="Times New Roman" panose="02020603050405020304" pitchFamily="18" charset="0"/>
              </a:rPr>
              <a:t>with a </a:t>
            </a:r>
            <a:r>
              <a:rPr lang="en-US" altLang="zh-CN" b="1" i="1" dirty="0">
                <a:latin typeface="Times New Roman" panose="02020603050405020304" pitchFamily="18" charset="0"/>
              </a:rPr>
              <a:t>Feed-back</a:t>
            </a:r>
            <a:r>
              <a:rPr lang="en-US" altLang="zh-CN" b="1" dirty="0">
                <a:latin typeface="Times New Roman" panose="02020603050405020304" pitchFamily="18" charset="0"/>
              </a:rPr>
              <a:t>.” </a:t>
            </a:r>
            <a:r>
              <a:rPr lang="en-US" altLang="zh-CN" sz="1400" b="1" dirty="0">
                <a:latin typeface="Times New Roman" panose="02020603050405020304" pitchFamily="18" charset="0"/>
              </a:rPr>
              <a:t>Dr. George Ninan</a:t>
            </a:r>
            <a:endParaRPr lang="en-US" altLang="zh-CN" sz="1400" b="1" dirty="0">
              <a:latin typeface="Arial" panose="020B0604020202020204" pitchFamily="34" charset="0"/>
            </a:endParaRPr>
          </a:p>
          <a:p>
            <a:pPr indent="571500" defTabSz="914400" eaLnBrk="0" hangingPunct="0">
              <a:tabLst>
                <a:tab pos="914400" algn="l"/>
              </a:tabLst>
            </a:pPr>
            <a:r>
              <a:rPr lang="en-US" altLang="zh-CN" sz="1200" b="1" dirty="0">
                <a:latin typeface="Times New Roman" panose="02020603050405020304" pitchFamily="18" charset="0"/>
              </a:rPr>
              <a:t>	</a:t>
            </a:r>
            <a:endParaRPr lang="en-US" altLang="zh-CN" b="1" dirty="0">
              <a:latin typeface="Arial" panose="020B0604020202020204" pitchFamily="34" charset="0"/>
            </a:endParaRPr>
          </a:p>
        </p:txBody>
      </p:sp>
      <p:cxnSp>
        <p:nvCxnSpPr>
          <p:cNvPr id="2" name="Straight Arrow Connector 1"/>
          <p:cNvCxnSpPr/>
          <p:nvPr/>
        </p:nvCxnSpPr>
        <p:spPr>
          <a:xfrm flipV="1">
            <a:off x="2514600" y="1828800"/>
            <a:ext cx="762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flipV="1">
            <a:off x="3962400" y="1676400"/>
            <a:ext cx="10668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562600" y="1752600"/>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5638800" y="3886200"/>
            <a:ext cx="1143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2590800" y="4114800"/>
            <a:ext cx="9906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heel spokes="8"/>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
          <p:cNvSpPr/>
          <p:nvPr/>
        </p:nvSpPr>
        <p:spPr>
          <a:xfrm>
            <a:off x="0" y="0"/>
            <a:ext cx="9144000" cy="457200"/>
          </a:xfrm>
          <a:prstGeom prst="rect">
            <a:avLst/>
          </a:prstGeom>
          <a:noFill/>
          <a:ln w="9525">
            <a:noFill/>
          </a:ln>
        </p:spPr>
        <p:txBody>
          <a:bodyPr wrap="none" anchor="ctr" anchorCtr="0">
            <a:spAutoFit/>
          </a:bodyPr>
          <a:p>
            <a:endParaRPr lang="en-US" altLang="zh-CN" dirty="0">
              <a:latin typeface="Calibri" panose="020F0502020204030204" charset="0"/>
            </a:endParaRPr>
          </a:p>
        </p:txBody>
      </p:sp>
      <p:sp>
        <p:nvSpPr>
          <p:cNvPr id="4098" name="Title 1"/>
          <p:cNvSpPr>
            <a:spLocks noGrp="1"/>
          </p:cNvSpPr>
          <p:nvPr/>
        </p:nvSpPr>
        <p:spPr>
          <a:xfrm>
            <a:off x="457200" y="274638"/>
            <a:ext cx="8229600" cy="1143000"/>
          </a:xfrm>
          <a:prstGeom prst="rect">
            <a:avLst/>
          </a:prstGeom>
          <a:noFill/>
          <a:ln w="9525">
            <a:noFill/>
          </a:ln>
        </p:spPr>
        <p:txBody>
          <a:bodyPr anchor="ctr" anchorCtr="0"/>
          <a:p>
            <a:pPr algn="ctr"/>
            <a:r>
              <a:rPr lang="en-US" altLang="zh-CN" sz="2400" dirty="0">
                <a:latin typeface="Times New Roman" panose="02020603050405020304" pitchFamily="18" charset="0"/>
              </a:rPr>
              <a:t>BARRIERS</a:t>
            </a:r>
            <a:r>
              <a:rPr lang="en-US" altLang="zh-CN" sz="2400" dirty="0">
                <a:latin typeface="Calibri" panose="020F0502020204030204" charset="0"/>
              </a:rPr>
              <a:t> TO COMMUNICATION</a:t>
            </a:r>
            <a:endParaRPr lang="en-US" altLang="zh-CN" sz="2400" dirty="0">
              <a:latin typeface="Calibri" panose="020F0502020204030204" charset="0"/>
            </a:endParaRPr>
          </a:p>
        </p:txBody>
      </p:sp>
      <p:sp>
        <p:nvSpPr>
          <p:cNvPr id="4" name="Content Placeholder 2"/>
          <p:cNvSpPr>
            <a:spLocks noGrp="1"/>
          </p:cNvSpPr>
          <p:nvPr/>
        </p:nvSpPr>
        <p:spPr>
          <a:xfrm>
            <a:off x="457200" y="1143000"/>
            <a:ext cx="8458200" cy="5334000"/>
          </a:xfrm>
          <a:prstGeom prst="rect">
            <a:avLst/>
          </a:prstGeom>
        </p:spPr>
        <p:txBody>
          <a:bodyPr>
            <a:normAutofit fontScale="4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IN" sz="3200" b="0" i="0" u="none" strike="noStrike" kern="1200" cap="none" spc="0" normalizeH="0" baseline="0" noProof="0" dirty="0" smtClean="0">
                <a:ln>
                  <a:noFill/>
                </a:ln>
                <a:solidFill>
                  <a:schemeClr val="tx1"/>
                </a:solidFill>
                <a:effectLst/>
                <a:uLnTx/>
                <a:uFillTx/>
                <a:latin typeface="+mn-lt"/>
                <a:ea typeface="+mn-ea"/>
                <a:cs typeface="+mn-cs"/>
              </a:rPr>
              <a:t>Noise</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  		     Transmission of Message</a:t>
            </a:r>
            <a:r>
              <a:rPr kumimoji="0" lang="en-IN" sz="3200" b="0" i="0" u="none" strike="noStrike" kern="1200" cap="none" spc="0" normalizeH="0" baseline="0" noProof="0" dirty="0" smtClean="0">
                <a:ln>
                  <a:noFill/>
                </a:ln>
                <a:solidFill>
                  <a:schemeClr val="tx1"/>
                </a:solidFill>
                <a:effectLst/>
                <a:uLnTx/>
                <a:uFillTx/>
                <a:latin typeface="+mn-lt"/>
                <a:ea typeface="+mn-ea"/>
                <a:cs typeface="+mn-cs"/>
              </a:rPr>
              <a:t> 		Noise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Language /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Attitudes /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0" marR="0" lvl="7" indent="-2286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000" b="1" i="0" u="none" strike="noStrike" kern="1200" cap="none" spc="0" normalizeH="0" baseline="0" noProof="0" dirty="0" smtClean="0">
                <a:ln>
                  <a:noFill/>
                </a:ln>
                <a:solidFill>
                  <a:schemeClr val="tx1"/>
                </a:solidFill>
                <a:effectLst/>
                <a:uLnTx/>
                <a:uFillTx/>
                <a:latin typeface="+mn-lt"/>
                <a:ea typeface="+mn-ea"/>
                <a:cs typeface="+mn-cs"/>
              </a:rPr>
              <a:t>    </a:t>
            </a:r>
            <a:r>
              <a:rPr kumimoji="0" lang="en-IN" sz="3300" b="1" i="0" u="none" strike="noStrike" kern="1200" cap="none" spc="0" normalizeH="0" baseline="0" noProof="0" dirty="0" smtClean="0">
                <a:ln>
                  <a:noFill/>
                </a:ln>
                <a:solidFill>
                  <a:schemeClr val="tx1"/>
                </a:solidFill>
                <a:effectLst/>
                <a:uLnTx/>
                <a:uFillTx/>
                <a:latin typeface="+mn-lt"/>
                <a:ea typeface="+mn-ea"/>
                <a:cs typeface="+mn-cs"/>
              </a:rPr>
              <a:t>Childhood </a:t>
            </a:r>
            <a:endParaRPr kumimoji="0" lang="en-IN" sz="3300" b="1" i="0" u="none" strike="noStrike" kern="1200" cap="none" spc="0" normalizeH="0" baseline="0" noProof="0" dirty="0" smtClean="0">
              <a:ln>
                <a:noFill/>
              </a:ln>
              <a:solidFill>
                <a:schemeClr val="tx1"/>
              </a:solidFill>
              <a:effectLst/>
              <a:uLnTx/>
              <a:uFillTx/>
              <a:latin typeface="+mn-lt"/>
              <a:ea typeface="+mn-ea"/>
              <a:cs typeface="+mn-cs"/>
            </a:endParaRPr>
          </a:p>
          <a:p>
            <a:pPr marL="3429000" marR="0" lvl="7" indent="-2286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300" b="1" i="0" u="none" strike="noStrike" kern="1200" cap="none" spc="0" normalizeH="0" baseline="0" noProof="0" dirty="0" smtClean="0">
                <a:ln>
                  <a:noFill/>
                </a:ln>
                <a:solidFill>
                  <a:schemeClr val="tx1"/>
                </a:solidFill>
                <a:effectLst/>
                <a:uLnTx/>
                <a:uFillTx/>
                <a:latin typeface="+mn-lt"/>
                <a:ea typeface="+mn-ea"/>
                <a:cs typeface="+mn-cs"/>
              </a:rPr>
              <a:t>   Upbringing /</a:t>
            </a:r>
            <a:endParaRPr kumimoji="0" lang="en-US" sz="33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SENDER   </a:t>
            </a:r>
            <a:r>
              <a:rPr kumimoji="0" lang="en-US" altLang="en-IN"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    CHANNEL/ 	            Knowledge /</a:t>
            </a:r>
            <a:r>
              <a:rPr kumimoji="0" lang="en-US" altLang="en-IN"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CHANNEL/           </a:t>
            </a:r>
            <a:r>
              <a:rPr kumimoji="0" lang="en-US" altLang="en-IN"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 { RECEIVER </a:t>
            </a:r>
            <a:endParaRPr kumimoji="0" lang="en-US"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1" i="0" u="none" strike="noStrike" kern="1200" cap="none" spc="0" normalizeH="0" baseline="0" noProof="0" dirty="0" smtClean="0">
                <a:ln>
                  <a:noFill/>
                </a:ln>
                <a:solidFill>
                  <a:schemeClr val="tx1"/>
                </a:solidFill>
                <a:effectLst/>
                <a:uLnTx/>
                <a:uFillTx/>
                <a:latin typeface="+mn-lt"/>
                <a:ea typeface="+mn-ea"/>
                <a:cs typeface="+mn-cs"/>
              </a:rPr>
              <a:t>or	  </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        }   or MEDIA	            Culture /		 or MEDIA            </a:t>
            </a:r>
            <a:r>
              <a:rPr kumimoji="0" lang="en-US" altLang="en-IN"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 {	or</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SPEAKER	}		            Prejudices / 	       	     	              {LISTENER</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Perceptions /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Memories </a:t>
            </a:r>
            <a:r>
              <a:rPr kumimoji="0" lang="en-US" altLang="en-IN" sz="3200" b="1"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en-IN"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IN" sz="3200" b="1" i="0" u="none" strike="noStrike" kern="1200" cap="none" spc="0" normalizeH="0" baseline="0" noProof="0" dirty="0" smtClean="0">
                <a:ln>
                  <a:noFill/>
                </a:ln>
                <a:solidFill>
                  <a:schemeClr val="tx1"/>
                </a:solidFill>
                <a:effectLst/>
                <a:uLnTx/>
                <a:uFillTx/>
                <a:latin typeface="+mn-lt"/>
                <a:ea typeface="+mn-ea"/>
                <a:cs typeface="+mn-cs"/>
              </a:rPr>
              <a:t>			            Education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US" sz="3200" b="1" i="0" u="none" strike="noStrike" kern="1200" cap="none" spc="0" normalizeH="0" baseline="0" noProof="0" dirty="0" smtClean="0">
                <a:ln>
                  <a:noFill/>
                </a:ln>
                <a:solidFill>
                  <a:schemeClr val="tx1"/>
                </a:solidFill>
                <a:effectLst/>
                <a:uLnTx/>
                <a:uFillTx/>
                <a:latin typeface="+mn-lt"/>
                <a:ea typeface="+mn-ea"/>
                <a:cs typeface="+mn-cs"/>
              </a:rPr>
              <a:t>       </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						             					FEEDBACK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0" i="0" u="none" strike="noStrike" kern="1200" cap="none" spc="0" normalizeH="0" baseline="0" noProof="0" dirty="0" smtClean="0">
                <a:ln>
                  <a:noFill/>
                </a:ln>
                <a:solidFill>
                  <a:schemeClr val="tx1"/>
                </a:solidFill>
                <a:effectLst/>
                <a:uLnTx/>
                <a:uFillTx/>
                <a:latin typeface="+mn-lt"/>
                <a:ea typeface="+mn-ea"/>
                <a:cs typeface="+mn-cs"/>
              </a:rPr>
              <a:t>	Noise 		Barrier		    </a:t>
            </a:r>
            <a:r>
              <a:rPr kumimoji="0" lang="en-IN" sz="3200" b="0" i="0" u="none" strike="noStrike" kern="1200" cap="none" spc="0" normalizeH="0" baseline="0" noProof="0" dirty="0" err="1" smtClean="0">
                <a:ln>
                  <a:noFill/>
                </a:ln>
                <a:solidFill>
                  <a:schemeClr val="tx1"/>
                </a:solidFill>
                <a:effectLst/>
                <a:uLnTx/>
                <a:uFillTx/>
                <a:latin typeface="+mn-lt"/>
                <a:ea typeface="+mn-ea"/>
                <a:cs typeface="+mn-cs"/>
              </a:rPr>
              <a:t>Barrier</a:t>
            </a:r>
            <a:r>
              <a:rPr kumimoji="0" lang="en-IN" sz="3200" b="0" i="0" u="none" strike="noStrike" kern="1200" cap="none" spc="0" normalizeH="0" baseline="0" noProof="0" dirty="0" smtClean="0">
                <a:ln>
                  <a:noFill/>
                </a:ln>
                <a:solidFill>
                  <a:schemeClr val="tx1"/>
                </a:solidFill>
                <a:effectLst/>
                <a:uLnTx/>
                <a:uFillTx/>
                <a:latin typeface="+mn-lt"/>
                <a:ea typeface="+mn-ea"/>
                <a:cs typeface="+mn-cs"/>
              </a:rPr>
              <a:t> 			Noise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Arc 4"/>
          <p:cNvSpPr/>
          <p:nvPr/>
        </p:nvSpPr>
        <p:spPr>
          <a:xfrm>
            <a:off x="1600200" y="1371600"/>
            <a:ext cx="5943600" cy="4038600"/>
          </a:xfrm>
          <a:prstGeom prst="arc">
            <a:avLst>
              <a:gd name="adj1" fmla="val 5390137"/>
              <a:gd name="adj2" fmla="val 5251736"/>
            </a:avLst>
          </a:prstGeom>
        </p:spPr>
        <p:style>
          <a:lnRef idx="1">
            <a:schemeClr val="accent1"/>
          </a:lnRef>
          <a:fillRef idx="0">
            <a:schemeClr val="accent1"/>
          </a:fillRef>
          <a:effectRef idx="0">
            <a:schemeClr val="accent1"/>
          </a:effectRef>
          <a:fontRef idx="minor">
            <a:schemeClr val="tx1"/>
          </a:fontRef>
        </p:style>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Up-Down Arrow 5"/>
          <p:cNvSpPr/>
          <p:nvPr/>
        </p:nvSpPr>
        <p:spPr>
          <a:xfrm>
            <a:off x="3581400" y="1676400"/>
            <a:ext cx="76200" cy="34290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Up-Down Arrow 6"/>
          <p:cNvSpPr/>
          <p:nvPr/>
        </p:nvSpPr>
        <p:spPr>
          <a:xfrm>
            <a:off x="5562600" y="1752600"/>
            <a:ext cx="46038" cy="33528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8" name="Straight Arrow Connector 7"/>
          <p:cNvCxnSpPr/>
          <p:nvPr/>
        </p:nvCxnSpPr>
        <p:spPr>
          <a:xfrm rot="10800000">
            <a:off x="1524000" y="1676400"/>
            <a:ext cx="2057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flipV="1">
            <a:off x="1219200" y="3962400"/>
            <a:ext cx="23622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638800" y="4038600"/>
            <a:ext cx="2514600" cy="144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1447800" y="2667000"/>
            <a:ext cx="2133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447800" y="36576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5562600" y="2667000"/>
            <a:ext cx="2286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5638800" y="1600200"/>
            <a:ext cx="21336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flipV="1">
            <a:off x="5638800" y="3581400"/>
            <a:ext cx="2057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itle 1"/>
          <p:cNvSpPr>
            <a:spLocks noGrp="1"/>
          </p:cNvSpPr>
          <p:nvPr>
            <p:ph type="title"/>
          </p:nvPr>
        </p:nvSpPr>
        <p:spPr/>
        <p:txBody>
          <a:bodyPr vert="horz" wrap="square" lIns="91440" tIns="45720" rIns="91440" bIns="45720" anchor="ctr" anchorCtr="0"/>
          <a:p>
            <a:pPr eaLnBrk="1" hangingPunct="1"/>
            <a:r>
              <a:rPr lang="en-US" altLang="zh-CN" sz="4000" i="1" dirty="0">
                <a:latin typeface="Algerian" panose="04020705040A02060702" pitchFamily="82" charset="0"/>
              </a:rPr>
              <a:t>Perceptions</a:t>
            </a:r>
            <a:endParaRPr lang="en-US" altLang="zh-CN" sz="4000" i="1" dirty="0">
              <a:latin typeface="Algerian" panose="04020705040A02060702" pitchFamily="82" charset="0"/>
            </a:endParaRPr>
          </a:p>
        </p:txBody>
      </p:sp>
      <p:pic>
        <p:nvPicPr>
          <p:cNvPr id="7170" name="Picture 2" descr="C:\Users\india\Desktop\COVID19 CRISIS COUNSELLING  (2)\IMG-20191112-WA0021  Perceptions - actually the lines are all straight !.jpg"/>
          <p:cNvPicPr>
            <a:picLocks noGrp="1" noChangeAspect="1"/>
          </p:cNvPicPr>
          <p:nvPr>
            <p:ph idx="1"/>
          </p:nvPr>
        </p:nvPicPr>
        <p:blipFill>
          <a:blip r:embed="rId1"/>
          <a:stretch>
            <a:fillRect/>
          </a:stretch>
        </p:blipFill>
        <p:spPr>
          <a:xfrm>
            <a:off x="1219200" y="1447800"/>
            <a:ext cx="7086600" cy="4678363"/>
          </a:xfrm>
        </p:spPr>
      </p:pic>
    </p:spTree>
  </p:cSld>
  <p:clrMapOvr>
    <a:masterClrMapping/>
  </p:clrMapOvr>
  <p:transition>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p:txBody>
          <a:bodyPr/>
          <a:p>
            <a:pPr algn="just"/>
            <a:r>
              <a:rPr lang="en-US" b="1" dirty="0" smtClean="0">
                <a:solidFill>
                  <a:srgbClr val="FF0000"/>
                </a:solidFill>
                <a:effectLst>
                  <a:glow rad="101600">
                    <a:srgbClr val="002060">
                      <a:alpha val="60000"/>
                    </a:srgbClr>
                  </a:glow>
                </a:effectLst>
                <a:latin typeface="Schoolbook" pitchFamily="2" charset="0"/>
                <a:sym typeface="+mn-ea"/>
              </a:rPr>
              <a:t>19 And He has committed to us the message of reconciliation [that is, restoration to favor with God].</a:t>
            </a:r>
            <a:endParaRPr lang="en-US" b="1" dirty="0" smtClean="0">
              <a:solidFill>
                <a:srgbClr val="FF0000"/>
              </a:solidFill>
              <a:effectLst>
                <a:glow rad="101600">
                  <a:srgbClr val="002060">
                    <a:alpha val="60000"/>
                  </a:srgbClr>
                </a:glow>
              </a:effectLst>
              <a:latin typeface="Schoolbook" pitchFamily="2" charset="0"/>
              <a:sym typeface="+mn-ea"/>
            </a:endParaRPr>
          </a:p>
          <a:p>
            <a:pPr algn="just"/>
            <a:r>
              <a:rPr lang="en-US" b="1" dirty="0" smtClean="0">
                <a:solidFill>
                  <a:srgbClr val="FF0000"/>
                </a:solidFill>
                <a:effectLst>
                  <a:glow rad="101600">
                    <a:srgbClr val="002060">
                      <a:alpha val="60000"/>
                    </a:srgbClr>
                  </a:glow>
                </a:effectLst>
                <a:latin typeface="Schoolbook" pitchFamily="2" charset="0"/>
                <a:sym typeface="+mn-ea"/>
              </a:rPr>
              <a:t>20 So we are ambassadors for Christ, as though God were making His appeal through us; we [as Christ’s representatives] plead with you on behalf of Christ to be reconciled to God.</a:t>
            </a:r>
            <a:endParaRPr lang="en-US" b="1" dirty="0" smtClean="0">
              <a:solidFill>
                <a:srgbClr val="FF0000"/>
              </a:solidFill>
              <a:effectLst>
                <a:glow rad="101600">
                  <a:srgbClr val="002060">
                    <a:alpha val="60000"/>
                  </a:srgbClr>
                </a:glow>
              </a:effectLst>
              <a:latin typeface="Schoolbook" pitchFamily="2" charset="0"/>
              <a:sym typeface="+mn-ea"/>
            </a:endParaRPr>
          </a:p>
          <a:p>
            <a:endParaRPr lang="en-US" b="1" dirty="0" smtClean="0">
              <a:solidFill>
                <a:srgbClr val="FF0000"/>
              </a:solidFill>
              <a:effectLst>
                <a:glow rad="101600">
                  <a:srgbClr val="002060">
                    <a:alpha val="60000"/>
                  </a:srgbClr>
                </a:glow>
              </a:effectLst>
              <a:latin typeface="Schoolbook" pitchFamily="2" charset="0"/>
              <a:sym typeface="+mn-ea"/>
            </a:endParaRPr>
          </a:p>
          <a:p>
            <a:endParaRPr lang="en-US"/>
          </a:p>
        </p:txBody>
      </p:sp>
      <p:sp>
        <p:nvSpPr>
          <p:cNvPr id="3" name="Title 2"/>
          <p:cNvSpPr>
            <a:spLocks noGrp="1"/>
          </p:cNvSpPr>
          <p:nvPr>
            <p:ph type="title"/>
          </p:nvPr>
        </p:nvSpPr>
        <p:spPr>
          <a:xfrm>
            <a:off x="457200" y="968375"/>
            <a:ext cx="8229600" cy="288925"/>
          </a:xfrm>
        </p:spPr>
        <p:txBody>
          <a:bodyPr>
            <a:normAutofit fontScale="90000"/>
          </a:bodyPr>
          <a:p>
            <a:pPr algn="ctr"/>
            <a:r>
              <a:rPr lang="en-US" sz="3555" dirty="0" smtClean="0">
                <a:solidFill>
                  <a:schemeClr val="bg2">
                    <a:lumMod val="25000"/>
                  </a:schemeClr>
                </a:solidFill>
                <a:latin typeface="Baskerville Old Face" panose="02020602080505020303" pitchFamily="18" charset="0"/>
                <a:cs typeface="Baskerville Old Face" panose="02020602080505020303" pitchFamily="18" charset="0"/>
                <a:sym typeface="+mn-ea"/>
              </a:rPr>
              <a:t>AMBASSADORS FOR CHRIST </a:t>
            </a:r>
            <a:br>
              <a:rPr lang="en-US" sz="3555" dirty="0" smtClean="0">
                <a:solidFill>
                  <a:schemeClr val="bg2">
                    <a:lumMod val="25000"/>
                  </a:schemeClr>
                </a:solidFill>
                <a:latin typeface="Baskerville Old Face" panose="02020602080505020303" pitchFamily="18" charset="0"/>
                <a:cs typeface="Baskerville Old Face" panose="02020602080505020303" pitchFamily="18" charset="0"/>
                <a:sym typeface="+mn-ea"/>
              </a:rPr>
            </a:br>
            <a:r>
              <a:rPr lang="en-US" sz="3555" dirty="0" smtClean="0">
                <a:solidFill>
                  <a:schemeClr val="bg2">
                    <a:lumMod val="25000"/>
                  </a:schemeClr>
                </a:solidFill>
                <a:latin typeface="Baskerville Old Face" panose="02020602080505020303" pitchFamily="18" charset="0"/>
                <a:cs typeface="Baskerville Old Face" panose="02020602080505020303" pitchFamily="18" charset="0"/>
                <a:sym typeface="+mn-ea"/>
              </a:rPr>
              <a:t>II Cor. 5:19-20</a:t>
            </a:r>
            <a:br>
              <a:rPr lang="en-US" sz="3555" b="1" dirty="0" smtClean="0">
                <a:solidFill>
                  <a:schemeClr val="bg2">
                    <a:lumMod val="25000"/>
                  </a:schemeClr>
                </a:solidFill>
                <a:latin typeface="Baskerville Old Face" panose="02020602080505020303" pitchFamily="18" charset="0"/>
                <a:cs typeface="Baskerville Old Face" panose="02020602080505020303" pitchFamily="18" charset="0"/>
                <a:sym typeface="+mn-ea"/>
              </a:rPr>
            </a:br>
            <a:endParaRPr lang="en-US" sz="3555" b="1" dirty="0" smtClean="0">
              <a:solidFill>
                <a:schemeClr val="bg2">
                  <a:lumMod val="25000"/>
                </a:schemeClr>
              </a:solidFill>
              <a:latin typeface="Baskerville Old Face" panose="02020602080505020303" pitchFamily="18" charset="0"/>
              <a:cs typeface="Baskerville Old Face" panose="02020602080505020303"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p:txBody>
          <a:bodyPr/>
          <a:p>
            <a:pPr algn="ctr"/>
            <a:endParaRPr lang="en-US">
              <a:solidFill>
                <a:schemeClr val="accent4">
                  <a:lumMod val="75000"/>
                </a:schemeClr>
              </a:solidFill>
            </a:endParaRPr>
          </a:p>
          <a:p>
            <a:pPr algn="ctr"/>
            <a:endParaRPr lang="en-US">
              <a:solidFill>
                <a:schemeClr val="accent4">
                  <a:lumMod val="75000"/>
                </a:schemeClr>
              </a:solidFill>
            </a:endParaRPr>
          </a:p>
          <a:p>
            <a:pPr algn="ctr"/>
            <a:endParaRPr lang="en-US">
              <a:solidFill>
                <a:schemeClr val="accent4">
                  <a:lumMod val="75000"/>
                </a:schemeClr>
              </a:solidFill>
            </a:endParaRPr>
          </a:p>
          <a:p>
            <a:pPr algn="ctr"/>
            <a:endParaRPr lang="en-US"/>
          </a:p>
          <a:p>
            <a:pPr algn="ctr"/>
            <a:r>
              <a:rPr lang="en-US">
                <a:gradFill>
                  <a:gsLst>
                    <a:gs pos="0">
                      <a:srgbClr val="012D86"/>
                    </a:gs>
                    <a:gs pos="100000">
                      <a:srgbClr val="0E2557"/>
                    </a:gs>
                  </a:gsLst>
                  <a:lin scaled="0"/>
                </a:gradFill>
              </a:rPr>
              <a:t>THANK YOU !</a:t>
            </a:r>
            <a:endParaRPr lang="en-US">
              <a:gradFill>
                <a:gsLst>
                  <a:gs pos="0">
                    <a:srgbClr val="012D86"/>
                  </a:gs>
                  <a:gs pos="100000">
                    <a:srgbClr val="0E2557"/>
                  </a:gs>
                </a:gsLst>
                <a:lin scaled="0"/>
              </a:gradFill>
            </a:endParaRPr>
          </a:p>
        </p:txBody>
      </p:sp>
      <p:sp>
        <p:nvSpPr>
          <p:cNvPr id="3" name="Title 2"/>
          <p:cNvSpPr>
            <a:spLocks noGrp="1"/>
          </p:cNvSpPr>
          <p:nvPr>
            <p:ph type="title"/>
          </p:nvPr>
        </p:nvSpPr>
        <p:spPr/>
        <p:txBody>
          <a:bodyPr/>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6544</Words>
  <Application>WPS Presentation</Application>
  <PresentationFormat>On-screen Show (4:3)</PresentationFormat>
  <Paragraphs>165</Paragraphs>
  <Slides>15</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15</vt:i4>
      </vt:variant>
    </vt:vector>
  </HeadingPairs>
  <TitlesOfParts>
    <vt:vector size="35" baseType="lpstr">
      <vt:lpstr>Arial</vt:lpstr>
      <vt:lpstr>SimSun</vt:lpstr>
      <vt:lpstr>Wingdings</vt:lpstr>
      <vt:lpstr>Wingdings 3</vt:lpstr>
      <vt:lpstr>Verdana</vt:lpstr>
      <vt:lpstr>Wingdings 2</vt:lpstr>
      <vt:lpstr>Algerian</vt:lpstr>
      <vt:lpstr>Baskerville Old Face</vt:lpstr>
      <vt:lpstr>Times New Roman</vt:lpstr>
      <vt:lpstr>Calibri</vt:lpstr>
      <vt:lpstr>Britannic Bold</vt:lpstr>
      <vt:lpstr>Wingdings</vt:lpstr>
      <vt:lpstr>Lucida Calligraphy</vt:lpstr>
      <vt:lpstr>Sylfaen</vt:lpstr>
      <vt:lpstr>Schoolbook</vt:lpstr>
      <vt:lpstr>Century Schoolbook</vt:lpstr>
      <vt:lpstr>Lucida Sans Unicode</vt:lpstr>
      <vt:lpstr>Microsoft YaHei</vt:lpstr>
      <vt:lpstr>Arial Unicode MS</vt:lpstr>
      <vt:lpstr>Concourse</vt:lpstr>
      <vt:lpstr>‘REACHING THE UNREACHED’ PART I </vt:lpstr>
      <vt:lpstr>What is Evangelism ?</vt:lpstr>
      <vt:lpstr>The Goal of the Counseling</vt:lpstr>
      <vt:lpstr> a christian counsellor</vt:lpstr>
      <vt:lpstr>Christian Counselling - Definition</vt:lpstr>
      <vt:lpstr>Evangelism in Counselling</vt:lpstr>
      <vt:lpstr>‘Christian Counselling’ as a  ‘Tool for Evangelism’.	</vt:lpstr>
      <vt:lpstr>             GOOD LISTENER !</vt:lpstr>
      <vt:lpstr>LISTENING SKILLS</vt:lpstr>
      <vt:lpstr>LEARNING TO LISTEN </vt:lpstr>
      <vt:lpstr>PowerPoint 演示文稿</vt:lpstr>
      <vt:lpstr>PowerPoint 演示文稿</vt:lpstr>
      <vt:lpstr>Perceptions</vt:lpstr>
      <vt:lpstr>AMBASSADORS FOR CHRIST  II Cor. 5:19-20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‘REACHING THE UNREACHED’</dc:title>
  <dc:creator>india</dc:creator>
  <cp:lastModifiedBy>india</cp:lastModifiedBy>
  <cp:revision>61</cp:revision>
  <dcterms:created xsi:type="dcterms:W3CDTF">2022-02-24T16:17:00Z</dcterms:created>
  <dcterms:modified xsi:type="dcterms:W3CDTF">2022-03-17T15:43:34Z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047A3A8D844A4F0B8A0B22D8128EE6F5</vt:lpwstr>
  </property>
  <property fmtid="{D5CDD505-2E9C-101B-9397-08002B2CF9AE}" pid="3" name="KSOProductBuildVer">
    <vt:lpwstr>1033-11.2.0.11042</vt:lpwstr>
  </property>
</Properties>
</file>