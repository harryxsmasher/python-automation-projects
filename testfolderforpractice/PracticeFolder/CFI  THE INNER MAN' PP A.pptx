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7"/>
  </p:handoutMasterIdLst>
  <p:sldIdLst>
    <p:sldId id="256" r:id="rId3"/>
    <p:sldId id="257" r:id="rId4"/>
    <p:sldId id="258" r:id="rId5"/>
    <p:sldId id="259" r:id="rId6"/>
    <p:sldId id="260" r:id="rId7"/>
    <p:sldId id="283" r:id="rId8"/>
    <p:sldId id="284" r:id="rId9"/>
    <p:sldId id="285" r:id="rId10"/>
    <p:sldId id="286" r:id="rId11"/>
    <p:sldId id="289" r:id="rId12"/>
    <p:sldId id="290" r:id="rId13"/>
    <p:sldId id="261" r:id="rId14"/>
    <p:sldId id="262" r:id="rId15"/>
    <p:sldId id="268" r:id="rId16"/>
    <p:sldId id="293" r:id="rId17"/>
    <p:sldId id="295" r:id="rId18"/>
    <p:sldId id="294" r:id="rId19"/>
    <p:sldId id="292" r:id="rId20"/>
    <p:sldId id="263" r:id="rId21"/>
    <p:sldId id="269" r:id="rId22"/>
    <p:sldId id="270" r:id="rId23"/>
    <p:sldId id="271" r:id="rId24"/>
    <p:sldId id="272" r:id="rId25"/>
    <p:sldId id="273" r:id="rId26"/>
    <p:sldId id="274" r:id="rId27"/>
    <p:sldId id="275" r:id="rId28"/>
    <p:sldId id="276" r:id="rId29"/>
    <p:sldId id="277" r:id="rId30"/>
    <p:sldId id="278" r:id="rId31"/>
    <p:sldId id="265" r:id="rId32"/>
    <p:sldId id="266" r:id="rId33"/>
    <p:sldId id="267" r:id="rId34"/>
    <p:sldId id="281" r:id="rId35"/>
    <p:sldId id="291" r:id="rId36"/>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43B6"/>
    <a:srgbClr val="6936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A9FC914-2CAE-4BBC-A128-17142FAF4C01}"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Rounded Rectangle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Rectangle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Rectangle 12"/>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smtClean="0"/>
              <a:t>Click to edit Master title style</a:t>
            </a:r>
            <a:endParaRPr lang="en-US"/>
          </a:p>
        </p:txBody>
      </p:sp>
      <p:sp>
        <p:nvSpPr>
          <p:cNvPr id="16" name="Date Placeholder 27"/>
          <p:cNvSpPr>
            <a:spLocks noGrp="1"/>
          </p:cNvSpPr>
          <p:nvPr>
            <p:ph type="dt" sz="half" idx="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B76F7D7-8007-4CED-A179-0D4D33C34213}"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7" name="Footer Placeholder 16"/>
          <p:cNvSpPr>
            <a:spLocks noGrp="1"/>
          </p:cNvSpPr>
          <p:nvPr>
            <p:ph type="ftr" sz="quarter" idx="3"/>
          </p:nvPr>
        </p:nvSpPr>
        <p:spPr>
          <a:xfrm>
            <a:off x="914400" y="6172200"/>
            <a:ext cx="39624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8" name="Slide Number Placeholder 28"/>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914400" y="1447800"/>
            <a:ext cx="777240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Rounded Rectangle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Rectangle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Rectangle 12"/>
          <p:cNvSpPr/>
          <p:nvPr/>
        </p:nvSpPr>
        <p:spPr>
          <a:xfrm>
            <a:off x="69850" y="2341563"/>
            <a:ext cx="90138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
          <p:cNvSpPr/>
          <p:nvPr/>
        </p:nvSpPr>
        <p:spPr>
          <a:xfrm>
            <a:off x="68263" y="2468563"/>
            <a:ext cx="9015413"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16" name="Date Placeholder 3"/>
          <p:cNvSpPr>
            <a:spLocks noGrp="1"/>
          </p:cNvSpPr>
          <p:nvPr>
            <p:ph type="dt" sz="half" idx="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1708A0D-37CF-4422-9DE2-581F55AA36F2}"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7" name="Footer Placeholder 4"/>
          <p:cNvSpPr>
            <a:spLocks noGrp="1"/>
          </p:cNvSpPr>
          <p:nvPr>
            <p:ph type="ftr" sz="quarter" idx="3"/>
          </p:nvPr>
        </p:nvSpPr>
        <p:spPr>
          <a:xfrm>
            <a:off x="800100" y="6172200"/>
            <a:ext cx="40005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8" name="Slide Number Placeholder 5"/>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914400" y="1447800"/>
            <a:ext cx="374904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1" name="Content Placeholder 10"/>
          <p:cNvSpPr>
            <a:spLocks noGrp="1"/>
          </p:cNvSpPr>
          <p:nvPr>
            <p:ph sz="quarter" idx="2"/>
          </p:nvPr>
        </p:nvSpPr>
        <p:spPr>
          <a:xfrm>
            <a:off x="4933950" y="1447800"/>
            <a:ext cx="374904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11" name="Content Placeholder 10"/>
          <p:cNvSpPr>
            <a:spLocks noGrp="1"/>
          </p:cNvSpPr>
          <p:nvPr>
            <p:ph sz="half" idx="2"/>
          </p:nvPr>
        </p:nvSpPr>
        <p:spPr>
          <a:xfrm>
            <a:off x="914400" y="2247900"/>
            <a:ext cx="3733800" cy="3886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3" name="Content Placeholder 12"/>
          <p:cNvSpPr>
            <a:spLocks noGrp="1"/>
          </p:cNvSpPr>
          <p:nvPr>
            <p:ph sz="half" idx="4"/>
          </p:nvPr>
        </p:nvSpPr>
        <p:spPr>
          <a:xfrm>
            <a:off x="4953000" y="2247900"/>
            <a:ext cx="3733800" cy="3886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Rounded Rectangle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smtClean="0"/>
              <a:t>Click to edit Master title style</a:t>
            </a:r>
            <a:endParaRPr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endParaRPr lang="en-US" smtClean="0"/>
          </a:p>
        </p:txBody>
      </p:sp>
      <p:sp>
        <p:nvSpPr>
          <p:cNvPr id="11" name="Content Placeholder 10"/>
          <p:cNvSpPr>
            <a:spLocks noGrp="1"/>
          </p:cNvSpPr>
          <p:nvPr>
            <p:ph sz="quarter" idx="1"/>
          </p:nvPr>
        </p:nvSpPr>
        <p:spPr>
          <a:xfrm>
            <a:off x="2971800" y="1600200"/>
            <a:ext cx="5715000" cy="44958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2" name="Date Placeholder 4"/>
          <p:cNvSpPr>
            <a:spLocks noGrp="1"/>
          </p:cNvSpPr>
          <p:nvPr>
            <p:ph type="dt" sz="half" idx="1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15211DD-4D4F-4C48-9DC7-EB48E94BE22D}"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3" name="Footer Placeholder 5"/>
          <p:cNvSpPr>
            <a:spLocks noGrp="1"/>
          </p:cNvSpPr>
          <p:nvPr>
            <p:ph type="ftr" sz="quarter" idx="3"/>
          </p:nvPr>
        </p:nvSpPr>
        <p:spPr>
          <a:xfrm>
            <a:off x="914400" y="6172200"/>
            <a:ext cx="39624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5" name="Slide Number Placeholder 6"/>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Rectangle 10"/>
          <p:cNvSpPr/>
          <p:nvPr/>
        </p:nvSpPr>
        <p:spPr>
          <a:xfrm>
            <a:off x="68263" y="4649788"/>
            <a:ext cx="90074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Rectangle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smtClean="0"/>
              <a:t>Click to edit Master text styles</a:t>
            </a:r>
            <a:endParaRPr lang="en-US" smtClean="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Date Placeholder 4"/>
          <p:cNvSpPr>
            <a:spLocks noGrp="1"/>
          </p:cNvSpPr>
          <p:nvPr>
            <p:ph type="dt" sz="half" idx="1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915F3932-4BF8-4392-970A-F9EA3C94641B}"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5" name="Footer Placeholder 5"/>
          <p:cNvSpPr>
            <a:spLocks noGrp="1"/>
          </p:cNvSpPr>
          <p:nvPr>
            <p:ph type="ftr" sz="quarter" idx="3"/>
          </p:nvPr>
        </p:nvSpPr>
        <p:spPr>
          <a:xfrm>
            <a:off x="914400" y="6172200"/>
            <a:ext cx="3886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6" name="Slide Number Placeholder 6"/>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3">
        <a:schemeClr val="bg2"/>
      </p:bgRef>
    </p:bg>
    <p:spTree>
      <p:nvGrpSpPr>
        <p:cNvPr id="1" name=""/>
        <p:cNvGrpSpPr/>
        <p:nvPr/>
      </p:nvGrpSpPr>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8" name="Title Placeholder 21"/>
          <p:cNvSpPr>
            <a:spLocks noGrp="1"/>
          </p:cNvSpPr>
          <p:nvPr>
            <p:ph type="title"/>
          </p:nvPr>
        </p:nvSpPr>
        <p:spPr>
          <a:xfrm>
            <a:off x="914400" y="274638"/>
            <a:ext cx="7772400" cy="1143000"/>
          </a:xfrm>
          <a:prstGeom prst="rect">
            <a:avLst/>
          </a:prstGeom>
          <a:noFill/>
          <a:ln w="9525">
            <a:noFill/>
          </a:ln>
        </p:spPr>
        <p:txBody>
          <a:bodyPr bIns="91440" anchor="b" anchorCtr="0"/>
          <a:p>
            <a:pPr lvl="0"/>
            <a:r>
              <a:rPr dirty="0"/>
              <a:t>Click to edit Master title style</a:t>
            </a:r>
            <a:endParaRPr dirty="0"/>
          </a:p>
        </p:txBody>
      </p:sp>
      <p:sp>
        <p:nvSpPr>
          <p:cNvPr id="1029" name="Text Placeholder 12"/>
          <p:cNvSpPr>
            <a:spLocks noGrp="1"/>
          </p:cNvSpPr>
          <p:nvPr>
            <p:ph type="body" idx="1"/>
          </p:nvPr>
        </p:nvSpPr>
        <p:spPr>
          <a:xfrm>
            <a:off x="914400" y="1447800"/>
            <a:ext cx="7772400" cy="45720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4B13640-96C7-407E-A17E-B4ABE9EA440F}"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a:defRPr sz="1400">
                <a:solidFill>
                  <a:srgbClr val="FFFFFF"/>
                </a:solidFill>
                <a:latin typeface="Franklin Gothic Book" panose="020B0503020102020204" pitchFamily="34" charset="0"/>
              </a:defRPr>
            </a:lvl1p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anose="020B0503020102020204" pitchFamily="34" charset="0"/>
        </a:defRPr>
      </a:lvl2pPr>
      <a:lvl3pPr algn="l" rtl="0" eaLnBrk="0" fontAlgn="base" hangingPunct="0">
        <a:spcBef>
          <a:spcPct val="0"/>
        </a:spcBef>
        <a:spcAft>
          <a:spcPct val="0"/>
        </a:spcAft>
        <a:defRPr sz="4000">
          <a:solidFill>
            <a:schemeClr val="tx2"/>
          </a:solidFill>
          <a:latin typeface="Franklin Gothic Book" panose="020B0503020102020204" pitchFamily="34" charset="0"/>
        </a:defRPr>
      </a:lvl3pPr>
      <a:lvl4pPr algn="l" rtl="0" eaLnBrk="0" fontAlgn="base" hangingPunct="0">
        <a:spcBef>
          <a:spcPct val="0"/>
        </a:spcBef>
        <a:spcAft>
          <a:spcPct val="0"/>
        </a:spcAft>
        <a:defRPr sz="4000">
          <a:solidFill>
            <a:schemeClr val="tx2"/>
          </a:solidFill>
          <a:latin typeface="Franklin Gothic Book" panose="020B0503020102020204" pitchFamily="34" charset="0"/>
        </a:defRPr>
      </a:lvl4pPr>
      <a:lvl5pPr algn="l" rtl="0" eaLnBrk="0" fontAlgn="base" hangingPunct="0">
        <a:spcBef>
          <a:spcPct val="0"/>
        </a:spcBef>
        <a:spcAft>
          <a:spcPct val="0"/>
        </a:spcAft>
        <a:defRPr sz="4000">
          <a:solidFill>
            <a:schemeClr val="tx2"/>
          </a:solidFill>
          <a:latin typeface="Franklin Gothic Book" panose="020B0503020102020204" pitchFamily="34" charset="0"/>
        </a:defRPr>
      </a:lvl5pPr>
      <a:lvl6pPr marL="457200" algn="l" rtl="0" fontAlgn="base">
        <a:spcBef>
          <a:spcPct val="0"/>
        </a:spcBef>
        <a:spcAft>
          <a:spcPct val="0"/>
        </a:spcAft>
        <a:defRPr sz="4000">
          <a:solidFill>
            <a:schemeClr val="tx2"/>
          </a:solidFill>
          <a:latin typeface="Franklin Gothic Book" panose="020B0503020102020204" pitchFamily="34" charset="0"/>
        </a:defRPr>
      </a:lvl6pPr>
      <a:lvl7pPr marL="914400" algn="l" rtl="0" fontAlgn="base">
        <a:spcBef>
          <a:spcPct val="0"/>
        </a:spcBef>
        <a:spcAft>
          <a:spcPct val="0"/>
        </a:spcAft>
        <a:defRPr sz="4000">
          <a:solidFill>
            <a:schemeClr val="tx2"/>
          </a:solidFill>
          <a:latin typeface="Franklin Gothic Book" panose="020B0503020102020204" pitchFamily="34" charset="0"/>
        </a:defRPr>
      </a:lvl7pPr>
      <a:lvl8pPr marL="1371600" algn="l" rtl="0" fontAlgn="base">
        <a:spcBef>
          <a:spcPct val="0"/>
        </a:spcBef>
        <a:spcAft>
          <a:spcPct val="0"/>
        </a:spcAft>
        <a:defRPr sz="4000">
          <a:solidFill>
            <a:schemeClr val="tx2"/>
          </a:solidFill>
          <a:latin typeface="Franklin Gothic Book" panose="020B0503020102020204" pitchFamily="34" charset="0"/>
        </a:defRPr>
      </a:lvl8pPr>
      <a:lvl9pPr marL="1828800" algn="l" rtl="0" fontAlgn="base">
        <a:spcBef>
          <a:spcPct val="0"/>
        </a:spcBef>
        <a:spcAft>
          <a:spcPct val="0"/>
        </a:spcAft>
        <a:defRPr sz="4000">
          <a:solidFill>
            <a:schemeClr val="tx2"/>
          </a:solidFill>
          <a:latin typeface="Franklin Gothic Book" panose="020B05030201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ubtitle 2"/>
          <p:cNvSpPr>
            <a:spLocks noGrp="1"/>
          </p:cNvSpPr>
          <p:nvPr>
            <p:ph type="subTitle" idx="1"/>
          </p:nvPr>
        </p:nvSpPr>
        <p:spPr/>
        <p:txBody>
          <a:bodyPr vert="horz" wrap="square" lIns="91440" tIns="45720" rIns="91440" bIns="45720" numCol="1" anchor="t" anchorCtr="0" compatLnSpc="1">
            <a:normAutofit/>
          </a:bodyPr>
          <a:lstStyle/>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3200" b="0" i="0" u="none" strike="noStrike" kern="1200" cap="none" spc="0" normalizeH="0" baseline="0" noProof="0" dirty="0" smtClean="0">
                <a:ln>
                  <a:noFill/>
                </a:ln>
                <a:solidFill>
                  <a:schemeClr val="accent6">
                    <a:lumMod val="75000"/>
                  </a:schemeClr>
                </a:solidFill>
                <a:effectLst/>
                <a:uLnTx/>
                <a:uFillTx/>
                <a:latin typeface="+mn-lt"/>
                <a:ea typeface="+mn-ea"/>
                <a:cs typeface="+mn-cs"/>
              </a:rPr>
              <a:t>by </a:t>
            </a:r>
            <a:endParaRPr kumimoji="0" lang="en-US" sz="3200" b="0"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2800" b="0" i="0" u="none" strike="noStrike" kern="1200" cap="none" spc="0" normalizeH="0" baseline="0" noProof="0" dirty="0" smtClean="0">
                <a:ln>
                  <a:noFill/>
                </a:ln>
                <a:solidFill>
                  <a:schemeClr val="accent6">
                    <a:lumMod val="75000"/>
                  </a:schemeClr>
                </a:solidFill>
                <a:effectLst/>
                <a:uLnTx/>
                <a:uFillTx/>
                <a:latin typeface="+mn-lt"/>
                <a:ea typeface="+mn-ea"/>
                <a:cs typeface="+mn-cs"/>
              </a:rPr>
              <a:t>Dr. Philomena </a:t>
            </a:r>
            <a:r>
              <a:rPr kumimoji="0" lang="en-US" sz="2800" b="0" i="0" u="none" strike="noStrike" kern="1200" cap="none" spc="0" normalizeH="0" baseline="0" noProof="0" dirty="0" err="1" smtClean="0">
                <a:ln>
                  <a:noFill/>
                </a:ln>
                <a:solidFill>
                  <a:schemeClr val="accent6">
                    <a:lumMod val="75000"/>
                  </a:schemeClr>
                </a:solidFill>
                <a:effectLst/>
                <a:uLnTx/>
                <a:uFillTx/>
                <a:latin typeface="+mn-lt"/>
                <a:ea typeface="+mn-ea"/>
                <a:cs typeface="+mn-cs"/>
              </a:rPr>
              <a:t>Kanagaraj</a:t>
            </a:r>
            <a:endParaRPr kumimoji="0" lang="en-US" sz="2800" b="0" i="0" u="none" strike="noStrike" kern="1200" cap="none" spc="0" normalizeH="0" baseline="0" noProof="0" dirty="0">
              <a:ln>
                <a:noFill/>
              </a:ln>
              <a:solidFill>
                <a:schemeClr val="accent6">
                  <a:lumMod val="75000"/>
                </a:schemeClr>
              </a:solidFill>
              <a:effectLst/>
              <a:uLnTx/>
              <a:uFillTx/>
              <a:latin typeface="+mn-lt"/>
              <a:ea typeface="+mn-ea"/>
              <a:cs typeface="+mn-cs"/>
            </a:endParaRPr>
          </a:p>
        </p:txBody>
      </p:sp>
      <p:sp>
        <p:nvSpPr>
          <p:cNvPr id="6147" name="Title 1"/>
          <p:cNvSpPr>
            <a:spLocks noGrp="1"/>
          </p:cNvSpPr>
          <p:nvPr>
            <p:ph type="ctrTitle"/>
          </p:nvPr>
        </p:nvSpPr>
        <p:spPr>
          <a:xfrm>
            <a:off x="457200" y="1506538"/>
            <a:ext cx="8229600" cy="1470025"/>
          </a:xfrm>
        </p:spPr>
        <p:txBody>
          <a:bodyPr vert="horz" wrap="square" lIns="91440" tIns="45720" rIns="91440" bIns="91440" anchor="ctr" anchorCtr="0"/>
          <a:p>
            <a:pPr eaLnBrk="1" hangingPunct="1">
              <a:buClrTx/>
              <a:buSzTx/>
              <a:buFontTx/>
            </a:pPr>
            <a:r>
              <a:rPr b="1" i="1" kern="1200" dirty="0">
                <a:solidFill>
                  <a:srgbClr val="FFFFFF"/>
                </a:solidFill>
                <a:latin typeface="+mj-lt"/>
                <a:ea typeface="+mj-ea"/>
                <a:cs typeface="+mj-cs"/>
              </a:rPr>
              <a:t>'THE INNER MAN'</a:t>
            </a:r>
            <a:endParaRPr b="1" i="1" kern="1200" dirty="0">
              <a:solidFill>
                <a:srgbClr val="FFFFFF"/>
              </a:solidFill>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000" b="1" i="1" u="none" strike="noStrike" kern="1200" cap="none" spc="0" normalizeH="0" baseline="0" noProof="0" dirty="0" smtClean="0">
                <a:ln>
                  <a:noFill/>
                </a:ln>
                <a:solidFill>
                  <a:schemeClr val="tx2"/>
                </a:solidFill>
                <a:effectLst/>
                <a:uLnTx/>
                <a:uFillTx/>
                <a:latin typeface="+mn-lt"/>
                <a:ea typeface="+mj-ea"/>
                <a:cs typeface="+mj-cs"/>
              </a:rPr>
              <a:t>The Inner Man</a:t>
            </a:r>
            <a:br>
              <a:rPr kumimoji="0" lang="en-US" sz="4000" b="1" i="1" u="none" strike="noStrike" kern="1200" cap="none" spc="0" normalizeH="0" baseline="0" noProof="0" dirty="0" smtClean="0">
                <a:ln>
                  <a:noFill/>
                </a:ln>
                <a:solidFill>
                  <a:schemeClr val="tx2"/>
                </a:solidFill>
                <a:effectLst/>
                <a:uLnTx/>
                <a:uFillTx/>
                <a:latin typeface="+mn-lt"/>
                <a:ea typeface="+mj-ea"/>
                <a:cs typeface="+mj-cs"/>
              </a:rPr>
            </a:br>
            <a:r>
              <a:rPr kumimoji="0" lang="en-US" sz="2200" b="1" i="1" u="none" strike="noStrike" kern="1200" cap="none" spc="0" normalizeH="0" baseline="0" noProof="0" dirty="0" smtClean="0">
                <a:ln>
                  <a:noFill/>
                </a:ln>
                <a:solidFill>
                  <a:schemeClr val="tx2"/>
                </a:solidFill>
                <a:effectLst/>
                <a:uLnTx/>
                <a:uFillTx/>
                <a:latin typeface="+mj-lt"/>
                <a:ea typeface="+mj-ea"/>
                <a:cs typeface="+mj-cs"/>
              </a:rPr>
              <a:t>by (Late) Rev. Dr. Henry Joseph </a:t>
            </a:r>
            <a:endParaRPr kumimoji="0" lang="en-US" sz="2200" b="1" i="1" u="none" strike="noStrike" kern="1200" cap="none" spc="0" normalizeH="0" baseline="0" noProof="0" dirty="0">
              <a:ln>
                <a:noFill/>
              </a:ln>
              <a:solidFill>
                <a:schemeClr val="tx2"/>
              </a:solidFill>
              <a:effectLst/>
              <a:uLnTx/>
              <a:uFillTx/>
              <a:latin typeface="+mn-lt"/>
              <a:ea typeface="+mj-ea"/>
              <a:cs typeface="+mj-cs"/>
            </a:endParaRPr>
          </a:p>
        </p:txBody>
      </p:sp>
      <p:sp>
        <p:nvSpPr>
          <p:cNvPr id="7171" name="Content Placeholder 2"/>
          <p:cNvSpPr>
            <a:spLocks noGrp="1"/>
          </p:cNvSpPr>
          <p:nvPr>
            <p:ph sz="quarter" idx="1"/>
          </p:nvPr>
        </p:nvSpPr>
        <p:spPr>
          <a:xfrm>
            <a:off x="914400" y="1219200"/>
            <a:ext cx="7772400" cy="4800600"/>
          </a:xfrm>
        </p:spPr>
        <p:txBody>
          <a:bodyPr vert="horz" wrap="square" lIns="91440" tIns="45720" rIns="91440" bIns="45720" anchor="t" anchorCtr="0"/>
          <a:p>
            <a:pPr eaLnBrk="1" hangingPunct="1">
              <a:buClr>
                <a:schemeClr val="accent1"/>
              </a:buClr>
              <a:buSzPct val="85000"/>
              <a:buFont typeface="Wingdings 2" panose="05020102010507070707" pitchFamily="18" charset="2"/>
            </a:pPr>
            <a:r>
              <a:rPr dirty="0"/>
              <a:t>SPIRIT, SOUL and BODY -  mini trinity</a:t>
            </a:r>
            <a:endParaRPr dirty="0"/>
          </a:p>
          <a:p>
            <a:pPr eaLnBrk="1" hangingPunct="1">
              <a:buClr>
                <a:schemeClr val="accent1"/>
              </a:buClr>
              <a:buSzPct val="85000"/>
              <a:buFont typeface="Wingdings 2" panose="05020102010507070707" pitchFamily="18" charset="2"/>
            </a:pPr>
            <a:r>
              <a:rPr dirty="0"/>
              <a:t>1 Thess 5:23b : Spirit, Soul and Body  -</a:t>
            </a:r>
            <a:r>
              <a:rPr sz="2100" dirty="0"/>
              <a:t>‘May your whole spirit, soul and body be kept blameless at the coming of our Lord Jesus Christ ‘.</a:t>
            </a:r>
            <a:endParaRPr sz="2100" dirty="0"/>
          </a:p>
          <a:p>
            <a:pPr eaLnBrk="1" hangingPunct="1">
              <a:buClr>
                <a:schemeClr val="accent1"/>
              </a:buClr>
              <a:buSzPct val="85000"/>
              <a:buFont typeface="Wingdings 2" panose="05020102010507070707" pitchFamily="18" charset="2"/>
            </a:pPr>
            <a:r>
              <a:rPr dirty="0"/>
              <a:t>Gen  2:7</a:t>
            </a:r>
            <a:endParaRPr dirty="0"/>
          </a:p>
          <a:p>
            <a:pPr lvl="1" eaLnBrk="1" hangingPunct="1">
              <a:buClr>
                <a:schemeClr val="accent2"/>
              </a:buClr>
              <a:buSzPct val="85000"/>
              <a:buFont typeface="Wingdings 2" panose="05020102010507070707" pitchFamily="18" charset="2"/>
            </a:pPr>
            <a:r>
              <a:rPr dirty="0"/>
              <a:t>‘The  Lord God formed the man from the dust of the  ground‘       </a:t>
            </a:r>
            <a:endParaRPr dirty="0"/>
          </a:p>
          <a:p>
            <a:pPr lvl="3" eaLnBrk="1" hangingPunct="1">
              <a:buClr>
                <a:srgbClr val="A28E6A"/>
              </a:buClr>
              <a:buSzPct val="80000"/>
              <a:buFont typeface="Wingdings 2" panose="05020102010507070707" pitchFamily="18" charset="2"/>
            </a:pPr>
            <a:r>
              <a:rPr b="1" dirty="0"/>
              <a:t>– Man received the HUMAN BODY ….</a:t>
            </a:r>
            <a:endParaRPr b="1" dirty="0"/>
          </a:p>
          <a:p>
            <a:pPr lvl="1" eaLnBrk="1" hangingPunct="1">
              <a:buClr>
                <a:schemeClr val="accent2"/>
              </a:buClr>
              <a:buSzPct val="85000"/>
              <a:buFont typeface="Wingdings 2" panose="05020102010507070707" pitchFamily="18" charset="2"/>
            </a:pPr>
            <a:r>
              <a:rPr dirty="0"/>
              <a:t>‘and Breathed into his nostrils the breath of life’, </a:t>
            </a:r>
            <a:endParaRPr dirty="0"/>
          </a:p>
          <a:p>
            <a:pPr lvl="3" eaLnBrk="1" hangingPunct="1">
              <a:buClr>
                <a:srgbClr val="A28E6A"/>
              </a:buClr>
              <a:buSzPct val="80000"/>
              <a:buFont typeface="Wingdings 2" panose="05020102010507070707" pitchFamily="18" charset="2"/>
            </a:pPr>
            <a:r>
              <a:rPr b="1" dirty="0"/>
              <a:t>-  Man received the HUMAN SPIRIT.</a:t>
            </a:r>
            <a:endParaRPr b="1" dirty="0"/>
          </a:p>
          <a:p>
            <a:pPr lvl="1" eaLnBrk="1" hangingPunct="1">
              <a:buClr>
                <a:schemeClr val="accent2"/>
              </a:buClr>
              <a:buSzPct val="85000"/>
              <a:buFont typeface="Wingdings 2" panose="05020102010507070707" pitchFamily="18" charset="2"/>
            </a:pPr>
            <a:r>
              <a:rPr dirty="0"/>
              <a:t>‘and  the Man became a Living Being (Soul)’  </a:t>
            </a:r>
            <a:endParaRPr dirty="0"/>
          </a:p>
          <a:p>
            <a:pPr lvl="3" eaLnBrk="1" hangingPunct="1">
              <a:buClr>
                <a:srgbClr val="A28E6A"/>
              </a:buClr>
              <a:buSzPct val="80000"/>
              <a:buFont typeface="Wingdings 2" panose="05020102010507070707" pitchFamily="18" charset="2"/>
            </a:pPr>
            <a:r>
              <a:rPr b="1" dirty="0"/>
              <a:t>- Man received  the HUMAN SOUL.</a:t>
            </a:r>
            <a:endParaRPr b="1" dirty="0"/>
          </a:p>
          <a:p>
            <a:pPr lvl="1" eaLnBrk="1" hangingPunct="1">
              <a:buClr>
                <a:schemeClr val="accent2"/>
              </a:buClr>
              <a:buSzPct val="85000"/>
              <a:buFont typeface="Wingdings 2" panose="05020102010507070707" pitchFamily="18" charset="2"/>
            </a:pPr>
            <a:r>
              <a:rPr sz="2200" dirty="0"/>
              <a:t>(Only one out of the three,  is visible,  the other two are invisible.)</a:t>
            </a: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p:txBody>
          <a:bodyPr vert="horz" wrap="square" lIns="91440" tIns="45720" rIns="91440" bIns="91440" anchor="ctr" anchorCtr="0"/>
          <a:p>
            <a:pPr algn="ctr" eaLnBrk="1" hangingPunct="1"/>
            <a:r>
              <a:rPr b="1" i="1" dirty="0"/>
              <a:t>THE INNER MAN </a:t>
            </a:r>
            <a:br>
              <a:rPr b="1" i="1" dirty="0"/>
            </a:br>
            <a:r>
              <a:rPr sz="2200" b="1" i="1" dirty="0"/>
              <a:t>by (Late) Rev. Dr. Henry Joseph </a:t>
            </a:r>
            <a:endParaRPr sz="2200" b="1" i="1" dirty="0"/>
          </a:p>
        </p:txBody>
      </p:sp>
      <p:sp>
        <p:nvSpPr>
          <p:cNvPr id="8195" name="Content Placeholder 2"/>
          <p:cNvSpPr>
            <a:spLocks noGrp="1"/>
          </p:cNvSpPr>
          <p:nvPr>
            <p:ph sz="quarter" idx="1"/>
          </p:nvPr>
        </p:nvSpPr>
        <p:spPr>
          <a:xfrm>
            <a:off x="1371600" y="1447800"/>
            <a:ext cx="7315200" cy="4572000"/>
          </a:xfrm>
        </p:spPr>
        <p:txBody>
          <a:bodyPr vert="horz" wrap="square" lIns="91440" tIns="45720" rIns="91440" bIns="45720" anchor="t" anchorCtr="0"/>
          <a:p>
            <a:pPr eaLnBrk="1" hangingPunct="1">
              <a:buClr>
                <a:schemeClr val="accent1"/>
              </a:buClr>
              <a:buSzPct val="85000"/>
              <a:buFont typeface="Wingdings 2" panose="05020102010507070707" pitchFamily="18" charset="2"/>
            </a:pPr>
            <a:endParaRPr dirty="0"/>
          </a:p>
        </p:txBody>
      </p:sp>
      <p:sp>
        <p:nvSpPr>
          <p:cNvPr id="4" name="Oval 3"/>
          <p:cNvSpPr/>
          <p:nvPr/>
        </p:nvSpPr>
        <p:spPr>
          <a:xfrm>
            <a:off x="1447800" y="1447800"/>
            <a:ext cx="6477000" cy="464820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lt1"/>
                </a:solidFill>
                <a:effectLst/>
                <a:uLnTx/>
                <a:uFillTx/>
                <a:latin typeface="+mn-lt"/>
                <a:ea typeface="+mn-ea"/>
                <a:cs typeface="+mn-cs"/>
              </a:rPr>
              <a:t>			       BODY</a:t>
            </a:r>
            <a:endParaRPr kumimoji="0" lang="en-US" sz="3200" b="0" i="0" u="none" strike="noStrike" kern="1200" cap="none" spc="0" normalizeH="0" baseline="0" noProof="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lt1"/>
              </a:solidFill>
              <a:effectLst/>
              <a:uLnTx/>
              <a:uFillTx/>
              <a:latin typeface="+mn-lt"/>
              <a:ea typeface="+mn-ea"/>
              <a:cs typeface="+mn-cs"/>
            </a:endParaRPr>
          </a:p>
        </p:txBody>
      </p:sp>
      <p:sp>
        <p:nvSpPr>
          <p:cNvPr id="5" name="Oval 4"/>
          <p:cNvSpPr/>
          <p:nvPr/>
        </p:nvSpPr>
        <p:spPr>
          <a:xfrm>
            <a:off x="2286000" y="2209800"/>
            <a:ext cx="4572000" cy="32766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rPr>
              <a:t>                     </a:t>
            </a:r>
            <a:endPar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rPr>
              <a:t>                                            </a:t>
            </a:r>
            <a:endPar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rPr>
              <a:t>                         </a:t>
            </a:r>
            <a:endPar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schemeClr val="accent4">
                    <a:lumMod val="75000"/>
                  </a:schemeClr>
                </a:solidFill>
                <a:effectLst/>
                <a:uLnTx/>
                <a:uFillTx/>
                <a:latin typeface="+mn-lt"/>
                <a:ea typeface="+mn-ea"/>
                <a:cs typeface="+mn-cs"/>
              </a:rPr>
              <a:t>                      									   		            			  		               	   	            						  			  			 </a:t>
            </a:r>
            <a:r>
              <a:rPr kumimoji="0" lang="en-US" sz="3600" b="1" i="0" u="none" strike="noStrike" kern="1200" cap="none" spc="0" normalizeH="0" baseline="0" noProof="0" dirty="0">
                <a:ln>
                  <a:noFill/>
                </a:ln>
                <a:solidFill>
                  <a:schemeClr val="accent4">
                    <a:lumMod val="75000"/>
                  </a:schemeClr>
                </a:solidFill>
                <a:effectLst/>
                <a:uLnTx/>
                <a:uFillTx/>
                <a:latin typeface="+mn-lt"/>
                <a:ea typeface="+mn-ea"/>
                <a:cs typeface="+mn-cs"/>
              </a:rPr>
              <a:t>SOUL </a:t>
            </a:r>
            <a:endParaRPr kumimoji="0" lang="en-US" sz="3600" b="1" i="0" u="none" strike="noStrike" kern="1200" cap="none" spc="0" normalizeH="0" baseline="0" noProof="0" dirty="0">
              <a:ln>
                <a:noFill/>
              </a:ln>
              <a:solidFill>
                <a:schemeClr val="accent4">
                  <a:lumMod val="75000"/>
                </a:schemeClr>
              </a:solidFill>
              <a:effectLst/>
              <a:uLnTx/>
              <a:uFillTx/>
              <a:latin typeface="+mn-lt"/>
              <a:ea typeface="+mn-ea"/>
              <a:cs typeface="+mn-cs"/>
            </a:endParaRPr>
          </a:p>
        </p:txBody>
      </p:sp>
      <p:sp>
        <p:nvSpPr>
          <p:cNvPr id="6" name="Oval 5"/>
          <p:cNvSpPr/>
          <p:nvPr/>
        </p:nvSpPr>
        <p:spPr>
          <a:xfrm>
            <a:off x="3429000" y="2819400"/>
            <a:ext cx="2514600" cy="17526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chemeClr val="accent4">
                    <a:lumMod val="75000"/>
                  </a:schemeClr>
                </a:solidFill>
                <a:effectLst/>
                <a:uLnTx/>
                <a:uFillTx/>
                <a:latin typeface="+mn-lt"/>
                <a:ea typeface="+mn-ea"/>
                <a:cs typeface="+mn-cs"/>
              </a:rPr>
              <a:t>SPIRIT</a:t>
            </a:r>
            <a:endParaRPr kumimoji="0" lang="en-US" sz="3600" b="1" i="0" u="none" strike="noStrike" kern="1200" cap="none" spc="0" normalizeH="0" baseline="0" noProof="0" dirty="0">
              <a:ln>
                <a:noFill/>
              </a:ln>
              <a:solidFill>
                <a:schemeClr val="accent4">
                  <a:lumMod val="75000"/>
                </a:schemeClr>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1371600" y="274638"/>
            <a:ext cx="6019800" cy="1143000"/>
          </a:xfrm>
        </p:spPr>
        <p:txBody>
          <a:bodyPr vert="horz" wrap="square" lIns="91440" tIns="45720" rIns="91440" bIns="91440" anchor="ctr" anchorCtr="0"/>
          <a:p>
            <a:pPr algn="ctr" eaLnBrk="1" hangingPunct="1"/>
            <a:r>
              <a:rPr b="1" dirty="0">
                <a:latin typeface="Baskerville Old Face" panose="02020602080505020303" pitchFamily="18" charset="0"/>
              </a:rPr>
              <a:t>The spirit </a:t>
            </a:r>
            <a:endParaRPr dirty="0">
              <a:latin typeface="Baskerville Old Face" panose="02020602080505020303" pitchFamily="18" charset="0"/>
            </a:endParaRPr>
          </a:p>
        </p:txBody>
      </p:sp>
      <p:sp>
        <p:nvSpPr>
          <p:cNvPr id="3" name="Content Placeholder 2"/>
          <p:cNvSpPr>
            <a:spLocks noGrp="1"/>
          </p:cNvSpPr>
          <p:nvPr>
            <p:ph sz="quarter" idx="1"/>
          </p:nvPr>
        </p:nvSpPr>
        <p:spPr>
          <a:xfrm>
            <a:off x="914400" y="1295400"/>
            <a:ext cx="7772400" cy="4724400"/>
          </a:xfrm>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When God’s Spirit entered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the human body, </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the </a:t>
            </a:r>
            <a:r>
              <a:rPr kumimoji="0" lang="en-US" sz="2800" b="1" i="0" u="none" strike="noStrike" kern="1200" cap="none" spc="0" normalizeH="0" baseline="0" noProof="0" dirty="0" smtClean="0">
                <a:ln>
                  <a:noFill/>
                </a:ln>
                <a:solidFill>
                  <a:schemeClr val="tx1"/>
                </a:solidFill>
                <a:effectLst/>
                <a:uLnTx/>
                <a:uFillTx/>
                <a:latin typeface="+mn-lt"/>
                <a:ea typeface="+mn-ea"/>
                <a:cs typeface="+mn-cs"/>
              </a:rPr>
              <a:t>human spirit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was created within man.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When the human spirit and the human body came together the </a:t>
            </a:r>
            <a:r>
              <a:rPr kumimoji="0" lang="en-US" sz="2800" b="1" i="0" u="none" strike="noStrike" kern="1200" cap="none" spc="0" normalizeH="0" baseline="0" noProof="0" dirty="0" smtClean="0">
                <a:ln>
                  <a:noFill/>
                </a:ln>
                <a:solidFill>
                  <a:schemeClr val="tx1"/>
                </a:solidFill>
                <a:effectLst/>
                <a:uLnTx/>
                <a:uFillTx/>
                <a:latin typeface="+mn-lt"/>
                <a:ea typeface="+mn-ea"/>
                <a:cs typeface="+mn-cs"/>
              </a:rPr>
              <a:t>human soul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came into existence, as the 3</a:t>
            </a:r>
            <a:r>
              <a:rPr kumimoji="0" lang="en-US" sz="2600" b="0" i="0" u="none" strike="noStrike" kern="1200" cap="none" spc="0" normalizeH="0" baseline="30000" noProof="0" dirty="0" smtClean="0">
                <a:ln>
                  <a:noFill/>
                </a:ln>
                <a:solidFill>
                  <a:schemeClr val="tx1"/>
                </a:solidFill>
                <a:effectLst/>
                <a:uLnTx/>
                <a:uFillTx/>
                <a:latin typeface="+mn-lt"/>
                <a:ea typeface="+mn-ea"/>
                <a:cs typeface="+mn-cs"/>
              </a:rPr>
              <a:t>rd</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part of man.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1" i="0" u="sng" strike="noStrike" kern="1200" cap="none" spc="0" normalizeH="0" baseline="0" noProof="0" dirty="0" smtClean="0">
                <a:ln>
                  <a:noFill/>
                </a:ln>
                <a:solidFill>
                  <a:schemeClr val="tx1"/>
                </a:solidFill>
                <a:effectLst/>
                <a:uLnTx/>
                <a:uFillTx/>
                <a:latin typeface="+mn-lt"/>
                <a:ea typeface="+mn-ea"/>
                <a:cs typeface="+mn-cs"/>
              </a:rPr>
              <a:t>The spirit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Char char=""/>
              <a:defRPr/>
            </a:pPr>
            <a:r>
              <a:rPr kumimoji="0" lang="en-US" sz="28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The spirit communes with God</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ii/	 Conscious of Relationship with God</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iii/Occupies the innermost being (the Heart)</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iv/ With the help of the Holy Spirit, he receives life &amp;    	 power of  God and, expresses it to others.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p:txBody>
          <a:bodyPr vert="horz" wrap="square" lIns="91440" tIns="45720" rIns="91440" bIns="91440" anchor="b" anchorCtr="0"/>
          <a:p>
            <a:pPr eaLnBrk="1" hangingPunct="1"/>
            <a:r>
              <a:rPr b="1" dirty="0">
                <a:latin typeface="Baskerville Old Face" panose="02020602080505020303" pitchFamily="18" charset="0"/>
              </a:rPr>
              <a:t>The soul &amp; the body</a:t>
            </a:r>
            <a:endParaRPr b="1" dirty="0">
              <a:latin typeface="Baskerville Old Face" panose="02020602080505020303" pitchFamily="18" charset="0"/>
            </a:endParaRPr>
          </a:p>
        </p:txBody>
      </p:sp>
      <p:sp>
        <p:nvSpPr>
          <p:cNvPr id="3" name="Content Placeholder 2"/>
          <p:cNvSpPr>
            <a:spLocks noGrp="1"/>
          </p:cNvSpPr>
          <p:nvPr>
            <p:ph sz="quarter" idx="1"/>
          </p:nvPr>
        </p:nvSpPr>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panose="05000000000000000000" pitchFamily="2" charset="2"/>
              <a:buChar char="v"/>
              <a:defRPr/>
            </a:pPr>
            <a:r>
              <a:rPr kumimoji="0" lang="en-US" sz="3000" b="1" i="0" u="none" strike="noStrike" kern="1200" cap="none" spc="0" normalizeH="0" baseline="0" noProof="0" dirty="0" smtClean="0">
                <a:ln>
                  <a:noFill/>
                </a:ln>
                <a:solidFill>
                  <a:schemeClr val="tx1"/>
                </a:solidFill>
                <a:effectLst/>
                <a:uLnTx/>
                <a:uFillTx/>
                <a:latin typeface="+mn-lt"/>
                <a:ea typeface="+mn-ea"/>
                <a:cs typeface="+mn-cs"/>
              </a:rPr>
              <a:t>   The soul </a:t>
            </a:r>
            <a:endParaRPr kumimoji="0" lang="en-US" sz="3000" b="1"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Char char=""/>
              <a:defRPr/>
            </a:pPr>
            <a:r>
              <a:rPr kumimoji="0" lang="en-US" sz="3000" b="0" i="0" u="none" strike="noStrike" kern="1200" cap="none" spc="0" normalizeH="0" baseline="0" noProof="0" dirty="0" smtClean="0">
                <a:ln>
                  <a:noFill/>
                </a:ln>
                <a:solidFill>
                  <a:schemeClr val="tx1"/>
                </a:solidFill>
                <a:effectLst/>
                <a:uLnTx/>
                <a:uFillTx/>
                <a:latin typeface="+mn-lt"/>
                <a:ea typeface="+mn-ea"/>
                <a:cs typeface="+mn-cs"/>
              </a:rPr>
              <a:t>The Intellect, the mind  –       Thinking</a:t>
            </a:r>
            <a:endParaRPr kumimoji="0" lang="en-US" sz="30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Char char=""/>
              <a:defRPr/>
            </a:pPr>
            <a:r>
              <a:rPr kumimoji="0" lang="en-US" sz="3000" b="0" i="0" u="none" strike="noStrike" kern="1200" cap="none" spc="0" normalizeH="0" baseline="0" noProof="0" dirty="0" smtClean="0">
                <a:ln>
                  <a:noFill/>
                </a:ln>
                <a:solidFill>
                  <a:schemeClr val="tx1"/>
                </a:solidFill>
                <a:effectLst/>
                <a:uLnTx/>
                <a:uFillTx/>
                <a:latin typeface="+mn-lt"/>
                <a:ea typeface="+mn-ea"/>
                <a:cs typeface="+mn-cs"/>
              </a:rPr>
              <a:t>Emotions 		--         Feeling</a:t>
            </a:r>
            <a:endParaRPr kumimoji="0" lang="en-US" sz="30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Char char=""/>
              <a:defRPr/>
            </a:pPr>
            <a:r>
              <a:rPr kumimoji="0" lang="en-US" sz="3000" b="0" i="0" u="none" strike="noStrike" kern="1200" cap="none" spc="0" normalizeH="0" baseline="0" noProof="0" dirty="0" smtClean="0">
                <a:ln>
                  <a:noFill/>
                </a:ln>
                <a:solidFill>
                  <a:schemeClr val="tx1"/>
                </a:solidFill>
                <a:effectLst/>
                <a:uLnTx/>
                <a:uFillTx/>
                <a:latin typeface="+mn-lt"/>
                <a:ea typeface="+mn-ea"/>
                <a:cs typeface="+mn-cs"/>
              </a:rPr>
              <a:t>Will			--         Deciding</a:t>
            </a:r>
            <a:endParaRPr kumimoji="0" lang="en-US" sz="30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Arial" panose="020B0604020202020204" pitchFamily="34" charset="0"/>
              <a:buChar char="•"/>
              <a:defRPr/>
            </a:pPr>
            <a:r>
              <a:rPr kumimoji="0" lang="en-US" sz="3000" b="0" i="0" u="none" strike="noStrike" kern="1200" cap="none" spc="0" normalizeH="0" baseline="0" noProof="0" dirty="0" smtClean="0">
                <a:ln>
                  <a:noFill/>
                </a:ln>
                <a:solidFill>
                  <a:schemeClr val="tx1"/>
                </a:solidFill>
                <a:effectLst/>
                <a:uLnTx/>
                <a:uFillTx/>
                <a:latin typeface="+mn-lt"/>
                <a:ea typeface="+mn-ea"/>
                <a:cs typeface="+mn-cs"/>
              </a:rPr>
              <a:t>Our thoughts (mind) affect our emotions and,</a:t>
            </a:r>
            <a:endParaRPr kumimoji="0" lang="en-US" sz="30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None/>
              <a:defRPr/>
            </a:pPr>
            <a:r>
              <a:rPr kumimoji="0" lang="en-US" sz="3000" b="0" i="0" u="none" strike="noStrike" kern="1200" cap="none" spc="0" normalizeH="0" baseline="0" noProof="0" dirty="0" smtClean="0">
                <a:ln>
                  <a:noFill/>
                </a:ln>
                <a:solidFill>
                  <a:schemeClr val="tx1"/>
                </a:solidFill>
                <a:effectLst/>
                <a:uLnTx/>
                <a:uFillTx/>
                <a:latin typeface="+mn-lt"/>
                <a:ea typeface="+mn-ea"/>
                <a:cs typeface="+mn-cs"/>
              </a:rPr>
              <a:t>our emotions affect our decisions and decisions</a:t>
            </a:r>
            <a:endParaRPr kumimoji="0" lang="en-US" sz="30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panose="05020102010507070707"/>
              <a:buNone/>
              <a:defRPr/>
            </a:pPr>
            <a:r>
              <a:rPr kumimoji="0" lang="en-US" sz="3000" b="0" i="0" u="none" strike="noStrike" kern="1200" cap="none" spc="0" normalizeH="0" baseline="0" noProof="0" dirty="0" smtClean="0">
                <a:ln>
                  <a:noFill/>
                </a:ln>
                <a:solidFill>
                  <a:schemeClr val="tx1"/>
                </a:solidFill>
                <a:effectLst/>
                <a:uLnTx/>
                <a:uFillTx/>
                <a:latin typeface="+mn-lt"/>
                <a:ea typeface="+mn-ea"/>
                <a:cs typeface="+mn-cs"/>
              </a:rPr>
              <a:t>affect our  body.</a:t>
            </a:r>
            <a:endParaRPr kumimoji="0" lang="en-US" sz="30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panose="05000000000000000000" pitchFamily="2" charset="2"/>
              <a:buChar char="v"/>
              <a:defRPr/>
            </a:pPr>
            <a:r>
              <a:rPr kumimoji="0" lang="en-US" sz="3000" b="1" i="0" u="none" strike="noStrike" kern="1200" cap="none" spc="0" normalizeH="0" baseline="0" noProof="0" dirty="0" smtClean="0">
                <a:ln>
                  <a:noFill/>
                </a:ln>
                <a:solidFill>
                  <a:schemeClr val="tx1"/>
                </a:solidFill>
                <a:effectLst/>
                <a:uLnTx/>
                <a:uFillTx/>
                <a:latin typeface="+mn-lt"/>
                <a:ea typeface="+mn-ea"/>
                <a:cs typeface="+mn-cs"/>
              </a:rPr>
              <a:t>The Body </a:t>
            </a:r>
            <a:endParaRPr kumimoji="0" lang="en-US" sz="3000" b="1"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panose="05000000000000000000" pitchFamily="2" charset="2"/>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Material world through his body – exist meaningfully in this world he/she lives .</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ctr" defTabSz="914400" rtl="0" eaLnBrk="1" fontAlgn="auto" latinLnBrk="0" hangingPunct="1">
              <a:lnSpc>
                <a:spcPct val="100000"/>
              </a:lnSpc>
              <a:spcBef>
                <a:spcPts val="370"/>
              </a:spcBef>
              <a:spcAft>
                <a:spcPts val="0"/>
              </a:spcAft>
              <a:buClr>
                <a:schemeClr val="accent2"/>
              </a:buClr>
              <a:buSzPct val="85000"/>
              <a:buFont typeface="Wingdings 2" panose="05020102010507070707"/>
              <a:buNone/>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p:txBody>
          <a:bodyPr vert="horz" wrap="square" lIns="91440" tIns="45720" rIns="91440" bIns="91440" anchor="b" anchorCtr="0"/>
          <a:p>
            <a:pPr algn="ctr" eaLnBrk="1" hangingPunct="1"/>
            <a:r>
              <a:rPr b="1" i="1" u="sng" dirty="0">
                <a:solidFill>
                  <a:schemeClr val="accent1"/>
                </a:solidFill>
              </a:rPr>
              <a:t>2.0	INJURY  causes  :</a:t>
            </a:r>
            <a:endParaRPr i="1" dirty="0">
              <a:solidFill>
                <a:schemeClr val="accent1"/>
              </a:solidFill>
            </a:endParaRPr>
          </a:p>
        </p:txBody>
      </p:sp>
      <p:sp>
        <p:nvSpPr>
          <p:cNvPr id="11267" name="Content Placeholder 2"/>
          <p:cNvSpPr>
            <a:spLocks noGrp="1"/>
          </p:cNvSpPr>
          <p:nvPr>
            <p:ph sz="quarter" idx="1"/>
          </p:nvPr>
        </p:nvSpPr>
        <p:spPr>
          <a:xfrm>
            <a:off x="914400" y="1295400"/>
            <a:ext cx="7772400" cy="4724400"/>
          </a:xfrm>
        </p:spPr>
        <p:txBody>
          <a:bodyPr vert="horz" wrap="square" lIns="91440" tIns="45720" rIns="91440" bIns="45720" anchor="t" anchorCtr="0"/>
          <a:p>
            <a:pPr eaLnBrk="1" hangingPunct="1">
              <a:buClr>
                <a:schemeClr val="accent1"/>
              </a:buClr>
              <a:buSzPct val="85000"/>
              <a:buFont typeface="Wingdings 2" panose="05020102010507070707" pitchFamily="18" charset="2"/>
            </a:pPr>
            <a:r>
              <a:rPr sz="3200" b="1" i="1" dirty="0">
                <a:solidFill>
                  <a:schemeClr val="accent1"/>
                </a:solidFill>
              </a:rPr>
              <a:t>2.1	Physical  Scars</a:t>
            </a:r>
            <a:endParaRPr sz="3200" b="1" i="1" dirty="0">
              <a:solidFill>
                <a:schemeClr val="accent1"/>
              </a:solidFill>
            </a:endParaRPr>
          </a:p>
          <a:p>
            <a:pPr eaLnBrk="1" hangingPunct="1">
              <a:buClr>
                <a:schemeClr val="accent1"/>
              </a:buClr>
              <a:buSzPct val="85000"/>
              <a:buFont typeface="Wingdings 2" panose="05020102010507070707" pitchFamily="18" charset="2"/>
            </a:pPr>
            <a:r>
              <a:rPr sz="3200" b="1" i="1" dirty="0">
                <a:solidFill>
                  <a:schemeClr val="accent1"/>
                </a:solidFill>
              </a:rPr>
              <a:t>2.2	Psychological, emotional, mental scars </a:t>
            </a:r>
            <a:endParaRPr sz="3200" b="1" i="1" dirty="0">
              <a:solidFill>
                <a:schemeClr val="accent1"/>
              </a:solidFill>
            </a:endParaRPr>
          </a:p>
          <a:p>
            <a:pPr eaLnBrk="1" hangingPunct="1">
              <a:buClr>
                <a:schemeClr val="accent1"/>
              </a:buClr>
              <a:buSzPct val="85000"/>
              <a:buFont typeface="Wingdings 2" panose="05020102010507070707" pitchFamily="18" charset="2"/>
            </a:pPr>
            <a:r>
              <a:rPr sz="3200" b="1" i="1" dirty="0">
                <a:solidFill>
                  <a:schemeClr val="accent1"/>
                </a:solidFill>
              </a:rPr>
              <a:t>2.4	Spiritual Scars :  Spiritual Distress : </a:t>
            </a:r>
            <a:endParaRPr sz="3200" b="1" i="1" dirty="0">
              <a:solidFill>
                <a:schemeClr val="accent1"/>
              </a:solidFill>
            </a:endParaRPr>
          </a:p>
          <a:p>
            <a:pPr eaLnBrk="1" hangingPunct="1">
              <a:buClr>
                <a:schemeClr val="accent1"/>
              </a:buClr>
              <a:buSzPct val="85000"/>
              <a:buFont typeface="Wingdings 2" panose="05020102010507070707" pitchFamily="18" charset="2"/>
            </a:pPr>
            <a:endParaRPr sz="1100" b="1" u="sng" dirty="0"/>
          </a:p>
          <a:p>
            <a:pPr eaLnBrk="1" hangingPunct="1">
              <a:buClr>
                <a:schemeClr val="accent1"/>
              </a:buClr>
              <a:buSzPct val="85000"/>
              <a:buFont typeface="Wingdings 2" panose="05020102010507070707" pitchFamily="18" charset="2"/>
            </a:pPr>
            <a:r>
              <a:rPr sz="3200" b="1" u="sng" dirty="0"/>
              <a:t>2.1	Physical  :</a:t>
            </a:r>
            <a:r>
              <a:rPr sz="3200" b="1" dirty="0"/>
              <a:t> </a:t>
            </a:r>
            <a:endParaRPr sz="3200" b="1" dirty="0"/>
          </a:p>
          <a:p>
            <a:pPr eaLnBrk="1" hangingPunct="1">
              <a:buClr>
                <a:schemeClr val="accent1"/>
              </a:buClr>
              <a:buSzPct val="85000"/>
              <a:buFont typeface="Wingdings 2" panose="05020102010507070707" pitchFamily="18" charset="2"/>
            </a:pPr>
            <a:r>
              <a:rPr sz="3200" b="1" dirty="0"/>
              <a:t> Hurt, Wound ,  Shock,  Sore,  Scar .</a:t>
            </a:r>
            <a:endParaRPr sz="3200" dirty="0"/>
          </a:p>
          <a:p>
            <a:pPr eaLnBrk="1" hangingPunct="1">
              <a:buClr>
                <a:schemeClr val="accent1"/>
              </a:buClr>
              <a:buSzPct val="85000"/>
              <a:buFont typeface="Wingdings 2" panose="05020102010507070707" pitchFamily="18" charset="2"/>
            </a:pPr>
            <a:r>
              <a:rPr sz="2800" b="1" dirty="0"/>
              <a:t>INJURY          WOUND 	        SORE              MEDICINE/Treatment           RECOVERY         SCAR  </a:t>
            </a:r>
            <a:r>
              <a:rPr sz="2800" b="1" u="sng" dirty="0"/>
              <a:t>(Maybe No SCAR</a:t>
            </a:r>
            <a:r>
              <a:rPr sz="2800" b="1" dirty="0"/>
              <a:t>) . </a:t>
            </a:r>
            <a:endParaRPr sz="2800" dirty="0"/>
          </a:p>
        </p:txBody>
      </p:sp>
      <p:sp>
        <p:nvSpPr>
          <p:cNvPr id="6" name="Right Arrow 5"/>
          <p:cNvSpPr/>
          <p:nvPr/>
        </p:nvSpPr>
        <p:spPr>
          <a:xfrm>
            <a:off x="4800600" y="49530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ight Arrow 6"/>
          <p:cNvSpPr/>
          <p:nvPr/>
        </p:nvSpPr>
        <p:spPr>
          <a:xfrm>
            <a:off x="2514600" y="4495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ight Arrow 7"/>
          <p:cNvSpPr/>
          <p:nvPr/>
        </p:nvSpPr>
        <p:spPr>
          <a:xfrm>
            <a:off x="7315200" y="49530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lt1"/>
                </a:solidFill>
                <a:effectLst/>
                <a:uLnTx/>
                <a:uFillTx/>
                <a:latin typeface="+mn-lt"/>
                <a:ea typeface="+mn-ea"/>
                <a:cs typeface="+mn-cs"/>
              </a:rPr>
              <a:t> </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9" name="Right Arrow 8"/>
          <p:cNvSpPr/>
          <p:nvPr/>
        </p:nvSpPr>
        <p:spPr>
          <a:xfrm>
            <a:off x="4572000" y="4495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Right Arrow 9"/>
          <p:cNvSpPr/>
          <p:nvPr/>
        </p:nvSpPr>
        <p:spPr>
          <a:xfrm>
            <a:off x="6248400" y="4495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p:txBody>
          <a:bodyPr vert="horz" wrap="square" lIns="91440" tIns="45720" rIns="91440" bIns="91440" anchor="b" anchorCtr="0"/>
          <a:p>
            <a:pPr eaLnBrk="1" hangingPunct="1"/>
            <a:r>
              <a:rPr sz="2800" b="1" i="1" u="sng" dirty="0">
                <a:solidFill>
                  <a:schemeClr val="accent1"/>
                </a:solidFill>
              </a:rPr>
              <a:t>2.2</a:t>
            </a:r>
            <a:r>
              <a:rPr sz="3600" b="1" i="1" u="sng" dirty="0">
                <a:solidFill>
                  <a:schemeClr val="accent1"/>
                </a:solidFill>
              </a:rPr>
              <a:t>	Psychological, emotional, mental Scars  (Inner )</a:t>
            </a:r>
            <a:endParaRPr sz="3600" i="1" dirty="0">
              <a:solidFill>
                <a:schemeClr val="accent1"/>
              </a:solidFill>
            </a:endParaRPr>
          </a:p>
        </p:txBody>
      </p:sp>
      <p:sp>
        <p:nvSpPr>
          <p:cNvPr id="12291" name="Content Placeholder 2"/>
          <p:cNvSpPr>
            <a:spLocks noGrp="1"/>
          </p:cNvSpPr>
          <p:nvPr>
            <p:ph sz="quarter" idx="1"/>
          </p:nvPr>
        </p:nvSpPr>
        <p:spPr>
          <a:xfrm>
            <a:off x="914400" y="1219200"/>
            <a:ext cx="7772400" cy="4800600"/>
          </a:xfrm>
        </p:spPr>
        <p:txBody>
          <a:bodyPr vert="horz" wrap="square" lIns="91440" tIns="45720" rIns="91440" bIns="45720" anchor="t" anchorCtr="0"/>
          <a:p>
            <a:pPr eaLnBrk="1" hangingPunct="1">
              <a:buClr>
                <a:schemeClr val="accent1"/>
              </a:buClr>
              <a:buSzPct val="85000"/>
              <a:buFont typeface="Wingdings 2" panose="05020102010507070707" pitchFamily="18" charset="2"/>
              <a:buNone/>
            </a:pPr>
            <a:r>
              <a:rPr b="1" dirty="0"/>
              <a:t>Harm, suffering, pang, affliction, agony, insult,</a:t>
            </a:r>
            <a:endParaRPr b="1" dirty="0"/>
          </a:p>
          <a:p>
            <a:pPr eaLnBrk="1" hangingPunct="1">
              <a:buClr>
                <a:schemeClr val="accent1"/>
              </a:buClr>
              <a:buSzPct val="85000"/>
              <a:buFont typeface="Wingdings 2" panose="05020102010507070707" pitchFamily="18" charset="2"/>
              <a:buNone/>
            </a:pPr>
            <a:r>
              <a:rPr b="1" dirty="0"/>
              <a:t>injustice, outrage, indignity, blemish, misery, ruin. </a:t>
            </a:r>
            <a:endParaRPr dirty="0"/>
          </a:p>
          <a:p>
            <a:pPr eaLnBrk="1" hangingPunct="1">
              <a:buClr>
                <a:schemeClr val="accent1"/>
              </a:buClr>
              <a:buSzPct val="85000"/>
              <a:buFont typeface="Wingdings 2" panose="05020102010507070707" pitchFamily="18" charset="2"/>
            </a:pPr>
            <a:r>
              <a:rPr b="1" dirty="0"/>
              <a:t>INJURY	     SHOCK             WOUND/HARM              SORE  	  SUFFERING /AFFLICTION /AGONY/ INSULT / SHAME / BLEMISH / INJUSTICE / INDIGNITY / MISERY / RUIN  	 </a:t>
            </a:r>
            <a:r>
              <a:rPr b="1" u="sng" dirty="0"/>
              <a:t>SCAR</a:t>
            </a: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r>
              <a:rPr dirty="0"/>
              <a:t>The indelible mark on the soul or the mind and on the Psyche of the individual</a:t>
            </a:r>
            <a:r>
              <a:rPr b="1" dirty="0"/>
              <a:t> is the emotional, mental and psychological scars . </a:t>
            </a: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p:txBody>
      </p:sp>
      <p:sp>
        <p:nvSpPr>
          <p:cNvPr id="4" name="Right Arrow 3"/>
          <p:cNvSpPr/>
          <p:nvPr/>
        </p:nvSpPr>
        <p:spPr>
          <a:xfrm>
            <a:off x="2438400" y="22860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ight Arrow 4"/>
          <p:cNvSpPr/>
          <p:nvPr/>
        </p:nvSpPr>
        <p:spPr>
          <a:xfrm>
            <a:off x="4419600" y="22860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ight Arrow 5"/>
          <p:cNvSpPr/>
          <p:nvPr/>
        </p:nvSpPr>
        <p:spPr>
          <a:xfrm>
            <a:off x="7620000" y="22860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ight Arrow 7"/>
          <p:cNvSpPr/>
          <p:nvPr/>
        </p:nvSpPr>
        <p:spPr>
          <a:xfrm>
            <a:off x="5715000" y="35052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Right Arrow 8"/>
          <p:cNvSpPr/>
          <p:nvPr/>
        </p:nvSpPr>
        <p:spPr>
          <a:xfrm>
            <a:off x="2209800" y="26670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p:txBody>
          <a:bodyPr vert="horz" wrap="square" lIns="91440" tIns="45720" rIns="91440" bIns="91440" anchor="b" anchorCtr="0"/>
          <a:p>
            <a:pPr eaLnBrk="1" hangingPunct="1"/>
            <a:r>
              <a:rPr b="1" i="1" u="sng" dirty="0">
                <a:solidFill>
                  <a:schemeClr val="accent1"/>
                </a:solidFill>
              </a:rPr>
              <a:t>2.2	Psychological, emotional, mental Scars  (Inner )</a:t>
            </a:r>
            <a:endParaRPr dirty="0"/>
          </a:p>
        </p:txBody>
      </p:sp>
      <p:sp>
        <p:nvSpPr>
          <p:cNvPr id="13315"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endParaRPr b="1" dirty="0"/>
          </a:p>
          <a:p>
            <a:pPr eaLnBrk="1" hangingPunct="1">
              <a:buClr>
                <a:schemeClr val="accent1"/>
              </a:buClr>
              <a:buSzPct val="85000"/>
              <a:buFont typeface="Wingdings 2" panose="05020102010507070707" pitchFamily="18" charset="2"/>
            </a:pPr>
            <a:r>
              <a:rPr b="1" dirty="0"/>
              <a:t>‘Deeply distressing or disturbing  experience’ – may cause psychological damage.’</a:t>
            </a:r>
            <a:endParaRPr b="1" dirty="0"/>
          </a:p>
          <a:p>
            <a:pPr eaLnBrk="1" hangingPunct="1">
              <a:buClr>
                <a:schemeClr val="accent1"/>
              </a:buClr>
              <a:buSzPct val="85000"/>
              <a:buFont typeface="Wingdings 2" panose="05020102010507070707" pitchFamily="18" charset="2"/>
            </a:pPr>
            <a:endParaRPr b="1" dirty="0"/>
          </a:p>
          <a:p>
            <a:pPr eaLnBrk="1" hangingPunct="1">
              <a:buClr>
                <a:schemeClr val="accent1"/>
              </a:buClr>
              <a:buSzPct val="85000"/>
              <a:buFont typeface="Wingdings 2" panose="05020102010507070707" pitchFamily="18" charset="2"/>
            </a:pPr>
            <a:r>
              <a:rPr dirty="0"/>
              <a:t>A  trauma is an emotionally impacting incident that leaves </a:t>
            </a:r>
            <a:r>
              <a:rPr b="1" i="1" dirty="0"/>
              <a:t>a </a:t>
            </a:r>
            <a:r>
              <a:rPr b="1" i="1" dirty="0">
                <a:solidFill>
                  <a:schemeClr val="accent1"/>
                </a:solidFill>
              </a:rPr>
              <a:t>wound</a:t>
            </a:r>
            <a:r>
              <a:rPr dirty="0">
                <a:solidFill>
                  <a:schemeClr val="accent1"/>
                </a:solidFill>
              </a:rPr>
              <a:t>  in </a:t>
            </a:r>
            <a:r>
              <a:rPr b="1" i="1" dirty="0">
                <a:solidFill>
                  <a:schemeClr val="accent1"/>
                </a:solidFill>
              </a:rPr>
              <a:t>the mind  </a:t>
            </a:r>
            <a:r>
              <a:rPr dirty="0"/>
              <a:t>(psychologists call it </a:t>
            </a:r>
            <a:r>
              <a:rPr b="1" i="1" dirty="0"/>
              <a:t>shock</a:t>
            </a:r>
            <a:r>
              <a:rPr i="1" dirty="0"/>
              <a:t>.)</a:t>
            </a:r>
            <a:endParaRPr i="1" dirty="0"/>
          </a:p>
          <a:p>
            <a:pPr eaLnBrk="1" hangingPunct="1">
              <a:buClr>
                <a:schemeClr val="accent1"/>
              </a:buClr>
              <a:buSzPct val="85000"/>
              <a:buFont typeface="Wingdings 2" panose="05020102010507070707" pitchFamily="18" charset="2"/>
              <a:buNone/>
            </a:pPr>
            <a:r>
              <a:rPr b="1" dirty="0"/>
              <a:t>		‘Mending cracks in the Soul’  by Dale M. Sides</a:t>
            </a:r>
            <a:r>
              <a:rPr dirty="0"/>
              <a:t> </a:t>
            </a: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914400" y="274638"/>
            <a:ext cx="7772400" cy="1477962"/>
          </a:xfrm>
        </p:spPr>
        <p:txBody>
          <a:bodyPr vert="horz" wrap="square" lIns="91440" tIns="45720" rIns="91440" bIns="91440" anchor="b" anchorCtr="0"/>
          <a:p>
            <a:pPr eaLnBrk="1" hangingPunct="1"/>
            <a:r>
              <a:rPr b="1" i="1" u="sng" dirty="0">
                <a:solidFill>
                  <a:schemeClr val="accent1"/>
                </a:solidFill>
              </a:rPr>
              <a:t>3.0	INTERVENTION </a:t>
            </a:r>
            <a:r>
              <a:rPr sz="3600" b="1" i="1" u="sng" dirty="0">
                <a:solidFill>
                  <a:schemeClr val="accent1"/>
                </a:solidFill>
              </a:rPr>
              <a:t>/ REMEDIES / CHRISTIAN COUNSELLING</a:t>
            </a:r>
            <a:endParaRPr sz="3600" i="1" dirty="0">
              <a:solidFill>
                <a:schemeClr val="accent1"/>
              </a:solidFill>
            </a:endParaRPr>
          </a:p>
        </p:txBody>
      </p:sp>
      <p:sp>
        <p:nvSpPr>
          <p:cNvPr id="14339" name="Content Placeholder 2"/>
          <p:cNvSpPr>
            <a:spLocks noGrp="1"/>
          </p:cNvSpPr>
          <p:nvPr>
            <p:ph sz="quarter" idx="1"/>
          </p:nvPr>
        </p:nvSpPr>
        <p:spPr>
          <a:xfrm>
            <a:off x="914400" y="1676400"/>
            <a:ext cx="7772400" cy="4267200"/>
          </a:xfrm>
        </p:spPr>
        <p:txBody>
          <a:bodyPr vert="horz" wrap="square" lIns="91440" tIns="45720" rIns="91440" bIns="45720" anchor="t" anchorCtr="0"/>
          <a:p>
            <a:pPr eaLnBrk="1" hangingPunct="1">
              <a:buClr>
                <a:schemeClr val="accent1"/>
              </a:buClr>
              <a:buSzPct val="85000"/>
              <a:buFont typeface="Wingdings 2" panose="05020102010507070707" pitchFamily="18" charset="2"/>
            </a:pPr>
            <a:r>
              <a:rPr sz="2400" b="1" dirty="0"/>
              <a:t>INJURY               SHOCK                WOUND                SORE              CHRISTIAN COUNSELLING             FORGIVENESS             BIBLE  VERSES               PRAYER</a:t>
            </a:r>
            <a:endParaRPr sz="2400" b="1" dirty="0"/>
          </a:p>
          <a:p>
            <a:pPr eaLnBrk="1" hangingPunct="1">
              <a:buClr>
                <a:schemeClr val="accent1"/>
              </a:buClr>
              <a:buSzPct val="85000"/>
              <a:buFont typeface="Wingdings 2" panose="05020102010507070707" pitchFamily="18" charset="2"/>
            </a:pPr>
            <a:endParaRPr sz="2400" b="1" dirty="0"/>
          </a:p>
          <a:p>
            <a:pPr eaLnBrk="1" hangingPunct="1">
              <a:buClr>
                <a:schemeClr val="accent1"/>
              </a:buClr>
              <a:buSzPct val="85000"/>
              <a:buFont typeface="Wingdings 2" panose="05020102010507070707" pitchFamily="18" charset="2"/>
            </a:pPr>
            <a:r>
              <a:rPr sz="2400" b="1" dirty="0"/>
              <a:t>TRIGGER POINTS, NIGHTMARES, FLASHBACKS,               TRAUMA            THERAPY 	PRAYER            INNER HEALING              SCAR  OVERWRITTEN  	          REBT  WITH  BIBLE VERSES             VICTORY       HEALTHY SPIRITUAL LIFE  !! </a:t>
            </a:r>
            <a:endParaRPr sz="2400" dirty="0"/>
          </a:p>
          <a:p>
            <a:pPr eaLnBrk="1" hangingPunct="1">
              <a:buClr>
                <a:schemeClr val="accent1"/>
              </a:buClr>
              <a:buSzPct val="85000"/>
              <a:buFont typeface="Wingdings 2" panose="05020102010507070707" pitchFamily="18" charset="2"/>
              <a:buNone/>
            </a:pPr>
            <a:endParaRPr sz="2400" dirty="0"/>
          </a:p>
        </p:txBody>
      </p:sp>
      <p:sp>
        <p:nvSpPr>
          <p:cNvPr id="4" name="Right Arrow 3"/>
          <p:cNvSpPr/>
          <p:nvPr/>
        </p:nvSpPr>
        <p:spPr>
          <a:xfrm>
            <a:off x="2514600" y="17526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ight Arrow 4"/>
          <p:cNvSpPr/>
          <p:nvPr/>
        </p:nvSpPr>
        <p:spPr>
          <a:xfrm>
            <a:off x="4572000" y="17526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ight Arrow 5"/>
          <p:cNvSpPr/>
          <p:nvPr/>
        </p:nvSpPr>
        <p:spPr>
          <a:xfrm>
            <a:off x="6781800" y="17526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ight Arrow 6"/>
          <p:cNvSpPr/>
          <p:nvPr/>
        </p:nvSpPr>
        <p:spPr>
          <a:xfrm>
            <a:off x="3429000" y="25146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ight Arrow 7"/>
          <p:cNvSpPr/>
          <p:nvPr/>
        </p:nvSpPr>
        <p:spPr>
          <a:xfrm>
            <a:off x="5029200" y="21336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Right Arrow 9"/>
          <p:cNvSpPr/>
          <p:nvPr/>
        </p:nvSpPr>
        <p:spPr>
          <a:xfrm>
            <a:off x="4953000" y="4495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Right Arrow 10"/>
          <p:cNvSpPr/>
          <p:nvPr/>
        </p:nvSpPr>
        <p:spPr>
          <a:xfrm>
            <a:off x="6553200" y="4114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lt1"/>
                </a:solidFill>
                <a:effectLst/>
                <a:uLnTx/>
                <a:uFillTx/>
                <a:latin typeface="+mn-lt"/>
                <a:ea typeface="+mn-ea"/>
                <a:cs typeface="+mn-cs"/>
              </a:rPr>
              <a:t> </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ight Arrow 11"/>
          <p:cNvSpPr/>
          <p:nvPr/>
        </p:nvSpPr>
        <p:spPr>
          <a:xfrm>
            <a:off x="2590800" y="3733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Right Arrow 13"/>
          <p:cNvSpPr/>
          <p:nvPr/>
        </p:nvSpPr>
        <p:spPr>
          <a:xfrm>
            <a:off x="2743200" y="4114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ight Arrow 14"/>
          <p:cNvSpPr/>
          <p:nvPr/>
        </p:nvSpPr>
        <p:spPr>
          <a:xfrm>
            <a:off x="7696200" y="21336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Right Arrow 15"/>
          <p:cNvSpPr/>
          <p:nvPr/>
        </p:nvSpPr>
        <p:spPr>
          <a:xfrm>
            <a:off x="4724400" y="3733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Right Arrow 16"/>
          <p:cNvSpPr/>
          <p:nvPr/>
        </p:nvSpPr>
        <p:spPr>
          <a:xfrm>
            <a:off x="6781800" y="3733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Right Arrow 17"/>
          <p:cNvSpPr/>
          <p:nvPr/>
        </p:nvSpPr>
        <p:spPr>
          <a:xfrm>
            <a:off x="7086600" y="4495800"/>
            <a:ext cx="6096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p:txBody>
          <a:bodyPr vert="horz" wrap="square" lIns="91440" tIns="45720" rIns="91440" bIns="91440" anchor="b" anchorCtr="0"/>
          <a:p>
            <a:pPr eaLnBrk="1" hangingPunct="1"/>
            <a:r>
              <a:rPr sz="3200" b="1" i="1" u="sng" dirty="0">
                <a:solidFill>
                  <a:schemeClr val="accent1"/>
                </a:solidFill>
              </a:rPr>
              <a:t>HOW TO MANAGE WHILE EXPERIENCING A FLASHBACK  :</a:t>
            </a:r>
            <a:endParaRPr sz="3200" i="1" dirty="0">
              <a:solidFill>
                <a:schemeClr val="accent1"/>
              </a:solidFill>
            </a:endParaRPr>
          </a:p>
        </p:txBody>
      </p:sp>
      <p:sp>
        <p:nvSpPr>
          <p:cNvPr id="15363"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b="1" dirty="0"/>
              <a:t>NAME the experience as a flashback (example- </a:t>
            </a:r>
            <a:r>
              <a:rPr b="1" i="1" dirty="0"/>
              <a:t>this is a memory, NOT a recurrence of the actual event</a:t>
            </a:r>
            <a:r>
              <a:rPr b="1" dirty="0"/>
              <a:t>)</a:t>
            </a:r>
            <a:endParaRPr dirty="0"/>
          </a:p>
          <a:p>
            <a:pPr eaLnBrk="1" hangingPunct="1">
              <a:buClr>
                <a:schemeClr val="accent1"/>
              </a:buClr>
              <a:buSzPct val="85000"/>
              <a:buFont typeface="Wingdings 2" panose="05020102010507070707" pitchFamily="18" charset="2"/>
            </a:pPr>
            <a:r>
              <a:rPr b="1" dirty="0"/>
              <a:t>Use LANGUAGE that categorizes the flashbacks as a “memory” (example- </a:t>
            </a:r>
            <a:r>
              <a:rPr b="1" i="1" dirty="0"/>
              <a:t>I was attacked,</a:t>
            </a:r>
            <a:r>
              <a:rPr b="1" dirty="0"/>
              <a:t> rather than </a:t>
            </a:r>
            <a:r>
              <a:rPr b="1" i="1" dirty="0"/>
              <a:t>I am being attacked</a:t>
            </a:r>
            <a:endParaRPr dirty="0"/>
          </a:p>
          <a:p>
            <a:pPr eaLnBrk="1" hangingPunct="1">
              <a:buClr>
                <a:schemeClr val="accent1"/>
              </a:buClr>
              <a:buSzPct val="85000"/>
              <a:buFont typeface="Wingdings 2" panose="05020102010507070707" pitchFamily="18" charset="2"/>
            </a:pPr>
            <a:r>
              <a:rPr b="1" dirty="0"/>
              <a:t>Use the SENSES to GROUND self in your CURRENT environment:</a:t>
            </a:r>
            <a:endParaRPr dirty="0"/>
          </a:p>
          <a:p>
            <a:pPr eaLnBrk="1" hangingPunct="1">
              <a:buClr>
                <a:schemeClr val="accent1"/>
              </a:buClr>
              <a:buSzPct val="85000"/>
              <a:buFont typeface="Wingdings 2" panose="05020102010507070707" pitchFamily="18" charset="2"/>
            </a:pPr>
            <a:r>
              <a:rPr b="1" dirty="0"/>
              <a:t>Name what you see, feel, hear, smell etc.</a:t>
            </a:r>
            <a:endParaRPr dirty="0"/>
          </a:p>
          <a:p>
            <a:pPr eaLnBrk="1" hangingPunct="1">
              <a:buClr>
                <a:schemeClr val="accent1"/>
              </a:buClr>
              <a:buSzPct val="85000"/>
              <a:buFont typeface="Wingdings 2" panose="05020102010507070707" pitchFamily="18" charset="2"/>
            </a:pPr>
            <a:r>
              <a:rPr b="1" dirty="0"/>
              <a:t>Rub hands together</a:t>
            </a:r>
            <a:endParaRPr dirty="0"/>
          </a:p>
          <a:p>
            <a:pPr eaLnBrk="1" hangingPunct="1">
              <a:buClr>
                <a:schemeClr val="accent1"/>
              </a:buClr>
              <a:buSzPct val="85000"/>
              <a:buFont typeface="Wingdings 2" panose="05020102010507070707" pitchFamily="18" charset="2"/>
            </a:pPr>
            <a:r>
              <a:rPr b="1" dirty="0"/>
              <a:t>Touch, feel the chair that is supporting you</a:t>
            </a:r>
            <a:endParaRPr dirty="0"/>
          </a:p>
          <a:p>
            <a:pPr eaLnBrk="1" hangingPunct="1">
              <a:buClr>
                <a:schemeClr val="accent1"/>
              </a:buClr>
              <a:buSzPct val="85000"/>
              <a:buFont typeface="Wingdings 2" panose="05020102010507070707" pitchFamily="18" charset="2"/>
            </a:pPr>
            <a:r>
              <a:rPr b="1" dirty="0"/>
              <a:t>Wiggle your toes</a:t>
            </a:r>
            <a:endParaRPr dirty="0"/>
          </a:p>
          <a:p>
            <a:pPr eaLnBrk="1" hangingPunct="1">
              <a:buClr>
                <a:schemeClr val="accent1"/>
              </a:buClr>
              <a:buSzPct val="85000"/>
              <a:buFont typeface="Wingdings 2" panose="05020102010507070707" pitchFamily="18" charset="2"/>
            </a:pPr>
            <a:r>
              <a:rPr b="1" dirty="0"/>
              <a:t>Favourite colour- find three things in the room that are “blue”</a:t>
            </a:r>
            <a:endParaRPr dirty="0"/>
          </a:p>
          <a:p>
            <a:pPr eaLnBrk="1" hangingPunct="1">
              <a:buClr>
                <a:schemeClr val="accent1"/>
              </a:buClr>
              <a:buSzPct val="85000"/>
              <a:buFont typeface="Wingdings 2" panose="05020102010507070707" pitchFamily="18" charset="2"/>
            </a:pPr>
            <a:r>
              <a:rPr b="1" dirty="0"/>
              <a:t>Name the date, month, year, season</a:t>
            </a:r>
            <a:endParaRPr dirty="0"/>
          </a:p>
          <a:p>
            <a:pPr eaLnBrk="1" hangingPunct="1">
              <a:buClr>
                <a:schemeClr val="accent1"/>
              </a:buClr>
              <a:buSzPct val="85000"/>
              <a:buFont typeface="Wingdings 2" panose="05020102010507070707" pitchFamily="18" charset="2"/>
            </a:pPr>
            <a:r>
              <a:rPr b="1" dirty="0"/>
              <a:t>Count backwards from 100</a:t>
            </a:r>
            <a:endParaRPr dirty="0"/>
          </a:p>
          <a:p>
            <a:pPr eaLnBrk="1" hangingPunct="1">
              <a:buClr>
                <a:schemeClr val="accent1"/>
              </a:buClr>
              <a:buSzPct val="85000"/>
              <a:buFont typeface="Wingdings 2" panose="05020102010507070707" pitchFamily="18" charset="2"/>
            </a:pPr>
            <a:r>
              <a:rPr b="1" dirty="0"/>
              <a:t>Use an object as a grounding tool</a:t>
            </a:r>
            <a:endParaRPr dirty="0"/>
          </a:p>
          <a:p>
            <a:pPr eaLnBrk="1" hangingPunct="1">
              <a:buClr>
                <a:schemeClr val="accent1"/>
              </a:buClr>
              <a:buSzPct val="85000"/>
              <a:buFont typeface="Wingdings 2" panose="05020102010507070707" pitchFamily="18" charset="2"/>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p:txBody>
          <a:bodyPr vert="horz" wrap="square" lIns="91440" tIns="45720" rIns="91440" bIns="91440" anchor="b" anchorCtr="0"/>
          <a:p>
            <a:pPr eaLnBrk="1" hangingPunct="1"/>
            <a:r>
              <a:rPr sz="3200" b="1" i="1" u="sng" dirty="0">
                <a:solidFill>
                  <a:schemeClr val="accent1"/>
                </a:solidFill>
              </a:rPr>
              <a:t>HOW TO MANAGE WHILE EXPERIENCING A FLASHBACK :2</a:t>
            </a:r>
            <a:endParaRPr sz="3200" i="1" dirty="0">
              <a:solidFill>
                <a:schemeClr val="accent1"/>
              </a:solidFill>
            </a:endParaRPr>
          </a:p>
        </p:txBody>
      </p:sp>
      <p:sp>
        <p:nvSpPr>
          <p:cNvPr id="16387" name="Content Placeholder 2"/>
          <p:cNvSpPr>
            <a:spLocks noGrp="1"/>
          </p:cNvSpPr>
          <p:nvPr>
            <p:ph sz="quarter" idx="1"/>
          </p:nvPr>
        </p:nvSpPr>
        <p:spPr>
          <a:xfrm>
            <a:off x="914400" y="1600200"/>
            <a:ext cx="7772400" cy="4419600"/>
          </a:xfrm>
        </p:spPr>
        <p:txBody>
          <a:bodyPr vert="horz" wrap="square" lIns="91440" tIns="45720" rIns="91440" bIns="45720" anchor="t" anchorCtr="0"/>
          <a:p>
            <a:pPr eaLnBrk="1" hangingPunct="1">
              <a:buClr>
                <a:schemeClr val="accent1"/>
              </a:buClr>
              <a:buSzPct val="85000"/>
              <a:buFont typeface="Wingdings 2" panose="05020102010507070707" pitchFamily="18" charset="2"/>
            </a:pPr>
            <a:r>
              <a:rPr b="1" dirty="0"/>
              <a:t>Rub hands together</a:t>
            </a:r>
            <a:endParaRPr dirty="0"/>
          </a:p>
          <a:p>
            <a:pPr eaLnBrk="1" hangingPunct="1">
              <a:buClr>
                <a:schemeClr val="accent1"/>
              </a:buClr>
              <a:buSzPct val="85000"/>
              <a:buFont typeface="Wingdings 2" panose="05020102010507070707" pitchFamily="18" charset="2"/>
            </a:pPr>
            <a:r>
              <a:rPr b="1" dirty="0"/>
              <a:t>Touch, feel the chair that is supporting you</a:t>
            </a:r>
            <a:endParaRPr dirty="0"/>
          </a:p>
          <a:p>
            <a:pPr eaLnBrk="1" hangingPunct="1">
              <a:buClr>
                <a:schemeClr val="accent1"/>
              </a:buClr>
              <a:buSzPct val="85000"/>
              <a:buFont typeface="Wingdings 2" panose="05020102010507070707" pitchFamily="18" charset="2"/>
            </a:pPr>
            <a:r>
              <a:rPr b="1" dirty="0"/>
              <a:t>Wiggle your toes</a:t>
            </a:r>
            <a:endParaRPr dirty="0"/>
          </a:p>
          <a:p>
            <a:pPr eaLnBrk="1" hangingPunct="1">
              <a:buClr>
                <a:schemeClr val="accent1"/>
              </a:buClr>
              <a:buSzPct val="85000"/>
              <a:buFont typeface="Wingdings 2" panose="05020102010507070707" pitchFamily="18" charset="2"/>
            </a:pPr>
            <a:r>
              <a:rPr b="1" dirty="0"/>
              <a:t>Favourite colour- find three things in the room that are “blue”</a:t>
            </a:r>
            <a:endParaRPr dirty="0"/>
          </a:p>
          <a:p>
            <a:pPr eaLnBrk="1" hangingPunct="1">
              <a:buClr>
                <a:schemeClr val="accent1"/>
              </a:buClr>
              <a:buSzPct val="85000"/>
              <a:buFont typeface="Wingdings 2" panose="05020102010507070707" pitchFamily="18" charset="2"/>
            </a:pPr>
            <a:r>
              <a:rPr b="1" dirty="0"/>
              <a:t>Name the date, month, year, season</a:t>
            </a:r>
            <a:endParaRPr dirty="0"/>
          </a:p>
          <a:p>
            <a:pPr eaLnBrk="1" hangingPunct="1">
              <a:buClr>
                <a:schemeClr val="accent1"/>
              </a:buClr>
              <a:buSzPct val="85000"/>
              <a:buFont typeface="Wingdings 2" panose="05020102010507070707" pitchFamily="18" charset="2"/>
            </a:pPr>
            <a:r>
              <a:rPr b="1" dirty="0"/>
              <a:t>Count backwards from 100</a:t>
            </a:r>
            <a:endParaRPr dirty="0"/>
          </a:p>
          <a:p>
            <a:pPr eaLnBrk="1" hangingPunct="1">
              <a:buClr>
                <a:schemeClr val="accent1"/>
              </a:buClr>
              <a:buSzPct val="85000"/>
              <a:buFont typeface="Wingdings 2" panose="05020102010507070707" pitchFamily="18" charset="2"/>
            </a:pPr>
            <a:r>
              <a:rPr b="1" dirty="0"/>
              <a:t>Use an object as a grounding tool</a:t>
            </a: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p:txBody>
          <a:bodyPr vert="horz" wrap="square" lIns="91440" tIns="45720" rIns="91440" bIns="91440" anchor="b" anchorCtr="0"/>
          <a:p>
            <a:pPr eaLnBrk="1" hangingPunct="1"/>
            <a:r>
              <a:rPr sz="2800" b="1" dirty="0">
                <a:latin typeface="Engravers MT" panose="02090707080505020304" pitchFamily="18" charset="0"/>
              </a:rPr>
              <a:t>STRENGTHENING </a:t>
            </a:r>
            <a:br>
              <a:rPr sz="2800" b="1" dirty="0">
                <a:latin typeface="Engravers MT" panose="02090707080505020304" pitchFamily="18" charset="0"/>
              </a:rPr>
            </a:br>
            <a:r>
              <a:rPr sz="2800" b="1" dirty="0">
                <a:latin typeface="Engravers MT" panose="02090707080505020304" pitchFamily="18" charset="0"/>
              </a:rPr>
              <a:t>THE SPIRIT MAN</a:t>
            </a:r>
            <a:endParaRPr sz="2800" b="1" dirty="0">
              <a:latin typeface="Engravers MT" panose="02090707080505020304" pitchFamily="18" charset="0"/>
            </a:endParaRPr>
          </a:p>
        </p:txBody>
      </p:sp>
      <p:sp>
        <p:nvSpPr>
          <p:cNvPr id="3" name="Content Placeholder 2"/>
          <p:cNvSpPr>
            <a:spLocks noGrp="1"/>
          </p:cNvSpPr>
          <p:nvPr>
            <p:ph sz="quarter" idx="1"/>
          </p:nvPr>
        </p:nvSpPr>
        <p:spPr>
          <a:xfrm>
            <a:off x="914400" y="1600200"/>
            <a:ext cx="7772400" cy="4419600"/>
          </a:xfrm>
        </p:spPr>
        <p:txBody>
          <a:bodyPr vert="horz" wrap="square" lIns="91440" tIns="45720" rIns="91440" bIns="45720" numCol="1" anchor="t" anchorCtr="0" compatLnSpc="1">
            <a:normAutofit fontScale="92500" lnSpcReduction="10000"/>
          </a:bodyPr>
          <a:lstStyle/>
          <a:p>
            <a:pPr marL="731520" marR="0" lvl="1"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Talking with God : Prayer, Prayer and Prayer.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Relationship with God</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Bible reading , bible study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Trying to look at life from God’s perspective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Searching for themes in the bible for e.g. the ‘Scarlet Thread of Redemption’;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Studying the scriptures; book by book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Studying the scriptures :  theme-wise and topic wise.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Scoffield’s</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Study bible;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Dake’s</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Study Bible;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Lindsell</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Study Bible ;  The Amplified bible; Family Devotional Study bible; Open bible;  Global Bible Study;  NIV Study Bible; New Bible Commentary  etc.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pic>
        <p:nvPicPr>
          <p:cNvPr id="17412" name="Picture 3" descr="th_016.jpg"/>
          <p:cNvPicPr>
            <a:picLocks noChangeAspect="1"/>
          </p:cNvPicPr>
          <p:nvPr/>
        </p:nvPicPr>
        <p:blipFill>
          <a:blip r:embed="rId1"/>
          <a:stretch>
            <a:fillRect/>
          </a:stretch>
        </p:blipFill>
        <p:spPr>
          <a:xfrm>
            <a:off x="6705600" y="533400"/>
            <a:ext cx="866775" cy="76200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p:txBody>
          <a:bodyPr vert="horz" wrap="square" lIns="91440" tIns="45720" rIns="91440" bIns="91440" anchor="b" anchorCtr="0"/>
          <a:p>
            <a:pPr eaLnBrk="1" hangingPunct="1"/>
            <a:r>
              <a:rPr sz="3600" dirty="0">
                <a:latin typeface="Engravers MT" panose="02090707080505020304" pitchFamily="18" charset="0"/>
              </a:rPr>
              <a:t>SPIRITUAL DISTRESS </a:t>
            </a:r>
            <a:endParaRPr sz="3600" dirty="0">
              <a:latin typeface="Engravers MT" panose="02090707080505020304" pitchFamily="18" charset="0"/>
            </a:endParaRPr>
          </a:p>
        </p:txBody>
      </p:sp>
      <p:sp>
        <p:nvSpPr>
          <p:cNvPr id="18435"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sz="3200" dirty="0"/>
              <a:t>‘Severe strain’  ‘anxiety or suffering ‘ Webster’s  dictionary</a:t>
            </a:r>
            <a:endParaRPr sz="3200" dirty="0"/>
          </a:p>
          <a:p>
            <a:pPr eaLnBrk="1" hangingPunct="1">
              <a:buClr>
                <a:schemeClr val="accent1"/>
              </a:buClr>
              <a:buSzPct val="85000"/>
              <a:buFont typeface="Wingdings 2" panose="05020102010507070707" pitchFamily="18" charset="2"/>
            </a:pPr>
            <a:r>
              <a:rPr sz="3200" dirty="0"/>
              <a:t>Distress in the spirit, upset, feeling down, depressed, despair, worry, anxiety, tension, due failure, uneasy in the spirit un -forgiveness,  fear,  anxiety  etc.</a:t>
            </a:r>
            <a:endParaRPr sz="3200" dirty="0"/>
          </a:p>
          <a:p>
            <a:pPr eaLnBrk="1" hangingPunct="1">
              <a:buClr>
                <a:schemeClr val="accent1"/>
              </a:buClr>
              <a:buSzPct val="85000"/>
              <a:buFont typeface="Wingdings 2" panose="05020102010507070707" pitchFamily="18" charset="2"/>
            </a:pPr>
            <a:r>
              <a:rPr sz="3200" dirty="0"/>
              <a:t>‘Stress becomes Distress  becomes anxiety, then fear,  suicidal thoughts, depression, the depression spiral  downwards  then ………..  +.</a:t>
            </a:r>
            <a:endParaRPr sz="3200" dirty="0"/>
          </a:p>
          <a:p>
            <a:pPr eaLnBrk="1" hangingPunct="1">
              <a:buClr>
                <a:schemeClr val="accent1"/>
              </a:buClr>
              <a:buSzPct val="85000"/>
              <a:buFont typeface="Wingdings 2" panose="05020102010507070707" pitchFamily="18" charset="2"/>
            </a:pPr>
            <a:endParaRPr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914400" y="0"/>
            <a:ext cx="7772400" cy="1752600"/>
          </a:xfrm>
        </p:spPr>
        <p:txBody>
          <a:bodyPr vert="horz" wrap="square" lIns="91440" tIns="45720" rIns="91440" bIns="91440" anchor="b" anchorCtr="0"/>
          <a:p>
            <a:pPr eaLnBrk="1" hangingPunct="1"/>
            <a:r>
              <a:rPr sz="2400" b="1" i="1" u="sng" dirty="0">
                <a:solidFill>
                  <a:schemeClr val="accent1"/>
                </a:solidFill>
              </a:rPr>
              <a:t>BIBLE VERSES FOR READY REFERENCE FOR THOSE SUFFERING FROM  FLASHBACKS/TRIGGER POINTS/ PTSD/ DEPRESSIONS/ TRAUMA IN LIFE</a:t>
            </a:r>
            <a:br>
              <a:rPr sz="2400" dirty="0"/>
            </a:br>
            <a:endParaRPr sz="2400" b="1" dirty="0">
              <a:latin typeface="Baskerville Old Face" panose="02020602080505020303" pitchFamily="18" charset="0"/>
            </a:endParaRPr>
          </a:p>
        </p:txBody>
      </p:sp>
      <p:sp>
        <p:nvSpPr>
          <p:cNvPr id="3" name="Content Placeholder 2"/>
          <p:cNvSpPr>
            <a:spLocks noGrp="1"/>
          </p:cNvSpPr>
          <p:nvPr>
            <p:ph sz="quarter" idx="1"/>
          </p:nvPr>
        </p:nvSpPr>
        <p:spPr>
          <a:xfrm>
            <a:off x="914400" y="1524000"/>
            <a:ext cx="7772400" cy="4724400"/>
          </a:xfrm>
        </p:spPr>
        <p:txBody>
          <a:bodyPr vert="horz" wrap="square" lIns="91440" tIns="45720" rIns="91440" bIns="45720" numCol="1" anchor="t" anchorCtr="0" compatLnSpc="1">
            <a:normAutofit fontScale="92500"/>
          </a:bodyPr>
          <a:lstStyle/>
          <a:p>
            <a:pPr marL="274320" marR="0" lvl="0" indent="-274320" algn="l" defTabSz="914400" rtl="0" eaLnBrk="1" fontAlgn="auto" latinLnBrk="0" hangingPunct="1">
              <a:lnSpc>
                <a:spcPct val="100000"/>
              </a:lnSpc>
              <a:spcBef>
                <a:spcPts val="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‘Has God let me down’ :   </a:t>
            </a:r>
            <a:r>
              <a:rPr kumimoji="0" lang="en-US" sz="2600" b="1" i="0" u="none" strike="noStrike" kern="1200" cap="none" spc="0" normalizeH="0" baseline="0" noProof="0" dirty="0" smtClean="0">
                <a:ln>
                  <a:noFill/>
                </a:ln>
                <a:solidFill>
                  <a:srgbClr val="C00000"/>
                </a:solidFill>
                <a:effectLst/>
                <a:uLnTx/>
                <a:uFillTx/>
                <a:latin typeface="+mn-lt"/>
                <a:ea typeface="+mn-ea"/>
                <a:cs typeface="+mn-cs"/>
              </a:rPr>
              <a:t>‘I will never leave nor forsake   </a:t>
            </a:r>
            <a:endParaRPr kumimoji="0" lang="en-US" sz="2600" b="1" i="0" u="none" strike="noStrike" kern="1200" cap="none" spc="0" normalizeH="0" baseline="0" noProof="0" dirty="0" smtClean="0">
              <a:ln>
                <a:noFill/>
              </a:ln>
              <a:solidFill>
                <a:srgbClr val="C00000"/>
              </a:solidFill>
              <a:effectLst/>
              <a:uLnTx/>
              <a:uFillTx/>
              <a:latin typeface="+mn-lt"/>
              <a:ea typeface="+mn-ea"/>
              <a:cs typeface="+mn-cs"/>
            </a:endParaRPr>
          </a:p>
          <a:p>
            <a:pPr marL="274320" marR="0" lvl="0" indent="-274320" algn="l" defTabSz="914400" rtl="0" eaLnBrk="1" fontAlgn="auto" latinLnBrk="0" hangingPunct="1">
              <a:lnSpc>
                <a:spcPct val="100000"/>
              </a:lnSpc>
              <a:spcBef>
                <a:spcPts val="0"/>
              </a:spcBef>
              <a:spcAft>
                <a:spcPts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rgbClr val="C00000"/>
                </a:solidFill>
                <a:effectLst/>
                <a:uLnTx/>
                <a:uFillTx/>
                <a:latin typeface="+mn-lt"/>
                <a:ea typeface="+mn-ea"/>
                <a:cs typeface="+mn-cs"/>
              </a:rPr>
              <a:t>                                                you nor forsake you’  Jesus </a:t>
            </a:r>
            <a:endParaRPr kumimoji="0" lang="en-US" sz="2600" b="1" i="0" u="none" strike="noStrike" kern="1200" cap="none" spc="0" normalizeH="0" baseline="0" noProof="0" dirty="0" smtClean="0">
              <a:ln>
                <a:noFill/>
              </a:ln>
              <a:solidFill>
                <a:srgbClr val="C00000"/>
              </a:solidFill>
              <a:effectLst/>
              <a:uLnTx/>
              <a:uFillTx/>
              <a:latin typeface="+mn-lt"/>
              <a:ea typeface="+mn-ea"/>
              <a:cs typeface="+mn-cs"/>
            </a:endParaRPr>
          </a:p>
          <a:p>
            <a:pPr marL="273050" marR="0" lvl="0" indent="-273050" algn="l" defTabSz="914400" rtl="0" eaLnBrk="0" fontAlgn="base" latinLnBrk="0" hangingPunct="0">
              <a:lnSpc>
                <a:spcPct val="100000"/>
              </a:lnSpc>
              <a:spcBef>
                <a:spcPts val="0"/>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 am alone’,  :           </a:t>
            </a:r>
            <a:r>
              <a:rPr kumimoji="0" lang="en-US" sz="2600" b="1" i="0" u="none" strike="noStrike" kern="1200" cap="none" spc="0" normalizeH="0" baseline="0" noProof="0" dirty="0" smtClean="0">
                <a:ln>
                  <a:noFill/>
                </a:ln>
                <a:solidFill>
                  <a:srgbClr val="C00000"/>
                </a:solidFill>
                <a:effectLst/>
                <a:uLnTx/>
                <a:uFillTx/>
                <a:latin typeface="+mn-lt"/>
                <a:ea typeface="+mn-ea"/>
                <a:cs typeface="+mn-cs"/>
              </a:rPr>
              <a:t>‘I am with you even till  the ends of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0"/>
              </a:spcBef>
              <a:spcAft>
                <a:spcPct val="0"/>
              </a:spcAft>
              <a:buClr>
                <a:schemeClr val="accent1"/>
              </a:buClr>
              <a:buSzPct val="85000"/>
              <a:buFont typeface="Wingdings 2" panose="05020102010507070707" pitchFamily="18" charset="2"/>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‘I am lonely’</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1" i="0" u="none" strike="noStrike" kern="1200" cap="none" spc="0" normalizeH="0" baseline="0" noProof="0" dirty="0" smtClean="0">
                <a:ln>
                  <a:noFill/>
                </a:ln>
                <a:solidFill>
                  <a:srgbClr val="C00000"/>
                </a:solidFill>
                <a:effectLst/>
                <a:uLnTx/>
                <a:uFillTx/>
                <a:latin typeface="+mn-lt"/>
                <a:ea typeface="+mn-ea"/>
                <a:cs typeface="+mn-cs"/>
              </a:rPr>
              <a:t>the world’.  Jesus said.		    </a:t>
            </a:r>
            <a:endParaRPr kumimoji="0" lang="en-US" sz="2600" b="1" i="0" u="none" strike="noStrike" kern="1200" cap="none" spc="0" normalizeH="0" baseline="0" noProof="0" dirty="0" smtClean="0">
              <a:ln>
                <a:noFill/>
              </a:ln>
              <a:solidFill>
                <a:srgbClr val="C00000"/>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0" i="0" u="none" strike="noStrike" kern="1200" cap="none" spc="0" normalizeH="0" baseline="0" noProof="0" dirty="0" smtClean="0">
                <a:ln>
                  <a:noFill/>
                </a:ln>
                <a:solidFill>
                  <a:srgbClr val="C00000"/>
                </a:solidFill>
                <a:effectLst/>
                <a:uLnTx/>
                <a:uFillTx/>
                <a:latin typeface="+mn-lt"/>
                <a:ea typeface="+mn-ea"/>
                <a:cs typeface="+mn-cs"/>
              </a:rPr>
              <a:t>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For fear (palpitations) say  </a:t>
            </a:r>
            <a:r>
              <a:rPr kumimoji="0" lang="en-US" sz="2600" b="0" i="0" u="none" strike="noStrike" kern="1200" cap="none" spc="0" normalizeH="0" baseline="0" noProof="0" dirty="0" smtClean="0">
                <a:ln>
                  <a:noFill/>
                </a:ln>
                <a:solidFill>
                  <a:srgbClr val="C00000"/>
                </a:solidFill>
                <a:effectLst/>
                <a:uLnTx/>
                <a:uFillTx/>
                <a:latin typeface="+mn-lt"/>
                <a:ea typeface="+mn-ea"/>
                <a:cs typeface="+mn-cs"/>
              </a:rPr>
              <a:t>:</a:t>
            </a:r>
            <a:r>
              <a:rPr kumimoji="0" lang="en-US" sz="2600" b="1" i="0" u="none" strike="noStrike" kern="1200" cap="none" spc="0" normalizeH="0" baseline="0" noProof="0" dirty="0" smtClean="0">
                <a:ln>
                  <a:noFill/>
                </a:ln>
                <a:solidFill>
                  <a:srgbClr val="C00000"/>
                </a:solidFill>
                <a:effectLst/>
                <a:uLnTx/>
                <a:uFillTx/>
                <a:latin typeface="+mn-lt"/>
                <a:ea typeface="+mn-ea"/>
                <a:cs typeface="+mn-cs"/>
              </a:rPr>
              <a:t>For God has NOT given me 				         the spirit of fear, but a spirit of 			         power, of love and a sound mind 			        (self discipline).  2 Timothy 1:7</a:t>
            </a:r>
            <a:endParaRPr kumimoji="0" lang="en-US" sz="2600" b="0" i="0" u="none" strike="noStrike" kern="1200" cap="none" spc="0" normalizeH="0" baseline="0" noProof="0" dirty="0" smtClean="0">
              <a:ln>
                <a:noFill/>
              </a:ln>
              <a:solidFill>
                <a:srgbClr val="C00000"/>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2600" b="1" i="0" u="sng" strike="noStrike" kern="1200" cap="none" spc="0" normalizeH="0" baseline="0" noProof="0" dirty="0" smtClean="0">
                <a:ln>
                  <a:noFill/>
                </a:ln>
                <a:solidFill>
                  <a:srgbClr val="C00000"/>
                </a:solidFill>
                <a:effectLst/>
                <a:uLnTx/>
                <a:uFillTx/>
                <a:latin typeface="+mn-lt"/>
                <a:ea typeface="+mn-ea"/>
                <a:cs typeface="+mn-cs"/>
              </a:rPr>
              <a:t>Overwrite the trauma memories in the trenches/fissures</a:t>
            </a:r>
            <a:endParaRPr kumimoji="0" lang="en-US" sz="2600" b="1" i="0" u="sng" strike="noStrike" kern="1200" cap="none" spc="0" normalizeH="0" baseline="0" noProof="0" dirty="0" smtClean="0">
              <a:ln>
                <a:noFill/>
              </a:ln>
              <a:solidFill>
                <a:srgbClr val="C00000"/>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2600" b="1" i="0" u="sng" strike="noStrike" kern="1200" cap="none" spc="0" normalizeH="0" baseline="0" noProof="0" dirty="0" smtClean="0">
                <a:ln>
                  <a:noFill/>
                </a:ln>
                <a:solidFill>
                  <a:srgbClr val="C00000"/>
                </a:solidFill>
                <a:effectLst/>
                <a:uLnTx/>
                <a:uFillTx/>
                <a:latin typeface="+mn-lt"/>
                <a:ea typeface="+mn-ea"/>
                <a:cs typeface="+mn-cs"/>
              </a:rPr>
              <a:t>in the brain with the  Bible Verses.</a:t>
            </a:r>
            <a:endParaRPr kumimoji="0" lang="en-US" sz="2600" b="1" i="0" u="sng" strike="noStrike" kern="1200" cap="none" spc="0" normalizeH="0" baseline="0" noProof="0" dirty="0" smtClean="0">
              <a:ln>
                <a:noFill/>
              </a:ln>
              <a:solidFill>
                <a:srgbClr val="C00000"/>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a:xfrm>
            <a:off x="914400" y="274638"/>
            <a:ext cx="7772400" cy="944562"/>
          </a:xfrm>
        </p:spPr>
        <p:txBody>
          <a:bodyPr vert="horz" wrap="square" lIns="91440" tIns="45720" rIns="91440" bIns="91440" anchor="b" anchorCtr="0"/>
          <a:p>
            <a:pPr>
              <a:buNone/>
            </a:pPr>
            <a:r>
              <a:rPr dirty="0">
                <a:solidFill>
                  <a:schemeClr val="accent1"/>
                </a:solidFill>
              </a:rPr>
              <a:t>More Bible verses …….</a:t>
            </a:r>
            <a:endParaRPr dirty="0">
              <a:solidFill>
                <a:schemeClr val="accent1"/>
              </a:solidFill>
            </a:endParaRPr>
          </a:p>
        </p:txBody>
      </p:sp>
      <p:sp>
        <p:nvSpPr>
          <p:cNvPr id="20483" name="Content Placeholder 2"/>
          <p:cNvSpPr>
            <a:spLocks noGrp="1"/>
          </p:cNvSpPr>
          <p:nvPr>
            <p:ph sz="quarter" idx="1"/>
          </p:nvPr>
        </p:nvSpPr>
        <p:spPr>
          <a:xfrm>
            <a:off x="914400" y="1143000"/>
            <a:ext cx="7772400" cy="4876800"/>
          </a:xfrm>
        </p:spPr>
        <p:txBody>
          <a:bodyPr vert="horz" wrap="square" lIns="91440" tIns="45720" rIns="91440" bIns="45720" anchor="t" anchorCtr="0"/>
          <a:p>
            <a:pPr>
              <a:spcBef>
                <a:spcPct val="0"/>
              </a:spcBef>
              <a:buClr>
                <a:schemeClr val="accent1"/>
              </a:buClr>
              <a:buSzPct val="85000"/>
              <a:buFont typeface="Wingdings 2" panose="05020102010507070707" pitchFamily="18" charset="2"/>
            </a:pPr>
            <a:r>
              <a:rPr sz="2400" b="1" dirty="0"/>
              <a:t>Why me ?  	:  </a:t>
            </a:r>
            <a:r>
              <a:rPr sz="2400" b="1" dirty="0">
                <a:solidFill>
                  <a:schemeClr val="accent1"/>
                </a:solidFill>
              </a:rPr>
              <a:t>‘A bruised reed He will not break, and a     </a:t>
            </a:r>
            <a:endParaRPr sz="2400" b="1" dirty="0">
              <a:solidFill>
                <a:schemeClr val="accent1"/>
              </a:solidFill>
            </a:endParaRPr>
          </a:p>
          <a:p>
            <a:pPr>
              <a:spcBef>
                <a:spcPct val="0"/>
              </a:spcBef>
              <a:buClr>
                <a:schemeClr val="accent1"/>
              </a:buClr>
              <a:buSzPct val="85000"/>
              <a:buFont typeface="Wingdings 2" panose="05020102010507070707" pitchFamily="18" charset="2"/>
              <a:buNone/>
            </a:pPr>
            <a:r>
              <a:rPr sz="2400" b="1" dirty="0">
                <a:solidFill>
                  <a:schemeClr val="accent1"/>
                </a:solidFill>
              </a:rPr>
              <a:t>	                           smouldering  wick He will not snuff out’</a:t>
            </a:r>
            <a:endParaRPr sz="2400" b="1" dirty="0">
              <a:solidFill>
                <a:schemeClr val="accent1"/>
              </a:solidFill>
            </a:endParaRPr>
          </a:p>
          <a:p>
            <a:pPr>
              <a:spcBef>
                <a:spcPct val="0"/>
              </a:spcBef>
              <a:buClr>
                <a:schemeClr val="accent1"/>
              </a:buClr>
              <a:buSzPct val="85000"/>
              <a:buFont typeface="Wingdings 2" panose="05020102010507070707" pitchFamily="18" charset="2"/>
              <a:buNone/>
            </a:pPr>
            <a:r>
              <a:rPr sz="2400" b="1" dirty="0">
                <a:solidFill>
                  <a:schemeClr val="accent1"/>
                </a:solidFill>
              </a:rPr>
              <a:t>								</a:t>
            </a:r>
            <a:r>
              <a:rPr sz="1800" b="1" dirty="0">
                <a:solidFill>
                  <a:schemeClr val="accent1"/>
                </a:solidFill>
              </a:rPr>
              <a:t>Matt 12:20</a:t>
            </a:r>
            <a:endParaRPr sz="2400" dirty="0"/>
          </a:p>
          <a:p>
            <a:pPr>
              <a:buClr>
                <a:schemeClr val="accent1"/>
              </a:buClr>
              <a:buSzPct val="85000"/>
              <a:buFont typeface="Wingdings 2" panose="05020102010507070707" pitchFamily="18" charset="2"/>
            </a:pPr>
            <a:r>
              <a:rPr sz="2400" b="1" dirty="0"/>
              <a:t> ’</a:t>
            </a:r>
            <a:r>
              <a:rPr b="1" dirty="0"/>
              <a:t>I will never forgive’ :  </a:t>
            </a:r>
            <a:r>
              <a:rPr sz="2400" b="1" dirty="0">
                <a:solidFill>
                  <a:schemeClr val="accent1"/>
                </a:solidFill>
              </a:rPr>
              <a:t>Forgive even as I have forgiven 		you….   Jesus </a:t>
            </a:r>
            <a:endParaRPr sz="2400" b="1" dirty="0">
              <a:solidFill>
                <a:schemeClr val="accent1"/>
              </a:solidFill>
            </a:endParaRPr>
          </a:p>
          <a:p>
            <a:pPr lvl="4">
              <a:buClr>
                <a:srgbClr val="A28E6A"/>
              </a:buClr>
              <a:buSzTx/>
              <a:buFontTx/>
              <a:buNone/>
            </a:pPr>
            <a:r>
              <a:rPr sz="2400" b="1" dirty="0">
                <a:solidFill>
                  <a:schemeClr val="accent1"/>
                </a:solidFill>
              </a:rPr>
              <a:t>		Mathew 6 :12  forgiving others as in  ‘Our 	Father’  prayer					Mark 11 : 25</a:t>
            </a:r>
            <a:endParaRPr sz="2400" b="1" dirty="0">
              <a:solidFill>
                <a:schemeClr val="accent1"/>
              </a:solidFill>
            </a:endParaRPr>
          </a:p>
          <a:p>
            <a:pPr>
              <a:buClr>
                <a:schemeClr val="accent1"/>
              </a:buClr>
              <a:buSzPct val="85000"/>
              <a:buFont typeface="Wingdings 2" panose="05020102010507070707" pitchFamily="18" charset="2"/>
            </a:pPr>
            <a:r>
              <a:rPr b="1" dirty="0"/>
              <a:t>Fear ( Palpitations )    : </a:t>
            </a:r>
            <a:r>
              <a:rPr b="1" dirty="0">
                <a:solidFill>
                  <a:schemeClr val="accent1"/>
                </a:solidFill>
              </a:rPr>
              <a:t> 	For God has not given me 			the spirit of fear, but a spirit of power, of 		love and a sound mind (self discipline).  						2 Timothy 1:7</a:t>
            </a:r>
            <a:endParaRPr b="1" dirty="0">
              <a:solidFill>
                <a:schemeClr val="accent1"/>
              </a:solidFill>
            </a:endParaRPr>
          </a:p>
          <a:p>
            <a:pPr>
              <a:buClr>
                <a:schemeClr val="accent1"/>
              </a:buClr>
              <a:buSzPct val="85000"/>
              <a:buFont typeface="Wingdings 2" panose="05020102010507070707" pitchFamily="18" charset="2"/>
              <a:buNone/>
            </a:pP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xfrm>
            <a:off x="914400" y="274638"/>
            <a:ext cx="7772400" cy="563562"/>
          </a:xfrm>
        </p:spPr>
        <p:txBody>
          <a:bodyPr vert="horz" wrap="square" lIns="91440" tIns="45720" rIns="91440" bIns="91440" anchor="b" anchorCtr="0"/>
          <a:p>
            <a:pPr>
              <a:buNone/>
            </a:pPr>
            <a:r>
              <a:rPr dirty="0"/>
              <a:t>Cont’d……</a:t>
            </a:r>
            <a:endParaRPr dirty="0"/>
          </a:p>
        </p:txBody>
      </p:sp>
      <p:sp>
        <p:nvSpPr>
          <p:cNvPr id="21507" name="Content Placeholder 2"/>
          <p:cNvSpPr>
            <a:spLocks noGrp="1"/>
          </p:cNvSpPr>
          <p:nvPr>
            <p:ph sz="quarter" idx="1"/>
          </p:nvPr>
        </p:nvSpPr>
        <p:spPr>
          <a:xfrm>
            <a:off x="914400" y="1066800"/>
            <a:ext cx="7772400" cy="5334000"/>
          </a:xfrm>
        </p:spPr>
        <p:txBody>
          <a:bodyPr vert="horz" wrap="square" lIns="91440" tIns="45720" rIns="91440" bIns="45720" anchor="t" anchorCtr="0"/>
          <a:p>
            <a:pPr>
              <a:spcBef>
                <a:spcPct val="0"/>
              </a:spcBef>
              <a:buClr>
                <a:schemeClr val="accent1"/>
              </a:buClr>
              <a:buSzPct val="85000"/>
              <a:buFont typeface="Wingdings 2" panose="05020102010507070707" pitchFamily="18" charset="2"/>
            </a:pPr>
            <a:r>
              <a:rPr sz="2400" b="1" dirty="0"/>
              <a:t>I will kill them (him) :  </a:t>
            </a:r>
            <a:r>
              <a:rPr sz="2400" b="1" dirty="0">
                <a:solidFill>
                  <a:srgbClr val="C00000"/>
                </a:solidFill>
              </a:rPr>
              <a:t>‘Vengeance is mine says  the Lord’</a:t>
            </a:r>
            <a:endParaRPr sz="2400" b="1" dirty="0">
              <a:solidFill>
                <a:srgbClr val="C00000"/>
              </a:solidFill>
            </a:endParaRPr>
          </a:p>
          <a:p>
            <a:pPr>
              <a:spcBef>
                <a:spcPct val="0"/>
              </a:spcBef>
              <a:buClr>
                <a:schemeClr val="accent1"/>
              </a:buClr>
              <a:buSzPct val="85000"/>
              <a:buFont typeface="Wingdings 2" panose="05020102010507070707" pitchFamily="18" charset="2"/>
            </a:pPr>
            <a:r>
              <a:rPr sz="2400" b="1" dirty="0">
                <a:solidFill>
                  <a:srgbClr val="C00000"/>
                </a:solidFill>
              </a:rPr>
              <a:t> </a:t>
            </a:r>
            <a:r>
              <a:rPr sz="2400" b="1" dirty="0"/>
              <a:t>I will not rest till I take revenge.</a:t>
            </a:r>
            <a:endParaRPr sz="2400" dirty="0">
              <a:solidFill>
                <a:srgbClr val="C00000"/>
              </a:solidFill>
            </a:endParaRPr>
          </a:p>
          <a:p>
            <a:pPr>
              <a:buClr>
                <a:schemeClr val="accent1"/>
              </a:buClr>
              <a:buSzPct val="85000"/>
              <a:buFont typeface="Wingdings 2" panose="05020102010507070707" pitchFamily="18" charset="2"/>
            </a:pPr>
            <a:r>
              <a:rPr sz="2400" b="1" dirty="0"/>
              <a:t> I am ashamed of myself :  </a:t>
            </a:r>
            <a:r>
              <a:rPr sz="2400" b="1" dirty="0">
                <a:solidFill>
                  <a:srgbClr val="C00000"/>
                </a:solidFill>
              </a:rPr>
              <a:t>God restores my chastity. </a:t>
            </a:r>
            <a:endParaRPr sz="2400" dirty="0">
              <a:solidFill>
                <a:srgbClr val="C00000"/>
              </a:solidFill>
            </a:endParaRPr>
          </a:p>
          <a:p>
            <a:pPr>
              <a:buClr>
                <a:schemeClr val="accent1"/>
              </a:buClr>
              <a:buSzPct val="85000"/>
              <a:buFont typeface="Wingdings 2" panose="05020102010507070707" pitchFamily="18" charset="2"/>
            </a:pPr>
            <a:r>
              <a:rPr sz="2400" b="1" dirty="0"/>
              <a:t>I am a tainted vessel  :  	</a:t>
            </a:r>
            <a:r>
              <a:rPr sz="2400" b="1" dirty="0">
                <a:solidFill>
                  <a:srgbClr val="C00000"/>
                </a:solidFill>
              </a:rPr>
              <a:t>‘For your shame ye shall 					have double ‘ ‘Instead of their </a:t>
            </a:r>
            <a:endParaRPr sz="2400" dirty="0">
              <a:solidFill>
                <a:srgbClr val="C00000"/>
              </a:solidFill>
            </a:endParaRPr>
          </a:p>
          <a:p>
            <a:pPr lvl="4">
              <a:buClr>
                <a:srgbClr val="A28E6A"/>
              </a:buClr>
              <a:buSzTx/>
              <a:buFontTx/>
              <a:buNone/>
            </a:pPr>
            <a:r>
              <a:rPr sz="2400" b="1" dirty="0">
                <a:solidFill>
                  <a:srgbClr val="C00000"/>
                </a:solidFill>
              </a:rPr>
              <a:t>                                     shame my people will receive              </a:t>
            </a:r>
            <a:endParaRPr sz="2400" b="1" dirty="0">
              <a:solidFill>
                <a:srgbClr val="C00000"/>
              </a:solidFill>
            </a:endParaRPr>
          </a:p>
          <a:p>
            <a:pPr lvl="4">
              <a:buClr>
                <a:srgbClr val="A28E6A"/>
              </a:buClr>
              <a:buSzTx/>
              <a:buFontTx/>
              <a:buNone/>
            </a:pPr>
            <a:r>
              <a:rPr sz="2400" b="1" dirty="0">
                <a:solidFill>
                  <a:srgbClr val="C00000"/>
                </a:solidFill>
              </a:rPr>
              <a:t>                                     a double portion and instead   </a:t>
            </a:r>
            <a:endParaRPr sz="2400" b="1" dirty="0">
              <a:solidFill>
                <a:srgbClr val="C00000"/>
              </a:solidFill>
            </a:endParaRPr>
          </a:p>
          <a:p>
            <a:pPr lvl="4">
              <a:buClr>
                <a:srgbClr val="A28E6A"/>
              </a:buClr>
              <a:buSzTx/>
              <a:buFontTx/>
              <a:buNone/>
            </a:pPr>
            <a:r>
              <a:rPr sz="2400" b="1" dirty="0">
                <a:solidFill>
                  <a:srgbClr val="C00000"/>
                </a:solidFill>
              </a:rPr>
              <a:t>                                     of disgrace  they will rejoice </a:t>
            </a:r>
            <a:endParaRPr sz="2400" b="1" dirty="0">
              <a:solidFill>
                <a:srgbClr val="C00000"/>
              </a:solidFill>
            </a:endParaRPr>
          </a:p>
          <a:p>
            <a:pPr lvl="4">
              <a:buClr>
                <a:srgbClr val="A28E6A"/>
              </a:buClr>
              <a:buSzTx/>
              <a:buFontTx/>
              <a:buNone/>
            </a:pPr>
            <a:r>
              <a:rPr sz="2400" b="1" dirty="0">
                <a:solidFill>
                  <a:srgbClr val="C00000"/>
                </a:solidFill>
              </a:rPr>
              <a:t>                                     in their inheritance; ‘ Isa 61:7</a:t>
            </a:r>
            <a:endParaRPr sz="2400" dirty="0">
              <a:solidFill>
                <a:srgbClr val="C00000"/>
              </a:solidFill>
            </a:endParaRPr>
          </a:p>
          <a:p>
            <a:pPr>
              <a:buClr>
                <a:schemeClr val="accent1"/>
              </a:buClr>
              <a:buSzPct val="85000"/>
              <a:buFont typeface="Wingdings 2" panose="05020102010507070707" pitchFamily="18" charset="2"/>
            </a:pPr>
            <a:r>
              <a:rPr sz="2400" b="1" dirty="0"/>
              <a:t>I am a burden to this earth :</a:t>
            </a:r>
            <a:r>
              <a:rPr sz="2400" b="1" dirty="0">
                <a:solidFill>
                  <a:srgbClr val="C00000"/>
                </a:solidFill>
              </a:rPr>
              <a:t>Jesus heals me and makes me 				a new creation,  Jesus said , I 				give you life and life in 					abundance  John 10:10</a:t>
            </a:r>
            <a:endParaRPr sz="2400" dirty="0">
              <a:solidFill>
                <a:srgbClr val="C00000"/>
              </a:solidFill>
            </a:endParaRPr>
          </a:p>
          <a:p>
            <a:pPr>
              <a:buClr>
                <a:schemeClr val="accent1"/>
              </a:buClr>
              <a:buSzPct val="85000"/>
              <a:buFont typeface="Wingdings 2" panose="05020102010507070707" pitchFamily="18" charset="2"/>
            </a:pPr>
            <a:endParaRPr sz="2400" dirty="0"/>
          </a:p>
          <a:p>
            <a:pPr>
              <a:buClr>
                <a:schemeClr val="accent1"/>
              </a:buClr>
              <a:buSzPct val="85000"/>
              <a:buFont typeface="Wingdings 2" panose="05020102010507070707" pitchFamily="18" charset="2"/>
            </a:pPr>
            <a:endParaRPr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p:txBody>
          <a:bodyPr vert="horz" wrap="square" lIns="91440" tIns="45720" rIns="91440" bIns="91440" anchor="b" anchorCtr="0"/>
          <a:p>
            <a:pPr>
              <a:buNone/>
            </a:pPr>
            <a:endParaRPr dirty="0"/>
          </a:p>
        </p:txBody>
      </p:sp>
      <p:sp>
        <p:nvSpPr>
          <p:cNvPr id="3" name="Content Placeholder 2"/>
          <p:cNvSpPr>
            <a:spLocks noGrp="1"/>
          </p:cNvSpPr>
          <p:nvPr>
            <p:ph sz="quarter" idx="1"/>
          </p:nvPr>
        </p:nvSpPr>
        <p:spPr/>
        <p:txBody>
          <a:bodyPr vert="horz" wrap="square" lIns="91440" tIns="45720" rIns="91440" bIns="45720" numCol="1" anchor="t" anchorCtr="0" compatLnSpc="1"/>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Elijah,  David,  Jonah,  Job </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Elijah : 1 Kings 18 : 25 to 19:3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David : Psalm 142 , 1 Sam 22 :1,2;   1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Chro</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12: 22</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p:txBody>
          <a:bodyPr vert="horz" wrap="square" lIns="91440" tIns="45720" rIns="91440" bIns="91440" anchor="b" anchorCtr="0"/>
          <a:p>
            <a:endParaRPr dirty="0"/>
          </a:p>
        </p:txBody>
      </p:sp>
      <p:sp>
        <p:nvSpPr>
          <p:cNvPr id="23555" name="Content Placeholder 2"/>
          <p:cNvSpPr>
            <a:spLocks noGrp="1"/>
          </p:cNvSpPr>
          <p:nvPr>
            <p:ph sz="quarter" idx="1"/>
          </p:nvPr>
        </p:nvSpPr>
        <p:spPr/>
        <p:txBody>
          <a:bodyPr vert="horz" wrap="square" lIns="91440" tIns="45720" rIns="91440" bIns="45720" anchor="t" anchorCtr="0"/>
          <a:p>
            <a:pPr algn="ctr">
              <a:buClr>
                <a:schemeClr val="accent1"/>
              </a:buClr>
              <a:buSzPct val="85000"/>
              <a:buFont typeface="Wingdings 2" panose="05020102010507070707" pitchFamily="18" charset="2"/>
            </a:pPr>
            <a:r>
              <a:rPr sz="4400" dirty="0"/>
              <a:t>SUICIDE PREVENTION </a:t>
            </a:r>
            <a:endParaRPr sz="4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p:txBody>
          <a:bodyPr vert="horz" wrap="square" lIns="91440" tIns="45720" rIns="91440" bIns="91440" anchor="b" anchorCtr="0"/>
          <a:p>
            <a:pPr eaLnBrk="1" hangingPunct="1"/>
            <a:r>
              <a:rPr sz="3600" dirty="0">
                <a:latin typeface="Engravers MT" panose="02090707080505020304" pitchFamily="18" charset="0"/>
              </a:rPr>
              <a:t>SUICIDal thoughts</a:t>
            </a:r>
            <a:endParaRPr sz="3600" dirty="0">
              <a:latin typeface="Engravers MT" panose="02090707080505020304" pitchFamily="18" charset="0"/>
            </a:endParaRPr>
          </a:p>
        </p:txBody>
      </p:sp>
      <p:sp>
        <p:nvSpPr>
          <p:cNvPr id="3" name="Content Placeholder 2"/>
          <p:cNvSpPr>
            <a:spLocks noGrp="1"/>
          </p:cNvSpPr>
          <p:nvPr>
            <p:ph sz="quarter" idx="1"/>
          </p:nvPr>
        </p:nvSpPr>
        <p:spPr/>
        <p:txBody>
          <a:bodyPr vert="horz" wrap="square" lIns="91440" tIns="45720" rIns="91440" bIns="45720" numCol="1" anchor="t" anchorCtr="0" compatLnSpc="1">
            <a:normAutofit fontScale="62500" lnSpcReduction="2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In Latin </a:t>
            </a:r>
            <a:r>
              <a:rPr kumimoji="0" lang="en-IN" sz="2900" b="1" i="1" u="none" strike="noStrike" kern="1200" cap="none" spc="0" normalizeH="0" baseline="0" noProof="0" dirty="0" err="1" smtClean="0">
                <a:ln>
                  <a:noFill/>
                </a:ln>
                <a:solidFill>
                  <a:schemeClr val="tx1"/>
                </a:solidFill>
                <a:effectLst/>
                <a:uLnTx/>
                <a:uFillTx/>
                <a:latin typeface="Baskerville Old Face" panose="02020602080505020303" pitchFamily="18" charset="0"/>
                <a:ea typeface="+mn-ea"/>
                <a:cs typeface="+mn-cs"/>
              </a:rPr>
              <a:t>Suicidium</a:t>
            </a:r>
            <a:r>
              <a:rPr kumimoji="0" lang="en-IN" sz="2900" b="1" i="1"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 </a:t>
            </a:r>
            <a:r>
              <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from </a:t>
            </a:r>
            <a:r>
              <a:rPr kumimoji="0" lang="en-IN" sz="2900" b="1" i="1" u="none" strike="noStrike" kern="1200" cap="none" spc="0" normalizeH="0" baseline="0" noProof="0" dirty="0" err="1" smtClean="0">
                <a:ln>
                  <a:noFill/>
                </a:ln>
                <a:solidFill>
                  <a:schemeClr val="tx1"/>
                </a:solidFill>
                <a:effectLst/>
                <a:uLnTx/>
                <a:uFillTx/>
                <a:latin typeface="Baskerville Old Face" panose="02020602080505020303" pitchFamily="18" charset="0"/>
                <a:ea typeface="+mn-ea"/>
                <a:cs typeface="+mn-cs"/>
              </a:rPr>
              <a:t>Suicaedere</a:t>
            </a:r>
            <a:r>
              <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  ‘to kill oneself’ is the act of intentionally causing one’s own death.</a:t>
            </a:r>
            <a:endPar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Suicide is a desperate attempt to escape suffering that has become unbearable </a:t>
            </a:r>
            <a:r>
              <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by taking one’s own life with whatever resources available.</a:t>
            </a: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 </a:t>
            </a: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Blinded by </a:t>
            </a:r>
            <a:r>
              <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feelings of self-loathing, hopelessness, and isolation,</a:t>
            </a:r>
            <a:r>
              <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 a suicidal person can't see any way of finding relief except through death.</a:t>
            </a: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‘The act of taking one’s own life’.</a:t>
            </a:r>
            <a:endParaRPr kumimoji="0" lang="en-IN" sz="2900" b="1"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But despite their desire for the pain to stop, most suicidal people are deeply conflicted about ending their own lives.  </a:t>
            </a: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Lethargy, decreased appetite and sleep, lack of freedom of movement</a:t>
            </a:r>
            <a:endParaRPr kumimoji="0" lang="en-US"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US"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rPr>
              <a:t>Abdominal pain, fatigue</a:t>
            </a:r>
            <a:endParaRPr kumimoji="0" lang="en-US" sz="2900" b="0" i="0" u="none" strike="noStrike" kern="1200" cap="none" spc="0" normalizeH="0" baseline="0" noProof="0" dirty="0" smtClean="0">
              <a:ln>
                <a:noFill/>
              </a:ln>
              <a:solidFill>
                <a:schemeClr val="tx1"/>
              </a:solidFill>
              <a:effectLst/>
              <a:uLnTx/>
              <a:uFillTx/>
              <a:latin typeface="Baskerville Old Face" panose="02020602080505020303" pitchFamily="18" charset="0"/>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9144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Some common misconceptions </a:t>
            </a:r>
            <a:br>
              <a:rPr kumimoji="0" lang="en-US" sz="4000" b="0" i="0" u="none" strike="noStrike" kern="1200" cap="none"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br>
            <a:r>
              <a:rPr kumimoji="0" lang="en-US" sz="4000" b="0" i="0" u="none" strike="noStrike" kern="1200" cap="none"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about Suicide </a:t>
            </a:r>
            <a:endParaRPr kumimoji="0" lang="en-US"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25603"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dirty="0">
                <a:latin typeface="Times New Roman" panose="02020603050405020304" pitchFamily="18" charset="0"/>
                <a:cs typeface="Times New Roman" panose="02020603050405020304" pitchFamily="18" charset="0"/>
              </a:rPr>
              <a:t>People who talk about suicide won’t really do it.   (</a:t>
            </a:r>
            <a:r>
              <a:rPr dirty="0">
                <a:solidFill>
                  <a:srgbClr val="C00000"/>
                </a:solidFill>
                <a:latin typeface="Times New Roman" panose="02020603050405020304" pitchFamily="18" charset="0"/>
                <a:cs typeface="Times New Roman" panose="02020603050405020304" pitchFamily="18" charset="0"/>
              </a:rPr>
              <a:t>False</a:t>
            </a:r>
            <a:r>
              <a:rPr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eaLnBrk="1" hangingPunct="1">
              <a:buClr>
                <a:schemeClr val="accent1"/>
              </a:buClr>
              <a:buSzPct val="85000"/>
              <a:buFont typeface="Wingdings 2" panose="05020102010507070707" pitchFamily="18" charset="2"/>
            </a:pPr>
            <a:r>
              <a:rPr dirty="0">
                <a:latin typeface="Times New Roman" panose="02020603050405020304" pitchFamily="18" charset="0"/>
                <a:cs typeface="Times New Roman" panose="02020603050405020304" pitchFamily="18" charset="0"/>
              </a:rPr>
              <a:t>Anyone who tries to kill himself/herself must be crazy. (</a:t>
            </a:r>
            <a:r>
              <a:rPr dirty="0">
                <a:solidFill>
                  <a:srgbClr val="C00000"/>
                </a:solidFill>
                <a:latin typeface="Times New Roman" panose="02020603050405020304" pitchFamily="18" charset="0"/>
                <a:cs typeface="Times New Roman" panose="02020603050405020304" pitchFamily="18" charset="0"/>
              </a:rPr>
              <a:t>False</a:t>
            </a:r>
            <a:r>
              <a:rPr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eaLnBrk="1" hangingPunct="1">
              <a:buClr>
                <a:schemeClr val="accent1"/>
              </a:buClr>
              <a:buSzPct val="85000"/>
              <a:buFont typeface="Wingdings 2" panose="05020102010507070707" pitchFamily="18" charset="2"/>
            </a:pPr>
            <a:r>
              <a:rPr dirty="0">
                <a:latin typeface="Times New Roman" panose="02020603050405020304" pitchFamily="18" charset="0"/>
                <a:cs typeface="Times New Roman" panose="02020603050405020304" pitchFamily="18" charset="0"/>
              </a:rPr>
              <a:t>If a person is determined to kill himself/ herself, nothing is going to stop them. (</a:t>
            </a:r>
            <a:r>
              <a:rPr dirty="0">
                <a:solidFill>
                  <a:srgbClr val="C00000"/>
                </a:solidFill>
                <a:latin typeface="Times New Roman" panose="02020603050405020304" pitchFamily="18" charset="0"/>
                <a:cs typeface="Times New Roman" panose="02020603050405020304" pitchFamily="18" charset="0"/>
              </a:rPr>
              <a:t>False</a:t>
            </a:r>
            <a:r>
              <a:rPr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eaLnBrk="1" hangingPunct="1">
              <a:buClr>
                <a:schemeClr val="accent1"/>
              </a:buClr>
              <a:buSzPct val="85000"/>
              <a:buFont typeface="Wingdings 2" panose="05020102010507070707" pitchFamily="18" charset="2"/>
            </a:pPr>
            <a:r>
              <a:rPr dirty="0">
                <a:latin typeface="Times New Roman" panose="02020603050405020304" pitchFamily="18" charset="0"/>
                <a:cs typeface="Times New Roman" panose="02020603050405020304" pitchFamily="18" charset="0"/>
              </a:rPr>
              <a:t>People who commit suicide are people who were unwilling to seek help. (</a:t>
            </a:r>
            <a:r>
              <a:rPr dirty="0">
                <a:solidFill>
                  <a:srgbClr val="C00000"/>
                </a:solidFill>
                <a:latin typeface="Times New Roman" panose="02020603050405020304" pitchFamily="18" charset="0"/>
                <a:cs typeface="Times New Roman" panose="02020603050405020304" pitchFamily="18" charset="0"/>
              </a:rPr>
              <a:t>False)</a:t>
            </a:r>
            <a:r>
              <a:rPr dirty="0">
                <a:latin typeface="Times New Roman" panose="02020603050405020304" pitchFamily="18" charset="0"/>
                <a:cs typeface="Times New Roman" panose="02020603050405020304" pitchFamily="18" charset="0"/>
              </a:rPr>
              <a:t> </a:t>
            </a:r>
            <a:endParaRPr lang="en-IN" altLang="x-none"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p:txBody>
          <a:bodyPr vert="horz" wrap="square" lIns="91440" tIns="45720" rIns="91440" bIns="91440" anchor="b" anchorCtr="0"/>
          <a:p>
            <a:pPr eaLnBrk="1" hangingPunct="1"/>
            <a:r>
              <a:rPr b="1" dirty="0">
                <a:latin typeface="Baskerville Old Face" panose="02020602080505020303" pitchFamily="18" charset="0"/>
              </a:rPr>
              <a:t>Methods </a:t>
            </a:r>
            <a:endParaRPr b="1" dirty="0">
              <a:latin typeface="Baskerville Old Face" panose="02020602080505020303" pitchFamily="18" charset="0"/>
            </a:endParaRPr>
          </a:p>
        </p:txBody>
      </p:sp>
      <p:sp>
        <p:nvSpPr>
          <p:cNvPr id="26627"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sz="3200" dirty="0"/>
              <a:t>Covid 19  deaths</a:t>
            </a:r>
            <a:endParaRPr sz="3200" dirty="0"/>
          </a:p>
          <a:p>
            <a:pPr eaLnBrk="1" hangingPunct="1">
              <a:buClr>
                <a:schemeClr val="accent1"/>
              </a:buClr>
              <a:buSzPct val="85000"/>
              <a:buFont typeface="Wingdings 2" panose="05020102010507070707" pitchFamily="18" charset="2"/>
            </a:pPr>
            <a:r>
              <a:rPr sz="3200" dirty="0"/>
              <a:t>Dowry Deaths</a:t>
            </a:r>
            <a:endParaRPr sz="3200" dirty="0"/>
          </a:p>
          <a:p>
            <a:pPr eaLnBrk="1" hangingPunct="1">
              <a:buClr>
                <a:schemeClr val="accent1"/>
              </a:buClr>
              <a:buSzPct val="85000"/>
              <a:buFont typeface="Wingdings 2" panose="05020102010507070707" pitchFamily="18" charset="2"/>
            </a:pPr>
            <a:r>
              <a:rPr lang="en-IN" altLang="x-none" sz="3200" dirty="0"/>
              <a:t>Attempted suicides / non- fatal suicidal behaviour; Self-injury not resulting in death. </a:t>
            </a:r>
            <a:endParaRPr lang="en-IN" altLang="x-none" sz="3200" dirty="0"/>
          </a:p>
          <a:p>
            <a:pPr eaLnBrk="1" hangingPunct="1">
              <a:buClr>
                <a:schemeClr val="accent1"/>
              </a:buClr>
              <a:buSzPct val="85000"/>
              <a:buFont typeface="Wingdings 2" panose="05020102010507070707" pitchFamily="18" charset="2"/>
            </a:pPr>
            <a:r>
              <a:rPr lang="en-IN" altLang="x-none" sz="3200" dirty="0"/>
              <a:t>Assisted suicide – one person helps another</a:t>
            </a:r>
            <a:endParaRPr lang="en-IN" altLang="x-none" sz="3200" dirty="0"/>
          </a:p>
          <a:p>
            <a:pPr eaLnBrk="1" hangingPunct="1">
              <a:buClr>
                <a:schemeClr val="accent1"/>
              </a:buClr>
              <a:buSzPct val="85000"/>
              <a:buFont typeface="Wingdings 2" panose="05020102010507070707" pitchFamily="18" charset="2"/>
            </a:pPr>
            <a:r>
              <a:rPr lang="en-IN" altLang="x-none" sz="3200" dirty="0"/>
              <a:t>Euthanasia – where another person takes an active role in bringing about a person’s death.</a:t>
            </a:r>
            <a:endParaRPr lang="en-IN" altLang="x-none" sz="3200" dirty="0"/>
          </a:p>
          <a:p>
            <a:pPr eaLnBrk="1" hangingPunct="1">
              <a:buClr>
                <a:schemeClr val="accent1"/>
              </a:buClr>
              <a:buSzPct val="85000"/>
              <a:buFont typeface="Wingdings 2" panose="05020102010507070707" pitchFamily="18" charset="2"/>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600" y="304800"/>
            <a:ext cx="7543800" cy="1112838"/>
          </a:xfrm>
        </p:spPr>
        <p:txBody>
          <a:bodyPr vert="horz" wrap="square" lIns="91440" tIns="45720" rIns="91440" bIns="91440" numCol="1" anchor="ctr"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IN" sz="4000" b="1" i="0" u="none" strike="noStrike" kern="1200" cap="none" spc="0" normalizeH="0" baseline="0" noProof="0" dirty="0" smtClean="0">
                <a:ln>
                  <a:noFill/>
                </a:ln>
                <a:solidFill>
                  <a:schemeClr val="tx2"/>
                </a:solidFill>
                <a:effectLst/>
                <a:uLnTx/>
                <a:uFillTx/>
                <a:latin typeface="+mj-lt"/>
                <a:ea typeface="+mj-ea"/>
                <a:cs typeface="+mj-cs"/>
              </a:rPr>
            </a:br>
            <a:r>
              <a:rPr kumimoji="0" lang="en-IN" sz="4000" b="1"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Warnings  :   </a:t>
            </a:r>
            <a:br>
              <a:rPr kumimoji="0" lang="en-IN" sz="4000" b="1" i="0" u="none" strike="noStrike" kern="1200" cap="none" spc="0" normalizeH="0" baseline="0" noProof="0" dirty="0" smtClean="0">
                <a:ln>
                  <a:noFill/>
                </a:ln>
                <a:solidFill>
                  <a:schemeClr val="tx2"/>
                </a:solidFill>
                <a:effectLst/>
                <a:uLnTx/>
                <a:uFillTx/>
                <a:latin typeface="+mj-lt"/>
                <a:ea typeface="+mj-ea"/>
                <a:cs typeface="+mj-cs"/>
              </a:rPr>
            </a:br>
            <a:r>
              <a:rPr kumimoji="0" lang="en-IN" sz="2200" b="0" i="0" u="none" strike="noStrike" kern="1200" cap="none" spc="0" normalizeH="0" baseline="0" noProof="0" dirty="0" smtClean="0">
                <a:ln>
                  <a:noFill/>
                </a:ln>
                <a:solidFill>
                  <a:schemeClr val="tx2"/>
                </a:solidFill>
                <a:effectLst/>
                <a:uLnTx/>
                <a:uFillTx/>
                <a:latin typeface="+mj-lt"/>
                <a:ea typeface="+mj-ea"/>
                <a:cs typeface="+mj-cs"/>
              </a:rPr>
              <a:t>by  Dr. B.J. </a:t>
            </a:r>
            <a:r>
              <a:rPr kumimoji="0" lang="en-IN" sz="2200" b="0" i="0" u="none" strike="noStrike" kern="1200" cap="none" spc="0" normalizeH="0" baseline="0" noProof="0" dirty="0" err="1" smtClean="0">
                <a:ln>
                  <a:noFill/>
                </a:ln>
                <a:solidFill>
                  <a:schemeClr val="tx2"/>
                </a:solidFill>
                <a:effectLst/>
                <a:uLnTx/>
                <a:uFillTx/>
                <a:latin typeface="+mj-lt"/>
                <a:ea typeface="+mj-ea"/>
                <a:cs typeface="+mj-cs"/>
              </a:rPr>
              <a:t>Prashantham</a:t>
            </a:r>
            <a:br>
              <a:rPr kumimoji="0" lang="en-IN" sz="4000" b="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27651"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endParaRPr dirty="0"/>
          </a:p>
        </p:txBody>
      </p:sp>
      <p:sp>
        <p:nvSpPr>
          <p:cNvPr id="27652" name="Rectangle 3"/>
          <p:cNvSpPr/>
          <p:nvPr/>
        </p:nvSpPr>
        <p:spPr>
          <a:xfrm>
            <a:off x="914400" y="1295400"/>
            <a:ext cx="7848600" cy="4708525"/>
          </a:xfrm>
          <a:prstGeom prst="rect">
            <a:avLst/>
          </a:prstGeom>
          <a:noFill/>
          <a:ln w="9525">
            <a:noFill/>
          </a:ln>
        </p:spPr>
        <p:txBody>
          <a:bodyPr>
            <a:spAutoFit/>
          </a:bodyPr>
          <a:p>
            <a:r>
              <a:rPr lang="en-IN" altLang="x-none" sz="2000" dirty="0">
                <a:latin typeface="Baskerville Old Face" panose="02020602080505020303" pitchFamily="18" charset="0"/>
              </a:rPr>
              <a:t>A/	</a:t>
            </a:r>
            <a:r>
              <a:rPr lang="en-IN" altLang="x-none" sz="2000" b="1" u="sng" dirty="0">
                <a:latin typeface="Baskerville Old Face" panose="02020602080505020303" pitchFamily="18" charset="0"/>
              </a:rPr>
              <a:t>NEVER  IGNORE</a:t>
            </a:r>
            <a:r>
              <a:rPr lang="en-IN" altLang="x-none" sz="2000" u="sng" dirty="0">
                <a:latin typeface="Baskerville Old Face" panose="02020602080505020303" pitchFamily="18" charset="0"/>
              </a:rPr>
              <a:t> </a:t>
            </a:r>
            <a:r>
              <a:rPr lang="en-IN" altLang="x-none" sz="2000" dirty="0">
                <a:latin typeface="Baskerville Old Face" panose="02020602080505020303" pitchFamily="18" charset="0"/>
              </a:rPr>
              <a:t>a suicide warning</a:t>
            </a:r>
            <a:endParaRPr lang="en-IN" altLang="x-none" sz="2000" dirty="0">
              <a:latin typeface="Baskerville Old Face" panose="02020602080505020303" pitchFamily="18" charset="0"/>
            </a:endParaRPr>
          </a:p>
          <a:p>
            <a:endParaRPr lang="en-IN" altLang="x-none" sz="2000" dirty="0">
              <a:latin typeface="Baskerville Old Face" panose="02020602080505020303" pitchFamily="18" charset="0"/>
            </a:endParaRPr>
          </a:p>
          <a:p>
            <a:r>
              <a:rPr lang="en-IN" altLang="x-none" sz="2000" dirty="0">
                <a:latin typeface="Baskerville Old Face" panose="02020602080505020303" pitchFamily="18" charset="0"/>
              </a:rPr>
              <a:t>B/	IMPORTANT </a:t>
            </a:r>
            <a:r>
              <a:rPr lang="en-IN" altLang="x-none" sz="2000" b="1" u="sng" dirty="0">
                <a:latin typeface="Baskerville Old Face" panose="02020602080505020303" pitchFamily="18" charset="0"/>
              </a:rPr>
              <a:t>to remove the capacity or thing to commit </a:t>
            </a:r>
            <a:r>
              <a:rPr lang="en-IN" altLang="x-none" sz="2000" b="1" dirty="0">
                <a:latin typeface="Baskerville Old Face" panose="02020602080505020303" pitchFamily="18" charset="0"/>
              </a:rPr>
              <a:t>	</a:t>
            </a:r>
            <a:r>
              <a:rPr lang="en-IN" altLang="x-none" sz="2000" b="1" u="sng" dirty="0">
                <a:latin typeface="Baskerville Old Face" panose="02020602080505020303" pitchFamily="18" charset="0"/>
              </a:rPr>
              <a:t>suicide.</a:t>
            </a:r>
            <a:endParaRPr lang="en-IN" altLang="x-none" sz="2000" b="1" u="sng" dirty="0">
              <a:latin typeface="Baskerville Old Face" panose="02020602080505020303" pitchFamily="18" charset="0"/>
            </a:endParaRPr>
          </a:p>
          <a:p>
            <a:r>
              <a:rPr lang="en-IN" altLang="x-none" sz="2000" u="sng" dirty="0">
                <a:latin typeface="Baskerville Old Face" panose="02020602080505020303" pitchFamily="18" charset="0"/>
              </a:rPr>
              <a:t> </a:t>
            </a:r>
            <a:r>
              <a:rPr lang="en-IN" altLang="x-none" sz="2000" dirty="0">
                <a:latin typeface="Baskerville Old Face" panose="02020602080505020303" pitchFamily="18" charset="0"/>
              </a:rPr>
              <a:t>‘ </a:t>
            </a:r>
            <a:r>
              <a:rPr lang="en-IN" altLang="x-none" sz="2000" b="1" dirty="0">
                <a:latin typeface="Baskerville Old Face" panose="02020602080505020303" pitchFamily="18" charset="0"/>
              </a:rPr>
              <a:t>The Escape Hatch’,</a:t>
            </a:r>
            <a:r>
              <a:rPr lang="en-IN" altLang="x-none" sz="2000" dirty="0">
                <a:latin typeface="Baskerville Old Face" panose="02020602080505020303" pitchFamily="18" charset="0"/>
              </a:rPr>
              <a:t> Reduce access  to poisons, medications,  firearms, kerosene etc.    Also building barriers to bridges and subway 	platforms. (‘Suicide points’ at Hill stations – Kodaikanal, Ooty, Srinagar etc., )</a:t>
            </a:r>
            <a:endParaRPr lang="en-IN" altLang="x-none" sz="2000" dirty="0">
              <a:latin typeface="Baskerville Old Face" panose="02020602080505020303" pitchFamily="18" charset="0"/>
            </a:endParaRPr>
          </a:p>
          <a:p>
            <a:endParaRPr lang="en-IN" altLang="x-none" sz="2000" dirty="0">
              <a:latin typeface="Baskerville Old Face" panose="02020602080505020303" pitchFamily="18" charset="0"/>
            </a:endParaRPr>
          </a:p>
          <a:p>
            <a:r>
              <a:rPr lang="en-IN" altLang="x-none" sz="2000" dirty="0">
                <a:latin typeface="Baskerville Old Face" panose="02020602080505020303" pitchFamily="18" charset="0"/>
              </a:rPr>
              <a:t>C/	</a:t>
            </a:r>
            <a:r>
              <a:rPr lang="en-IN" altLang="x-none" sz="2000" b="1" u="sng" dirty="0">
                <a:latin typeface="Baskerville Old Face" panose="02020602080505020303" pitchFamily="18" charset="0"/>
              </a:rPr>
              <a:t>LISTEN, </a:t>
            </a:r>
            <a:r>
              <a:rPr lang="en-IN" altLang="x-none" sz="2000" dirty="0">
                <a:latin typeface="Baskerville Old Face" panose="02020602080505020303" pitchFamily="18" charset="0"/>
              </a:rPr>
              <a:t>Listen and Listen to them.</a:t>
            </a:r>
            <a:endParaRPr lang="en-IN" altLang="x-none" sz="2000" dirty="0">
              <a:latin typeface="Baskerville Old Face" panose="02020602080505020303" pitchFamily="18" charset="0"/>
            </a:endParaRPr>
          </a:p>
          <a:p>
            <a:endParaRPr lang="en-IN" altLang="x-none" sz="2000" dirty="0">
              <a:latin typeface="Baskerville Old Face" panose="02020602080505020303" pitchFamily="18" charset="0"/>
            </a:endParaRPr>
          </a:p>
          <a:p>
            <a:r>
              <a:rPr lang="en-IN" altLang="x-none" sz="2000" dirty="0">
                <a:latin typeface="Baskerville Old Face" panose="02020602080505020303" pitchFamily="18" charset="0"/>
              </a:rPr>
              <a:t>D/	Usually </a:t>
            </a:r>
            <a:r>
              <a:rPr lang="en-IN" altLang="x-none" sz="2000" b="1" dirty="0">
                <a:latin typeface="Baskerville Old Face" panose="02020602080505020303" pitchFamily="18" charset="0"/>
              </a:rPr>
              <a:t>Mode, Place &amp; Time is planned</a:t>
            </a:r>
            <a:endParaRPr lang="en-IN" altLang="x-none" sz="2000" b="1" dirty="0">
              <a:latin typeface="Baskerville Old Face" panose="02020602080505020303" pitchFamily="18" charset="0"/>
            </a:endParaRPr>
          </a:p>
          <a:p>
            <a:endParaRPr lang="en-IN" altLang="x-none" sz="2000" b="1" dirty="0">
              <a:latin typeface="Baskerville Old Face" panose="02020602080505020303" pitchFamily="18" charset="0"/>
            </a:endParaRPr>
          </a:p>
          <a:p>
            <a:r>
              <a:rPr lang="en-IN" altLang="x-none" sz="2000" dirty="0">
                <a:latin typeface="Baskerville Old Face" panose="02020602080505020303" pitchFamily="18" charset="0"/>
              </a:rPr>
              <a:t>E/	</a:t>
            </a:r>
            <a:r>
              <a:rPr lang="en-IN" altLang="x-none" sz="2000" b="1" u="sng" dirty="0">
                <a:latin typeface="Baskerville Old Face" panose="02020602080505020303" pitchFamily="18" charset="0"/>
              </a:rPr>
              <a:t>DO Risk Assessment</a:t>
            </a:r>
            <a:r>
              <a:rPr lang="en-IN" altLang="x-none" sz="2000" u="sng" dirty="0">
                <a:latin typeface="Baskerville Old Face" panose="02020602080505020303" pitchFamily="18" charset="0"/>
              </a:rPr>
              <a:t> </a:t>
            </a:r>
            <a:r>
              <a:rPr lang="en-IN" altLang="x-none" sz="2000" dirty="0">
                <a:latin typeface="Baskerville Old Face" panose="02020602080505020303" pitchFamily="18" charset="0"/>
              </a:rPr>
              <a:t>very early in the Counselling</a:t>
            </a:r>
            <a:endParaRPr lang="en-IN" altLang="x-none" sz="2000" dirty="0">
              <a:latin typeface="Baskerville Old Face" panose="02020602080505020303" pitchFamily="18" charset="0"/>
            </a:endParaRPr>
          </a:p>
          <a:p>
            <a:endParaRPr lang="en-IN" altLang="x-none" sz="2000" dirty="0">
              <a:latin typeface="Baskerville Old Face" panose="02020602080505020303" pitchFamily="18" charset="0"/>
            </a:endParaRPr>
          </a:p>
          <a:p>
            <a:r>
              <a:rPr lang="en-IN" altLang="x-none" sz="2000" dirty="0">
                <a:latin typeface="Baskerville Old Face" panose="02020602080505020303" pitchFamily="18" charset="0"/>
              </a:rPr>
              <a:t>F/	</a:t>
            </a:r>
            <a:r>
              <a:rPr lang="en-IN" altLang="x-none" sz="2000" b="1" u="sng" dirty="0">
                <a:latin typeface="Baskerville Old Face" panose="02020602080505020303" pitchFamily="18" charset="0"/>
              </a:rPr>
              <a:t>Don’t Hesitate to ask direct questions </a:t>
            </a:r>
            <a:r>
              <a:rPr lang="en-IN" altLang="x-none" sz="2000" dirty="0">
                <a:latin typeface="Baskerville Old Face" panose="02020602080505020303" pitchFamily="18" charset="0"/>
              </a:rPr>
              <a:t>during  the counselling.</a:t>
            </a:r>
            <a:endParaRPr lang="en-IN" altLang="x-none" sz="2000" dirty="0">
              <a:latin typeface="Baskerville Old Face" panose="02020602080505020303"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9144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1"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HOW TO IDENTIFY THE CLUES</a:t>
            </a:r>
            <a:endParaRPr kumimoji="0" lang="en-US" sz="4000" b="1" i="0" u="none" strike="noStrike" kern="1200" cap="none" spc="0" normalizeH="0" baseline="0" noProof="0" dirty="0">
              <a:ln>
                <a:noFill/>
              </a:ln>
              <a:solidFill>
                <a:schemeClr val="tx2"/>
              </a:solidFill>
              <a:effectLst/>
              <a:uLnTx/>
              <a:uFillTx/>
              <a:latin typeface="Baskerville Old Face" panose="02020602080505020303" pitchFamily="18" charset="0"/>
              <a:ea typeface="+mj-ea"/>
              <a:cs typeface="+mj-cs"/>
            </a:endParaRPr>
          </a:p>
        </p:txBody>
      </p:sp>
      <p:sp>
        <p:nvSpPr>
          <p:cNvPr id="3" name="Content Placeholder 2"/>
          <p:cNvSpPr>
            <a:spLocks noGrp="1"/>
          </p:cNvSpPr>
          <p:nvPr>
            <p:ph sz="quarter" idx="1"/>
          </p:nvPr>
        </p:nvSpPr>
        <p:spPr/>
        <p:txBody>
          <a:bodyPr vert="horz" wrap="square" lIns="91440" tIns="45720" rIns="91440" bIns="45720" numCol="1" anchor="t" anchorCtr="0" compatLnSpc="1">
            <a:normAutofit fontScale="40000" lnSpcReduction="2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6000" b="1" i="0" u="none" strike="noStrike" kern="1200" cap="none" spc="0" normalizeH="0" baseline="0" noProof="0" dirty="0" smtClean="0">
                <a:ln>
                  <a:noFill/>
                </a:ln>
                <a:solidFill>
                  <a:schemeClr val="tx1"/>
                </a:solidFill>
                <a:effectLst/>
                <a:uLnTx/>
                <a:uFillTx/>
                <a:latin typeface="+mn-lt"/>
                <a:ea typeface="+mn-ea"/>
                <a:cs typeface="+mn-cs"/>
              </a:rPr>
              <a:t>75% give clues to committing suicide.</a:t>
            </a:r>
            <a:endParaRPr kumimoji="0" lang="en-IN" sz="6000" b="1"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1/  </a:t>
            </a:r>
            <a:r>
              <a:rPr kumimoji="0" lang="en-IN" sz="5000" b="1" i="0" u="none" strike="noStrike" kern="1200" cap="none" spc="0" normalizeH="0" baseline="0" noProof="0" dirty="0" smtClean="0">
                <a:ln>
                  <a:noFill/>
                </a:ln>
                <a:solidFill>
                  <a:schemeClr val="tx1"/>
                </a:solidFill>
                <a:effectLst/>
                <a:uLnTx/>
                <a:uFillTx/>
                <a:latin typeface="+mn-lt"/>
                <a:ea typeface="+mn-ea"/>
                <a:cs typeface="+mn-cs"/>
              </a:rPr>
              <a:t>Clues  </a:t>
            </a:r>
            <a:r>
              <a:rPr kumimoji="0" lang="en-IN" sz="5000" b="0" i="0" u="none" strike="noStrike" kern="1200" cap="none" spc="0" normalizeH="0" baseline="0" noProof="0" dirty="0" smtClean="0">
                <a:ln>
                  <a:noFill/>
                </a:ln>
                <a:solidFill>
                  <a:schemeClr val="tx1"/>
                </a:solidFill>
                <a:effectLst/>
                <a:uLnTx/>
                <a:uFillTx/>
                <a:latin typeface="+mn-lt"/>
                <a:ea typeface="+mn-ea"/>
                <a:cs typeface="+mn-cs"/>
              </a:rPr>
              <a:t>:  Verbal  clues  : Director or Indirect </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	 </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2/  </a:t>
            </a:r>
            <a:r>
              <a:rPr kumimoji="0" lang="en-IN" sz="5000" b="1" i="0" u="none" strike="noStrike" kern="1200" cap="none" spc="0" normalizeH="0" baseline="0" noProof="0" dirty="0" smtClean="0">
                <a:ln>
                  <a:noFill/>
                </a:ln>
                <a:solidFill>
                  <a:schemeClr val="tx1"/>
                </a:solidFill>
                <a:effectLst/>
                <a:uLnTx/>
                <a:uFillTx/>
                <a:latin typeface="+mn-lt"/>
                <a:ea typeface="+mn-ea"/>
                <a:cs typeface="+mn-cs"/>
              </a:rPr>
              <a:t>Behavioural</a:t>
            </a:r>
            <a:r>
              <a:rPr kumimoji="0" lang="en-IN" sz="5000" b="0" i="0" u="none" strike="noStrike" kern="1200" cap="none" spc="0" normalizeH="0" baseline="0" noProof="0" dirty="0" smtClean="0">
                <a:ln>
                  <a:noFill/>
                </a:ln>
                <a:solidFill>
                  <a:schemeClr val="tx1"/>
                </a:solidFill>
                <a:effectLst/>
                <a:uLnTx/>
                <a:uFillTx/>
                <a:latin typeface="+mn-lt"/>
                <a:ea typeface="+mn-ea"/>
                <a:cs typeface="+mn-cs"/>
              </a:rPr>
              <a:t>  –  </a:t>
            </a:r>
            <a:r>
              <a:rPr kumimoji="0" lang="en-IN" sz="5000" b="1" i="0" u="none" strike="noStrike" kern="1200" cap="none" spc="0" normalizeH="0" baseline="0" noProof="0" dirty="0" smtClean="0">
                <a:ln>
                  <a:noFill/>
                </a:ln>
                <a:solidFill>
                  <a:schemeClr val="tx1"/>
                </a:solidFill>
                <a:effectLst/>
                <a:uLnTx/>
                <a:uFillTx/>
                <a:latin typeface="+mn-lt"/>
                <a:ea typeface="+mn-ea"/>
                <a:cs typeface="+mn-cs"/>
              </a:rPr>
              <a:t>Dramatic mood swings or sudden personality changes</a:t>
            </a:r>
            <a:r>
              <a:rPr kumimoji="0" lang="en-IN" sz="5000" b="0" i="0" u="none" strike="noStrike" kern="1200" cap="none" spc="0" normalizeH="0" baseline="0" noProof="0" dirty="0" smtClean="0">
                <a:ln>
                  <a:noFill/>
                </a:ln>
                <a:solidFill>
                  <a:schemeClr val="tx1"/>
                </a:solidFill>
                <a:effectLst/>
                <a:uLnTx/>
                <a:uFillTx/>
                <a:latin typeface="+mn-lt"/>
                <a:ea typeface="+mn-ea"/>
                <a:cs typeface="+mn-cs"/>
              </a:rPr>
              <a:t>, such as </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	(a) going from outgoing to withdrawn or </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	(b) well-behaved to rebellious</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	(c) lose interest in day-to-day activities, </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	(d) neglect his or her appearance, and </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	(e) show big changes in eating or sleeping habits. </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IN" sz="25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3/  </a:t>
            </a:r>
            <a:r>
              <a:rPr kumimoji="0" lang="en-IN" sz="5000" b="1" i="0" u="none" strike="noStrike" kern="1200" cap="none" spc="0" normalizeH="0" baseline="0" noProof="0" dirty="0" smtClean="0">
                <a:ln>
                  <a:noFill/>
                </a:ln>
                <a:solidFill>
                  <a:schemeClr val="tx1"/>
                </a:solidFill>
                <a:effectLst/>
                <a:uLnTx/>
                <a:uFillTx/>
                <a:latin typeface="+mn-lt"/>
                <a:ea typeface="+mn-ea"/>
                <a:cs typeface="+mn-cs"/>
              </a:rPr>
              <a:t>Resources -  C</a:t>
            </a:r>
            <a:r>
              <a:rPr kumimoji="0" lang="en-IN" sz="5000" b="0" i="0" u="none" strike="noStrike" kern="1200" cap="none" spc="0" normalizeH="0" baseline="0" noProof="0" dirty="0" smtClean="0">
                <a:ln>
                  <a:noFill/>
                </a:ln>
                <a:solidFill>
                  <a:schemeClr val="tx1"/>
                </a:solidFill>
                <a:effectLst/>
                <a:uLnTx/>
                <a:uFillTx/>
                <a:latin typeface="+mn-lt"/>
                <a:ea typeface="+mn-ea"/>
                <a:cs typeface="+mn-cs"/>
              </a:rPr>
              <a:t>ontacts in legal, govt offices, spiritual circles.</a:t>
            </a:r>
            <a:endParaRPr kumimoji="0" lang="en-IN" sz="5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5000" b="0" i="0" u="none" strike="noStrike" kern="1200" cap="none" spc="0" normalizeH="0" baseline="0" noProof="0" dirty="0" smtClean="0">
                <a:ln>
                  <a:noFill/>
                </a:ln>
                <a:solidFill>
                  <a:schemeClr val="tx1"/>
                </a:solidFill>
                <a:effectLst/>
                <a:uLnTx/>
                <a:uFillTx/>
                <a:latin typeface="+mn-lt"/>
                <a:ea typeface="+mn-ea"/>
                <a:cs typeface="+mn-cs"/>
              </a:rPr>
              <a:t>	Seeking access to medicines, poison, pesticides, knives, Firearms, Kerosene or other objects that could be used in a suicide attempt.</a:t>
            </a:r>
            <a:endParaRPr kumimoji="0" lang="en-US" sz="5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9144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HOW TO IDENTIFY THE CLUE …</a:t>
            </a:r>
            <a:r>
              <a:rPr kumimoji="0" lang="en-US" sz="2000" b="1"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p/2</a:t>
            </a:r>
            <a:endParaRPr kumimoji="0" lang="en-US" sz="2000" b="1" i="0" u="none" strike="noStrike" kern="1200" cap="none" spc="0" normalizeH="0" baseline="0" noProof="0" dirty="0">
              <a:ln>
                <a:noFill/>
              </a:ln>
              <a:solidFill>
                <a:schemeClr val="tx2"/>
              </a:solidFill>
              <a:effectLst/>
              <a:uLnTx/>
              <a:uFillTx/>
              <a:latin typeface="+mj-lt"/>
              <a:ea typeface="+mj-ea"/>
              <a:cs typeface="+mj-cs"/>
            </a:endParaRPr>
          </a:p>
        </p:txBody>
      </p:sp>
      <p:sp>
        <p:nvSpPr>
          <p:cNvPr id="29699"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endParaRPr dirty="0"/>
          </a:p>
        </p:txBody>
      </p:sp>
      <p:sp>
        <p:nvSpPr>
          <p:cNvPr id="29700" name="Rectangle 3"/>
          <p:cNvSpPr/>
          <p:nvPr/>
        </p:nvSpPr>
        <p:spPr>
          <a:xfrm>
            <a:off x="762000" y="1524000"/>
            <a:ext cx="8001000" cy="4154488"/>
          </a:xfrm>
          <a:prstGeom prst="rect">
            <a:avLst/>
          </a:prstGeom>
          <a:noFill/>
          <a:ln w="9525">
            <a:noFill/>
          </a:ln>
        </p:spPr>
        <p:txBody>
          <a:bodyPr>
            <a:spAutoFit/>
          </a:bodyPr>
          <a:p>
            <a:r>
              <a:rPr lang="en-IN" altLang="x-none" dirty="0">
                <a:latin typeface="Perpetua" panose="02020502060401020303" charset="0"/>
              </a:rPr>
              <a:t>4</a:t>
            </a:r>
            <a:r>
              <a:rPr lang="en-IN" altLang="x-none" sz="2400" dirty="0">
                <a:latin typeface="Perpetua" panose="02020502060401020303" charset="0"/>
              </a:rPr>
              <a:t>/  </a:t>
            </a:r>
            <a:r>
              <a:rPr lang="en-IN" altLang="x-none" sz="2400" b="1" dirty="0">
                <a:latin typeface="Perpetua" panose="02020502060401020303" charset="0"/>
              </a:rPr>
              <a:t>Situational	-         		</a:t>
            </a:r>
            <a:r>
              <a:rPr lang="en-IN" altLang="x-none" sz="2400" dirty="0">
                <a:latin typeface="Perpetua" panose="02020502060401020303" charset="0"/>
              </a:rPr>
              <a:t>Depending on the situation </a:t>
            </a:r>
            <a:r>
              <a:rPr lang="en-IN" altLang="x-none" sz="2400" b="1" dirty="0">
                <a:latin typeface="Perpetua" panose="02020502060401020303" charset="0"/>
              </a:rPr>
              <a:t>-</a:t>
            </a:r>
            <a:endParaRPr lang="en-IN" altLang="x-none" sz="2400" dirty="0">
              <a:latin typeface="Perpetua" panose="02020502060401020303" charset="0"/>
            </a:endParaRPr>
          </a:p>
          <a:p>
            <a:r>
              <a:rPr lang="en-IN" altLang="x-none" sz="2400" dirty="0">
                <a:latin typeface="Perpetua" panose="02020502060401020303" charset="0"/>
              </a:rPr>
              <a:t>5/  </a:t>
            </a:r>
            <a:r>
              <a:rPr lang="en-IN" altLang="x-none" sz="2400" b="1" dirty="0">
                <a:latin typeface="Perpetua" panose="02020502060401020303" charset="0"/>
              </a:rPr>
              <a:t>Descriptive</a:t>
            </a:r>
            <a:r>
              <a:rPr lang="en-IN" altLang="x-none" sz="2400" dirty="0">
                <a:latin typeface="Perpetua" panose="02020502060401020303" charset="0"/>
              </a:rPr>
              <a:t>            -	Very young</a:t>
            </a:r>
            <a:endParaRPr lang="en-IN" altLang="x-none" sz="2400" dirty="0">
              <a:latin typeface="Perpetua" panose="02020502060401020303" charset="0"/>
            </a:endParaRPr>
          </a:p>
          <a:p>
            <a:r>
              <a:rPr lang="en-IN" altLang="x-none" sz="2400" dirty="0">
                <a:latin typeface="Perpetua" panose="02020502060401020303" charset="0"/>
              </a:rPr>
              <a:t>6/ </a:t>
            </a:r>
            <a:r>
              <a:rPr lang="en-IN" altLang="x-none" sz="2400" b="1" dirty="0">
                <a:latin typeface="Perpetua" panose="02020502060401020303" charset="0"/>
              </a:rPr>
              <a:t>Symptomatic 	  </a:t>
            </a:r>
            <a:endParaRPr lang="en-IN" altLang="x-none" sz="2400" b="1" dirty="0">
              <a:latin typeface="Perpetua" panose="02020502060401020303" charset="0"/>
            </a:endParaRPr>
          </a:p>
          <a:p>
            <a:r>
              <a:rPr lang="en-IN" altLang="x-none" sz="2400" b="1" dirty="0">
                <a:latin typeface="Perpetua" panose="02020502060401020303" charset="0"/>
              </a:rPr>
              <a:t> </a:t>
            </a:r>
            <a:r>
              <a:rPr lang="en-IN" altLang="x-none" sz="2400" b="1" u="sng" dirty="0">
                <a:latin typeface="Perpetua" panose="02020502060401020303" charset="0"/>
              </a:rPr>
              <a:t>Unhealthy				Healthy</a:t>
            </a:r>
            <a:endParaRPr lang="en-IN" altLang="x-none" sz="2400" dirty="0">
              <a:latin typeface="Perpetua" panose="02020502060401020303" charset="0"/>
            </a:endParaRPr>
          </a:p>
          <a:p>
            <a:r>
              <a:rPr lang="en-IN" altLang="x-none" sz="2400" dirty="0">
                <a:latin typeface="Perpetua" panose="02020502060401020303" charset="0"/>
              </a:rPr>
              <a:t>i/	Deny				Own &amp; Accept </a:t>
            </a:r>
            <a:endParaRPr lang="en-IN" altLang="x-none" sz="2400" dirty="0">
              <a:latin typeface="Perpetua" panose="02020502060401020303" charset="0"/>
            </a:endParaRPr>
          </a:p>
          <a:p>
            <a:r>
              <a:rPr lang="en-IN" altLang="x-none" sz="2400" dirty="0">
                <a:latin typeface="Perpetua" panose="02020502060401020303" charset="0"/>
              </a:rPr>
              <a:t>ii/	Not do anything			Will Do something about it</a:t>
            </a:r>
            <a:endParaRPr lang="en-IN" altLang="x-none" sz="2400" dirty="0">
              <a:latin typeface="Perpetua" panose="02020502060401020303" charset="0"/>
            </a:endParaRPr>
          </a:p>
          <a:p>
            <a:r>
              <a:rPr lang="en-IN" altLang="x-none" sz="2400" dirty="0">
                <a:latin typeface="Perpetua" panose="02020502060401020303" charset="0"/>
              </a:rPr>
              <a:t>iii/	Does not seek help when 	Seeks help beyond  problem 	gets worse 				   	himself. </a:t>
            </a:r>
            <a:endParaRPr lang="en-IN" altLang="x-none" sz="2400" dirty="0">
              <a:latin typeface="Perpetua" panose="02020502060401020303" charset="0"/>
            </a:endParaRPr>
          </a:p>
          <a:p>
            <a:r>
              <a:rPr lang="en-IN" altLang="x-none" sz="2400" dirty="0">
                <a:latin typeface="Perpetua" panose="02020502060401020303" charset="0"/>
              </a:rPr>
              <a:t>iv/	Problem gets worse,		When help is given 	</a:t>
            </a:r>
            <a:endParaRPr lang="en-IN" altLang="x-none" sz="2400" dirty="0">
              <a:latin typeface="Perpetua" panose="02020502060401020303" charset="0"/>
            </a:endParaRPr>
          </a:p>
          <a:p>
            <a:r>
              <a:rPr lang="en-IN" altLang="x-none" sz="2400" dirty="0">
                <a:latin typeface="Perpetua" panose="02020502060401020303" charset="0"/>
              </a:rPr>
              <a:t>	does not accept help		accepts it.		</a:t>
            </a:r>
            <a:endParaRPr lang="en-IN" altLang="x-none" sz="2400" dirty="0">
              <a:latin typeface="Perpetua" panose="02020502060401020303" charset="0"/>
            </a:endParaRPr>
          </a:p>
          <a:p>
            <a:r>
              <a:rPr lang="en-IN" altLang="x-none" sz="2400" dirty="0">
                <a:latin typeface="Perpetua" panose="02020502060401020303" charset="0"/>
              </a:rPr>
              <a:t>v/	No change 			Leads  to change.</a:t>
            </a:r>
            <a:endParaRPr lang="en-IN" altLang="x-none" sz="2400" dirty="0">
              <a:latin typeface="Perpetua" panose="02020502060401020303"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9144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HOW TO IDENTIFY THE CLUES </a:t>
            </a:r>
            <a:r>
              <a:rPr kumimoji="0" lang="en-US" sz="1800" b="1"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p/3</a:t>
            </a:r>
            <a:endParaRPr kumimoji="0" lang="en-US" sz="1800" b="1"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sz="quarter" idx="1"/>
          </p:nvPr>
        </p:nvSpPr>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Change in eating and sleeping habits </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Withdrawal from friends, family, and regular activities</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Violent or rebellious behaviour, running away </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Drug and alcohol use</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Unusual neglect of personal appearance </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Persistent boredom, difficulty concentrating, or a decline in the quality of schoolwork </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Frequent complaints about physical symptoms, often related to emotions, such as stomach aches, headaches, fatigue, etc. </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Not tolerating praise or rewards </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p:txBody>
          <a:bodyPr vert="horz" wrap="square" lIns="91440" tIns="45720" rIns="91440" bIns="91440" anchor="b" anchorCtr="0"/>
          <a:p>
            <a:pPr eaLnBrk="1" hangingPunct="1"/>
            <a:r>
              <a:rPr dirty="0">
                <a:latin typeface="Baskerville Old Face" panose="02020602080505020303" pitchFamily="18" charset="0"/>
              </a:rPr>
              <a:t>COUNSELLING THE SUICIDAL</a:t>
            </a:r>
            <a:endParaRPr dirty="0">
              <a:latin typeface="Baskerville Old Face" panose="02020602080505020303" pitchFamily="18" charset="0"/>
            </a:endParaRPr>
          </a:p>
        </p:txBody>
      </p:sp>
      <p:sp>
        <p:nvSpPr>
          <p:cNvPr id="3" name="Content Placeholder 2"/>
          <p:cNvSpPr>
            <a:spLocks noGrp="1"/>
          </p:cNvSpPr>
          <p:nvPr>
            <p:ph sz="quarter" idx="1"/>
          </p:nvPr>
        </p:nvSpPr>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Case Study : a)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Sudha’s</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and  b) King’s.</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600" b="1" i="0" u="none" strike="noStrike" kern="1200" cap="none" spc="0" normalizeH="0" baseline="0" noProof="0" dirty="0" smtClean="0">
                <a:ln>
                  <a:noFill/>
                </a:ln>
                <a:solidFill>
                  <a:schemeClr val="tx1"/>
                </a:solidFill>
                <a:effectLst/>
                <a:uLnTx/>
                <a:uFillTx/>
                <a:latin typeface="+mn-lt"/>
                <a:ea typeface="+mn-ea"/>
                <a:cs typeface="+mn-cs"/>
              </a:rPr>
              <a:t>1/		Educational Counselling</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IN" sz="2400" b="0" i="0" u="none" strike="noStrike" kern="1200" cap="none" spc="0" normalizeH="0" baseline="0" noProof="0" dirty="0" smtClean="0">
                <a:ln>
                  <a:noFill/>
                </a:ln>
                <a:solidFill>
                  <a:schemeClr val="tx1"/>
                </a:solidFill>
                <a:effectLst/>
                <a:uLnTx/>
                <a:uFillTx/>
                <a:latin typeface="+mn-lt"/>
                <a:ea typeface="+mn-ea"/>
                <a:cs typeface="+mn-cs"/>
              </a:rPr>
              <a:t>In today’s world of growing technology, and competing to get the best out of life, education, career, promotions etc. by whatever means, the child goes through Stress in keeping up catching up with his/her parents’ expectations in studies.  </a:t>
            </a:r>
            <a:endParaRPr kumimoji="0" lang="en-IN"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Study of suicidal cases, have shown that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600" b="1" i="0" u="none" strike="noStrike" kern="1200" cap="none" spc="0" normalizeH="0" baseline="0" noProof="0" dirty="0" smtClean="0">
                <a:ln>
                  <a:noFill/>
                </a:ln>
                <a:solidFill>
                  <a:schemeClr val="tx1"/>
                </a:solidFill>
                <a:effectLst/>
                <a:uLnTx/>
                <a:uFillTx/>
                <a:latin typeface="+mn-lt"/>
                <a:ea typeface="+mn-ea"/>
                <a:cs typeface="+mn-cs"/>
              </a:rPr>
              <a:t>	a/	Parental Maturity is lacking</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600" b="1" i="0" u="none" strike="noStrike" kern="1200" cap="none" spc="0" normalizeH="0" baseline="0" noProof="0" dirty="0" smtClean="0">
                <a:ln>
                  <a:noFill/>
                </a:ln>
                <a:solidFill>
                  <a:schemeClr val="tx1"/>
                </a:solidFill>
                <a:effectLst/>
                <a:uLnTx/>
                <a:uFillTx/>
                <a:latin typeface="+mn-lt"/>
                <a:ea typeface="+mn-ea"/>
                <a:cs typeface="+mn-cs"/>
              </a:rPr>
              <a:t>	b/	Expectations are high from parents – </a:t>
            </a:r>
            <a:r>
              <a:rPr kumimoji="0" lang="en-IN" sz="2600" b="1" i="0" u="none" strike="noStrike" kern="1200" cap="none" spc="0" normalizeH="0" baseline="0" noProof="0" dirty="0" err="1" smtClean="0">
                <a:ln>
                  <a:noFill/>
                </a:ln>
                <a:solidFill>
                  <a:schemeClr val="tx1"/>
                </a:solidFill>
                <a:effectLst/>
                <a:uLnTx/>
                <a:uFillTx/>
                <a:latin typeface="+mn-lt"/>
                <a:ea typeface="+mn-ea"/>
                <a:cs typeface="+mn-cs"/>
              </a:rPr>
              <a:t>Westism</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600" b="1" i="0" u="none" strike="noStrike" kern="1200" cap="none" spc="0" normalizeH="0" baseline="0" noProof="0" dirty="0" smtClean="0">
                <a:ln>
                  <a:noFill/>
                </a:ln>
                <a:solidFill>
                  <a:schemeClr val="tx1"/>
                </a:solidFill>
                <a:effectLst/>
                <a:uLnTx/>
                <a:uFillTx/>
                <a:latin typeface="+mn-lt"/>
                <a:ea typeface="+mn-ea"/>
                <a:cs typeface="+mn-cs"/>
              </a:rPr>
              <a:t>	c/	Comparing with other children, youth.</a:t>
            </a: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600" b="1" i="0" u="none" strike="noStrike" kern="1200" cap="none" spc="0" normalizeH="0" baseline="0" noProof="0" dirty="0" smtClean="0">
                <a:ln>
                  <a:noFill/>
                </a:ln>
                <a:solidFill>
                  <a:schemeClr val="tx1"/>
                </a:solidFill>
                <a:effectLst/>
                <a:uLnTx/>
                <a:uFillTx/>
                <a:latin typeface="+mn-lt"/>
                <a:ea typeface="+mn-ea"/>
                <a:cs typeface="+mn-cs"/>
              </a:rPr>
              <a:t>	d/	How to fail or lose gracefully.</a:t>
            </a:r>
            <a:endParaRPr kumimoji="0" lang="en-IN" sz="2600" b="1"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IN"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p:txBody>
          <a:bodyPr vert="horz" wrap="square" lIns="91440" tIns="45720" rIns="91440" bIns="91440" anchor="b" anchorCtr="0"/>
          <a:p>
            <a:pPr eaLnBrk="1" hangingPunct="1"/>
            <a:r>
              <a:rPr dirty="0">
                <a:latin typeface="Baskerville Old Face" panose="02020602080505020303" pitchFamily="18" charset="0"/>
              </a:rPr>
              <a:t>EDUCATIVE COUNSELLING </a:t>
            </a:r>
            <a:endParaRPr dirty="0">
              <a:latin typeface="Baskerville Old Face" panose="02020602080505020303" pitchFamily="18" charset="0"/>
            </a:endParaRPr>
          </a:p>
        </p:txBody>
      </p:sp>
      <p:sp>
        <p:nvSpPr>
          <p:cNvPr id="3" name="Content Placeholder 2"/>
          <p:cNvSpPr>
            <a:spLocks noGrp="1"/>
          </p:cNvSpPr>
          <p:nvPr>
            <p:ph sz="quarter" idx="1"/>
          </p:nvPr>
        </p:nvSpPr>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r>
              <a:rPr kumimoji="0" lang="en-IN" sz="2800" b="0" i="0" u="none" strike="noStrike" kern="1200" cap="none" spc="0" normalizeH="0" baseline="0" noProof="0" dirty="0" smtClean="0">
                <a:ln>
                  <a:noFill/>
                </a:ln>
                <a:solidFill>
                  <a:schemeClr val="tx1"/>
                </a:solidFill>
                <a:effectLst/>
                <a:uLnTx/>
                <a:uFillTx/>
                <a:latin typeface="+mn-lt"/>
                <a:ea typeface="+mn-ea"/>
                <a:cs typeface="+mn-cs"/>
              </a:rPr>
              <a:t>Organise  Seminars, Lectures, Workshops  about Suicide Awareness, Suicide Prevention, Counselling and Social Change, How to fail/lose gracefully; etc.,  </a:t>
            </a: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800" b="0" i="0" u="none" strike="noStrike" kern="1200" cap="none" spc="0" normalizeH="0" baseline="0" noProof="0" dirty="0" smtClean="0">
                <a:ln>
                  <a:noFill/>
                </a:ln>
                <a:solidFill>
                  <a:schemeClr val="tx1"/>
                </a:solidFill>
                <a:effectLst/>
                <a:uLnTx/>
                <a:uFillTx/>
                <a:latin typeface="+mn-lt"/>
                <a:ea typeface="+mn-ea"/>
                <a:cs typeface="+mn-cs"/>
              </a:rPr>
              <a:t>		a/	through   Lions, Alumni Assn Clubs etc. </a:t>
            </a: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800" b="0" i="0" u="none" strike="noStrike" kern="1200" cap="none" spc="0" normalizeH="0" baseline="0" noProof="0" dirty="0" smtClean="0">
                <a:ln>
                  <a:noFill/>
                </a:ln>
                <a:solidFill>
                  <a:schemeClr val="tx1"/>
                </a:solidFill>
                <a:effectLst/>
                <a:uLnTx/>
                <a:uFillTx/>
                <a:latin typeface="+mn-lt"/>
                <a:ea typeface="+mn-ea"/>
                <a:cs typeface="+mn-cs"/>
              </a:rPr>
              <a:t>		b/	through  Schools, Colleges, Orphanages</a:t>
            </a: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800" b="0" i="0" u="none" strike="noStrike" kern="1200" cap="none" spc="0" normalizeH="0" baseline="0" noProof="0" dirty="0" smtClean="0">
                <a:ln>
                  <a:noFill/>
                </a:ln>
                <a:solidFill>
                  <a:schemeClr val="tx1"/>
                </a:solidFill>
                <a:effectLst/>
                <a:uLnTx/>
                <a:uFillTx/>
                <a:latin typeface="+mn-lt"/>
                <a:ea typeface="+mn-ea"/>
                <a:cs typeface="+mn-cs"/>
              </a:rPr>
              <a:t>		c/	in  Churches, Youth Meetings, Children’s 		Bible School etc.,</a:t>
            </a: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800" b="0" i="0" u="none" strike="noStrike" kern="1200" cap="none" spc="0" normalizeH="0" baseline="0" noProof="0" dirty="0" smtClean="0">
                <a:ln>
                  <a:noFill/>
                </a:ln>
                <a:solidFill>
                  <a:schemeClr val="tx1"/>
                </a:solidFill>
                <a:effectLst/>
                <a:uLnTx/>
                <a:uFillTx/>
                <a:latin typeface="+mn-lt"/>
                <a:ea typeface="+mn-ea"/>
                <a:cs typeface="+mn-cs"/>
              </a:rPr>
              <a:t>		d/	</a:t>
            </a:r>
            <a:r>
              <a:rPr kumimoji="0" lang="en-IN" sz="2800" b="0" i="0" u="none" strike="noStrike" kern="1200" cap="none" spc="0" normalizeH="0" baseline="0" noProof="0" dirty="0" err="1" smtClean="0">
                <a:ln>
                  <a:noFill/>
                </a:ln>
                <a:solidFill>
                  <a:schemeClr val="tx1"/>
                </a:solidFill>
                <a:effectLst/>
                <a:uLnTx/>
                <a:uFillTx/>
                <a:latin typeface="+mn-lt"/>
                <a:ea typeface="+mn-ea"/>
                <a:cs typeface="+mn-cs"/>
              </a:rPr>
              <a:t>Rallys</a:t>
            </a:r>
            <a:r>
              <a:rPr kumimoji="0" lang="en-IN" sz="2800" b="0" i="0" u="none" strike="noStrike" kern="1200" cap="none" spc="0" normalizeH="0" baseline="0" noProof="0" dirty="0" smtClean="0">
                <a:ln>
                  <a:noFill/>
                </a:ln>
                <a:solidFill>
                  <a:schemeClr val="tx1"/>
                </a:solidFill>
                <a:effectLst/>
                <a:uLnTx/>
                <a:uFillTx/>
                <a:latin typeface="+mn-lt"/>
                <a:ea typeface="+mn-ea"/>
                <a:cs typeface="+mn-cs"/>
              </a:rPr>
              <a:t>, Walks, etc. Spreading awareness.</a:t>
            </a: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800" b="0" i="0" u="none" strike="noStrike" kern="1200" cap="none" spc="0" normalizeH="0" baseline="0" noProof="0" dirty="0" smtClean="0">
                <a:ln>
                  <a:noFill/>
                </a:ln>
                <a:solidFill>
                  <a:schemeClr val="tx1"/>
                </a:solidFill>
                <a:effectLst/>
                <a:uLnTx/>
                <a:uFillTx/>
                <a:latin typeface="+mn-lt"/>
                <a:ea typeface="+mn-ea"/>
                <a:cs typeface="+mn-cs"/>
              </a:rPr>
              <a:t>		e/	Distributing  Leaflets / Pamphlets</a:t>
            </a: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r>
              <a:rPr kumimoji="0" lang="en-IN" sz="2800" b="0" i="0" u="none" strike="noStrike" kern="1200" cap="none" spc="0" normalizeH="0" baseline="0" noProof="0" dirty="0" smtClean="0">
                <a:ln>
                  <a:noFill/>
                </a:ln>
                <a:solidFill>
                  <a:schemeClr val="tx1"/>
                </a:solidFill>
                <a:effectLst/>
                <a:uLnTx/>
                <a:uFillTx/>
                <a:latin typeface="+mn-lt"/>
                <a:ea typeface="+mn-ea"/>
                <a:cs typeface="+mn-cs"/>
              </a:rPr>
              <a:t>		f/	Through Emails/</a:t>
            </a:r>
            <a:r>
              <a:rPr kumimoji="0" lang="en-IN" sz="2800" b="0" i="0" u="none" strike="noStrike" kern="1200" cap="none" spc="0" normalizeH="0" baseline="0" noProof="0" dirty="0" err="1" smtClean="0">
                <a:ln>
                  <a:noFill/>
                </a:ln>
                <a:solidFill>
                  <a:schemeClr val="tx1"/>
                </a:solidFill>
                <a:effectLst/>
                <a:uLnTx/>
                <a:uFillTx/>
                <a:latin typeface="+mn-lt"/>
                <a:ea typeface="+mn-ea"/>
                <a:cs typeface="+mn-cs"/>
              </a:rPr>
              <a:t>Facebook</a:t>
            </a:r>
            <a:r>
              <a:rPr kumimoji="0" lang="en-IN" sz="2800" b="0" i="0" u="none" strike="noStrike" kern="1200" cap="none" spc="0" normalizeH="0" baseline="0" noProof="0" dirty="0" smtClean="0">
                <a:ln>
                  <a:noFill/>
                </a:ln>
                <a:solidFill>
                  <a:schemeClr val="tx1"/>
                </a:solidFill>
                <a:effectLst/>
                <a:uLnTx/>
                <a:uFillTx/>
                <a:latin typeface="+mn-lt"/>
                <a:ea typeface="+mn-ea"/>
                <a:cs typeface="+mn-cs"/>
              </a:rPr>
              <a:t>/ etc.</a:t>
            </a:r>
            <a:endParaRPr kumimoji="0" lang="en-IN"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p:txBody>
          <a:bodyPr vert="horz" wrap="square" lIns="91440" tIns="45720" rIns="91440" bIns="91440" anchor="b" anchorCtr="0"/>
          <a:p>
            <a:pPr eaLnBrk="1" hangingPunct="1"/>
            <a:r>
              <a:rPr dirty="0">
                <a:latin typeface="Baskerville Old Face" panose="02020602080505020303" pitchFamily="18" charset="0"/>
              </a:rPr>
              <a:t>SUPPORTIVE COUNSELLING </a:t>
            </a:r>
            <a:endParaRPr dirty="0">
              <a:latin typeface="Baskerville Old Face" panose="02020602080505020303" pitchFamily="18" charset="0"/>
            </a:endParaRPr>
          </a:p>
        </p:txBody>
      </p:sp>
      <p:sp>
        <p:nvSpPr>
          <p:cNvPr id="33795"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buNone/>
            </a:pPr>
            <a:r>
              <a:rPr dirty="0"/>
              <a:t>Family</a:t>
            </a:r>
            <a:endParaRPr dirty="0"/>
          </a:p>
          <a:p>
            <a:pPr eaLnBrk="1" hangingPunct="1">
              <a:buClr>
                <a:schemeClr val="accent1"/>
              </a:buClr>
              <a:buSzPct val="85000"/>
              <a:buFont typeface="Wingdings 2" panose="05020102010507070707" pitchFamily="18" charset="2"/>
              <a:buNone/>
            </a:pPr>
            <a:r>
              <a:rPr dirty="0"/>
              <a:t>2/	Teachers, Lecturers, Professors, Pastors, Youth Pastors etc.</a:t>
            </a:r>
            <a:endParaRPr dirty="0"/>
          </a:p>
          <a:p>
            <a:pPr eaLnBrk="1" hangingPunct="1">
              <a:buClr>
                <a:schemeClr val="accent1"/>
              </a:buClr>
              <a:buSzPct val="85000"/>
              <a:buFont typeface="Wingdings 2" panose="05020102010507070707" pitchFamily="18" charset="2"/>
              <a:buNone/>
            </a:pPr>
            <a:r>
              <a:rPr dirty="0"/>
              <a:t>3/	Peer Group Support and Counselling </a:t>
            </a:r>
            <a:endParaRPr dirty="0"/>
          </a:p>
          <a:p>
            <a:pPr eaLnBrk="1" hangingPunct="1">
              <a:buClr>
                <a:schemeClr val="accent1"/>
              </a:buClr>
              <a:buSzPct val="85000"/>
              <a:buFont typeface="Wingdings 2" panose="05020102010507070707" pitchFamily="18" charset="2"/>
              <a:buNone/>
            </a:pPr>
            <a:r>
              <a:rPr dirty="0"/>
              <a:t>		Those at the highest risk for committing suicide in the near future have a specific </a:t>
            </a:r>
            <a:r>
              <a:rPr b="1" dirty="0"/>
              <a:t>PLAN,</a:t>
            </a:r>
            <a:r>
              <a:rPr dirty="0"/>
              <a:t> the </a:t>
            </a:r>
            <a:r>
              <a:rPr b="1" dirty="0"/>
              <a:t>MEANS</a:t>
            </a:r>
            <a:r>
              <a:rPr dirty="0"/>
              <a:t> to carry out, a </a:t>
            </a:r>
            <a:r>
              <a:rPr b="1" dirty="0"/>
              <a:t>TIME SET </a:t>
            </a:r>
            <a:r>
              <a:rPr dirty="0"/>
              <a:t>for doing it,  and an </a:t>
            </a:r>
            <a:r>
              <a:rPr b="1" dirty="0"/>
              <a:t>INTENTION</a:t>
            </a:r>
            <a:r>
              <a:rPr dirty="0"/>
              <a:t> </a:t>
            </a:r>
            <a:r>
              <a:rPr b="1" dirty="0"/>
              <a:t>TO DO IT</a:t>
            </a:r>
            <a:r>
              <a:rPr dirty="0"/>
              <a:t>.</a:t>
            </a:r>
            <a:endParaRPr lang="en-IN" altLang="x-none" dirty="0"/>
          </a:p>
          <a:p>
            <a:pPr eaLnBrk="1" hangingPunct="1">
              <a:buClr>
                <a:schemeClr val="accent1"/>
              </a:buClr>
              <a:buSzPct val="85000"/>
              <a:buFont typeface="Wingdings 2" panose="05020102010507070707" pitchFamily="18" charset="2"/>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1"/>
          <p:cNvSpPr>
            <a:spLocks noGrp="1"/>
          </p:cNvSpPr>
          <p:nvPr>
            <p:ph type="title"/>
          </p:nvPr>
        </p:nvSpPr>
        <p:spPr/>
        <p:txBody>
          <a:bodyPr vert="horz" wrap="square" lIns="91440" tIns="45720" rIns="91440" bIns="91440" anchor="b" anchorCtr="0"/>
          <a:p>
            <a:pPr eaLnBrk="1" hangingPunct="1"/>
            <a:r>
              <a:rPr dirty="0">
                <a:latin typeface="Baskerville Old Face" panose="02020602080505020303" pitchFamily="18" charset="0"/>
              </a:rPr>
              <a:t>Re-constructive therapy</a:t>
            </a:r>
            <a:endParaRPr dirty="0">
              <a:latin typeface="Baskerville Old Face" panose="02020602080505020303" pitchFamily="18" charset="0"/>
            </a:endParaRPr>
          </a:p>
        </p:txBody>
      </p:sp>
      <p:sp>
        <p:nvSpPr>
          <p:cNvPr id="34819"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buNone/>
            </a:pPr>
            <a:r>
              <a:rPr dirty="0"/>
              <a:t>a/ Client Centered Counselling</a:t>
            </a:r>
            <a:endParaRPr dirty="0"/>
          </a:p>
          <a:p>
            <a:pPr eaLnBrk="1" hangingPunct="1">
              <a:buClr>
                <a:schemeClr val="accent1"/>
              </a:buClr>
              <a:buSzPct val="85000"/>
              <a:buFont typeface="Wingdings 2" panose="05020102010507070707" pitchFamily="18" charset="2"/>
              <a:buNone/>
            </a:pPr>
            <a:endParaRPr dirty="0"/>
          </a:p>
          <a:p>
            <a:pPr eaLnBrk="1" hangingPunct="1">
              <a:buClr>
                <a:schemeClr val="accent1"/>
              </a:buClr>
              <a:buSzPct val="85000"/>
              <a:buFont typeface="Wingdings 2" panose="05020102010507070707" pitchFamily="18" charset="2"/>
              <a:buNone/>
            </a:pPr>
            <a:r>
              <a:rPr dirty="0"/>
              <a:t>b/ REBT : The Rational Emotive Behaviour Therapy</a:t>
            </a:r>
            <a:endParaRPr dirty="0"/>
          </a:p>
          <a:p>
            <a:pPr eaLnBrk="1" hangingPunct="1">
              <a:buClr>
                <a:schemeClr val="accent1"/>
              </a:buClr>
              <a:buSzPct val="85000"/>
              <a:buFont typeface="Wingdings 2" panose="05020102010507070707" pitchFamily="18" charset="2"/>
              <a:buNone/>
            </a:pPr>
            <a:endParaRPr dirty="0"/>
          </a:p>
          <a:p>
            <a:pPr eaLnBrk="1" hangingPunct="1">
              <a:buClr>
                <a:schemeClr val="accent1"/>
              </a:buClr>
              <a:buSzPct val="85000"/>
              <a:buFont typeface="Wingdings 2" panose="05020102010507070707" pitchFamily="18" charset="2"/>
              <a:buNone/>
            </a:pPr>
            <a:r>
              <a:rPr dirty="0"/>
              <a:t>c/ MBTI : Myers &amp;: Briggs Type Indicator</a:t>
            </a:r>
            <a:endParaRPr dirty="0"/>
          </a:p>
          <a:p>
            <a:pPr eaLnBrk="1" hangingPunct="1">
              <a:buClr>
                <a:schemeClr val="accent1"/>
              </a:buClr>
              <a:buSzPct val="85000"/>
              <a:buFont typeface="Wingdings 2" panose="05020102010507070707" pitchFamily="18" charset="2"/>
              <a:buNone/>
            </a:pPr>
            <a:endParaRPr dirty="0"/>
          </a:p>
          <a:p>
            <a:pPr eaLnBrk="1" hangingPunct="1">
              <a:buClr>
                <a:schemeClr val="accent1"/>
              </a:buClr>
              <a:buSzPct val="85000"/>
              <a:buFont typeface="Wingdings 2" panose="05020102010507070707" pitchFamily="18" charset="2"/>
              <a:buNone/>
            </a:pPr>
            <a:r>
              <a:rPr dirty="0"/>
              <a:t>d/Forgiveness (Relaxation &amp; Imagery) therapy</a:t>
            </a:r>
            <a:endParaRPr dirty="0"/>
          </a:p>
          <a:p>
            <a:pPr eaLnBrk="1" hangingPunct="1">
              <a:buClr>
                <a:schemeClr val="accent1"/>
              </a:buClr>
              <a:buSzPct val="85000"/>
              <a:buFont typeface="Wingdings 2" panose="05020102010507070707" pitchFamily="18" charset="2"/>
              <a:buNone/>
            </a:pPr>
            <a:endParaRPr dirty="0"/>
          </a:p>
          <a:p>
            <a:pPr eaLnBrk="1" hangingPunct="1">
              <a:buClr>
                <a:schemeClr val="accent1"/>
              </a:buClr>
              <a:buSzPct val="85000"/>
              <a:buFont typeface="Wingdings 2" panose="05020102010507070707" pitchFamily="18" charset="2"/>
              <a:buNone/>
            </a:pPr>
            <a:r>
              <a:rPr dirty="0"/>
              <a:t>e/ The Gestalt method</a:t>
            </a:r>
            <a:endParaRPr lang="en-IN" altLang="x-none" dirty="0"/>
          </a:p>
          <a:p>
            <a:pPr eaLnBrk="1" hangingPunct="1">
              <a:buClr>
                <a:schemeClr val="accent1"/>
              </a:buClr>
              <a:buSzPct val="85000"/>
              <a:buFont typeface="Wingdings 2" panose="05020102010507070707" pitchFamily="18" charset="2"/>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1"/>
          <p:cNvSpPr>
            <a:spLocks noGrp="1"/>
          </p:cNvSpPr>
          <p:nvPr>
            <p:ph type="title"/>
          </p:nvPr>
        </p:nvSpPr>
        <p:spPr/>
        <p:txBody>
          <a:bodyPr vert="horz" wrap="square" lIns="91440" tIns="45720" rIns="91440" bIns="91440" anchor="b" anchorCtr="0"/>
          <a:p>
            <a:pPr eaLnBrk="1" hangingPunct="1"/>
            <a:r>
              <a:rPr dirty="0">
                <a:latin typeface="Baskerville Old Face" panose="02020602080505020303" pitchFamily="18" charset="0"/>
              </a:rPr>
              <a:t>ON A PHYSICAL LEVEL</a:t>
            </a:r>
            <a:endParaRPr dirty="0">
              <a:latin typeface="Baskerville Old Face" panose="02020602080505020303" pitchFamily="18" charset="0"/>
            </a:endParaRPr>
          </a:p>
        </p:txBody>
      </p:sp>
      <p:sp>
        <p:nvSpPr>
          <p:cNvPr id="35843"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dirty="0"/>
              <a:t>Take to someone every day even video call or meeting them</a:t>
            </a:r>
            <a:endParaRPr dirty="0"/>
          </a:p>
          <a:p>
            <a:pPr eaLnBrk="1" hangingPunct="1">
              <a:buClr>
                <a:schemeClr val="accent1"/>
              </a:buClr>
              <a:buSzPct val="85000"/>
              <a:buFont typeface="Wingdings 2" panose="05020102010507070707" pitchFamily="18" charset="2"/>
            </a:pPr>
            <a:r>
              <a:rPr dirty="0"/>
              <a:t>Make sure to have emergency contact numbers</a:t>
            </a:r>
            <a:endParaRPr dirty="0"/>
          </a:p>
          <a:p>
            <a:pPr eaLnBrk="1" hangingPunct="1">
              <a:buClr>
                <a:schemeClr val="accent1"/>
              </a:buClr>
              <a:buSzPct val="85000"/>
              <a:buFont typeface="Wingdings 2" panose="05020102010507070707" pitchFamily="18" charset="2"/>
            </a:pPr>
            <a:r>
              <a:rPr dirty="0"/>
              <a:t>Have a regular schedule for the day </a:t>
            </a:r>
            <a:endParaRPr dirty="0"/>
          </a:p>
          <a:p>
            <a:pPr eaLnBrk="1" hangingPunct="1">
              <a:buClr>
                <a:schemeClr val="accent1"/>
              </a:buClr>
              <a:buSzPct val="85000"/>
              <a:buFont typeface="Wingdings 2" panose="05020102010507070707" pitchFamily="18" charset="2"/>
            </a:pPr>
            <a:r>
              <a:rPr dirty="0"/>
              <a:t>Physical fitness and exercise a must to relieve stress and promote will being</a:t>
            </a:r>
            <a:endParaRPr dirty="0"/>
          </a:p>
          <a:p>
            <a:pPr eaLnBrk="1" hangingPunct="1">
              <a:buClr>
                <a:schemeClr val="accent1"/>
              </a:buClr>
              <a:buSzPct val="85000"/>
              <a:buFont typeface="Wingdings 2" panose="05020102010507070707" pitchFamily="18" charset="2"/>
            </a:pPr>
            <a:r>
              <a:rPr dirty="0"/>
              <a:t>Surround yourself with positive people and stay connected</a:t>
            </a:r>
            <a:endParaRPr dirty="0"/>
          </a:p>
          <a:p>
            <a:pPr eaLnBrk="1" hangingPunct="1">
              <a:buClr>
                <a:schemeClr val="accent1"/>
              </a:buClr>
              <a:buSzPct val="85000"/>
              <a:buFont typeface="Wingdings 2" panose="05020102010507070707" pitchFamily="18" charset="2"/>
            </a:pPr>
            <a:r>
              <a:rPr dirty="0"/>
              <a:t>Identify triggers that leave feeling of despair, depression </a:t>
            </a:r>
            <a:endParaRPr dirty="0"/>
          </a:p>
          <a:p>
            <a:pPr eaLnBrk="1" hangingPunct="1">
              <a:buClr>
                <a:schemeClr val="accent1"/>
              </a:buClr>
              <a:buSzPct val="85000"/>
              <a:buFont typeface="Wingdings 2" panose="05020102010507070707" pitchFamily="18" charset="2"/>
            </a:pPr>
            <a:r>
              <a:rPr dirty="0"/>
              <a:t>Which generate suicidal thoughts</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9144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smtClean="0">
                <a:ln>
                  <a:noFill/>
                </a:ln>
                <a:solidFill>
                  <a:schemeClr val="tx2"/>
                </a:solidFill>
                <a:effectLst/>
                <a:uLnTx/>
                <a:uFillTx/>
                <a:latin typeface="+mj-lt"/>
                <a:ea typeface="+mj-ea"/>
                <a:cs typeface="+mj-cs"/>
              </a:rPr>
              <a:t>PSYCHOLOGICAL AND EMOTIONAL LEVEL</a:t>
            </a:r>
            <a:endParaRPr kumimoji="0" lang="en-US"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36867"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dirty="0"/>
              <a:t>Identify things that bring you joy and happiness</a:t>
            </a:r>
            <a:endParaRPr dirty="0"/>
          </a:p>
          <a:p>
            <a:pPr eaLnBrk="1" hangingPunct="1">
              <a:buClr>
                <a:schemeClr val="accent1"/>
              </a:buClr>
              <a:buSzPct val="85000"/>
              <a:buFont typeface="Wingdings 2" panose="05020102010507070707" pitchFamily="18" charset="2"/>
            </a:pPr>
            <a:r>
              <a:rPr dirty="0"/>
              <a:t>Don’t forget your personal goals </a:t>
            </a:r>
            <a:endParaRPr dirty="0"/>
          </a:p>
          <a:p>
            <a:pPr eaLnBrk="1" hangingPunct="1">
              <a:buClr>
                <a:schemeClr val="accent1"/>
              </a:buClr>
              <a:buSzPct val="85000"/>
              <a:buFont typeface="Wingdings 2" panose="05020102010507070707" pitchFamily="18" charset="2"/>
            </a:pPr>
            <a:r>
              <a:rPr dirty="0"/>
              <a:t>Take time to meditate and relax an pray</a:t>
            </a:r>
            <a:endParaRPr dirty="0"/>
          </a:p>
          <a:p>
            <a:pPr eaLnBrk="1" hangingPunct="1">
              <a:buClr>
                <a:schemeClr val="accent1"/>
              </a:buClr>
              <a:buSzPct val="85000"/>
              <a:buFont typeface="Wingdings 2" panose="05020102010507070707" pitchFamily="18" charset="2"/>
            </a:pPr>
            <a:r>
              <a:rPr dirty="0"/>
              <a:t>Eat healthy food and sleep well</a:t>
            </a:r>
            <a:endParaRPr dirty="0"/>
          </a:p>
          <a:p>
            <a:pPr eaLnBrk="1" hangingPunct="1">
              <a:buClr>
                <a:schemeClr val="accent1"/>
              </a:buClr>
              <a:buSzPct val="85000"/>
              <a:buFont typeface="Wingdings 2" panose="05020102010507070707" pitchFamily="18" charset="2"/>
            </a:pPr>
            <a:r>
              <a:rPr dirty="0"/>
              <a:t>Develop new activities and new hobbies</a:t>
            </a:r>
            <a:endParaRPr dirty="0"/>
          </a:p>
          <a:p>
            <a:pPr eaLnBrk="1" hangingPunct="1">
              <a:buClr>
                <a:schemeClr val="accent1"/>
              </a:buClr>
              <a:buSzPct val="85000"/>
              <a:buFont typeface="Wingdings 2" panose="05020102010507070707" pitchFamily="18" charset="2"/>
              <a:buNone/>
            </a:pP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1"/>
          <p:cNvSpPr>
            <a:spLocks noGrp="1"/>
          </p:cNvSpPr>
          <p:nvPr>
            <p:ph type="title"/>
          </p:nvPr>
        </p:nvSpPr>
        <p:spPr/>
        <p:txBody>
          <a:bodyPr vert="horz" wrap="square" lIns="91440" tIns="45720" rIns="91440" bIns="91440" anchor="b" anchorCtr="0"/>
          <a:p>
            <a:pPr eaLnBrk="1" hangingPunct="1"/>
            <a:r>
              <a:rPr dirty="0"/>
              <a:t>AVOID</a:t>
            </a:r>
            <a:endParaRPr dirty="0"/>
          </a:p>
        </p:txBody>
      </p:sp>
      <p:sp>
        <p:nvSpPr>
          <p:cNvPr id="37891"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dirty="0"/>
              <a:t>Being alone </a:t>
            </a:r>
            <a:endParaRPr dirty="0"/>
          </a:p>
          <a:p>
            <a:pPr eaLnBrk="1" hangingPunct="1">
              <a:buClr>
                <a:schemeClr val="accent1"/>
              </a:buClr>
              <a:buSzPct val="85000"/>
              <a:buFont typeface="Wingdings 2" panose="05020102010507070707" pitchFamily="18" charset="2"/>
            </a:pPr>
            <a:r>
              <a:rPr dirty="0"/>
              <a:t>Doing things that make you feel worst</a:t>
            </a:r>
            <a:endParaRPr dirty="0"/>
          </a:p>
          <a:p>
            <a:pPr eaLnBrk="1" hangingPunct="1">
              <a:buClr>
                <a:schemeClr val="accent1"/>
              </a:buClr>
              <a:buSzPct val="85000"/>
              <a:buFont typeface="Wingdings 2" panose="05020102010507070707" pitchFamily="18" charset="2"/>
            </a:pPr>
            <a:r>
              <a:rPr dirty="0"/>
              <a:t>Consuming alcohol and drugs</a:t>
            </a:r>
            <a:endParaRPr dirty="0"/>
          </a:p>
          <a:p>
            <a:pPr eaLnBrk="1" hangingPunct="1">
              <a:buClr>
                <a:schemeClr val="accent1"/>
              </a:buClr>
              <a:buSzPct val="85000"/>
              <a:buFont typeface="Wingdings 2" panose="05020102010507070707" pitchFamily="18" charset="2"/>
            </a:pPr>
            <a:r>
              <a:rPr dirty="0"/>
              <a:t>Entertaining negative thoughts of suicide </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‘Passing Through ‘</a:t>
            </a:r>
            <a:br>
              <a:rPr kumimoji="0" lang="en-US" sz="4000" b="0"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br>
            <a:r>
              <a:rPr kumimoji="0" lang="en-US" sz="1600" b="0"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from</a:t>
            </a:r>
            <a:r>
              <a:rPr kumimoji="0" lang="en-US" sz="4000" b="0"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 </a:t>
            </a:r>
            <a:r>
              <a:rPr kumimoji="0" lang="en-US" sz="2200" b="0" i="0" u="none" strike="noStrike" kern="1200" cap="none" spc="0" normalizeH="0" baseline="0" noProof="0" dirty="0" smtClean="0">
                <a:ln>
                  <a:noFill/>
                </a:ln>
                <a:solidFill>
                  <a:schemeClr val="tx2"/>
                </a:solidFill>
                <a:effectLst/>
                <a:uLnTx/>
                <a:uFillTx/>
                <a:latin typeface="Baskerville Old Face" panose="02020602080505020303" pitchFamily="18" charset="0"/>
                <a:ea typeface="+mj-ea"/>
                <a:cs typeface="+mj-cs"/>
              </a:rPr>
              <a:t>The Song of the Bird. by Anthony de Mello S.J.</a:t>
            </a:r>
            <a:endParaRPr kumimoji="0" lang="en-US" sz="2200" b="0" i="0" u="none" strike="noStrike" kern="1200" cap="none" spc="0" normalizeH="0" baseline="0" noProof="0" dirty="0">
              <a:ln>
                <a:noFill/>
              </a:ln>
              <a:solidFill>
                <a:schemeClr val="tx2"/>
              </a:solidFill>
              <a:effectLst/>
              <a:uLnTx/>
              <a:uFillTx/>
              <a:latin typeface="Baskerville Old Face" panose="02020602080505020303" pitchFamily="18" charset="0"/>
              <a:ea typeface="+mj-ea"/>
              <a:cs typeface="+mj-cs"/>
            </a:endParaRPr>
          </a:p>
        </p:txBody>
      </p:sp>
      <p:sp>
        <p:nvSpPr>
          <p:cNvPr id="38915"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r>
              <a:rPr dirty="0"/>
              <a:t>In the last century a tourist from the States visited the famous Polish rabbi, Hofetz Chaim. </a:t>
            </a:r>
            <a:endParaRPr dirty="0"/>
          </a:p>
          <a:p>
            <a:pPr eaLnBrk="1" hangingPunct="1">
              <a:buClr>
                <a:schemeClr val="accent1"/>
              </a:buClr>
              <a:buSzPct val="85000"/>
              <a:buFont typeface="Wingdings 2" panose="05020102010507070707" pitchFamily="18" charset="2"/>
            </a:pPr>
            <a:r>
              <a:rPr dirty="0"/>
              <a:t>He was astonished to see that the rabbi’s home was only a simple room filled with books.  The only furniture was a table and a bench.</a:t>
            </a:r>
            <a:endParaRPr dirty="0"/>
          </a:p>
          <a:p>
            <a:pPr eaLnBrk="1" hangingPunct="1">
              <a:buClr>
                <a:schemeClr val="accent1"/>
              </a:buClr>
              <a:buSzPct val="85000"/>
              <a:buFont typeface="Wingdings 2" panose="05020102010507070707" pitchFamily="18" charset="2"/>
            </a:pPr>
            <a:r>
              <a:rPr dirty="0"/>
              <a:t>“Rabbi, where is your furniture?” asked the tourist.</a:t>
            </a:r>
            <a:endParaRPr dirty="0"/>
          </a:p>
          <a:p>
            <a:pPr eaLnBrk="1" hangingPunct="1">
              <a:buClr>
                <a:schemeClr val="accent1"/>
              </a:buClr>
              <a:buSzPct val="85000"/>
              <a:buFont typeface="Wingdings 2" panose="05020102010507070707" pitchFamily="18" charset="2"/>
            </a:pPr>
            <a:r>
              <a:rPr dirty="0"/>
              <a:t>“Where is yours ?” said  Hofetz</a:t>
            </a:r>
            <a:endParaRPr dirty="0"/>
          </a:p>
          <a:p>
            <a:pPr eaLnBrk="1" hangingPunct="1">
              <a:buClr>
                <a:schemeClr val="accent1"/>
              </a:buClr>
              <a:buSzPct val="85000"/>
              <a:buFont typeface="Wingdings 2" panose="05020102010507070707" pitchFamily="18" charset="2"/>
            </a:pPr>
            <a:r>
              <a:rPr dirty="0"/>
              <a:t>“Mine ? But I’m passing through.  I’m only a visitor here.”</a:t>
            </a:r>
            <a:endParaRPr dirty="0"/>
          </a:p>
          <a:p>
            <a:pPr eaLnBrk="1" hangingPunct="1">
              <a:buClr>
                <a:schemeClr val="accent1"/>
              </a:buClr>
              <a:buSzPct val="85000"/>
              <a:buFont typeface="Wingdings 2" panose="05020102010507070707" pitchFamily="18" charset="2"/>
            </a:pPr>
            <a:r>
              <a:rPr dirty="0"/>
              <a:t>“So am I “. </a:t>
            </a:r>
            <a:endParaRPr lang="en-IN" altLang="x-none" dirty="0"/>
          </a:p>
          <a:p>
            <a:pPr algn="ctr" eaLnBrk="1" hangingPunct="1">
              <a:buClr>
                <a:schemeClr val="accent1"/>
              </a:buClr>
              <a:buSzPct val="85000"/>
              <a:buFont typeface="Wingdings 2" panose="05020102010507070707" pitchFamily="18" charset="2"/>
            </a:pPr>
            <a:r>
              <a:rPr dirty="0"/>
              <a:t>+++++++</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600" y="228600"/>
            <a:ext cx="7696200" cy="1189038"/>
          </a:xfrm>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r>
              <a:rPr kumimoji="0" lang="en-GB" sz="2700" b="1" i="0" u="none" strike="noStrike" kern="1200" cap="none" spc="0" normalizeH="0" baseline="0" noProof="0" dirty="0" smtClean="0">
                <a:ln>
                  <a:noFill/>
                </a:ln>
                <a:solidFill>
                  <a:schemeClr val="tx2"/>
                </a:solidFill>
                <a:effectLst/>
                <a:uLnTx/>
                <a:uFillTx/>
                <a:latin typeface="+mj-lt"/>
                <a:ea typeface="+mj-ea"/>
                <a:cs typeface="+mj-cs"/>
              </a:rPr>
              <a:t>Tips for Resilience  </a:t>
            </a:r>
            <a:br>
              <a:rPr kumimoji="0" lang="en-GB" sz="2700" b="1" i="0" u="none" strike="noStrike" kern="1200" cap="none" spc="0" normalizeH="0" baseline="0" noProof="0" dirty="0" smtClean="0">
                <a:ln>
                  <a:noFill/>
                </a:ln>
                <a:solidFill>
                  <a:schemeClr val="tx2"/>
                </a:solidFill>
                <a:effectLst/>
                <a:uLnTx/>
                <a:uFillTx/>
                <a:latin typeface="+mj-lt"/>
                <a:ea typeface="+mj-ea"/>
                <a:cs typeface="+mj-cs"/>
              </a:rPr>
            </a:br>
            <a:r>
              <a:rPr kumimoji="0" lang="en-GB" sz="2700" b="1" i="0" u="none" strike="noStrike" kern="1200" cap="none" spc="0" normalizeH="0" baseline="0" noProof="0" dirty="0" smtClean="0">
                <a:ln>
                  <a:noFill/>
                </a:ln>
                <a:solidFill>
                  <a:schemeClr val="tx2"/>
                </a:solidFill>
                <a:effectLst/>
                <a:uLnTx/>
                <a:uFillTx/>
                <a:latin typeface="+mj-lt"/>
                <a:ea typeface="+mj-ea"/>
                <a:cs typeface="+mj-cs"/>
              </a:rPr>
              <a:t>by</a:t>
            </a:r>
            <a:br>
              <a:rPr kumimoji="0" lang="en-GB" sz="2700" b="1" i="0" u="none" strike="noStrike" kern="1200" cap="none" spc="0" normalizeH="0" baseline="0" noProof="0" dirty="0" smtClean="0">
                <a:ln>
                  <a:noFill/>
                </a:ln>
                <a:solidFill>
                  <a:schemeClr val="tx2"/>
                </a:solidFill>
                <a:effectLst/>
                <a:uLnTx/>
                <a:uFillTx/>
                <a:latin typeface="+mj-lt"/>
                <a:ea typeface="+mj-ea"/>
                <a:cs typeface="+mj-cs"/>
              </a:rPr>
            </a:br>
            <a:r>
              <a:rPr kumimoji="0" lang="en-GB" sz="2700" b="1" i="0" u="none" strike="noStrike" kern="1200" cap="none" spc="0" normalizeH="0" baseline="0" noProof="0" dirty="0" smtClean="0">
                <a:ln>
                  <a:noFill/>
                </a:ln>
                <a:solidFill>
                  <a:schemeClr val="tx2"/>
                </a:solidFill>
                <a:effectLst/>
                <a:uLnTx/>
                <a:uFillTx/>
                <a:latin typeface="+mj-lt"/>
                <a:ea typeface="+mj-ea"/>
                <a:cs typeface="+mj-cs"/>
              </a:rPr>
              <a:t>Dr. BJ </a:t>
            </a:r>
            <a:r>
              <a:rPr kumimoji="0" lang="en-GB" sz="2700" b="1" i="0" u="none" strike="noStrike" kern="1200" cap="none" spc="0" normalizeH="0" baseline="0" noProof="0" dirty="0" err="1" smtClean="0">
                <a:ln>
                  <a:noFill/>
                </a:ln>
                <a:solidFill>
                  <a:schemeClr val="tx2"/>
                </a:solidFill>
                <a:effectLst/>
                <a:uLnTx/>
                <a:uFillTx/>
                <a:latin typeface="+mj-lt"/>
                <a:ea typeface="+mj-ea"/>
                <a:cs typeface="+mj-cs"/>
              </a:rPr>
              <a:t>Prashantham</a:t>
            </a:r>
            <a:r>
              <a:rPr kumimoji="0" lang="en-GB" sz="2700" b="1" i="0" u="none" strike="noStrike" kern="1200" cap="none" spc="0" normalizeH="0" baseline="0" noProof="0" dirty="0" smtClean="0">
                <a:ln>
                  <a:noFill/>
                </a:ln>
                <a:solidFill>
                  <a:schemeClr val="tx2"/>
                </a:solidFill>
                <a:effectLst/>
                <a:uLnTx/>
                <a:uFillTx/>
                <a:latin typeface="+mj-lt"/>
                <a:ea typeface="+mj-ea"/>
                <a:cs typeface="+mj-cs"/>
              </a:rPr>
              <a:t> from his paper on ‘Tomatoes or Tennis balls’</a:t>
            </a:r>
            <a:br>
              <a:rPr kumimoji="0" lang="en-US" sz="4000" b="0" i="0" u="none" strike="noStrike" kern="1200" cap="none" spc="0" normalizeH="0" baseline="0" noProof="0" dirty="0" smtClean="0">
                <a:ln>
                  <a:noFill/>
                </a:ln>
                <a:solidFill>
                  <a:schemeClr val="tx2"/>
                </a:solidFill>
                <a:effectLst/>
                <a:uLnTx/>
                <a:uFillTx/>
                <a:latin typeface="+mj-lt"/>
                <a:ea typeface="+mj-ea"/>
                <a:cs typeface="+mj-cs"/>
              </a:rPr>
            </a:br>
            <a:r>
              <a:rPr kumimoji="0" lang="en-GB" sz="4000" b="1" i="0" u="none" strike="noStrike" kern="1200" cap="none" spc="0" normalizeH="0" baseline="0" noProof="0" dirty="0" smtClean="0">
                <a:ln>
                  <a:noFill/>
                </a:ln>
                <a:solidFill>
                  <a:schemeClr val="tx2"/>
                </a:solidFill>
                <a:effectLst/>
                <a:uLnTx/>
                <a:uFillTx/>
                <a:latin typeface="+mj-lt"/>
                <a:ea typeface="+mj-ea"/>
                <a:cs typeface="+mj-cs"/>
              </a:rPr>
              <a:t> </a:t>
            </a: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US" sz="4000" b="0" i="0" u="none" strike="noStrike" kern="1200" cap="none" spc="0" normalizeH="0" baseline="0" noProof="0" dirty="0" smtClean="0">
                <a:ln>
                  <a:noFill/>
                </a:ln>
                <a:solidFill>
                  <a:schemeClr val="tx2"/>
                </a:solidFill>
                <a:effectLst/>
                <a:uLnTx/>
                <a:uFillTx/>
                <a:latin typeface="+mj-lt"/>
                <a:ea typeface="+mj-ea"/>
                <a:cs typeface="+mj-cs"/>
              </a:rPr>
            </a:br>
            <a:r>
              <a:rPr kumimoji="0" lang="en-GB" sz="4000" b="1" i="0" u="none" strike="noStrike" kern="1200" cap="none" spc="0" normalizeH="0" baseline="0" noProof="0" dirty="0" smtClean="0">
                <a:ln>
                  <a:noFill/>
                </a:ln>
                <a:solidFill>
                  <a:schemeClr val="tx2"/>
                </a:solidFill>
                <a:effectLst/>
                <a:uLnTx/>
                <a:uFillTx/>
                <a:latin typeface="+mj-lt"/>
                <a:ea typeface="+mj-ea"/>
                <a:cs typeface="+mj-cs"/>
              </a:rPr>
              <a:t> </a:t>
            </a: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r>
              <a:rPr kumimoji="0" lang="en-GB" sz="2700" b="1" i="0" u="none" strike="noStrike" kern="1200" cap="none" spc="0" normalizeH="0" baseline="0" noProof="0" dirty="0" smtClean="0">
                <a:ln>
                  <a:noFill/>
                </a:ln>
                <a:solidFill>
                  <a:schemeClr val="tx2"/>
                </a:solidFill>
                <a:effectLst/>
                <a:uLnTx/>
                <a:uFillTx/>
                <a:latin typeface="Algerian" panose="04020705040A02060702" pitchFamily="82" charset="0"/>
                <a:ea typeface="+mj-ea"/>
                <a:cs typeface="+mj-cs"/>
              </a:rPr>
              <a:t>Tips for Resilience  </a:t>
            </a:r>
            <a:br>
              <a:rPr kumimoji="0" lang="en-GB" sz="2200" b="1" i="0" u="none" strike="noStrike" kern="1200" cap="none" spc="0" normalizeH="0" baseline="0" noProof="0" dirty="0" smtClean="0">
                <a:ln>
                  <a:noFill/>
                </a:ln>
                <a:solidFill>
                  <a:schemeClr val="tx2"/>
                </a:solidFill>
                <a:effectLst/>
                <a:uLnTx/>
                <a:uFillTx/>
                <a:latin typeface="+mj-lt"/>
                <a:ea typeface="+mj-ea"/>
                <a:cs typeface="+mj-cs"/>
              </a:rPr>
            </a:br>
            <a:r>
              <a:rPr kumimoji="0" lang="en-GB" sz="2200" b="1" i="0" u="none" strike="noStrike" kern="1200" cap="none" spc="0" normalizeH="0" baseline="0" noProof="0" dirty="0" smtClean="0">
                <a:ln>
                  <a:noFill/>
                </a:ln>
                <a:solidFill>
                  <a:schemeClr val="tx2"/>
                </a:solidFill>
                <a:effectLst/>
                <a:uLnTx/>
                <a:uFillTx/>
                <a:latin typeface="+mj-lt"/>
                <a:ea typeface="+mj-ea"/>
                <a:cs typeface="+mj-cs"/>
              </a:rPr>
              <a:t>by</a:t>
            </a:r>
            <a:br>
              <a:rPr kumimoji="0" lang="en-GB" sz="2200" b="1" i="0" u="none" strike="noStrike" kern="1200" cap="none" spc="0" normalizeH="0" baseline="0" noProof="0" dirty="0" smtClean="0">
                <a:ln>
                  <a:noFill/>
                </a:ln>
                <a:solidFill>
                  <a:schemeClr val="tx2"/>
                </a:solidFill>
                <a:effectLst/>
                <a:uLnTx/>
                <a:uFillTx/>
                <a:latin typeface="+mj-lt"/>
                <a:ea typeface="+mj-ea"/>
                <a:cs typeface="+mj-cs"/>
              </a:rPr>
            </a:br>
            <a:r>
              <a:rPr kumimoji="0" lang="en-GB" sz="1800" b="1" i="0" u="none" strike="noStrike" kern="1200" cap="none" spc="0" normalizeH="0" baseline="0" noProof="0" dirty="0" smtClean="0">
                <a:ln>
                  <a:noFill/>
                </a:ln>
                <a:solidFill>
                  <a:schemeClr val="tx2"/>
                </a:solidFill>
                <a:effectLst/>
                <a:uLnTx/>
                <a:uFillTx/>
                <a:latin typeface="+mj-lt"/>
                <a:ea typeface="+mj-ea"/>
                <a:cs typeface="+mj-cs"/>
              </a:rPr>
              <a:t>Dr. BJ </a:t>
            </a:r>
            <a:r>
              <a:rPr kumimoji="0" lang="en-GB" sz="1800" b="1" i="0" u="none" strike="noStrike" kern="1200" cap="none" spc="0" normalizeH="0" baseline="0" noProof="0" dirty="0" err="1" smtClean="0">
                <a:ln>
                  <a:noFill/>
                </a:ln>
                <a:solidFill>
                  <a:schemeClr val="tx2"/>
                </a:solidFill>
                <a:effectLst/>
                <a:uLnTx/>
                <a:uFillTx/>
                <a:latin typeface="+mj-lt"/>
                <a:ea typeface="+mj-ea"/>
                <a:cs typeface="+mj-cs"/>
              </a:rPr>
              <a:t>Prashantham</a:t>
            </a:r>
            <a:r>
              <a:rPr kumimoji="0" lang="en-GB" sz="1800" b="1" i="0" u="none" strike="noStrike" kern="1200" cap="none" spc="0" normalizeH="0" baseline="0" noProof="0" dirty="0" smtClean="0">
                <a:ln>
                  <a:noFill/>
                </a:ln>
                <a:solidFill>
                  <a:schemeClr val="tx2"/>
                </a:solidFill>
                <a:effectLst/>
                <a:uLnTx/>
                <a:uFillTx/>
                <a:latin typeface="+mj-lt"/>
                <a:ea typeface="+mj-ea"/>
                <a:cs typeface="+mj-cs"/>
              </a:rPr>
              <a:t> from his paper on ‘Tomatoes or Tennis balls’</a:t>
            </a:r>
            <a:endParaRPr kumimoji="0" lang="en-US" sz="1800" b="0" i="0" u="none" strike="noStrike" kern="1200" cap="none" spc="0" normalizeH="0" baseline="0" noProof="0" dirty="0">
              <a:ln>
                <a:noFill/>
              </a:ln>
              <a:solidFill>
                <a:schemeClr val="tx2"/>
              </a:solidFill>
              <a:effectLst/>
              <a:uLnTx/>
              <a:uFillTx/>
              <a:latin typeface="+mj-lt"/>
              <a:ea typeface="+mj-ea"/>
              <a:cs typeface="+mj-cs"/>
            </a:endParaRPr>
          </a:p>
        </p:txBody>
      </p:sp>
      <p:sp>
        <p:nvSpPr>
          <p:cNvPr id="39939" name="Content Placeholder 2"/>
          <p:cNvSpPr>
            <a:spLocks noGrp="1"/>
          </p:cNvSpPr>
          <p:nvPr>
            <p:ph sz="quarter" idx="1"/>
          </p:nvPr>
        </p:nvSpPr>
        <p:spPr/>
        <p:txBody>
          <a:bodyPr vert="horz" wrap="square" lIns="91440" tIns="45720" rIns="91440" bIns="45720" anchor="t" anchorCtr="0"/>
          <a:p>
            <a:pPr eaLnBrk="1" hangingPunct="1">
              <a:buClr>
                <a:schemeClr val="accent1"/>
              </a:buClr>
              <a:buSzPct val="85000"/>
              <a:buFont typeface="Wingdings 2" panose="05020102010507070707" pitchFamily="18" charset="2"/>
            </a:pPr>
            <a:endParaRPr dirty="0"/>
          </a:p>
        </p:txBody>
      </p:sp>
      <p:sp>
        <p:nvSpPr>
          <p:cNvPr id="39940" name="Rectangle 3"/>
          <p:cNvSpPr/>
          <p:nvPr/>
        </p:nvSpPr>
        <p:spPr>
          <a:xfrm>
            <a:off x="914400" y="1295400"/>
            <a:ext cx="7848600" cy="5478463"/>
          </a:xfrm>
          <a:prstGeom prst="rect">
            <a:avLst/>
          </a:prstGeom>
          <a:noFill/>
          <a:ln w="9525">
            <a:noFill/>
          </a:ln>
        </p:spPr>
        <p:txBody>
          <a:bodyPr>
            <a:spAutoFit/>
          </a:bodyPr>
          <a:p>
            <a:endParaRPr lang="en-GB" altLang="x-none" b="1" dirty="0">
              <a:latin typeface="Perpetua" panose="02020502060401020303" charset="0"/>
            </a:endParaRPr>
          </a:p>
          <a:p>
            <a:r>
              <a:rPr lang="en-GB" altLang="x-none" b="1" dirty="0">
                <a:latin typeface="Perpetua" panose="02020502060401020303" charset="0"/>
              </a:rPr>
              <a:t>Five ways for us to become RESILIENT  in this time.</a:t>
            </a:r>
            <a:endParaRPr lang="en-GB" altLang="x-none" b="1" dirty="0">
              <a:latin typeface="Perpetua" panose="02020502060401020303" charset="0"/>
            </a:endParaRPr>
          </a:p>
          <a:p>
            <a:pPr lvl="1" eaLnBrk="1" hangingPunct="1">
              <a:buFont typeface="Wingdings" panose="05000000000000000000" pitchFamily="2" charset="2"/>
              <a:buChar char="Ø"/>
            </a:pPr>
            <a:r>
              <a:rPr lang="en-GB" altLang="x-none" sz="1600" b="1" u="sng" dirty="0">
                <a:latin typeface="Perpetua" panose="02020502060401020303" charset="0"/>
              </a:rPr>
              <a:t>Relate</a:t>
            </a:r>
            <a:endParaRPr lang="en-GB" altLang="x-none" sz="1600" b="1" u="sng" dirty="0">
              <a:latin typeface="Perpetua" panose="02020502060401020303" charset="0"/>
            </a:endParaRPr>
          </a:p>
          <a:p>
            <a:pPr lvl="1" eaLnBrk="1" hangingPunct="1">
              <a:buFont typeface="Wingdings" panose="05000000000000000000" pitchFamily="2" charset="2"/>
              <a:buChar char="Ø"/>
            </a:pPr>
            <a:r>
              <a:rPr lang="en-GB" altLang="x-none" sz="1600" b="1" u="sng" dirty="0">
                <a:latin typeface="Perpetua" panose="02020502060401020303" charset="0"/>
              </a:rPr>
              <a:t>Relax</a:t>
            </a:r>
            <a:endParaRPr lang="en-GB" altLang="x-none" sz="1600" b="1" u="sng" dirty="0">
              <a:latin typeface="Perpetua" panose="02020502060401020303" charset="0"/>
            </a:endParaRPr>
          </a:p>
          <a:p>
            <a:pPr lvl="1" eaLnBrk="1" hangingPunct="1">
              <a:buFont typeface="Wingdings" panose="05000000000000000000" pitchFamily="2" charset="2"/>
              <a:buChar char="Ø"/>
            </a:pPr>
            <a:r>
              <a:rPr lang="en-GB" altLang="x-none" sz="1600" b="1" u="sng" dirty="0">
                <a:latin typeface="Perpetua" panose="02020502060401020303" charset="0"/>
              </a:rPr>
              <a:t>Review</a:t>
            </a:r>
            <a:endParaRPr lang="en-GB" altLang="x-none" sz="1600" b="1" u="sng" dirty="0">
              <a:latin typeface="Perpetua" panose="02020502060401020303" charset="0"/>
            </a:endParaRPr>
          </a:p>
          <a:p>
            <a:pPr lvl="1" eaLnBrk="1" hangingPunct="1">
              <a:buFont typeface="Wingdings" panose="05000000000000000000" pitchFamily="2" charset="2"/>
              <a:buChar char="Ø"/>
            </a:pPr>
            <a:r>
              <a:rPr lang="en-GB" altLang="x-none" sz="1600" b="1" u="sng" dirty="0">
                <a:latin typeface="Perpetua" panose="02020502060401020303" charset="0"/>
              </a:rPr>
              <a:t>Routinize</a:t>
            </a:r>
            <a:endParaRPr lang="en-GB" altLang="x-none" sz="1600" b="1" u="sng" dirty="0">
              <a:latin typeface="Perpetua" panose="02020502060401020303" charset="0"/>
            </a:endParaRPr>
          </a:p>
          <a:p>
            <a:pPr lvl="1" eaLnBrk="1" hangingPunct="1">
              <a:buFont typeface="Wingdings" panose="05000000000000000000" pitchFamily="2" charset="2"/>
              <a:buChar char="Ø"/>
            </a:pPr>
            <a:r>
              <a:rPr lang="en-GB" altLang="x-none" sz="1600" b="1" u="sng" dirty="0">
                <a:latin typeface="Perpetua" panose="02020502060401020303" charset="0"/>
              </a:rPr>
              <a:t>Rebound</a:t>
            </a:r>
            <a:endParaRPr lang="en-GB" altLang="x-none" sz="1600" b="1" u="sng" dirty="0">
              <a:latin typeface="Perpetua" panose="02020502060401020303" charset="0"/>
            </a:endParaRPr>
          </a:p>
          <a:p>
            <a:endParaRPr lang="en-GB" altLang="x-none" b="1" dirty="0">
              <a:latin typeface="Perpetua" panose="02020502060401020303" charset="0"/>
            </a:endParaRPr>
          </a:p>
          <a:p>
            <a:r>
              <a:rPr lang="en-GB" altLang="x-none" b="1" dirty="0">
                <a:latin typeface="Perpetua" panose="02020502060401020303" charset="0"/>
              </a:rPr>
              <a:t>The Principles  are in simple language which have much support in the Psychological literature. </a:t>
            </a:r>
            <a:endParaRPr b="1" dirty="0">
              <a:latin typeface="Perpetua" panose="02020502060401020303" charset="0"/>
            </a:endParaRPr>
          </a:p>
          <a:p>
            <a:endParaRPr lang="en-GB" altLang="x-none" b="1" dirty="0">
              <a:latin typeface="Perpetua" panose="02020502060401020303" charset="0"/>
            </a:endParaRPr>
          </a:p>
          <a:p>
            <a:r>
              <a:rPr lang="en-GB" altLang="x-none" b="1" u="sng" dirty="0">
                <a:latin typeface="Perpetua" panose="02020502060401020303" charset="0"/>
              </a:rPr>
              <a:t>Relate. </a:t>
            </a:r>
            <a:r>
              <a:rPr lang="en-GB" altLang="x-none" b="1" dirty="0">
                <a:latin typeface="Perpetua" panose="02020502060401020303" charset="0"/>
              </a:rPr>
              <a:t>The first is ‘relate’. This means share your thoughts, feelings, actions,reactions, and choices of how you cope, with someone near you, like a family member or a friend. </a:t>
            </a:r>
            <a:endParaRPr lang="en-GB" altLang="x-none" b="1" dirty="0">
              <a:latin typeface="Perpetua" panose="02020502060401020303" charset="0"/>
            </a:endParaRPr>
          </a:p>
          <a:p>
            <a:r>
              <a:rPr lang="en-GB" altLang="x-none" b="1" dirty="0">
                <a:latin typeface="Perpetua" panose="02020502060401020303" charset="0"/>
              </a:rPr>
              <a:t>If for some reason that is not easily possible, write it down in great detail. Research has found that writing generally can also help us to express. </a:t>
            </a:r>
            <a:endParaRPr lang="en-GB" altLang="x-none" b="1" dirty="0">
              <a:latin typeface="Perpetua" panose="02020502060401020303" charset="0"/>
            </a:endParaRPr>
          </a:p>
          <a:p>
            <a:r>
              <a:rPr lang="en-GB" altLang="x-none" b="1" dirty="0">
                <a:latin typeface="Perpetua" panose="02020502060401020303" charset="0"/>
              </a:rPr>
              <a:t>Do it daily for the next one month, expressing real feelings freely, and see how you will feel. Possibly better. Many found it to be so.</a:t>
            </a:r>
            <a:endParaRPr lang="en-GB" altLang="x-none" b="1" dirty="0">
              <a:latin typeface="Perpetua" panose="02020502060401020303" charset="0"/>
            </a:endParaRPr>
          </a:p>
          <a:p>
            <a:r>
              <a:rPr lang="en-GB" altLang="x-none" b="1" dirty="0">
                <a:latin typeface="Perpetua" panose="02020502060401020303" charset="0"/>
              </a:rPr>
              <a:t>(See also the PP on Mental Strength)</a:t>
            </a:r>
            <a:endParaRPr b="1" dirty="0">
              <a:latin typeface="Perpetua" panose="02020502060401020303" charset="0"/>
            </a:endParaRPr>
          </a:p>
          <a:p>
            <a:endParaRPr lang="en-GB" altLang="x-none" b="1" dirty="0">
              <a:latin typeface="Perpetua" panose="02020502060401020303"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0</TotalTime>
  <Words>13719</Words>
  <Application>WPS Presentation</Application>
  <PresentationFormat>On-screen Show (4:3)</PresentationFormat>
  <Paragraphs>376</Paragraphs>
  <Slides>34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34</vt:i4>
      </vt:variant>
    </vt:vector>
  </HeadingPairs>
  <TitlesOfParts>
    <vt:vector size="49" baseType="lpstr">
      <vt:lpstr>Arial</vt:lpstr>
      <vt:lpstr>SimSun</vt:lpstr>
      <vt:lpstr>Wingdings</vt:lpstr>
      <vt:lpstr>Franklin Gothic Book</vt:lpstr>
      <vt:lpstr>Wingdings 2</vt:lpstr>
      <vt:lpstr>Calibri</vt:lpstr>
      <vt:lpstr>Wingdings 2</vt:lpstr>
      <vt:lpstr>Baskerville Old Face</vt:lpstr>
      <vt:lpstr>Perpetua</vt:lpstr>
      <vt:lpstr>Microsoft YaHei</vt:lpstr>
      <vt:lpstr>Arial Unicode MS</vt:lpstr>
      <vt:lpstr>Engravers MT</vt:lpstr>
      <vt:lpstr>Times New Roman</vt:lpstr>
      <vt:lpstr>Algerian</vt:lpstr>
      <vt:lpstr>Equity</vt:lpstr>
      <vt:lpstr>'THE INNER MAN'</vt:lpstr>
      <vt:lpstr>The Inner Man by (Late) Rev. Dr. Henry Joseph </vt:lpstr>
      <vt:lpstr>THE INNER MAN  by (Late) Rev. Dr. Henry Joseph </vt:lpstr>
      <vt:lpstr>The spirit </vt:lpstr>
      <vt:lpstr>The soul &amp; the body</vt:lpstr>
      <vt:lpstr>2.0	INJURY  causes  :</vt:lpstr>
      <vt:lpstr>2.2	Psychological, emotional, mental Scars  (Inner )</vt:lpstr>
      <vt:lpstr>2.2	Psychological, emotional, mental Scars  (Inner )</vt:lpstr>
      <vt:lpstr>3.0	INTERVENTION / REMEDIES / CHRISTIAN COUNSELLING</vt:lpstr>
      <vt:lpstr>HOW TO MANAGE WHILE EXPERIENCING A FLASHBACK  :</vt:lpstr>
      <vt:lpstr>HOW TO MANAGE WHILE EXPERIENCING A FLASHBACK :2</vt:lpstr>
      <vt:lpstr>STRENGTHENING  THE SPIRIT MAN</vt:lpstr>
      <vt:lpstr>SPIRITUAL DISTRESS </vt:lpstr>
      <vt:lpstr>BIBLE VERSES FOR READY REFERENCE FOR THOSE SUFFERING FROM  FLASHBACKS/TRIGGER POINTS/ PTSD/ DEPRESSIONS/ TRAUMA IN LIFE </vt:lpstr>
      <vt:lpstr>More Bible verses …….</vt:lpstr>
      <vt:lpstr>Cont’d……</vt:lpstr>
      <vt:lpstr>PowerPoint 演示文稿</vt:lpstr>
      <vt:lpstr>PowerPoint 演示文稿</vt:lpstr>
      <vt:lpstr>SUICIDal thoughts</vt:lpstr>
      <vt:lpstr>Some common misconceptions  about Suicide </vt:lpstr>
      <vt:lpstr>Methods </vt:lpstr>
      <vt:lpstr> Warnings  :    by  Dr. B.J. Prashantham </vt:lpstr>
      <vt:lpstr>HOW TO IDENTIFY THE CLUES</vt:lpstr>
      <vt:lpstr>HOW TO IDENTIFY THE CLUE …p/2</vt:lpstr>
      <vt:lpstr>HOW TO IDENTIFY THE CLUES p/3</vt:lpstr>
      <vt:lpstr>COUNSELLING THE SUICIDAL</vt:lpstr>
      <vt:lpstr>EDUCATIVE COUNSELLING </vt:lpstr>
      <vt:lpstr>SUPPORTIVE COUNSELLING </vt:lpstr>
      <vt:lpstr>Re-constructive therapy</vt:lpstr>
      <vt:lpstr>ON A PHYSICAL LEVEL</vt:lpstr>
      <vt:lpstr>PSYCHOLOGICAL AND EMOTIONAL LEVEL</vt:lpstr>
      <vt:lpstr>AVOID</vt:lpstr>
      <vt:lpstr>‘Passing Through ‘ from The Song of the Bird. by Anthony de Mello S.J.</vt:lpstr>
      <vt:lpstr>     Tips for Resilience   by Dr. BJ Prashantham from his paper on ‘Tomatoes or Tennis balls’                Tips for Resilience   by Dr. BJ Prashantham from his paper on ‘Tomatoes or Tennis balls’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INNER MAN'</dc:title>
  <dc:creator>india</dc:creator>
  <cp:lastModifiedBy>india</cp:lastModifiedBy>
  <cp:revision>32</cp:revision>
  <dcterms:created xsi:type="dcterms:W3CDTF">2020-06-30T17:47:00Z</dcterms:created>
  <dcterms:modified xsi:type="dcterms:W3CDTF">2026-01-20T07:12:36Z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5179D1EFC4DE4C949C771364AFA47695_13</vt:lpwstr>
  </property>
  <property fmtid="{D5CDD505-2E9C-101B-9397-08002B2CF9AE}" pid="3" name="KSOProductBuildVer">
    <vt:lpwstr>1033-12.2.0.23196</vt:lpwstr>
  </property>
</Properties>
</file>