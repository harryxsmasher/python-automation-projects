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94" r:id="rId4"/>
    <p:sldId id="295" r:id="rId5"/>
    <p:sldId id="262" r:id="rId6"/>
    <p:sldId id="263" r:id="rId7"/>
    <p:sldId id="266" r:id="rId8"/>
    <p:sldId id="268" r:id="rId9"/>
    <p:sldId id="280" r:id="rId10"/>
    <p:sldId id="281" r:id="rId12"/>
    <p:sldId id="282" r:id="rId13"/>
    <p:sldId id="283" r:id="rId14"/>
    <p:sldId id="284" r:id="rId15"/>
    <p:sldId id="285" r:id="rId16"/>
    <p:sldId id="286" r:id="rId17"/>
    <p:sldId id="275" r:id="rId18"/>
    <p:sldId id="274" r:id="rId19"/>
    <p:sldId id="272" r:id="rId20"/>
    <p:sldId id="273" r:id="rId21"/>
    <p:sldId id="270" r:id="rId22"/>
    <p:sldId id="287" r:id="rId23"/>
    <p:sldId id="28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7" autoAdjust="0"/>
    <p:restoredTop sz="76165" autoAdjust="0"/>
  </p:normalViewPr>
  <p:slideViewPr>
    <p:cSldViewPr showGuides="1">
      <p:cViewPr varScale="1">
        <p:scale>
          <a:sx n="53" d="100"/>
          <a:sy n="53" d="100"/>
        </p:scale>
        <p:origin x="-1812" y="-96"/>
      </p:cViewPr>
      <p:guideLst>
        <p:guide orient="horz" pos="2160"/>
        <p:guide pos="2880"/>
      </p:guideLst>
    </p:cSldViewPr>
  </p:slideViewPr>
  <p:outlineViewPr>
    <p:cViewPr>
      <p:scale>
        <a:sx n="33" d="100"/>
        <a:sy n="33" d="100"/>
      </p:scale>
      <p:origin x="36"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B1A851-E433-408B-8815-6B9F930E2910}" type="datetimeFigureOut">
              <a:rPr lang="en-US" smtClean="0"/>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376951-453D-475E-A773-C1674DC1BA8D}"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98376951-453D-475E-A773-C1674DC1BA8D}"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A7C89579-D945-446B-ABCF-3A3C52FD1AE6}" type="datetimeFigureOut">
              <a:rPr lang="en-US" smtClean="0"/>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7142667-09B7-4D62-8703-8B08F0FC5F3D}" type="slidenum">
              <a:rPr lang="en-IN" smtClean="0"/>
            </a:fld>
            <a:endParaRPr lang="en-IN"/>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7C89579-D945-446B-ABCF-3A3C52FD1AE6}"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fld id="{37142667-09B7-4D62-8703-8B08F0FC5F3D}" type="slidenum">
              <a:rPr lang="en-IN" smtClean="0"/>
            </a:fld>
            <a:endParaRPr lang="en-IN"/>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A7C89579-D945-446B-ABCF-3A3C52FD1AE6}" type="datetimeFigureOut">
              <a:rPr lang="en-US" smtClean="0"/>
            </a:fld>
            <a:endParaRPr lang="en-IN"/>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7142667-09B7-4D62-8703-8B08F0FC5F3D}" type="slidenum">
              <a:rPr lang="en-IN" smtClean="0"/>
            </a:fld>
            <a:endParaRPr lang="en-IN"/>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A7C89579-D945-446B-ABCF-3A3C52FD1AE6}"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142667-09B7-4D62-8703-8B08F0FC5F3D}" type="slidenum">
              <a:rPr lang="en-IN" smtClean="0"/>
            </a:fld>
            <a:endParaRPr lang="en-IN"/>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A7C89579-D945-446B-ABCF-3A3C52FD1AE6}" type="datetimeFigureOut">
              <a:rPr lang="en-US" smtClean="0"/>
            </a:fld>
            <a:endParaRPr lang="en-IN"/>
          </a:p>
        </p:txBody>
      </p:sp>
      <p:sp>
        <p:nvSpPr>
          <p:cNvPr id="8" name="Footer Placeholder 7"/>
          <p:cNvSpPr>
            <a:spLocks noGrp="1"/>
          </p:cNvSpPr>
          <p:nvPr>
            <p:ph type="ftr" sz="quarter" idx="11"/>
          </p:nvPr>
        </p:nvSpPr>
        <p:spPr>
          <a:xfrm>
            <a:off x="304800" y="6409944"/>
            <a:ext cx="3581400" cy="365760"/>
          </a:xfrm>
        </p:spPr>
        <p:txBody>
          <a:bodyPr/>
          <a:lstStyle/>
          <a:p>
            <a:endParaRPr lang="en-IN"/>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37142667-09B7-4D62-8703-8B08F0FC5F3D}" type="slidenum">
              <a:rPr lang="en-IN" smtClean="0"/>
            </a:fld>
            <a:endParaRPr lang="en-IN"/>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7C89579-D945-446B-ABCF-3A3C52FD1AE6}" type="datetimeFigureOut">
              <a:rPr lang="en-US"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4343400" y="1036020"/>
            <a:ext cx="457200" cy="441325"/>
          </a:xfrm>
        </p:spPr>
        <p:txBody>
          <a:bodyPr/>
          <a:lstStyle/>
          <a:p>
            <a:fld id="{37142667-09B7-4D62-8703-8B08F0FC5F3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A7C89579-D945-446B-ABCF-3A3C52FD1AE6}" type="datetimeFigureOut">
              <a:rPr lang="en-US"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7142667-09B7-4D62-8703-8B08F0FC5F3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7142667-09B7-4D62-8703-8B08F0FC5F3D}" type="slidenum">
              <a:rPr lang="en-IN" smtClean="0"/>
            </a:fld>
            <a:endParaRPr lang="en-IN"/>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A7C89579-D945-446B-ABCF-3A3C52FD1AE6}" type="datetimeFigureOut">
              <a:rPr lang="en-US" smtClean="0"/>
            </a:fld>
            <a:endParaRPr lang="en-IN"/>
          </a:p>
        </p:txBody>
      </p:sp>
      <p:sp>
        <p:nvSpPr>
          <p:cNvPr id="6" name="Footer Placeholder 5"/>
          <p:cNvSpPr>
            <a:spLocks noGrp="1"/>
          </p:cNvSpPr>
          <p:nvPr>
            <p:ph type="ftr" sz="quarter" idx="11"/>
          </p:nvPr>
        </p:nvSpPr>
        <p:spPr>
          <a:xfrm>
            <a:off x="301752" y="6410848"/>
            <a:ext cx="338328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37142667-09B7-4D62-8703-8B08F0FC5F3D}" type="slidenum">
              <a:rPr lang="en-IN" smtClean="0"/>
            </a:fld>
            <a:endParaRPr lang="en-IN"/>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A7C89579-D945-446B-ABCF-3A3C52FD1AE6}" type="datetimeFigureOut">
              <a:rPr lang="en-US" smtClean="0"/>
            </a:fld>
            <a:endParaRPr lang="en-IN"/>
          </a:p>
        </p:txBody>
      </p:sp>
      <p:sp>
        <p:nvSpPr>
          <p:cNvPr id="6" name="Footer Placeholder 5"/>
          <p:cNvSpPr>
            <a:spLocks noGrp="1"/>
          </p:cNvSpPr>
          <p:nvPr>
            <p:ph type="ftr" sz="quarter" idx="11"/>
          </p:nvPr>
        </p:nvSpPr>
        <p:spPr>
          <a:xfrm>
            <a:off x="301752" y="6410848"/>
            <a:ext cx="3584448" cy="365760"/>
          </a:xfrm>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7C89579-D945-446B-ABCF-3A3C52FD1AE6}"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142667-09B7-4D62-8703-8B08F0FC5F3D}" type="slidenum">
              <a:rPr lang="en-IN" smtClean="0"/>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37142667-09B7-4D62-8703-8B08F0FC5F3D}" type="slidenum">
              <a:rPr lang="en-IN" smtClean="0"/>
            </a:fld>
            <a:endParaRPr lang="en-IN"/>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7C89579-D945-446B-ABCF-3A3C52FD1AE6}"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7C89579-D945-446B-ABCF-3A3C52FD1AE6}" type="datetimeFigureOut">
              <a:rPr lang="en-US" smtClean="0"/>
            </a:fld>
            <a:endParaRPr lang="en-IN"/>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7142667-09B7-4D62-8703-8B08F0FC5F3D}" type="slidenum">
              <a:rPr lang="en-IN" smtClean="0"/>
            </a:fld>
            <a:endParaRPr lang="en-IN"/>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hyperlink" Target="http://timesofindia.indiatimes.com/topic/Mental-Health"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571744"/>
            <a:ext cx="6400800" cy="4286256"/>
          </a:xfrm>
        </p:spPr>
        <p:txBody>
          <a:bodyPr>
            <a:normAutofit/>
          </a:bodyPr>
          <a:lstStyle/>
          <a:p>
            <a:r>
              <a:rPr lang="en-US" sz="3600" i="1" dirty="0" smtClean="0">
                <a:solidFill>
                  <a:schemeClr val="tx1"/>
                </a:solidFill>
                <a:latin typeface="Baskerville Old Face" panose="02020602080505020303" pitchFamily="18" charset="0"/>
              </a:rPr>
              <a:t>AWARENESS, PREVENTION, COUNSELLING and SOCIAL CHANGE</a:t>
            </a:r>
            <a:endParaRPr lang="en-US" sz="3600" i="1" dirty="0" smtClean="0">
              <a:solidFill>
                <a:schemeClr val="tx1"/>
              </a:solidFill>
              <a:latin typeface="Baskerville Old Face" panose="02020602080505020303" pitchFamily="18" charset="0"/>
            </a:endParaRPr>
          </a:p>
          <a:p>
            <a:r>
              <a:rPr lang="en-US" sz="2400" i="1" dirty="0" smtClean="0">
                <a:solidFill>
                  <a:schemeClr val="tx1"/>
                </a:solidFill>
                <a:latin typeface="Baskerville Old Face" panose="02020602080505020303" pitchFamily="18" charset="0"/>
              </a:rPr>
              <a:t>BY</a:t>
            </a:r>
            <a:endParaRPr lang="en-US" sz="2400" i="1" dirty="0" smtClean="0">
              <a:solidFill>
                <a:schemeClr val="tx1"/>
              </a:solidFill>
              <a:latin typeface="Baskerville Old Face" panose="02020602080505020303" pitchFamily="18" charset="0"/>
            </a:endParaRPr>
          </a:p>
          <a:p>
            <a:r>
              <a:rPr lang="en-US" sz="2400" i="1" dirty="0" smtClean="0">
                <a:solidFill>
                  <a:schemeClr val="tx1"/>
                </a:solidFill>
                <a:latin typeface="Baskerville Old Face" panose="02020602080505020303" pitchFamily="18" charset="0"/>
              </a:rPr>
              <a:t>Dr. PHILOMENA KANAGARAJ</a:t>
            </a:r>
            <a:endParaRPr lang="en-US" sz="2400" i="1" dirty="0" smtClean="0">
              <a:solidFill>
                <a:schemeClr val="tx1"/>
              </a:solidFill>
              <a:latin typeface="Baskerville Old Face" panose="02020602080505020303" pitchFamily="18" charset="0"/>
            </a:endParaRPr>
          </a:p>
          <a:p>
            <a:endParaRPr lang="en-IN" sz="2400" i="1" dirty="0">
              <a:solidFill>
                <a:schemeClr val="tx1"/>
              </a:solidFill>
              <a:latin typeface="Baskerville Old Face" panose="02020602080505020303" pitchFamily="18" charset="0"/>
            </a:endParaRPr>
          </a:p>
        </p:txBody>
      </p:sp>
      <p:sp>
        <p:nvSpPr>
          <p:cNvPr id="2" name="Title 1"/>
          <p:cNvSpPr>
            <a:spLocks noGrp="1"/>
          </p:cNvSpPr>
          <p:nvPr>
            <p:ph type="ctrTitle"/>
          </p:nvPr>
        </p:nvSpPr>
        <p:spPr>
          <a:xfrm>
            <a:off x="685800" y="285729"/>
            <a:ext cx="7772400" cy="1214445"/>
          </a:xfrm>
        </p:spPr>
        <p:txBody>
          <a:bodyPr>
            <a:normAutofit/>
          </a:bodyPr>
          <a:lstStyle/>
          <a:p>
            <a:r>
              <a:rPr lang="en-US" b="1" i="1" dirty="0" smtClean="0">
                <a:latin typeface="Old English Text MT" panose="03040902040508030806" pitchFamily="66" charset="0"/>
              </a:rPr>
              <a:t>SUICIDE</a:t>
            </a:r>
            <a:r>
              <a:rPr lang="en-US" i="1" dirty="0" smtClean="0"/>
              <a:t> </a:t>
            </a:r>
            <a:endParaRPr lang="en-IN" i="1" dirty="0"/>
          </a:p>
        </p:txBody>
      </p:sp>
      <p:pic>
        <p:nvPicPr>
          <p:cNvPr id="4" name="Picture 3" descr="Mental Health">
            <a:hlinkClick r:id="rId1"/>
          </p:cNvPr>
          <p:cNvPicPr/>
          <p:nvPr/>
        </p:nvPicPr>
        <p:blipFill>
          <a:blip r:embed="rId2"/>
          <a:srcRect/>
          <a:stretch>
            <a:fillRect/>
          </a:stretch>
        </p:blipFill>
        <p:spPr bwMode="auto">
          <a:xfrm>
            <a:off x="3786181" y="1357298"/>
            <a:ext cx="1714513" cy="1071569"/>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pic>
        <p:nvPicPr>
          <p:cNvPr id="4" name="Content Placeholder 3" descr="fc3e94d3-f4b6-438a-a009-11415a510e89"/>
          <p:cNvPicPr>
            <a:picLocks noChangeAspect="1"/>
          </p:cNvPicPr>
          <p:nvPr>
            <p:ph sz="quarter" idx="1"/>
          </p:nvPr>
        </p:nvPicPr>
        <p:blipFill>
          <a:blip r:embed="rId1"/>
          <a:stretch>
            <a:fillRect/>
          </a:stretch>
        </p:blipFill>
        <p:spPr>
          <a:xfrm>
            <a:off x="1570355" y="1360805"/>
            <a:ext cx="6235065" cy="5220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Picture 1"/>
          <p:cNvPicPr>
            <a:picLocks noChangeAspect="1"/>
          </p:cNvPicPr>
          <p:nvPr>
            <p:ph sz="quarter" idx="1"/>
          </p:nvPr>
        </p:nvPicPr>
        <p:blipFill>
          <a:blip r:embed="rId1"/>
          <a:stretch>
            <a:fillRect/>
          </a:stretch>
        </p:blipFill>
        <p:spPr>
          <a:xfrm>
            <a:off x="2987675" y="188595"/>
            <a:ext cx="3079750" cy="1104900"/>
          </a:xfrm>
          <a:prstGeom prst="rect">
            <a:avLst/>
          </a:prstGeom>
          <a:noFill/>
          <a:ln>
            <a:noFill/>
          </a:ln>
        </p:spPr>
      </p:pic>
      <p:sp>
        <p:nvSpPr>
          <p:cNvPr id="100" name="Text Box 99"/>
          <p:cNvSpPr txBox="1"/>
          <p:nvPr/>
        </p:nvSpPr>
        <p:spPr>
          <a:xfrm>
            <a:off x="1044575" y="1320800"/>
            <a:ext cx="6984365" cy="4954270"/>
          </a:xfrm>
          <a:prstGeom prst="rect">
            <a:avLst/>
          </a:prstGeom>
          <a:noFill/>
          <a:ln w="9525">
            <a:noFill/>
          </a:ln>
        </p:spPr>
        <p:txBody>
          <a:bodyPr wrap="square">
            <a:spAutoFit/>
          </a:bodyPr>
          <a:p>
            <a:pPr indent="0" algn="l"/>
            <a:r>
              <a:rPr lang="en-US" sz="2000" b="1" i="1" u="sng">
                <a:latin typeface="Calibri" panose="020F0502020204030204" charset="0"/>
                <a:ea typeface="SimSun" panose="02010600030101010101" pitchFamily="2" charset="-122"/>
                <a:cs typeface="Times New Roman" panose="02020603050405020304" pitchFamily="18" charset="0"/>
              </a:rPr>
              <a:t>Tamil Nadu to appoint 800 doctors to counsel 	</a:t>
            </a:r>
            <a:r>
              <a:rPr lang="en-US" sz="2000" b="1" i="1">
                <a:latin typeface="Calibri" panose="020F0502020204030204" charset="0"/>
                <a:ea typeface="SimSun" panose="02010600030101010101" pitchFamily="2" charset="-122"/>
                <a:cs typeface="Times New Roman" panose="02020603050405020304" pitchFamily="18" charset="0"/>
              </a:rPr>
              <a:t>			    </a:t>
            </a:r>
            <a:r>
              <a:rPr lang="en-US" sz="2000" b="1" i="1" u="sng">
                <a:latin typeface="Calibri" panose="020F0502020204030204" charset="0"/>
                <a:ea typeface="SimSun" panose="02010600030101010101" pitchFamily="2" charset="-122"/>
                <a:cs typeface="Times New Roman" panose="02020603050405020304" pitchFamily="18" charset="0"/>
              </a:rPr>
              <a:t>school students</a:t>
            </a:r>
            <a:endParaRPr lang="en-US" sz="2000" b="1">
              <a:latin typeface="Calibri" panose="020F0502020204030204" charset="0"/>
              <a:ea typeface="SimSun" panose="02010600030101010101" pitchFamily="2" charset="-122"/>
              <a:cs typeface="Times New Roman" panose="02020603050405020304" pitchFamily="18" charset="0"/>
            </a:endParaRPr>
          </a:p>
          <a:p>
            <a:pPr indent="0" algn="l"/>
            <a:r>
              <a:rPr lang="en-US" b="0">
                <a:latin typeface="Calibri" panose="020F0502020204030204" charset="0"/>
                <a:ea typeface="SimSun" panose="02010600030101010101" pitchFamily="2" charset="-122"/>
                <a:cs typeface="Times New Roman" panose="02020603050405020304" pitchFamily="18" charset="0"/>
              </a:rPr>
              <a:t>Daily Hunt july 29</a:t>
            </a:r>
            <a:r>
              <a:rPr lang="en-US" b="0" baseline="30000">
                <a:latin typeface="Calibri" panose="020F0502020204030204" charset="0"/>
                <a:ea typeface="SimSun" panose="02010600030101010101" pitchFamily="2" charset="-122"/>
                <a:cs typeface="Times New Roman" panose="02020603050405020304" pitchFamily="18" charset="0"/>
              </a:rPr>
              <a:t>th</a:t>
            </a:r>
            <a:r>
              <a:rPr lang="en-US" b="0">
                <a:latin typeface="Calibri" panose="020F0502020204030204" charset="0"/>
                <a:ea typeface="SimSun" panose="02010600030101010101" pitchFamily="2" charset="-122"/>
                <a:cs typeface="Times New Roman" panose="02020603050405020304" pitchFamily="18" charset="0"/>
              </a:rPr>
              <a:t> 2022 </a:t>
            </a:r>
            <a:endParaRPr lang="en-US" sz="1200" b="1">
              <a:latin typeface="Calibri" panose="020F0502020204030204" charset="0"/>
              <a:ea typeface="SimSun" panose="02010600030101010101" pitchFamily="2" charset="-122"/>
              <a:cs typeface="Times New Roman" panose="02020603050405020304" pitchFamily="18" charset="0"/>
            </a:endParaRPr>
          </a:p>
          <a:p>
            <a:pPr indent="0" algn="l"/>
            <a:r>
              <a:rPr lang="en-US" sz="1600" b="1">
                <a:latin typeface="Calibri" panose="020F0502020204030204" charset="0"/>
                <a:ea typeface="SimSun" panose="02010600030101010101" pitchFamily="2" charset="-122"/>
                <a:cs typeface="Times New Roman" panose="02020603050405020304" pitchFamily="18" charset="0"/>
              </a:rPr>
              <a:t>The sudden spike in student suicides have prompted Chief Minister MK Stalin to launch a dedicated programme among government school students about mental health and help them deal with problems better. Under the '</a:t>
            </a:r>
            <a:r>
              <a:rPr lang="en-US" sz="1600" b="1">
                <a:latin typeface="Latha" panose="020B0604020202020204" charset="0"/>
                <a:ea typeface="SimSun" panose="02010600030101010101" pitchFamily="2" charset="-122"/>
              </a:rPr>
              <a:t>மாணவர்</a:t>
            </a:r>
            <a:r>
              <a:rPr lang="en-US" sz="1600" b="1">
                <a:latin typeface="Calibri" panose="020F0502020204030204" charset="0"/>
                <a:ea typeface="SimSun" panose="02010600030101010101" pitchFamily="2" charset="-122"/>
                <a:cs typeface="Times New Roman" panose="02020603050405020304" pitchFamily="18" charset="0"/>
              </a:rPr>
              <a:t> </a:t>
            </a:r>
            <a:r>
              <a:rPr lang="en-US" sz="1600" b="1">
                <a:latin typeface="Latha" panose="020B0604020202020204" charset="0"/>
                <a:ea typeface="SimSun" panose="02010600030101010101" pitchFamily="2" charset="-122"/>
              </a:rPr>
              <a:t>மனசு</a:t>
            </a:r>
            <a:r>
              <a:rPr lang="en-US" sz="1600" b="1">
                <a:latin typeface="Calibri" panose="020F0502020204030204" charset="0"/>
                <a:ea typeface="SimSun" panose="02010600030101010101" pitchFamily="2" charset="-122"/>
                <a:cs typeface="Times New Roman" panose="02020603050405020304" pitchFamily="18" charset="0"/>
              </a:rPr>
              <a:t>/Manavar Manasu' scheme, the </a:t>
            </a:r>
            <a:r>
              <a:rPr lang="en-US" sz="1600" b="1">
                <a:latin typeface="Calibri" panose="020F0502020204030204" charset="0"/>
                <a:ea typeface="SimSun" panose="02010600030101010101" pitchFamily="2" charset="-122"/>
              </a:rPr>
              <a:t>DMK government in the state has decided to appoint 800 doctors</a:t>
            </a:r>
            <a:r>
              <a:rPr lang="zh-CN" sz="1600" b="1">
                <a:ea typeface="SimSun" panose="02010600030101010101" pitchFamily="2" charset="-122"/>
              </a:rPr>
              <a:t> to provide </a:t>
            </a:r>
            <a:r>
              <a:rPr lang="en-US" sz="1600" b="1">
                <a:latin typeface="Calibri" panose="020F0502020204030204" charset="0"/>
                <a:ea typeface="SimSun" panose="02010600030101010101" pitchFamily="2" charset="-122"/>
              </a:rPr>
              <a:t>psychological counselling to school students.</a:t>
            </a:r>
            <a:r>
              <a:rPr lang="en-US" sz="1600" b="1">
                <a:latin typeface="Calibri" panose="020F0502020204030204" charset="0"/>
                <a:ea typeface="SimSun" panose="02010600030101010101" pitchFamily="2" charset="-122"/>
                <a:cs typeface="Times New Roman" panose="02020603050405020304" pitchFamily="18" charset="0"/>
              </a:rPr>
              <a:t> According to </a:t>
            </a:r>
            <a:r>
              <a:rPr lang="en-US" sz="1600" b="1">
                <a:latin typeface="Calibri" panose="020F0502020204030204" charset="0"/>
                <a:ea typeface="SimSun" panose="02010600030101010101" pitchFamily="2" charset="-122"/>
              </a:rPr>
              <a:t>Minister for School Education Anbil Mahesh Poyyamozhi the project will be soon launched by Chief Minister.</a:t>
            </a:r>
            <a:r>
              <a:rPr lang="en-US" sz="1600" b="1">
                <a:latin typeface="Calibri" panose="020F0502020204030204" charset="0"/>
                <a:ea typeface="SimSun" panose="02010600030101010101" pitchFamily="2" charset="-122"/>
                <a:cs typeface="Times New Roman" panose="02020603050405020304" pitchFamily="18" charset="0"/>
              </a:rPr>
              <a:t> "As many as 800 doctors would be appointed, two each in 413 education blocks across the state, to provide </a:t>
            </a:r>
            <a:r>
              <a:rPr lang="en-US" sz="1600" b="1">
                <a:latin typeface="Calibri" panose="020F0502020204030204" charset="0"/>
                <a:ea typeface="SimSun" panose="02010600030101010101" pitchFamily="2" charset="-122"/>
              </a:rPr>
              <a:t>counselling and guidance to students on various aspects such as studies, career and behavioural changes," the  Minister said.</a:t>
            </a:r>
            <a:r>
              <a:rPr lang="en-US" sz="1600" b="1">
                <a:latin typeface="Calibri" panose="020F0502020204030204" charset="0"/>
                <a:ea typeface="SimSun" panose="02010600030101010101" pitchFamily="2" charset="-122"/>
                <a:cs typeface="Times New Roman" panose="02020603050405020304" pitchFamily="18" charset="0"/>
              </a:rPr>
              <a:t> </a:t>
            </a:r>
            <a:endParaRPr 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Defining,  what is ‘Suicide’ </a:t>
            </a:r>
            <a:r>
              <a:rPr lang="en-US" dirty="0" smtClean="0"/>
              <a:t>?</a:t>
            </a:r>
            <a:endParaRPr lang="en-IN" dirty="0"/>
          </a:p>
        </p:txBody>
      </p:sp>
      <p:sp>
        <p:nvSpPr>
          <p:cNvPr id="3" name="Content Placeholder 2"/>
          <p:cNvSpPr>
            <a:spLocks noGrp="1"/>
          </p:cNvSpPr>
          <p:nvPr>
            <p:ph sz="quarter" idx="1"/>
          </p:nvPr>
        </p:nvSpPr>
        <p:spPr>
          <a:xfrm>
            <a:off x="457200" y="1285860"/>
            <a:ext cx="8229600" cy="5072098"/>
          </a:xfrm>
        </p:spPr>
        <p:txBody>
          <a:bodyPr>
            <a:normAutofit fontScale="25000" lnSpcReduction="20000"/>
          </a:bodyPr>
          <a:lstStyle/>
          <a:p>
            <a:pPr>
              <a:buNone/>
            </a:pPr>
            <a:endParaRPr lang="en-IN" dirty="0" smtClean="0"/>
          </a:p>
          <a:p>
            <a:r>
              <a:rPr lang="en-IN" sz="9600" b="1" dirty="0" smtClean="0"/>
              <a:t>In Latin </a:t>
            </a:r>
            <a:r>
              <a:rPr lang="en-IN" sz="9600" b="1" i="1" dirty="0" err="1" smtClean="0"/>
              <a:t>Suicidium</a:t>
            </a:r>
            <a:r>
              <a:rPr lang="en-IN" sz="9600" b="1" i="1" dirty="0" smtClean="0"/>
              <a:t>, </a:t>
            </a:r>
            <a:r>
              <a:rPr lang="en-IN" sz="9600" b="1" dirty="0" smtClean="0"/>
              <a:t>from </a:t>
            </a:r>
            <a:r>
              <a:rPr lang="en-IN" sz="9600" b="1" i="1" dirty="0" err="1" smtClean="0"/>
              <a:t>Suicaedere</a:t>
            </a:r>
            <a:r>
              <a:rPr lang="en-IN" sz="9600" b="1" dirty="0" smtClean="0"/>
              <a:t>  ‘to kill oneself’ is the act of intentionally causing one’s own death.</a:t>
            </a:r>
            <a:endParaRPr lang="en-IN" sz="9600" b="1" dirty="0" smtClean="0"/>
          </a:p>
          <a:p>
            <a:endParaRPr lang="en-IN" sz="9600" dirty="0" smtClean="0"/>
          </a:p>
          <a:p>
            <a:r>
              <a:rPr lang="en-IN" sz="9600" b="1" dirty="0" smtClean="0"/>
              <a:t>Suicide is a desperate attempt to escape suffering that has become unbearable </a:t>
            </a:r>
            <a:r>
              <a:rPr lang="en-IN" sz="9600" dirty="0" smtClean="0"/>
              <a:t>by taking one’s own life with whatever resources available.</a:t>
            </a:r>
            <a:endParaRPr lang="en-IN" sz="9600" dirty="0" smtClean="0"/>
          </a:p>
          <a:p>
            <a:pPr>
              <a:buNone/>
            </a:pPr>
            <a:r>
              <a:rPr lang="en-IN" sz="9600" dirty="0" smtClean="0"/>
              <a:t> </a:t>
            </a:r>
            <a:endParaRPr lang="en-IN" sz="9600" dirty="0" smtClean="0"/>
          </a:p>
          <a:p>
            <a:r>
              <a:rPr lang="en-IN" sz="9600" dirty="0" smtClean="0"/>
              <a:t>Blinded by </a:t>
            </a:r>
            <a:r>
              <a:rPr lang="en-IN" sz="9600" b="1" dirty="0" smtClean="0"/>
              <a:t>feelings of self-loathing, hopelessness, and isolation,</a:t>
            </a:r>
            <a:r>
              <a:rPr lang="en-IN" sz="9600" dirty="0" smtClean="0"/>
              <a:t> a suicidal person can't see any way of finding relief except through death.</a:t>
            </a:r>
            <a:endParaRPr lang="en-IN" sz="9600" dirty="0" smtClean="0"/>
          </a:p>
          <a:p>
            <a:endParaRPr lang="en-IN" sz="9600" dirty="0" smtClean="0"/>
          </a:p>
          <a:p>
            <a:r>
              <a:rPr lang="en-IN" sz="9600" b="1" dirty="0" smtClean="0"/>
              <a:t>‘The act of taking one’s own life’.</a:t>
            </a:r>
            <a:endParaRPr lang="en-IN" sz="9600" b="1" dirty="0" smtClean="0"/>
          </a:p>
          <a:p>
            <a:endParaRPr lang="en-IN" sz="7400" dirty="0" smtClean="0"/>
          </a:p>
          <a:p>
            <a:r>
              <a:rPr lang="en-IN" sz="7400" dirty="0" smtClean="0"/>
              <a:t>But despite their desire for the pain to stop, most suicidal people are deeply conflicted about ending their own lives.  </a:t>
            </a:r>
            <a:endParaRPr lang="en-IN" sz="7400" dirty="0" smtClean="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514"/>
            <a:ext cx="8229600" cy="796908"/>
          </a:xfrm>
        </p:spPr>
        <p:txBody>
          <a:bodyPr>
            <a:normAutofit fontScale="90000"/>
          </a:bodyPr>
          <a:lstStyle/>
          <a:p>
            <a:r>
              <a:rPr lang="en-US" dirty="0" smtClean="0">
                <a:latin typeface="Times New Roman" panose="02020603050405020304" pitchFamily="18" charset="0"/>
                <a:cs typeface="Times New Roman" panose="02020603050405020304" pitchFamily="18" charset="0"/>
              </a:rPr>
              <a:t>Some common misconceptions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about Suicide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7200" y="1374779"/>
            <a:ext cx="8229600" cy="4768865"/>
          </a:xfrm>
        </p:spPr>
        <p:txBody>
          <a:bodyPr>
            <a:normAutofit/>
          </a:bodyPr>
          <a:lstStyle/>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People who talk about suicide won’t really do it.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Anyone who tries to kill himself/herself must be crazy.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a person is determined to kill himself/ herself, nothing is going to stop them.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People who commit suicide are people who were unwilling to seek help.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500034" y="928670"/>
            <a:ext cx="8229600" cy="571504"/>
          </a:xfrm>
        </p:spPr>
        <p:txBody>
          <a:bodyPr>
            <a:normAutofit fontScale="90000"/>
          </a:bodyPr>
          <a:lstStyle/>
          <a:p>
            <a:r>
              <a:rPr lang="en-IN" sz="4000" b="1" dirty="0" smtClean="0"/>
              <a:t>IV   CAUSES of SUICIDE </a:t>
            </a:r>
            <a:br>
              <a:rPr lang="en-IN" dirty="0" smtClean="0"/>
            </a:br>
            <a:endParaRPr lang="en-IN" dirty="0"/>
          </a:p>
        </p:txBody>
      </p:sp>
      <p:sp>
        <p:nvSpPr>
          <p:cNvPr id="3" name="Content Placeholder 2"/>
          <p:cNvSpPr>
            <a:spLocks noGrp="1"/>
          </p:cNvSpPr>
          <p:nvPr>
            <p:ph sz="quarter" idx="1"/>
          </p:nvPr>
        </p:nvSpPr>
        <p:spPr>
          <a:xfrm>
            <a:off x="457200" y="1285860"/>
            <a:ext cx="8229600" cy="4768865"/>
          </a:xfrm>
          <a:ln>
            <a:solidFill>
              <a:schemeClr val="tx1"/>
            </a:solidFill>
            <a:prstDash val="dashDot"/>
          </a:ln>
        </p:spPr>
        <p:txBody>
          <a:bodyPr>
            <a:normAutofit fontScale="55000" lnSpcReduction="20000"/>
          </a:bodyPr>
          <a:lstStyle/>
          <a:p>
            <a:endParaRPr lang="en-IN" b="1" dirty="0" smtClean="0">
              <a:latin typeface="Times New Roman" panose="02020603050405020304"/>
            </a:endParaRPr>
          </a:p>
          <a:p>
            <a:endParaRPr lang="en-IN" b="1" dirty="0" smtClean="0">
              <a:latin typeface="Times New Roman" panose="02020603050405020304"/>
            </a:endParaRPr>
          </a:p>
          <a:p>
            <a:r>
              <a:rPr lang="en-IN" b="1" dirty="0" smtClean="0">
                <a:latin typeface="Times New Roman" panose="02020603050405020304"/>
              </a:rPr>
              <a:t>Stress factors  : financial difficulties, love failure, exam failure.</a:t>
            </a:r>
            <a:endParaRPr lang="en-IN" b="1" dirty="0" smtClean="0">
              <a:latin typeface="Times New Roman" panose="02020603050405020304"/>
            </a:endParaRPr>
          </a:p>
          <a:p>
            <a:endParaRPr lang="en-IN" b="1" dirty="0" smtClean="0">
              <a:latin typeface="Times New Roman" panose="02020603050405020304"/>
            </a:endParaRPr>
          </a:p>
          <a:p>
            <a:r>
              <a:rPr lang="en-IN" b="1" dirty="0" smtClean="0">
                <a:latin typeface="Times New Roman" panose="02020603050405020304"/>
              </a:rPr>
              <a:t>Often caused out of despair, frequently attributed to a mental disorder such as depression, bipolar disorder, schizophrenia, alcoholism or drug abuse, Substance abuse, smoking, gambling, medical conditions like cancer, traumatic brain injury, HIV, Insomnia, etc.</a:t>
            </a:r>
            <a:endParaRPr lang="en-IN" b="1" dirty="0" smtClean="0">
              <a:latin typeface="Times New Roman" panose="02020603050405020304"/>
            </a:endParaRPr>
          </a:p>
          <a:p>
            <a:endParaRPr lang="en-IN" b="1" dirty="0" smtClean="0">
              <a:latin typeface="Times New Roman" panose="02020603050405020304"/>
            </a:endParaRPr>
          </a:p>
          <a:p>
            <a:r>
              <a:rPr lang="en-IN" b="1" u="sng" dirty="0" smtClean="0">
                <a:latin typeface="Times New Roman" panose="02020603050405020304"/>
              </a:rPr>
              <a:t>CAUSES			In 		%age / numbers	</a:t>
            </a:r>
            <a:endParaRPr lang="en-IN" sz="2800" b="1" u="sng" dirty="0" smtClean="0">
              <a:latin typeface="Times New Roman" panose="02020603050405020304"/>
            </a:endParaRPr>
          </a:p>
          <a:p>
            <a:pPr>
              <a:buNone/>
            </a:pPr>
            <a:endParaRPr lang="en-IN" dirty="0" smtClean="0">
              <a:latin typeface="Times New Roman" panose="02020603050405020304"/>
            </a:endParaRPr>
          </a:p>
          <a:p>
            <a:r>
              <a:rPr lang="en-IN" sz="3600" dirty="0" smtClean="0">
                <a:latin typeface="Times New Roman" panose="02020603050405020304"/>
              </a:rPr>
              <a:t>Family Problems				84 suicides a day	</a:t>
            </a:r>
            <a:endParaRPr lang="en-IN" sz="3600" dirty="0" smtClean="0">
              <a:latin typeface="Times New Roman" panose="02020603050405020304"/>
            </a:endParaRPr>
          </a:p>
          <a:p>
            <a:endParaRPr lang="en-IN" sz="3600" dirty="0" smtClean="0">
              <a:latin typeface="Times New Roman" panose="02020603050405020304"/>
            </a:endParaRPr>
          </a:p>
          <a:p>
            <a:r>
              <a:rPr lang="en-IN" sz="3600" dirty="0" smtClean="0">
                <a:latin typeface="Times New Roman" panose="02020603050405020304"/>
              </a:rPr>
              <a:t>Due Social &amp; Economic causes.	Married Men		71.6%	</a:t>
            </a:r>
            <a:endParaRPr lang="en-IN" sz="3600" dirty="0" smtClean="0">
              <a:latin typeface="Times New Roman" panose="02020603050405020304"/>
            </a:endParaRPr>
          </a:p>
          <a:p>
            <a:endParaRPr lang="en-IN" sz="3600" dirty="0" smtClean="0">
              <a:latin typeface="Times New Roman" panose="02020603050405020304"/>
            </a:endParaRPr>
          </a:p>
          <a:p>
            <a:r>
              <a:rPr lang="en-IN" sz="3600" dirty="0" smtClean="0">
                <a:latin typeface="Times New Roman" panose="02020603050405020304"/>
              </a:rPr>
              <a:t>Due Emotional &amp; Personal	Married Woman		67.9%	</a:t>
            </a:r>
            <a:endParaRPr lang="en-IN" sz="3600" dirty="0" smtClean="0">
              <a:latin typeface="Times New Roman" panose="02020603050405020304"/>
            </a:endParaRPr>
          </a:p>
          <a:p>
            <a:endParaRPr lang="en-IN" sz="3600" dirty="0" smtClean="0">
              <a:latin typeface="Times New Roman" panose="02020603050405020304"/>
            </a:endParaRPr>
          </a:p>
          <a:p>
            <a:r>
              <a:rPr lang="en-IN" sz="3600" dirty="0" smtClean="0">
                <a:latin typeface="Times New Roman" panose="02020603050405020304"/>
              </a:rPr>
              <a:t>Housewives	</a:t>
            </a:r>
            <a:r>
              <a:rPr lang="en-US" altLang="en-IN" sz="3600" dirty="0" smtClean="0">
                <a:latin typeface="Times New Roman" panose="02020603050405020304"/>
              </a:rPr>
              <a:t>				</a:t>
            </a:r>
            <a:r>
              <a:rPr lang="en-IN" sz="3600" dirty="0" smtClean="0">
                <a:latin typeface="Times New Roman" panose="02020603050405020304"/>
              </a:rPr>
              <a:t>1 out of 6 suicides.	</a:t>
            </a:r>
            <a:endParaRPr lang="en-IN" sz="3600" dirty="0" smtClean="0">
              <a:latin typeface="Times New Roman" panose="02020603050405020304"/>
            </a:endParaRPr>
          </a:p>
          <a:p>
            <a:endParaRPr lang="en-IN" dirty="0" smtClean="0"/>
          </a:p>
          <a:p>
            <a:endParaRPr lang="en-IN" dirty="0" smtClean="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785818"/>
          </a:xfrm>
        </p:spPr>
        <p:txBody>
          <a:bodyPr/>
          <a:lstStyle/>
          <a:p>
            <a:r>
              <a:rPr lang="en-US" dirty="0" smtClean="0"/>
              <a:t>Methods (cont’d)</a:t>
            </a:r>
            <a:endParaRPr lang="en-IN" dirty="0"/>
          </a:p>
        </p:txBody>
      </p:sp>
      <p:sp>
        <p:nvSpPr>
          <p:cNvPr id="3" name="Content Placeholder 2"/>
          <p:cNvSpPr>
            <a:spLocks noGrp="1"/>
          </p:cNvSpPr>
          <p:nvPr>
            <p:ph sz="quarter" idx="1"/>
          </p:nvPr>
        </p:nvSpPr>
        <p:spPr/>
        <p:txBody>
          <a:bodyPr>
            <a:normAutofit/>
          </a:bodyPr>
          <a:lstStyle/>
          <a:p>
            <a:r>
              <a:rPr lang="en-US" dirty="0" smtClean="0"/>
              <a:t>Dowry Deaths</a:t>
            </a:r>
            <a:endParaRPr lang="en-US" dirty="0" smtClean="0"/>
          </a:p>
          <a:p>
            <a:endParaRPr lang="en-US" dirty="0" smtClean="0"/>
          </a:p>
          <a:p>
            <a:r>
              <a:rPr lang="en-IN" dirty="0" smtClean="0"/>
              <a:t>Attempted suicides / non- fatal suicidal behaviour; Self-injury not resulting in death. </a:t>
            </a:r>
            <a:endParaRPr lang="en-IN" dirty="0" smtClean="0"/>
          </a:p>
          <a:p>
            <a:endParaRPr lang="en-IN" dirty="0" smtClean="0"/>
          </a:p>
          <a:p>
            <a:r>
              <a:rPr lang="en-IN" dirty="0" smtClean="0"/>
              <a:t>Assisted suicide – one person helps another</a:t>
            </a:r>
            <a:endParaRPr lang="en-IN" dirty="0" smtClean="0"/>
          </a:p>
          <a:p>
            <a:endParaRPr lang="en-IN" dirty="0" smtClean="0"/>
          </a:p>
          <a:p>
            <a:r>
              <a:rPr lang="en-IN" dirty="0" smtClean="0"/>
              <a:t>Euthanasia – where another person takes an active role in bringing about a person’s death.</a:t>
            </a:r>
            <a:endParaRPr lang="en-IN" dirty="0" smtClean="0"/>
          </a:p>
          <a:p>
            <a:endParaRPr lang="en-US" dirty="0" smtClean="0"/>
          </a:p>
          <a:p>
            <a:endParaRPr lang="en-US" dirty="0" smtClean="0"/>
          </a:p>
          <a:p>
            <a:endParaRPr lang="en-US" dirty="0" smtClean="0"/>
          </a:p>
          <a:p>
            <a:endParaRPr lang="en-US" dirty="0" smtClean="0"/>
          </a:p>
          <a:p>
            <a:pPr>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SUICIDE   PREVENTION</a:t>
            </a:r>
            <a:endParaRPr lang="en-IN" sz="4000" dirty="0"/>
          </a:p>
        </p:txBody>
      </p:sp>
      <p:sp>
        <p:nvSpPr>
          <p:cNvPr id="3" name="Content Placeholder 2"/>
          <p:cNvSpPr>
            <a:spLocks noGrp="1"/>
          </p:cNvSpPr>
          <p:nvPr>
            <p:ph sz="quarter" idx="1"/>
          </p:nvPr>
        </p:nvSpPr>
        <p:spPr>
          <a:xfrm>
            <a:off x="457200" y="1214120"/>
            <a:ext cx="8229600" cy="5764530"/>
          </a:xfrm>
          <a:ln>
            <a:solidFill>
              <a:schemeClr val="tx1"/>
            </a:solidFill>
            <a:prstDash val="dashDot"/>
          </a:ln>
        </p:spPr>
        <p:txBody>
          <a:bodyPr>
            <a:normAutofit fontScale="70000" lnSpcReduction="20000"/>
          </a:bodyPr>
          <a:lstStyle/>
          <a:p>
            <a:pPr>
              <a:buNone/>
            </a:pPr>
            <a:endParaRPr lang="en-IN" b="1" dirty="0" smtClean="0"/>
          </a:p>
          <a:p>
            <a:pPr>
              <a:buNone/>
            </a:pPr>
            <a:r>
              <a:rPr lang="en-IN" b="1" dirty="0" smtClean="0"/>
              <a:t>Warnings  :   </a:t>
            </a:r>
            <a:r>
              <a:rPr lang="en-IN" dirty="0" smtClean="0"/>
              <a:t>by  Dr. B.J. </a:t>
            </a:r>
            <a:r>
              <a:rPr lang="en-IN" dirty="0" err="1" smtClean="0"/>
              <a:t>Prashantham</a:t>
            </a:r>
            <a:endParaRPr lang="en-IN" dirty="0" smtClean="0"/>
          </a:p>
          <a:p>
            <a:pPr>
              <a:buNone/>
            </a:pPr>
            <a:r>
              <a:rPr lang="en-IN" dirty="0" smtClean="0"/>
              <a:t>A/		</a:t>
            </a:r>
            <a:r>
              <a:rPr lang="en-IN" b="1" u="sng" dirty="0" smtClean="0"/>
              <a:t>NEVER  IGNORE</a:t>
            </a:r>
            <a:r>
              <a:rPr lang="en-IN" u="sng" dirty="0" smtClean="0"/>
              <a:t> </a:t>
            </a:r>
            <a:r>
              <a:rPr lang="en-IN" dirty="0" smtClean="0"/>
              <a:t>a suicide warning</a:t>
            </a:r>
            <a:endParaRPr lang="en-IN" dirty="0" smtClean="0"/>
          </a:p>
          <a:p>
            <a:pPr>
              <a:buNone/>
            </a:pPr>
            <a:endParaRPr lang="en-IN" dirty="0" smtClean="0"/>
          </a:p>
          <a:p>
            <a:pPr>
              <a:buNone/>
            </a:pPr>
            <a:r>
              <a:rPr lang="en-IN" dirty="0" smtClean="0"/>
              <a:t>B/		IMPORTANT </a:t>
            </a:r>
            <a:r>
              <a:rPr lang="en-IN" b="1" u="sng" dirty="0" smtClean="0"/>
              <a:t>to remove the capacity or thing to commit </a:t>
            </a:r>
            <a:r>
              <a:rPr lang="en-IN" b="1" dirty="0" smtClean="0"/>
              <a:t>	</a:t>
            </a:r>
            <a:r>
              <a:rPr lang="en-IN" b="1" u="sng" dirty="0" smtClean="0"/>
              <a:t>suicide.</a:t>
            </a:r>
            <a:r>
              <a:rPr lang="en-IN" u="sng" dirty="0" smtClean="0"/>
              <a:t> </a:t>
            </a:r>
            <a:r>
              <a:rPr lang="en-IN" dirty="0" smtClean="0"/>
              <a:t>‘ The Escape Hatch’, Reduce access to poisons, </a:t>
            </a:r>
            <a:r>
              <a:rPr lang="en-US" altLang="en-IN" dirty="0" smtClean="0"/>
              <a:t>	</a:t>
            </a:r>
            <a:r>
              <a:rPr lang="en-IN" dirty="0" smtClean="0"/>
              <a:t>medications,  firearms, kerosene etc.    Also building barriers to </a:t>
            </a:r>
            <a:r>
              <a:rPr lang="en-US" altLang="en-IN" dirty="0" smtClean="0"/>
              <a:t>	</a:t>
            </a:r>
            <a:r>
              <a:rPr lang="en-IN" dirty="0" smtClean="0"/>
              <a:t>bridges and subway platforms. (‘Suicide points’ at Hill </a:t>
            </a:r>
            <a:r>
              <a:rPr lang="en-US" altLang="en-IN" dirty="0" smtClean="0"/>
              <a:t>	</a:t>
            </a:r>
            <a:r>
              <a:rPr lang="en-IN" dirty="0" smtClean="0"/>
              <a:t>stations – </a:t>
            </a:r>
            <a:r>
              <a:rPr lang="en-IN" dirty="0" err="1" smtClean="0"/>
              <a:t>Kodaikanal</a:t>
            </a:r>
            <a:r>
              <a:rPr lang="en-IN" dirty="0" smtClean="0"/>
              <a:t>, </a:t>
            </a:r>
            <a:r>
              <a:rPr lang="en-IN" dirty="0" err="1" smtClean="0"/>
              <a:t>Ooty</a:t>
            </a:r>
            <a:r>
              <a:rPr lang="en-IN" dirty="0" smtClean="0"/>
              <a:t>, Srinagar etc., )</a:t>
            </a:r>
            <a:endParaRPr lang="en-IN" dirty="0" smtClean="0"/>
          </a:p>
          <a:p>
            <a:pPr>
              <a:buNone/>
            </a:pPr>
            <a:endParaRPr lang="en-IN" dirty="0" smtClean="0"/>
          </a:p>
          <a:p>
            <a:pPr>
              <a:buNone/>
            </a:pPr>
            <a:r>
              <a:rPr lang="en-IN" dirty="0" smtClean="0"/>
              <a:t>C/		</a:t>
            </a:r>
            <a:r>
              <a:rPr lang="en-IN" b="1" u="sng" dirty="0" smtClean="0"/>
              <a:t>LISTEN, </a:t>
            </a:r>
            <a:r>
              <a:rPr lang="en-IN" dirty="0" smtClean="0"/>
              <a:t>Listen and Listen to them.</a:t>
            </a:r>
            <a:endParaRPr lang="en-IN" dirty="0" smtClean="0"/>
          </a:p>
          <a:p>
            <a:pPr>
              <a:buNone/>
            </a:pPr>
            <a:endParaRPr lang="en-IN" dirty="0" smtClean="0"/>
          </a:p>
          <a:p>
            <a:pPr>
              <a:buNone/>
            </a:pPr>
            <a:r>
              <a:rPr lang="en-IN" dirty="0" smtClean="0"/>
              <a:t>D/	Usually </a:t>
            </a:r>
            <a:r>
              <a:rPr lang="en-IN" b="1" dirty="0" smtClean="0"/>
              <a:t>Mode, Place &amp; Time is planned</a:t>
            </a:r>
            <a:endParaRPr lang="en-IN" b="1" dirty="0" smtClean="0"/>
          </a:p>
          <a:p>
            <a:pPr>
              <a:buNone/>
            </a:pPr>
            <a:endParaRPr lang="en-IN" b="1" dirty="0" smtClean="0"/>
          </a:p>
          <a:p>
            <a:pPr>
              <a:buNone/>
            </a:pPr>
            <a:r>
              <a:rPr lang="en-IN" dirty="0" smtClean="0"/>
              <a:t>E/		</a:t>
            </a:r>
            <a:r>
              <a:rPr lang="en-IN" b="1" u="sng" dirty="0" smtClean="0"/>
              <a:t>DO Risk Assessment</a:t>
            </a:r>
            <a:r>
              <a:rPr lang="en-IN" u="sng" dirty="0" smtClean="0"/>
              <a:t> </a:t>
            </a:r>
            <a:r>
              <a:rPr lang="en-IN" dirty="0" smtClean="0"/>
              <a:t>very early in the Counselling</a:t>
            </a:r>
            <a:endParaRPr lang="en-IN" dirty="0" smtClean="0"/>
          </a:p>
          <a:p>
            <a:pPr>
              <a:buNone/>
            </a:pPr>
            <a:endParaRPr lang="en-IN" dirty="0" smtClean="0"/>
          </a:p>
          <a:p>
            <a:pPr>
              <a:buNone/>
            </a:pPr>
            <a:r>
              <a:rPr lang="en-IN" dirty="0" smtClean="0"/>
              <a:t>F/		</a:t>
            </a:r>
            <a:r>
              <a:rPr lang="en-IN" b="1" u="sng" dirty="0" smtClean="0"/>
              <a:t>Don’t Hesitate to ask direct questions </a:t>
            </a:r>
            <a:r>
              <a:rPr lang="en-IN" dirty="0" smtClean="0"/>
              <a:t>during  the </a:t>
            </a:r>
            <a:endParaRPr lang="en-IN" dirty="0" smtClean="0"/>
          </a:p>
          <a:p>
            <a:pPr indent="0">
              <a:buNone/>
            </a:pPr>
            <a:r>
              <a:rPr lang="en-US" altLang="en-IN" dirty="0" smtClean="0"/>
              <a:t>	</a:t>
            </a:r>
            <a:r>
              <a:rPr lang="en-IN" dirty="0" smtClean="0"/>
              <a:t>counselling.</a:t>
            </a:r>
            <a:endParaRPr lang="en-IN" dirty="0" smtClean="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103505"/>
            <a:ext cx="8534400" cy="1381125"/>
          </a:xfrm>
        </p:spPr>
        <p:txBody>
          <a:bodyPr>
            <a:normAutofit fontScale="90000"/>
          </a:bodyPr>
          <a:lstStyle/>
          <a:p>
            <a:br>
              <a:rPr lang="en-US" sz="4000" dirty="0" smtClean="0"/>
            </a:br>
            <a:br>
              <a:rPr lang="en-US" sz="4000" dirty="0" smtClean="0"/>
            </a:br>
            <a:br>
              <a:rPr lang="en-US" sz="4000" dirty="0" smtClean="0"/>
            </a:br>
            <a:br>
              <a:rPr lang="en-US" sz="4000" dirty="0" smtClean="0"/>
            </a:br>
            <a:r>
              <a:rPr lang="en-US" sz="4000" dirty="0" smtClean="0"/>
              <a:t>HOW TO IDENTIFY THE CLUES</a:t>
            </a:r>
            <a:r>
              <a:rPr lang="en-US" dirty="0" smtClean="0"/>
              <a:t> </a:t>
            </a:r>
            <a:br>
              <a:rPr lang="en-US" dirty="0" smtClean="0"/>
            </a:br>
            <a:r>
              <a:rPr lang="en-US" sz="3600" dirty="0" smtClean="0"/>
              <a:t>by Dr. BJ </a:t>
            </a:r>
            <a:r>
              <a:rPr lang="en-US" sz="3600" dirty="0" err="1" smtClean="0"/>
              <a:t>Prashantham</a:t>
            </a:r>
            <a:endParaRPr lang="en-IN" sz="3600" dirty="0"/>
          </a:p>
        </p:txBody>
      </p:sp>
      <p:sp>
        <p:nvSpPr>
          <p:cNvPr id="3" name="Content Placeholder 2"/>
          <p:cNvSpPr>
            <a:spLocks noGrp="1"/>
          </p:cNvSpPr>
          <p:nvPr>
            <p:ph sz="quarter" idx="1"/>
          </p:nvPr>
        </p:nvSpPr>
        <p:spPr>
          <a:xfrm>
            <a:off x="457200" y="1357298"/>
            <a:ext cx="8229600" cy="5214974"/>
          </a:xfrm>
          <a:ln>
            <a:solidFill>
              <a:schemeClr val="tx1"/>
            </a:solidFill>
            <a:prstDash val="dashDot"/>
          </a:ln>
        </p:spPr>
        <p:txBody>
          <a:bodyPr>
            <a:normAutofit fontScale="55000" lnSpcReduction="20000"/>
          </a:bodyPr>
          <a:lstStyle/>
          <a:p>
            <a:pPr>
              <a:buNone/>
            </a:pPr>
            <a:r>
              <a:rPr lang="en-US" altLang="en-IN" sz="3275" b="1" dirty="0" smtClean="0"/>
              <a:t>THE ‘RED FLAGS’ </a:t>
            </a:r>
            <a:endParaRPr lang="en-US" altLang="en-IN" sz="3275" b="1" dirty="0" smtClean="0"/>
          </a:p>
          <a:p>
            <a:pPr>
              <a:buNone/>
            </a:pPr>
            <a:r>
              <a:rPr lang="en-IN" sz="3275" b="1" dirty="0" smtClean="0"/>
              <a:t>75% give clues to committing suicide.</a:t>
            </a:r>
            <a:endParaRPr lang="en-IN" sz="3275" b="1" dirty="0" smtClean="0"/>
          </a:p>
          <a:p>
            <a:pPr>
              <a:buNone/>
            </a:pPr>
            <a:endParaRPr lang="en-IN" sz="3800" dirty="0" smtClean="0"/>
          </a:p>
          <a:p>
            <a:pPr>
              <a:buNone/>
            </a:pPr>
            <a:r>
              <a:rPr lang="en-IN" sz="3800" dirty="0" smtClean="0"/>
              <a:t>1/  </a:t>
            </a:r>
            <a:r>
              <a:rPr lang="en-IN" sz="3800" b="1" dirty="0" smtClean="0"/>
              <a:t>Clues  </a:t>
            </a:r>
            <a:r>
              <a:rPr lang="en-IN" sz="3800" dirty="0" smtClean="0"/>
              <a:t>:  Verbal  clues  : Director or Indirect </a:t>
            </a:r>
            <a:endParaRPr lang="en-IN" sz="3800" dirty="0" smtClean="0"/>
          </a:p>
          <a:p>
            <a:pPr>
              <a:buNone/>
            </a:pPr>
            <a:r>
              <a:rPr lang="en-IN" sz="3800" dirty="0" smtClean="0"/>
              <a:t>	 </a:t>
            </a:r>
            <a:endParaRPr lang="en-IN" sz="3800" dirty="0" smtClean="0"/>
          </a:p>
          <a:p>
            <a:pPr>
              <a:buNone/>
            </a:pPr>
            <a:r>
              <a:rPr lang="en-IN" sz="3800" dirty="0" smtClean="0"/>
              <a:t>2/  </a:t>
            </a:r>
            <a:r>
              <a:rPr lang="en-IN" sz="3800" b="1" dirty="0" smtClean="0"/>
              <a:t>Behavioural</a:t>
            </a:r>
            <a:r>
              <a:rPr lang="en-IN" sz="3800" dirty="0" smtClean="0"/>
              <a:t>  –  </a:t>
            </a:r>
            <a:r>
              <a:rPr lang="en-IN" sz="3800" b="1" dirty="0" smtClean="0"/>
              <a:t>Dramatic mood swings or sudden personality changes</a:t>
            </a:r>
            <a:r>
              <a:rPr lang="en-IN" sz="3800" dirty="0" smtClean="0"/>
              <a:t>, such as </a:t>
            </a:r>
            <a:endParaRPr lang="en-IN" sz="3800" dirty="0" smtClean="0"/>
          </a:p>
          <a:p>
            <a:pPr>
              <a:buNone/>
            </a:pPr>
            <a:r>
              <a:rPr lang="en-IN" sz="3800" dirty="0" smtClean="0"/>
              <a:t>	(a) going from outgoing to withdrawn or </a:t>
            </a:r>
            <a:endParaRPr lang="en-IN" sz="3800" dirty="0" smtClean="0"/>
          </a:p>
          <a:p>
            <a:pPr>
              <a:buNone/>
            </a:pPr>
            <a:r>
              <a:rPr lang="en-IN" sz="3800" dirty="0" smtClean="0"/>
              <a:t>	(b) well-behaved to rebellious</a:t>
            </a:r>
            <a:endParaRPr lang="en-IN" sz="3800" dirty="0" smtClean="0"/>
          </a:p>
          <a:p>
            <a:pPr>
              <a:buNone/>
            </a:pPr>
            <a:r>
              <a:rPr lang="en-IN" sz="3800" dirty="0" smtClean="0"/>
              <a:t>	(c) lose interest in day-to-day activities, </a:t>
            </a:r>
            <a:endParaRPr lang="en-IN" sz="3800" dirty="0" smtClean="0"/>
          </a:p>
          <a:p>
            <a:pPr>
              <a:buNone/>
            </a:pPr>
            <a:r>
              <a:rPr lang="en-IN" sz="3800" dirty="0" smtClean="0"/>
              <a:t>	(d) neglect his or her appearance, and </a:t>
            </a:r>
            <a:endParaRPr lang="en-IN" sz="3800" dirty="0" smtClean="0"/>
          </a:p>
          <a:p>
            <a:pPr>
              <a:buNone/>
            </a:pPr>
            <a:r>
              <a:rPr lang="en-IN" sz="3800" dirty="0" smtClean="0"/>
              <a:t>	(e) show big changes in eating or sleeping habits. </a:t>
            </a:r>
            <a:endParaRPr lang="en-IN" sz="3800" dirty="0" smtClean="0"/>
          </a:p>
          <a:p>
            <a:pPr>
              <a:buNone/>
            </a:pPr>
            <a:endParaRPr lang="en-IN" sz="3800" dirty="0" smtClean="0"/>
          </a:p>
          <a:p>
            <a:pPr>
              <a:buNone/>
            </a:pPr>
            <a:r>
              <a:rPr lang="en-IN" sz="3800" dirty="0" smtClean="0"/>
              <a:t>3/  </a:t>
            </a:r>
            <a:r>
              <a:rPr lang="en-IN" sz="3800" b="1" dirty="0" smtClean="0"/>
              <a:t>Resources -  C</a:t>
            </a:r>
            <a:r>
              <a:rPr lang="en-IN" sz="3800" dirty="0" smtClean="0"/>
              <a:t>ontacts in legal, govt offices, spiritual circles.</a:t>
            </a:r>
            <a:endParaRPr lang="en-IN" sz="3800" dirty="0" smtClean="0"/>
          </a:p>
          <a:p>
            <a:pPr>
              <a:buNone/>
            </a:pPr>
            <a:r>
              <a:rPr lang="en-IN" sz="3800" dirty="0" smtClean="0"/>
              <a:t>	</a:t>
            </a:r>
            <a:r>
              <a:rPr lang="en-US" altLang="en-IN" sz="3800" dirty="0" smtClean="0"/>
              <a:t>  </a:t>
            </a:r>
            <a:r>
              <a:rPr lang="en-IN" sz="3800" dirty="0" smtClean="0"/>
              <a:t>Seeking access to medicines, poison, pesticides, knives, firearms, </a:t>
            </a:r>
            <a:r>
              <a:rPr lang="en-US" altLang="en-IN" sz="3800" dirty="0" smtClean="0"/>
              <a:t>    </a:t>
            </a:r>
            <a:r>
              <a:rPr lang="en-IN" sz="3800" dirty="0" smtClean="0"/>
              <a:t>Kerosene or other objects that could be used in a suicide attempt.</a:t>
            </a:r>
            <a:endParaRPr lang="en-IN" sz="3800" dirty="0" smtClean="0"/>
          </a:p>
          <a:p>
            <a:pPr>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sz="3600" dirty="0" smtClean="0"/>
              <a:t>How to identify the clues (Cont’d----)</a:t>
            </a:r>
            <a:endParaRPr lang="en-IN" sz="3600" dirty="0"/>
          </a:p>
        </p:txBody>
      </p:sp>
      <p:sp>
        <p:nvSpPr>
          <p:cNvPr id="3" name="Content Placeholder 2"/>
          <p:cNvSpPr>
            <a:spLocks noGrp="1"/>
          </p:cNvSpPr>
          <p:nvPr>
            <p:ph sz="quarter" idx="1"/>
          </p:nvPr>
        </p:nvSpPr>
        <p:spPr>
          <a:xfrm>
            <a:off x="457200" y="1071546"/>
            <a:ext cx="8229600" cy="5054617"/>
          </a:xfrm>
          <a:ln>
            <a:solidFill>
              <a:schemeClr val="accent1"/>
            </a:solidFill>
            <a:prstDash val="dashDot"/>
          </a:ln>
        </p:spPr>
        <p:txBody>
          <a:bodyPr>
            <a:normAutofit fontScale="62500" lnSpcReduction="20000"/>
          </a:bodyPr>
          <a:lstStyle/>
          <a:p>
            <a:pPr>
              <a:buNone/>
            </a:pPr>
            <a:r>
              <a:rPr lang="en-IN" dirty="0" smtClean="0"/>
              <a:t>4/  </a:t>
            </a:r>
            <a:r>
              <a:rPr lang="en-US" altLang="en-IN" dirty="0" smtClean="0"/>
              <a:t>	</a:t>
            </a:r>
            <a:r>
              <a:rPr lang="en-IN" b="1" dirty="0" smtClean="0"/>
              <a:t>Situational	-         	</a:t>
            </a:r>
            <a:r>
              <a:rPr lang="en-IN" dirty="0" smtClean="0"/>
              <a:t>Depending on the situation </a:t>
            </a:r>
            <a:r>
              <a:rPr lang="en-IN" b="1" dirty="0" smtClean="0"/>
              <a:t>-</a:t>
            </a:r>
            <a:endParaRPr lang="en-IN" dirty="0" smtClean="0"/>
          </a:p>
          <a:p>
            <a:pPr>
              <a:buNone/>
            </a:pPr>
            <a:r>
              <a:rPr lang="en-IN" dirty="0" smtClean="0"/>
              <a:t>5/ </a:t>
            </a:r>
            <a:r>
              <a:rPr lang="en-US" altLang="en-IN" dirty="0" smtClean="0"/>
              <a:t>		</a:t>
            </a:r>
            <a:r>
              <a:rPr lang="en-IN" dirty="0" smtClean="0"/>
              <a:t> </a:t>
            </a:r>
            <a:r>
              <a:rPr lang="en-IN" b="1" dirty="0" smtClean="0"/>
              <a:t>Descriptive</a:t>
            </a:r>
            <a:r>
              <a:rPr lang="en-IN" dirty="0" smtClean="0"/>
              <a:t>            -	Very young</a:t>
            </a:r>
            <a:endParaRPr lang="en-IN" dirty="0" smtClean="0"/>
          </a:p>
          <a:p>
            <a:pPr>
              <a:buNone/>
            </a:pPr>
            <a:r>
              <a:rPr lang="en-IN" dirty="0" smtClean="0"/>
              <a:t>6/ </a:t>
            </a:r>
            <a:r>
              <a:rPr lang="en-US" altLang="en-IN" dirty="0" smtClean="0"/>
              <a:t>	</a:t>
            </a:r>
            <a:r>
              <a:rPr lang="en-IN" b="1" dirty="0" smtClean="0"/>
              <a:t>Symptomatic 	  </a:t>
            </a:r>
            <a:endParaRPr lang="en-IN" b="1" dirty="0" smtClean="0"/>
          </a:p>
          <a:p>
            <a:pPr>
              <a:buNone/>
            </a:pPr>
            <a:r>
              <a:rPr lang="en-IN" b="1" dirty="0" smtClean="0"/>
              <a:t>		 </a:t>
            </a:r>
            <a:r>
              <a:rPr lang="en-IN" b="1" u="sng" dirty="0" smtClean="0"/>
              <a:t>Unhealthy				Healthy</a:t>
            </a:r>
            <a:endParaRPr lang="en-IN" dirty="0" smtClean="0"/>
          </a:p>
          <a:p>
            <a:pPr>
              <a:buNone/>
            </a:pPr>
            <a:r>
              <a:rPr lang="en-IN" dirty="0" smtClean="0"/>
              <a:t>	</a:t>
            </a:r>
            <a:r>
              <a:rPr lang="en-IN" sz="3800" dirty="0" err="1" smtClean="0"/>
              <a:t>i</a:t>
            </a:r>
            <a:r>
              <a:rPr lang="en-IN" sz="3800" dirty="0" smtClean="0"/>
              <a:t>	Deny				Own &amp; Accept </a:t>
            </a:r>
            <a:endParaRPr lang="en-IN" sz="3800" dirty="0" smtClean="0"/>
          </a:p>
          <a:p>
            <a:pPr>
              <a:buNone/>
            </a:pPr>
            <a:r>
              <a:rPr lang="en-IN" sz="3800" dirty="0" smtClean="0"/>
              <a:t>	ii/	Not do anything	</a:t>
            </a:r>
            <a:r>
              <a:rPr lang="en-US" altLang="en-IN" sz="3800" dirty="0" smtClean="0"/>
              <a:t>          </a:t>
            </a:r>
            <a:r>
              <a:rPr lang="en-IN" sz="3800" dirty="0" smtClean="0"/>
              <a:t>Will Do something about it</a:t>
            </a:r>
            <a:endParaRPr lang="en-IN" sz="3800" dirty="0" smtClean="0"/>
          </a:p>
          <a:p>
            <a:pPr>
              <a:buNone/>
            </a:pPr>
            <a:endParaRPr lang="en-IN" sz="3800" dirty="0" smtClean="0"/>
          </a:p>
          <a:p>
            <a:pPr>
              <a:buNone/>
            </a:pPr>
            <a:r>
              <a:rPr lang="en-IN" sz="3800" dirty="0" smtClean="0"/>
              <a:t>	iii/	Does not seek help when 	Seeks help beyond 		problem gets worse		himself. </a:t>
            </a:r>
            <a:endParaRPr lang="en-IN" sz="3800" dirty="0" smtClean="0"/>
          </a:p>
          <a:p>
            <a:pPr>
              <a:buNone/>
            </a:pPr>
            <a:endParaRPr lang="en-IN" sz="3800" dirty="0" smtClean="0"/>
          </a:p>
          <a:p>
            <a:pPr>
              <a:buNone/>
            </a:pPr>
            <a:r>
              <a:rPr lang="en-IN" sz="3800" dirty="0" smtClean="0"/>
              <a:t>	iv/	Problem gets worse,		When help is given 		does not accept help		accepts it.		</a:t>
            </a:r>
            <a:endParaRPr lang="en-IN" sz="3800" dirty="0" smtClean="0"/>
          </a:p>
          <a:p>
            <a:pPr>
              <a:buNone/>
            </a:pPr>
            <a:endParaRPr lang="en-IN" sz="3800" dirty="0" smtClean="0"/>
          </a:p>
          <a:p>
            <a:pPr>
              <a:buNone/>
            </a:pPr>
            <a:r>
              <a:rPr lang="en-IN" sz="3800" dirty="0" smtClean="0"/>
              <a:t>	v/	No change 			Leads  to change.</a:t>
            </a:r>
            <a:endParaRPr lang="en-IN" sz="3800" dirty="0" smtClean="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870" y="256540"/>
            <a:ext cx="8229600" cy="989330"/>
          </a:xfrm>
        </p:spPr>
        <p:txBody>
          <a:bodyPr>
            <a:normAutofit fontScale="90000"/>
          </a:bodyPr>
          <a:lstStyle/>
          <a:p>
            <a:r>
              <a:rPr lang="en-US" sz="3200" b="1" dirty="0" smtClean="0"/>
              <a:t>TEENS </a:t>
            </a:r>
            <a:r>
              <a:rPr lang="en-US" sz="3200" dirty="0" smtClean="0"/>
              <a:t>: HOW TO IDENTIFY THE SUICIDAL WARNING CLUES</a:t>
            </a:r>
            <a:r>
              <a:rPr lang="en-US" sz="3200" b="1" dirty="0" smtClean="0"/>
              <a:t> in Teens </a:t>
            </a:r>
            <a:r>
              <a:rPr lang="en-US" sz="3200" dirty="0" smtClean="0"/>
              <a:t>(Cont’d…)</a:t>
            </a:r>
            <a:endParaRPr lang="en-US" sz="3200" dirty="0" smtClean="0"/>
          </a:p>
        </p:txBody>
      </p:sp>
      <p:sp>
        <p:nvSpPr>
          <p:cNvPr id="5" name="Content Placeholder 4"/>
          <p:cNvSpPr>
            <a:spLocks noGrp="1"/>
          </p:cNvSpPr>
          <p:nvPr>
            <p:ph sz="quarter" idx="1"/>
          </p:nvPr>
        </p:nvSpPr>
        <p:spPr>
          <a:xfrm>
            <a:off x="457200" y="1357298"/>
            <a:ext cx="8229600" cy="4768865"/>
          </a:xfrm>
          <a:ln>
            <a:solidFill>
              <a:schemeClr val="tx1"/>
            </a:solidFill>
            <a:prstDash val="dashDot"/>
          </a:ln>
        </p:spPr>
        <p:txBody>
          <a:bodyPr>
            <a:normAutofit fontScale="92500" lnSpcReduction="20000"/>
          </a:bodyPr>
          <a:lstStyle/>
          <a:p>
            <a:pPr lvl="0"/>
            <a:endParaRPr lang="en-IN" dirty="0" smtClean="0"/>
          </a:p>
          <a:p>
            <a:pPr lvl="0"/>
            <a:r>
              <a:rPr lang="en-IN" dirty="0" smtClean="0"/>
              <a:t>Change in eating and sleeping habits </a:t>
            </a:r>
            <a:endParaRPr lang="en-IN" dirty="0" smtClean="0"/>
          </a:p>
          <a:p>
            <a:pPr lvl="0"/>
            <a:r>
              <a:rPr lang="en-IN" dirty="0" smtClean="0"/>
              <a:t>Withdrawal from friends, family, and regular activities</a:t>
            </a:r>
            <a:endParaRPr lang="en-IN" dirty="0" smtClean="0"/>
          </a:p>
          <a:p>
            <a:pPr lvl="0"/>
            <a:r>
              <a:rPr lang="en-IN" dirty="0" smtClean="0"/>
              <a:t>Violent or rebellious behaviour, running away </a:t>
            </a:r>
            <a:endParaRPr lang="en-IN" dirty="0" smtClean="0"/>
          </a:p>
          <a:p>
            <a:pPr lvl="0"/>
            <a:r>
              <a:rPr lang="en-IN" dirty="0" smtClean="0"/>
              <a:t>Drug and alcohol use</a:t>
            </a:r>
            <a:endParaRPr lang="en-IN" dirty="0" smtClean="0"/>
          </a:p>
          <a:p>
            <a:pPr lvl="0"/>
            <a:r>
              <a:rPr lang="en-IN" dirty="0" smtClean="0"/>
              <a:t>Unusual neglect of personal appearance </a:t>
            </a:r>
            <a:endParaRPr lang="en-IN" dirty="0" smtClean="0"/>
          </a:p>
          <a:p>
            <a:pPr lvl="0"/>
            <a:r>
              <a:rPr lang="en-IN" dirty="0" smtClean="0"/>
              <a:t>Persistent boredom, difficulty concentrating, or a decline in the quality of schoolwork </a:t>
            </a:r>
            <a:endParaRPr lang="en-IN" dirty="0" smtClean="0"/>
          </a:p>
          <a:p>
            <a:pPr lvl="0"/>
            <a:r>
              <a:rPr lang="en-IN" dirty="0" smtClean="0"/>
              <a:t>Frequent complaints about physical symptoms, often related to emotions, such as stomach aches, headaches, fatigue, etc. </a:t>
            </a:r>
            <a:endParaRPr lang="en-IN" dirty="0" smtClean="0"/>
          </a:p>
          <a:p>
            <a:pPr lvl="0"/>
            <a:r>
              <a:rPr lang="en-IN" dirty="0" smtClean="0"/>
              <a:t>Not tolerating praise or rewards </a:t>
            </a:r>
            <a:endParaRPr lang="en-IN" dirty="0" smtClean="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642942"/>
          </a:xfrm>
        </p:spPr>
        <p:txBody>
          <a:bodyPr>
            <a:normAutofit/>
          </a:bodyPr>
          <a:lstStyle/>
          <a:p>
            <a:r>
              <a:rPr lang="en-US" sz="3600" dirty="0" smtClean="0"/>
              <a:t>XI  COUNSELLING THE SUICIDAL</a:t>
            </a:r>
            <a:endParaRPr lang="en-IN" sz="3600" dirty="0"/>
          </a:p>
        </p:txBody>
      </p:sp>
      <p:sp>
        <p:nvSpPr>
          <p:cNvPr id="5" name="Content Placeholder 4"/>
          <p:cNvSpPr>
            <a:spLocks noGrp="1"/>
          </p:cNvSpPr>
          <p:nvPr>
            <p:ph sz="quarter" idx="1"/>
          </p:nvPr>
        </p:nvSpPr>
        <p:spPr>
          <a:xfrm>
            <a:off x="428596" y="1285860"/>
            <a:ext cx="8229600" cy="5286412"/>
          </a:xfrm>
          <a:ln>
            <a:solidFill>
              <a:schemeClr val="tx1"/>
            </a:solidFill>
            <a:prstDash val="dashDot"/>
          </a:ln>
        </p:spPr>
        <p:txBody>
          <a:bodyPr>
            <a:normAutofit fontScale="92500" lnSpcReduction="10000"/>
          </a:bodyPr>
          <a:lstStyle/>
          <a:p>
            <a:pPr>
              <a:buNone/>
            </a:pPr>
            <a:r>
              <a:rPr lang="en-US" dirty="0" smtClean="0"/>
              <a:t>Case Study : a) </a:t>
            </a:r>
            <a:r>
              <a:rPr lang="en-US" dirty="0" err="1" smtClean="0"/>
              <a:t>Sudha’s</a:t>
            </a:r>
            <a:r>
              <a:rPr lang="en-US" dirty="0" smtClean="0"/>
              <a:t>  and  b) King’s.</a:t>
            </a:r>
            <a:endParaRPr lang="en-US" dirty="0" smtClean="0"/>
          </a:p>
          <a:p>
            <a:pPr>
              <a:buNone/>
            </a:pPr>
            <a:r>
              <a:rPr lang="en-IN" b="1" dirty="0" smtClean="0"/>
              <a:t>1/	Educational Counselling</a:t>
            </a:r>
            <a:endParaRPr lang="en-IN" dirty="0" smtClean="0"/>
          </a:p>
          <a:p>
            <a:pPr>
              <a:buNone/>
            </a:pPr>
            <a:r>
              <a:rPr lang="en-IN" dirty="0" smtClean="0"/>
              <a:t>		</a:t>
            </a:r>
            <a:r>
              <a:rPr lang="en-IN" sz="2800" dirty="0" smtClean="0"/>
              <a:t>In today’s world of growing technology, and competing to get the best out of life, education, career, promotions etc. by whatever means, the child goes through Stress in keeping up catching up with his/her parents’ expectations in studies.  </a:t>
            </a:r>
            <a:endParaRPr lang="en-IN" sz="2800" dirty="0" smtClean="0"/>
          </a:p>
          <a:p>
            <a:pPr>
              <a:buNone/>
            </a:pPr>
            <a:r>
              <a:rPr lang="en-US" sz="2800" dirty="0" smtClean="0"/>
              <a:t>	Study of suicidal cases, have shown that :</a:t>
            </a:r>
            <a:r>
              <a:rPr lang="en-US" dirty="0" smtClean="0"/>
              <a:t> </a:t>
            </a:r>
            <a:endParaRPr lang="en-IN" dirty="0" smtClean="0"/>
          </a:p>
          <a:p>
            <a:pPr>
              <a:buNone/>
            </a:pPr>
            <a:r>
              <a:rPr lang="en-IN" b="1" dirty="0" smtClean="0"/>
              <a:t>	a/	Parental Maturity is lacking</a:t>
            </a:r>
            <a:endParaRPr lang="en-IN" dirty="0" smtClean="0"/>
          </a:p>
          <a:p>
            <a:pPr>
              <a:buNone/>
            </a:pPr>
            <a:r>
              <a:rPr lang="en-IN" b="1" dirty="0" smtClean="0"/>
              <a:t>	b/	Expectations are high from parents – </a:t>
            </a:r>
            <a:r>
              <a:rPr lang="en-IN" b="1" dirty="0" err="1" smtClean="0"/>
              <a:t>Westism</a:t>
            </a:r>
            <a:endParaRPr lang="en-IN" dirty="0" smtClean="0"/>
          </a:p>
          <a:p>
            <a:pPr>
              <a:buNone/>
            </a:pPr>
            <a:r>
              <a:rPr lang="en-IN" b="1" dirty="0" smtClean="0"/>
              <a:t>	c/	Comparing with other children, youth.</a:t>
            </a:r>
            <a:endParaRPr lang="en-IN" dirty="0" smtClean="0"/>
          </a:p>
          <a:p>
            <a:pPr>
              <a:buNone/>
            </a:pPr>
            <a:r>
              <a:rPr lang="en-IN" b="1" dirty="0" smtClean="0"/>
              <a:t>	d/	How to fail or lose gracefully.</a:t>
            </a:r>
            <a:endParaRPr lang="en-IN" b="1" dirty="0" smtClean="0"/>
          </a:p>
          <a:p>
            <a:pPr>
              <a:buNone/>
            </a:pP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0"/>
            <a:ext cx="8534400" cy="1242060"/>
          </a:xfrm>
        </p:spPr>
        <p:txBody>
          <a:bodyPr>
            <a:noAutofit/>
          </a:bodyPr>
          <a:lstStyle/>
          <a:p>
            <a:br>
              <a:rPr lang="en-IN" sz="3600" dirty="0" smtClean="0"/>
            </a:br>
            <a:br>
              <a:rPr lang="en-IN" sz="3600" dirty="0" smtClean="0"/>
            </a:br>
            <a:br>
              <a:rPr lang="en-IN" sz="3600" dirty="0" smtClean="0"/>
            </a:br>
            <a:r>
              <a:rPr lang="en-IN" sz="3600" dirty="0" smtClean="0"/>
              <a:t>1/	Educational Counselling</a:t>
            </a:r>
            <a:br>
              <a:rPr lang="en-IN" sz="3600" dirty="0" smtClean="0"/>
            </a:br>
            <a:r>
              <a:rPr lang="en-IN" sz="3600" dirty="0" smtClean="0"/>
              <a:t>The ‘HOW’</a:t>
            </a:r>
            <a:endParaRPr lang="en-IN" sz="3600" dirty="0"/>
          </a:p>
        </p:txBody>
      </p:sp>
      <p:sp>
        <p:nvSpPr>
          <p:cNvPr id="3" name="Content Placeholder 2"/>
          <p:cNvSpPr>
            <a:spLocks noGrp="1"/>
          </p:cNvSpPr>
          <p:nvPr>
            <p:ph sz="quarter" idx="1"/>
          </p:nvPr>
        </p:nvSpPr>
        <p:spPr>
          <a:xfrm>
            <a:off x="500034" y="1357298"/>
            <a:ext cx="8286808" cy="5214974"/>
          </a:xfrm>
          <a:ln>
            <a:solidFill>
              <a:schemeClr val="tx1"/>
            </a:solidFill>
            <a:prstDash val="lgDashDot"/>
          </a:ln>
        </p:spPr>
        <p:txBody>
          <a:bodyPr>
            <a:normAutofit fontScale="85000" lnSpcReduction="10000"/>
          </a:bodyPr>
          <a:lstStyle/>
          <a:p>
            <a:r>
              <a:rPr lang="en-IN" sz="3300" dirty="0" smtClean="0"/>
              <a:t>Organise  Seminars, Lectures, Workshops  about Suicide Awareness, Suicide Prevention, Counselling and Social Change, How to fail/lose gracefully; etc.,  </a:t>
            </a:r>
            <a:endParaRPr lang="en-IN" sz="3300" dirty="0" smtClean="0"/>
          </a:p>
          <a:p>
            <a:pPr>
              <a:buNone/>
            </a:pPr>
            <a:r>
              <a:rPr lang="en-IN" sz="3300" dirty="0" smtClean="0"/>
              <a:t>		a/	through   Lions, Alumni Assn Clubs etc. </a:t>
            </a:r>
            <a:endParaRPr lang="en-IN" sz="3300" dirty="0" smtClean="0"/>
          </a:p>
          <a:p>
            <a:pPr>
              <a:buNone/>
            </a:pPr>
            <a:r>
              <a:rPr lang="en-IN" sz="3300" dirty="0" smtClean="0"/>
              <a:t>		b/	through  Schools, Colleges, Orphanages</a:t>
            </a:r>
            <a:endParaRPr lang="en-IN" sz="3300" dirty="0" smtClean="0"/>
          </a:p>
          <a:p>
            <a:pPr>
              <a:buNone/>
            </a:pPr>
            <a:r>
              <a:rPr lang="en-IN" sz="3300" dirty="0" smtClean="0"/>
              <a:t>		c/	in  Churches, Youth Meetings, </a:t>
            </a:r>
            <a:r>
              <a:rPr lang="en-US" altLang="en-IN" sz="3300" dirty="0" smtClean="0"/>
              <a:t>			</a:t>
            </a:r>
            <a:r>
              <a:rPr lang="en-IN" sz="3300" dirty="0" smtClean="0"/>
              <a:t>Children’s Bible School etc.,</a:t>
            </a:r>
            <a:endParaRPr lang="en-IN" sz="3300" dirty="0" smtClean="0"/>
          </a:p>
          <a:p>
            <a:pPr>
              <a:buNone/>
            </a:pPr>
            <a:r>
              <a:rPr lang="en-IN" sz="3300" dirty="0" smtClean="0"/>
              <a:t>		d/	</a:t>
            </a:r>
            <a:r>
              <a:rPr lang="en-IN" sz="3300" dirty="0" err="1" smtClean="0"/>
              <a:t>Rallys</a:t>
            </a:r>
            <a:r>
              <a:rPr lang="en-IN" sz="3300" dirty="0" smtClean="0"/>
              <a:t>, Walks, etc. Spreading awareness.</a:t>
            </a:r>
            <a:endParaRPr lang="en-IN" sz="3300" dirty="0" smtClean="0"/>
          </a:p>
          <a:p>
            <a:pPr>
              <a:buNone/>
            </a:pPr>
            <a:r>
              <a:rPr lang="en-IN" sz="3300" dirty="0" smtClean="0"/>
              <a:t>		e/	Distributing  Leaflets / Pamphlets</a:t>
            </a:r>
            <a:endParaRPr lang="en-IN" sz="3300" dirty="0" smtClean="0"/>
          </a:p>
          <a:p>
            <a:pPr>
              <a:buNone/>
            </a:pPr>
            <a:r>
              <a:rPr lang="en-IN" sz="3300" dirty="0" smtClean="0"/>
              <a:t>		f/	Through Emails/</a:t>
            </a:r>
            <a:r>
              <a:rPr lang="en-IN" sz="3300" dirty="0" err="1" smtClean="0"/>
              <a:t>Facebook</a:t>
            </a:r>
            <a:r>
              <a:rPr lang="en-IN" sz="3300" dirty="0" smtClean="0"/>
              <a:t>/ etc.</a:t>
            </a:r>
            <a:endParaRPr lang="en-IN" sz="3300" dirty="0" smtClean="0"/>
          </a:p>
          <a:p>
            <a:pPr>
              <a:buNone/>
            </a:pP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XI   2)	SUPPORTIVE COUNSELLING </a:t>
            </a:r>
            <a:endParaRPr lang="en-IN" dirty="0"/>
          </a:p>
        </p:txBody>
      </p:sp>
      <p:sp>
        <p:nvSpPr>
          <p:cNvPr id="3" name="Content Placeholder 2"/>
          <p:cNvSpPr>
            <a:spLocks noGrp="1"/>
          </p:cNvSpPr>
          <p:nvPr>
            <p:ph sz="quarter" idx="1"/>
          </p:nvPr>
        </p:nvSpPr>
        <p:spPr>
          <a:ln>
            <a:solidFill>
              <a:schemeClr val="tx1"/>
            </a:solidFill>
            <a:prstDash val="dashDot"/>
          </a:ln>
        </p:spPr>
        <p:txBody>
          <a:bodyPr/>
          <a:lstStyle/>
          <a:p>
            <a:pPr>
              <a:buNone/>
            </a:pPr>
            <a:r>
              <a:rPr lang="en-US" dirty="0" smtClean="0"/>
              <a:t>1/	Family</a:t>
            </a:r>
            <a:endParaRPr lang="en-US" dirty="0" smtClean="0"/>
          </a:p>
          <a:p>
            <a:pPr>
              <a:buNone/>
            </a:pPr>
            <a:r>
              <a:rPr lang="en-US" dirty="0" smtClean="0"/>
              <a:t>2/	Teachers, Lecturers, Professors, Pastors, 	Youth 	Pastors etc.</a:t>
            </a:r>
            <a:endParaRPr lang="en-US" dirty="0" smtClean="0"/>
          </a:p>
          <a:p>
            <a:pPr>
              <a:buNone/>
            </a:pPr>
            <a:r>
              <a:rPr lang="en-US" dirty="0" smtClean="0"/>
              <a:t>3/	Peer Group Support and </a:t>
            </a:r>
            <a:r>
              <a:rPr lang="en-US" dirty="0" err="1" smtClean="0"/>
              <a:t>Counselling</a:t>
            </a:r>
            <a:r>
              <a:rPr lang="en-US" dirty="0" smtClean="0"/>
              <a:t> </a:t>
            </a:r>
            <a:endParaRPr lang="en-US" dirty="0" smtClean="0"/>
          </a:p>
          <a:p>
            <a:pPr>
              <a:buNone/>
            </a:pPr>
            <a:endParaRPr lang="en-US" dirty="0" smtClean="0"/>
          </a:p>
          <a:p>
            <a:pPr>
              <a:buNone/>
            </a:pPr>
            <a:r>
              <a:rPr lang="en-US" dirty="0" smtClean="0"/>
              <a:t>		Those at the highest risk for committing suicide in the near future have a specific </a:t>
            </a:r>
            <a:r>
              <a:rPr lang="en-US" b="1" dirty="0" smtClean="0"/>
              <a:t>PLAN,</a:t>
            </a:r>
            <a:r>
              <a:rPr lang="en-US" dirty="0" smtClean="0"/>
              <a:t> the </a:t>
            </a:r>
            <a:r>
              <a:rPr lang="en-US" b="1" dirty="0" smtClean="0"/>
              <a:t>MEANS</a:t>
            </a:r>
            <a:r>
              <a:rPr lang="en-US" dirty="0" smtClean="0"/>
              <a:t> to carry out, a </a:t>
            </a:r>
            <a:r>
              <a:rPr lang="en-US" b="1" dirty="0" smtClean="0"/>
              <a:t>TIME SET </a:t>
            </a:r>
            <a:r>
              <a:rPr lang="en-US" dirty="0" smtClean="0"/>
              <a:t>for doing it,  and an </a:t>
            </a:r>
            <a:r>
              <a:rPr lang="en-US" b="1" dirty="0" smtClean="0"/>
              <a:t>INTENTION</a:t>
            </a:r>
            <a:r>
              <a:rPr lang="en-US" dirty="0" smtClean="0"/>
              <a:t> </a:t>
            </a:r>
            <a:r>
              <a:rPr lang="en-US" b="1" dirty="0" smtClean="0"/>
              <a:t>TO DO IT</a:t>
            </a:r>
            <a:r>
              <a:rPr lang="en-US" dirty="0" smtClean="0"/>
              <a:t>.</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XI  3) RE-CONSTRUCTIVE COUNSELLING</a:t>
            </a:r>
            <a:endParaRPr lang="en-IN" sz="3600" dirty="0"/>
          </a:p>
        </p:txBody>
      </p:sp>
      <p:sp>
        <p:nvSpPr>
          <p:cNvPr id="3" name="Content Placeholder 2"/>
          <p:cNvSpPr>
            <a:spLocks noGrp="1"/>
          </p:cNvSpPr>
          <p:nvPr>
            <p:ph sz="quarter" idx="1"/>
          </p:nvPr>
        </p:nvSpPr>
        <p:spPr>
          <a:xfrm>
            <a:off x="457200" y="1285860"/>
            <a:ext cx="8229600" cy="4840303"/>
          </a:xfrm>
          <a:ln>
            <a:solidFill>
              <a:schemeClr val="tx1"/>
            </a:solidFill>
            <a:prstDash val="dashDot"/>
          </a:ln>
        </p:spPr>
        <p:txBody>
          <a:bodyPr>
            <a:normAutofit/>
          </a:bodyPr>
          <a:lstStyle/>
          <a:p>
            <a:pPr>
              <a:buNone/>
            </a:pPr>
            <a:r>
              <a:rPr lang="en-US" dirty="0" smtClean="0"/>
              <a:t>a/ Client Centered </a:t>
            </a:r>
            <a:r>
              <a:rPr lang="en-US" dirty="0" err="1" smtClean="0"/>
              <a:t>Counselling</a:t>
            </a:r>
            <a:endParaRPr lang="en-US" dirty="0" smtClean="0"/>
          </a:p>
          <a:p>
            <a:pPr>
              <a:buNone/>
            </a:pPr>
            <a:endParaRPr lang="en-US" dirty="0" smtClean="0"/>
          </a:p>
          <a:p>
            <a:pPr>
              <a:buNone/>
            </a:pPr>
            <a:r>
              <a:rPr lang="en-US" dirty="0" smtClean="0"/>
              <a:t>b/ REBT : The Rational Emotive </a:t>
            </a:r>
            <a:r>
              <a:rPr lang="en-US" dirty="0" err="1" smtClean="0"/>
              <a:t>Behaviour</a:t>
            </a:r>
            <a:r>
              <a:rPr lang="en-US" dirty="0" smtClean="0"/>
              <a:t> Therapy</a:t>
            </a:r>
            <a:endParaRPr lang="en-US" dirty="0" smtClean="0"/>
          </a:p>
          <a:p>
            <a:pPr>
              <a:buNone/>
            </a:pPr>
            <a:endParaRPr lang="en-US" dirty="0" smtClean="0"/>
          </a:p>
          <a:p>
            <a:pPr>
              <a:buNone/>
            </a:pPr>
            <a:r>
              <a:rPr lang="en-US" dirty="0" smtClean="0"/>
              <a:t>c/ MBTI : Myers &amp;: Briggs Type Indicator</a:t>
            </a:r>
            <a:endParaRPr lang="en-US" dirty="0" smtClean="0"/>
          </a:p>
          <a:p>
            <a:pPr>
              <a:buNone/>
            </a:pPr>
            <a:endParaRPr lang="en-US" dirty="0" smtClean="0"/>
          </a:p>
          <a:p>
            <a:pPr>
              <a:buNone/>
            </a:pPr>
            <a:r>
              <a:rPr lang="en-US" dirty="0" smtClean="0"/>
              <a:t>d/Forgiveness (Relaxation &amp; Imagery) therapy</a:t>
            </a:r>
            <a:endParaRPr lang="en-US" dirty="0" smtClean="0"/>
          </a:p>
          <a:p>
            <a:pPr>
              <a:buNone/>
            </a:pPr>
            <a:endParaRPr lang="en-US" dirty="0" smtClean="0"/>
          </a:p>
          <a:p>
            <a:pPr>
              <a:buNone/>
            </a:pPr>
            <a:r>
              <a:rPr lang="en-US" dirty="0" smtClean="0"/>
              <a:t>e/ The Gestalt method</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CAN I DO ?</a:t>
            </a:r>
            <a:endParaRPr lang="en-IN" dirty="0"/>
          </a:p>
        </p:txBody>
      </p:sp>
      <p:sp>
        <p:nvSpPr>
          <p:cNvPr id="3" name="Content Placeholder 2"/>
          <p:cNvSpPr>
            <a:spLocks noGrp="1"/>
          </p:cNvSpPr>
          <p:nvPr>
            <p:ph sz="quarter" idx="1"/>
          </p:nvPr>
        </p:nvSpPr>
        <p:spPr>
          <a:xfrm>
            <a:off x="301625" y="1049655"/>
            <a:ext cx="8503920" cy="5049520"/>
          </a:xfrm>
          <a:ln>
            <a:solidFill>
              <a:schemeClr val="tx1"/>
            </a:solidFill>
            <a:prstDash val="dashDot"/>
          </a:ln>
        </p:spPr>
        <p:txBody>
          <a:bodyPr>
            <a:normAutofit/>
          </a:bodyPr>
          <a:lstStyle/>
          <a:p>
            <a:r>
              <a:rPr lang="en-US" dirty="0" smtClean="0"/>
              <a:t>(Brainstorming)</a:t>
            </a:r>
            <a:endParaRPr lang="en-US" dirty="0" smtClean="0"/>
          </a:p>
          <a:p>
            <a:endParaRPr lang="en-US" dirty="0" smtClean="0"/>
          </a:p>
          <a:p>
            <a:r>
              <a:rPr lang="en-US" dirty="0" smtClean="0"/>
              <a:t>World Suicide Prevention Day,  10</a:t>
            </a:r>
            <a:r>
              <a:rPr lang="en-US" baseline="30000" dirty="0" smtClean="0"/>
              <a:t>th</a:t>
            </a:r>
            <a:r>
              <a:rPr lang="en-US" dirty="0" smtClean="0"/>
              <a:t> </a:t>
            </a:r>
            <a:endParaRPr lang="en-US" dirty="0" smtClean="0"/>
          </a:p>
          <a:p>
            <a:pPr>
              <a:buNone/>
            </a:pPr>
            <a:r>
              <a:rPr lang="en-US" dirty="0" smtClean="0"/>
              <a:t>	September </a:t>
            </a:r>
            <a:endParaRPr lang="en-US" dirty="0" smtClean="0"/>
          </a:p>
          <a:p>
            <a:pPr>
              <a:buNone/>
            </a:pPr>
            <a:endParaRPr lang="en-US" dirty="0" smtClean="0"/>
          </a:p>
          <a:p>
            <a:r>
              <a:rPr lang="en-US" dirty="0" smtClean="0"/>
              <a:t>Spread Awareness</a:t>
            </a:r>
            <a:endParaRPr lang="en-US" dirty="0" smtClean="0"/>
          </a:p>
          <a:p>
            <a:endParaRPr lang="en-US" dirty="0" smtClean="0"/>
          </a:p>
          <a:p>
            <a:r>
              <a:rPr lang="en-US" dirty="0" smtClean="0"/>
              <a:t>Be Empathetic</a:t>
            </a:r>
            <a:endParaRPr lang="en-US" dirty="0" smtClean="0"/>
          </a:p>
          <a:p>
            <a:endParaRPr lang="en-US" dirty="0" smtClean="0"/>
          </a:p>
          <a:p>
            <a:r>
              <a:rPr lang="en-US" dirty="0" smtClean="0"/>
              <a:t>LISTEN, listen and listen </a:t>
            </a:r>
            <a:endParaRPr lang="en-US" dirty="0" smtClean="0"/>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CHANGE</a:t>
            </a:r>
            <a:endParaRPr lang="en-IN" dirty="0"/>
          </a:p>
        </p:txBody>
      </p:sp>
      <p:sp>
        <p:nvSpPr>
          <p:cNvPr id="3" name="Content Placeholder 2"/>
          <p:cNvSpPr>
            <a:spLocks noGrp="1"/>
          </p:cNvSpPr>
          <p:nvPr>
            <p:ph sz="quarter" idx="1"/>
          </p:nvPr>
        </p:nvSpPr>
        <p:spPr>
          <a:ln>
            <a:solidFill>
              <a:schemeClr val="accent1"/>
            </a:solidFill>
            <a:prstDash val="dashDot"/>
          </a:ln>
        </p:spPr>
        <p:txBody>
          <a:bodyPr>
            <a:normAutofit/>
          </a:bodyPr>
          <a:lstStyle/>
          <a:p>
            <a:pPr>
              <a:buNone/>
            </a:pPr>
            <a:r>
              <a:rPr lang="en-US" dirty="0" smtClean="0"/>
              <a:t>1/		Rehabilitation of those who survive 	suicidal attempt</a:t>
            </a:r>
            <a:endParaRPr lang="en-US" dirty="0" smtClean="0"/>
          </a:p>
          <a:p>
            <a:pPr>
              <a:buNone/>
            </a:pPr>
            <a:endParaRPr lang="en-US" dirty="0" smtClean="0"/>
          </a:p>
          <a:p>
            <a:pPr>
              <a:buNone/>
            </a:pPr>
            <a:r>
              <a:rPr lang="en-US" dirty="0" smtClean="0"/>
              <a:t>2/	Suicide is a medico-legal case</a:t>
            </a:r>
            <a:endParaRPr lang="en-US" dirty="0" smtClean="0"/>
          </a:p>
          <a:p>
            <a:pPr>
              <a:buNone/>
            </a:pPr>
            <a:endParaRPr lang="en-US" dirty="0" smtClean="0"/>
          </a:p>
          <a:p>
            <a:pPr>
              <a:buNone/>
            </a:pPr>
            <a:r>
              <a:rPr lang="en-US" dirty="0" smtClean="0"/>
              <a:t>3/	De-criminalize suicide</a:t>
            </a:r>
            <a:endParaRPr lang="en-US" dirty="0" smtClean="0"/>
          </a:p>
          <a:p>
            <a:pPr>
              <a:buNone/>
            </a:pPr>
            <a:endParaRPr lang="en-US" dirty="0" smtClean="0"/>
          </a:p>
          <a:p>
            <a:pPr>
              <a:buNone/>
            </a:pPr>
            <a:r>
              <a:rPr lang="en-US" dirty="0" smtClean="0"/>
              <a:t>4/ 	World Suicide Prevention Day, </a:t>
            </a:r>
            <a:endParaRPr lang="en-US" dirty="0" smtClean="0"/>
          </a:p>
          <a:p>
            <a:pPr>
              <a:buNone/>
            </a:pPr>
            <a:r>
              <a:rPr lang="en-US" dirty="0" smtClean="0"/>
              <a:t>           10</a:t>
            </a:r>
            <a:r>
              <a:rPr lang="en-US" baseline="30000" dirty="0" smtClean="0"/>
              <a:t>th</a:t>
            </a:r>
            <a:r>
              <a:rPr lang="en-US" dirty="0" smtClean="0"/>
              <a:t> September, </a:t>
            </a:r>
            <a:endParaRPr lang="en-US" dirty="0" smtClean="0"/>
          </a:p>
          <a:p>
            <a:pPr>
              <a:buNone/>
            </a:pPr>
            <a:endParaRPr lang="en-US" dirty="0" smtClean="0"/>
          </a:p>
          <a:p>
            <a:pPr>
              <a:buNone/>
            </a:pPr>
            <a:endParaRPr lang="en-IN" b="1" dirty="0" smtClean="0"/>
          </a:p>
          <a:p>
            <a:pPr>
              <a:buNone/>
            </a:pPr>
            <a:endParaRPr lang="en-US" dirty="0" smtClean="0"/>
          </a:p>
          <a:p>
            <a:pPr>
              <a:buNone/>
            </a:pP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SOCIAL CHANGE (cont’d…)</a:t>
            </a:r>
            <a:endParaRPr lang="en-IN" sz="3200" dirty="0"/>
          </a:p>
        </p:txBody>
      </p:sp>
      <p:sp>
        <p:nvSpPr>
          <p:cNvPr id="3" name="Content Placeholder 2"/>
          <p:cNvSpPr>
            <a:spLocks noGrp="1"/>
          </p:cNvSpPr>
          <p:nvPr>
            <p:ph sz="quarter" idx="1"/>
          </p:nvPr>
        </p:nvSpPr>
        <p:spPr>
          <a:xfrm>
            <a:off x="457200" y="1142984"/>
            <a:ext cx="8229600" cy="5715016"/>
          </a:xfrm>
          <a:ln>
            <a:solidFill>
              <a:schemeClr val="accent1"/>
            </a:solidFill>
            <a:prstDash val="dashDot"/>
          </a:ln>
        </p:spPr>
        <p:txBody>
          <a:bodyPr>
            <a:normAutofit fontScale="85000" lnSpcReduction="10000"/>
          </a:bodyPr>
          <a:lstStyle/>
          <a:p>
            <a:r>
              <a:rPr lang="en-US" dirty="0" smtClean="0"/>
              <a:t>5/	WHAT CAN I DO TO SAVE A LIFE  ?</a:t>
            </a:r>
            <a:endParaRPr lang="en-US" dirty="0" smtClean="0"/>
          </a:p>
          <a:p>
            <a:r>
              <a:rPr lang="en-IN" b="1" dirty="0" smtClean="0"/>
              <a:t>Never ignore anyone who speaks about suicide.</a:t>
            </a:r>
            <a:endParaRPr lang="en-IN" b="1" dirty="0" smtClean="0"/>
          </a:p>
          <a:p>
            <a:endParaRPr lang="en-IN" b="1" dirty="0" smtClean="0"/>
          </a:p>
          <a:p>
            <a:r>
              <a:rPr lang="en-IN" b="1" dirty="0" smtClean="0"/>
              <a:t>LISTEN, LISTEN and  LISTEN to them.</a:t>
            </a:r>
            <a:endParaRPr lang="en-IN" b="1" dirty="0" smtClean="0"/>
          </a:p>
          <a:p>
            <a:endParaRPr lang="en-IN" b="1" dirty="0" smtClean="0"/>
          </a:p>
          <a:p>
            <a:r>
              <a:rPr lang="en-IN" b="1" dirty="0" smtClean="0"/>
              <a:t>Remove the source (poison, pesticides, firearm, knife, kerosene etc.) from their possession.</a:t>
            </a:r>
            <a:endParaRPr lang="en-IN" b="1" dirty="0" smtClean="0"/>
          </a:p>
          <a:p>
            <a:endParaRPr lang="en-IN" b="1" dirty="0" smtClean="0"/>
          </a:p>
          <a:p>
            <a:r>
              <a:rPr lang="en-IN" b="1" dirty="0" smtClean="0"/>
              <a:t>Do not hesitate to ask direct questions.</a:t>
            </a:r>
            <a:endParaRPr lang="en-IN" b="1" dirty="0" smtClean="0"/>
          </a:p>
          <a:p>
            <a:pPr>
              <a:buNone/>
            </a:pPr>
            <a:endParaRPr lang="en-IN" b="1" dirty="0" smtClean="0"/>
          </a:p>
          <a:p>
            <a:r>
              <a:rPr lang="en-IN" b="1" dirty="0" smtClean="0"/>
              <a:t>Do not, under any circumstances, leave a suicidal person alone.</a:t>
            </a:r>
            <a:endParaRPr lang="en-IN" b="1" dirty="0" smtClean="0"/>
          </a:p>
          <a:p>
            <a:endParaRPr lang="en-IN" b="1" dirty="0" smtClean="0"/>
          </a:p>
          <a:p>
            <a:r>
              <a:rPr lang="en-IN" b="1" dirty="0" smtClean="0"/>
              <a:t>Seek Professional Help, a Medical Doctor, Psychological Counsellor, Psycho therapist.</a:t>
            </a:r>
            <a:endParaRPr lang="en-IN" b="1" dirty="0" smtClean="0"/>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714380"/>
          </a:xfrm>
        </p:spPr>
        <p:txBody>
          <a:bodyPr>
            <a:normAutofit/>
          </a:bodyPr>
          <a:lstStyle/>
          <a:p>
            <a:r>
              <a:rPr lang="en-US" sz="3600" dirty="0" smtClean="0"/>
              <a:t>CONCLUSION : Action Plan</a:t>
            </a:r>
            <a:r>
              <a:rPr lang="en-US" dirty="0" smtClean="0"/>
              <a:t> </a:t>
            </a:r>
            <a:endParaRPr lang="en-IN" dirty="0"/>
          </a:p>
        </p:txBody>
      </p:sp>
      <p:sp>
        <p:nvSpPr>
          <p:cNvPr id="3" name="Content Placeholder 2"/>
          <p:cNvSpPr>
            <a:spLocks noGrp="1"/>
          </p:cNvSpPr>
          <p:nvPr>
            <p:ph sz="quarter" idx="1"/>
          </p:nvPr>
        </p:nvSpPr>
        <p:spPr>
          <a:xfrm>
            <a:off x="457200" y="1285860"/>
            <a:ext cx="8229600" cy="4840303"/>
          </a:xfrm>
          <a:ln>
            <a:solidFill>
              <a:schemeClr val="tx1"/>
            </a:solidFill>
            <a:prstDash val="dashDot"/>
          </a:ln>
        </p:spPr>
        <p:txBody>
          <a:bodyPr>
            <a:normAutofit fontScale="70000" lnSpcReduction="20000"/>
          </a:bodyPr>
          <a:lstStyle/>
          <a:p>
            <a:r>
              <a:rPr lang="en-IN" sz="2800" b="1" dirty="0" smtClean="0"/>
              <a:t>Lighting a candle near a window at 8 PM in support of  : World Suicide Prevention Day, Suicide Prevention and Awareness, Survivors of Suicide and for the memory of Loved Lost Ones.</a:t>
            </a:r>
            <a:endParaRPr lang="en-IN" sz="2800" b="1" dirty="0" smtClean="0"/>
          </a:p>
          <a:p>
            <a:endParaRPr lang="en-IN" sz="2800" b="1" dirty="0" smtClean="0"/>
          </a:p>
          <a:p>
            <a:r>
              <a:rPr lang="en-IN" sz="2800" b="1" dirty="0" smtClean="0"/>
              <a:t>Distribute Leaflets, Pamphlets, Posters or written information to bring about awareness, about suicide prevention and counselling the suicidal </a:t>
            </a:r>
            <a:r>
              <a:rPr lang="en-US" sz="2800" b="1" dirty="0" smtClean="0"/>
              <a:t>on 10</a:t>
            </a:r>
            <a:r>
              <a:rPr lang="en-US" sz="2800" b="1" baseline="30000" dirty="0" smtClean="0"/>
              <a:t>th</a:t>
            </a:r>
            <a:r>
              <a:rPr lang="en-US" sz="2800" b="1" dirty="0" smtClean="0"/>
              <a:t> September,  – World Suicide Prevention Day.</a:t>
            </a:r>
            <a:endParaRPr lang="en-US" sz="2800" b="1" dirty="0" smtClean="0"/>
          </a:p>
          <a:p>
            <a:endParaRPr lang="en-US" sz="2800" b="1" dirty="0" smtClean="0"/>
          </a:p>
          <a:p>
            <a:r>
              <a:rPr lang="en-US" sz="2800" b="1" dirty="0" smtClean="0"/>
              <a:t>Teenagers  in </a:t>
            </a:r>
            <a:r>
              <a:rPr lang="en-US" sz="2800" b="1" dirty="0" err="1" smtClean="0"/>
              <a:t>neighbourhood</a:t>
            </a:r>
            <a:endParaRPr lang="en-US" sz="2800" b="1" dirty="0" smtClean="0"/>
          </a:p>
          <a:p>
            <a:endParaRPr lang="en-US" sz="2800" b="1" dirty="0" smtClean="0"/>
          </a:p>
          <a:p>
            <a:r>
              <a:rPr lang="en-US" sz="2800" b="1" dirty="0" smtClean="0"/>
              <a:t>Youth in Slum, </a:t>
            </a:r>
            <a:r>
              <a:rPr lang="en-US" sz="2800" b="1" dirty="0" err="1" smtClean="0"/>
              <a:t>Chetput</a:t>
            </a:r>
            <a:r>
              <a:rPr lang="en-US" sz="2800" b="1" dirty="0" smtClean="0"/>
              <a:t>, Chennai</a:t>
            </a:r>
            <a:endParaRPr lang="en-US" sz="2800" b="1" dirty="0" smtClean="0"/>
          </a:p>
          <a:p>
            <a:endParaRPr lang="en-US" sz="2800" b="1" dirty="0" smtClean="0"/>
          </a:p>
          <a:p>
            <a:r>
              <a:rPr lang="en-US" sz="2800" b="1" dirty="0" smtClean="0"/>
              <a:t>Later, continue in our Circles of Influence, as discussed above.</a:t>
            </a:r>
            <a:endParaRPr lang="en-US" sz="2800" b="1" dirty="0" smtClean="0"/>
          </a:p>
          <a:p>
            <a:endParaRPr lang="en-US" sz="2800" b="1" dirty="0" smtClean="0"/>
          </a:p>
          <a:p>
            <a:endParaRPr lang="en-US" sz="2800" b="1" dirty="0" smtClean="0"/>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THANK YOU</a:t>
            </a:r>
            <a:endParaRPr lang="en-IN" i="1" dirty="0"/>
          </a:p>
        </p:txBody>
      </p:sp>
      <p:sp>
        <p:nvSpPr>
          <p:cNvPr id="3" name="Content Placeholder 2"/>
          <p:cNvSpPr>
            <a:spLocks noGrp="1"/>
          </p:cNvSpPr>
          <p:nvPr>
            <p:ph sz="quarter" idx="1"/>
          </p:nvPr>
        </p:nvSpPr>
        <p:spPr/>
        <p:txBody>
          <a:bodyPr/>
          <a:lstStyle/>
          <a:p>
            <a:endParaRPr lang="en-US" dirty="0" smtClean="0"/>
          </a:p>
          <a:p>
            <a:r>
              <a:rPr lang="en-US" dirty="0" smtClean="0"/>
              <a:t>THANK YOU for your patient listening.</a:t>
            </a:r>
            <a:endParaRPr lang="en-US" dirty="0" smtClean="0"/>
          </a:p>
          <a:p>
            <a:pPr>
              <a:buNone/>
            </a:pPr>
            <a:r>
              <a:rPr lang="en-US" dirty="0" smtClean="0"/>
              <a:t>	</a:t>
            </a:r>
            <a:endParaRPr lang="en-US" dirty="0" smtClean="0"/>
          </a:p>
          <a:p>
            <a:r>
              <a:rPr lang="en-US" dirty="0" smtClean="0"/>
              <a:t>Any questions please ?</a:t>
            </a:r>
            <a:endParaRPr lang="en-US" dirty="0" smtClean="0"/>
          </a:p>
          <a:p>
            <a:pPr>
              <a:buNone/>
            </a:pPr>
            <a:endParaRPr lang="en-US" dirty="0" smtClean="0"/>
          </a:p>
          <a:p>
            <a:endParaRPr lang="en-US" dirty="0" smtClean="0"/>
          </a:p>
          <a:p>
            <a:pPr lvl="8"/>
            <a:r>
              <a:rPr lang="en-US" sz="2400" dirty="0" smtClean="0"/>
              <a:t>By  Dr. Philomena </a:t>
            </a:r>
            <a:r>
              <a:rPr lang="en-US" sz="2400" dirty="0" err="1" smtClean="0"/>
              <a:t>Kanagaraj</a:t>
            </a:r>
            <a:endParaRPr lang="en-IN"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BIBLIOGRAPHY</a:t>
            </a:r>
            <a:endParaRPr lang="en-IN" dirty="0"/>
          </a:p>
        </p:txBody>
      </p:sp>
      <p:sp>
        <p:nvSpPr>
          <p:cNvPr id="3" name="Content Placeholder 2"/>
          <p:cNvSpPr>
            <a:spLocks noGrp="1"/>
          </p:cNvSpPr>
          <p:nvPr>
            <p:ph sz="quarter" idx="1"/>
          </p:nvPr>
        </p:nvSpPr>
        <p:spPr>
          <a:xfrm>
            <a:off x="457200" y="1142984"/>
            <a:ext cx="8229600" cy="5500726"/>
          </a:xfrm>
        </p:spPr>
        <p:txBody>
          <a:bodyPr>
            <a:normAutofit lnSpcReduction="20000"/>
          </a:bodyPr>
          <a:lstStyle/>
          <a:p>
            <a:pPr>
              <a:buNone/>
            </a:pPr>
            <a:r>
              <a:rPr lang="en-IN" dirty="0" smtClean="0"/>
              <a:t> </a:t>
            </a:r>
            <a:endParaRPr lang="en-IN" dirty="0" smtClean="0"/>
          </a:p>
          <a:p>
            <a:r>
              <a:rPr lang="en-IN" sz="1800" dirty="0" smtClean="0"/>
              <a:t> </a:t>
            </a:r>
            <a:r>
              <a:rPr lang="en-IN" sz="1800" dirty="0" smtClean="0">
                <a:sym typeface="+mn-ea"/>
              </a:rPr>
              <a:t>1/	</a:t>
            </a:r>
            <a:r>
              <a:rPr lang="en-IN" sz="1800" dirty="0" err="1" smtClean="0">
                <a:sym typeface="+mn-ea"/>
              </a:rPr>
              <a:t>Prashantham</a:t>
            </a:r>
            <a:r>
              <a:rPr lang="en-IN" sz="1800" dirty="0" smtClean="0">
                <a:sym typeface="+mn-ea"/>
              </a:rPr>
              <a:t>, Dr., B.J., Indian Case Studies in Therapeutic Counselling, published by Christian Counselling Centre, Vellore, Tamil Nadu, India, 6</a:t>
            </a:r>
            <a:r>
              <a:rPr lang="en-IN" sz="1800" baseline="30000" dirty="0" smtClean="0">
                <a:sym typeface="+mn-ea"/>
              </a:rPr>
              <a:t>the </a:t>
            </a:r>
            <a:r>
              <a:rPr lang="en-IN" sz="1800" dirty="0" smtClean="0">
                <a:sym typeface="+mn-ea"/>
              </a:rPr>
              <a:t>Edition 2005</a:t>
            </a:r>
            <a:endParaRPr lang="en-IN" sz="1800" dirty="0" smtClean="0"/>
          </a:p>
          <a:p>
            <a:pPr>
              <a:buNone/>
            </a:pPr>
            <a:r>
              <a:rPr lang="en-IN" sz="1800" dirty="0" smtClean="0">
                <a:sym typeface="+mn-ea"/>
              </a:rPr>
              <a:t> </a:t>
            </a:r>
            <a:endParaRPr lang="en-IN" sz="1800" dirty="0" smtClean="0"/>
          </a:p>
          <a:p>
            <a:pPr>
              <a:buNone/>
            </a:pPr>
            <a:r>
              <a:rPr lang="en-IN" sz="1800" dirty="0" smtClean="0">
                <a:sym typeface="+mn-ea"/>
              </a:rPr>
              <a:t>	2/	Lecture Notes by Dr. BJ </a:t>
            </a:r>
            <a:r>
              <a:rPr lang="en-IN" sz="1800" dirty="0" err="1" smtClean="0">
                <a:sym typeface="+mn-ea"/>
              </a:rPr>
              <a:t>Prashantham</a:t>
            </a:r>
            <a:r>
              <a:rPr lang="en-IN" sz="1800" dirty="0" smtClean="0">
                <a:sym typeface="+mn-ea"/>
              </a:rPr>
              <a:t> at CCC, Vellore July/August 2013</a:t>
            </a:r>
            <a:endParaRPr lang="en-IN" sz="1800" dirty="0" smtClean="0"/>
          </a:p>
          <a:p>
            <a:pPr>
              <a:buNone/>
            </a:pPr>
            <a:r>
              <a:rPr lang="en-IN" sz="1800" dirty="0" smtClean="0">
                <a:sym typeface="+mn-ea"/>
              </a:rPr>
              <a:t> </a:t>
            </a:r>
            <a:endParaRPr lang="en-IN" sz="1800" dirty="0" smtClean="0"/>
          </a:p>
          <a:p>
            <a:endParaRPr lang="en-IN" sz="1800" dirty="0"/>
          </a:p>
          <a:p>
            <a:endParaRPr lang="en-IN" dirty="0" smtClean="0"/>
          </a:p>
          <a:p>
            <a:r>
              <a:rPr lang="en-IN" dirty="0" smtClean="0"/>
              <a:t> </a:t>
            </a:r>
            <a:endParaRPr lang="en-IN" dirty="0" smtClean="0"/>
          </a:p>
          <a:p>
            <a:r>
              <a:rPr lang="en-IN" dirty="0" smtClean="0"/>
              <a:t> </a:t>
            </a:r>
            <a:endParaRPr lang="en-IN" dirty="0" smtClean="0"/>
          </a:p>
          <a:p>
            <a:r>
              <a:rPr lang="en-IN" dirty="0" smtClean="0"/>
              <a:t> </a:t>
            </a:r>
            <a:endParaRPr lang="en-IN" dirty="0" smtClean="0"/>
          </a:p>
          <a:p>
            <a:endParaRPr lang="en-IN"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0</TotalTime>
  <Words>7947</Words>
  <Application>WPS Presentation</Application>
  <PresentationFormat>On-screen Show (4:3)</PresentationFormat>
  <Paragraphs>263</Paragraphs>
  <Slides>21</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Arial</vt:lpstr>
      <vt:lpstr>SimSun</vt:lpstr>
      <vt:lpstr>Wingdings</vt:lpstr>
      <vt:lpstr>Wingdings 2</vt:lpstr>
      <vt:lpstr>Wingdings</vt:lpstr>
      <vt:lpstr>Baskerville Old Face</vt:lpstr>
      <vt:lpstr>Old English Text MT</vt:lpstr>
      <vt:lpstr>Calibri</vt:lpstr>
      <vt:lpstr>Times New Roman</vt:lpstr>
      <vt:lpstr>Latha</vt:lpstr>
      <vt:lpstr>Times New Roman</vt:lpstr>
      <vt:lpstr>Georgia</vt:lpstr>
      <vt:lpstr>Microsoft YaHei</vt:lpstr>
      <vt:lpstr>Arial Unicode MS</vt:lpstr>
      <vt:lpstr>Civic</vt:lpstr>
      <vt:lpstr>SUICIDE </vt:lpstr>
      <vt:lpstr>PowerPoint 演示文稿</vt:lpstr>
      <vt:lpstr>PowerPoint 演示文稿</vt:lpstr>
      <vt:lpstr>Defining,  what is ‘Suicide’ ?</vt:lpstr>
      <vt:lpstr>Some common misconceptions  about Suicide </vt:lpstr>
      <vt:lpstr>IV   CAUSES of SUICIDE  </vt:lpstr>
      <vt:lpstr>Methods (cont’d)</vt:lpstr>
      <vt:lpstr>SUICIDE   PREVENTION</vt:lpstr>
      <vt:lpstr>    HOW TO IDENTIFY THE CLUES  by Dr. BJ Prashantham</vt:lpstr>
      <vt:lpstr>How to identify the clues (Cont’d----)</vt:lpstr>
      <vt:lpstr>TEENS : HOW TO IDENTIFY THE SUICIDAL WARNING CLUES in Teens (Cont’d…)</vt:lpstr>
      <vt:lpstr>XI  COUNSELLING THE SUICIDAL</vt:lpstr>
      <vt:lpstr>   1/	Educational Counselling The ‘HOW’</vt:lpstr>
      <vt:lpstr>XI   2)	SUPPORTIVE COUNSELLING </vt:lpstr>
      <vt:lpstr>XI  3) RE-CONSTRUCTIVE COUNSELLING</vt:lpstr>
      <vt:lpstr>WHAT CAN I DO ?</vt:lpstr>
      <vt:lpstr>SOCIAL CHANGE</vt:lpstr>
      <vt:lpstr>SOCIAL CHANGE (cont’d…)</vt:lpstr>
      <vt:lpstr>CONCLUSION : Action Plan </vt:lpstr>
      <vt:lpstr>THANK YOU</vt:lpstr>
      <vt:lpstr>BIBLIOGRAPHY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SUICIDE</dc:title>
  <dc:creator>Admin</dc:creator>
  <cp:lastModifiedBy>india</cp:lastModifiedBy>
  <cp:revision>80</cp:revision>
  <dcterms:created xsi:type="dcterms:W3CDTF">2013-08-19T04:53:00Z</dcterms:created>
  <dcterms:modified xsi:type="dcterms:W3CDTF">2023-11-27T04:58:08Z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0894FC92F3174CB2AC474DA6D0B3B716_13</vt:lpwstr>
  </property>
  <property fmtid="{D5CDD505-2E9C-101B-9397-08002B2CF9AE}" pid="3" name="KSOProductBuildVer">
    <vt:lpwstr>1033-12.2.0.13306</vt:lpwstr>
  </property>
</Properties>
</file>