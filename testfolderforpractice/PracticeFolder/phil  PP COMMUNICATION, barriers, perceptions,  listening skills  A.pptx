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2"/>
    <p:sldId id="263" r:id="rId3"/>
    <p:sldId id="260" r:id="rId4"/>
    <p:sldId id="264" r:id="rId5"/>
    <p:sldId id="271" r:id="rId6"/>
    <p:sldId id="270" r:id="rId7"/>
    <p:sldId id="267" r:id="rId8"/>
    <p:sldId id="266" r:id="rId9"/>
    <p:sldId id="268" r:id="rId10"/>
    <p:sldId id="272"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570" y="7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a:t>Click to edit Master title style</a:t>
            </a:r>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6" name="Date Placeholder 15"/>
          <p:cNvSpPr>
            <a:spLocks noGrp="1"/>
          </p:cNvSpPr>
          <p:nvPr>
            <p:ph type="dt" sz="half" idx="10"/>
          </p:nvPr>
        </p:nvSpPr>
        <p:spPr/>
        <p:txBody>
          <a:bodyPr/>
          <a:lstStyle/>
          <a:p>
            <a:fld id="{74CBEAF9-9E58-4CC8-A6FF-6DD8A58DEEA4}" type="datetimeFigureOut">
              <a:rPr lang="en-US" smtClean="0"/>
              <a:pPr/>
              <a:t>1/31/2026</a:t>
            </a:fld>
            <a:endParaRPr lang="en-US"/>
          </a:p>
        </p:txBody>
      </p:sp>
      <p:sp>
        <p:nvSpPr>
          <p:cNvPr id="2" name="Footer Placeholder 1"/>
          <p:cNvSpPr>
            <a:spLocks noGrp="1"/>
          </p:cNvSpPr>
          <p:nvPr>
            <p:ph type="ftr" sz="quarter" idx="11"/>
          </p:nvPr>
        </p:nvSpPr>
        <p:spPr/>
        <p:txBody>
          <a:bodyPr/>
          <a:lstStyle/>
          <a:p>
            <a:endParaRPr kumimoji="0" lang="en-US"/>
          </a:p>
        </p:txBody>
      </p:sp>
      <p:sp>
        <p:nvSpPr>
          <p:cNvPr id="15" name="Slide Number Placeholder 14"/>
          <p:cNvSpPr>
            <a:spLocks noGrp="1"/>
          </p:cNvSpPr>
          <p:nvPr>
            <p:ph type="sldNum" sz="quarter" idx="12"/>
          </p:nvPr>
        </p:nvSpPr>
        <p:spPr>
          <a:xfrm>
            <a:off x="8229600" y="6473952"/>
            <a:ext cx="758952" cy="246888"/>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a:t>Click to edit Master title style</a:t>
            </a:r>
          </a:p>
        </p:txBody>
      </p:sp>
      <p:sp>
        <p:nvSpPr>
          <p:cNvPr id="27" name="Content Placeholder 26"/>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pPr/>
              <a:t>1/31/2026</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kumimoji="0" lang="en-US"/>
          </a:p>
        </p:txBody>
      </p:sp>
      <p:sp>
        <p:nvSpPr>
          <p:cNvPr id="16" name="Slide Number Placeholder 15"/>
          <p:cNvSpPr>
            <a:spLocks noGrp="1"/>
          </p:cNvSpPr>
          <p:nvPr>
            <p:ph type="sldNum" sz="quarter" idx="12"/>
          </p:nvPr>
        </p:nvSpPr>
        <p:spPr>
          <a:xfrm>
            <a:off x="8229600" y="6473952"/>
            <a:ext cx="758952" cy="246888"/>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9" name="Date Placeholder 18"/>
          <p:cNvSpPr>
            <a:spLocks noGrp="1"/>
          </p:cNvSpPr>
          <p:nvPr>
            <p:ph type="dt" sz="half" idx="10"/>
          </p:nvPr>
        </p:nvSpPr>
        <p:spPr/>
        <p:txBody>
          <a:bodyPr/>
          <a:lstStyle/>
          <a:p>
            <a:fld id="{74CBEAF9-9E58-4CC8-A6FF-6DD8A58DEEA4}" type="datetimeFigureOut">
              <a:rPr lang="en-US" smtClean="0"/>
              <a:pPr/>
              <a:t>1/31/2026</a:t>
            </a:fld>
            <a:endParaRPr lang="en-US"/>
          </a:p>
        </p:txBody>
      </p:sp>
      <p:sp>
        <p:nvSpPr>
          <p:cNvPr id="11" name="Footer Placeholder 10"/>
          <p:cNvSpPr>
            <a:spLocks noGrp="1"/>
          </p:cNvSpPr>
          <p:nvPr>
            <p:ph type="ftr" sz="quarter" idx="11"/>
          </p:nvPr>
        </p:nvSpPr>
        <p:spPr/>
        <p:txBody>
          <a:bodyPr/>
          <a:lstStyle/>
          <a:p>
            <a:endParaRPr kumimoji="0" lang="en-US"/>
          </a:p>
        </p:txBody>
      </p:sp>
      <p:sp>
        <p:nvSpPr>
          <p:cNvPr id="16" name="Slide Number Placeholder 15"/>
          <p:cNvSpPr>
            <a:spLocks noGrp="1"/>
          </p:cNvSpPr>
          <p:nvPr>
            <p:ph type="sldNum" sz="quarter" idx="12"/>
          </p:nvPr>
        </p:nvSpPr>
        <p:spPr/>
        <p:txBody>
          <a:bodyPr/>
          <a:lstStyle/>
          <a:p>
            <a:fld id="{CA15C064-DD44-4CAC-873E-2D1F54821676}" type="slidenum">
              <a:rPr kumimoji="0" lang="en-US" smtClean="0"/>
              <a:pPr/>
              <a:t>‹#›</a:t>
            </a:fld>
            <a:endParaRPr kumimoji="0"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a:t>Click to edit Master title style</a:t>
            </a:r>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0"/>
          </p:nvPr>
        </p:nvSpPr>
        <p:spPr/>
        <p:txBody>
          <a:bodyPr/>
          <a:lstStyle/>
          <a:p>
            <a:fld id="{74CBEAF9-9E58-4CC8-A6FF-6DD8A58DEEA4}" type="datetimeFigureOut">
              <a:rPr lang="en-US" smtClean="0"/>
              <a:pPr/>
              <a:t>1/31/2026</a:t>
            </a:fld>
            <a:endParaRPr lang="en-US"/>
          </a:p>
        </p:txBody>
      </p:sp>
      <p:sp>
        <p:nvSpPr>
          <p:cNvPr id="10" name="Footer Placeholder 9"/>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a:t>Click to edit Master title style</a:t>
            </a:r>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0"/>
          </p:nvPr>
        </p:nvSpPr>
        <p:spPr/>
        <p:txBody>
          <a:bodyPr/>
          <a:lstStyle/>
          <a:p>
            <a:fld id="{74CBEAF9-9E58-4CC8-A6FF-6DD8A58DEEA4}"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8229600" y="6477000"/>
            <a:ext cx="762000" cy="246888"/>
          </a:xfrm>
        </p:spPr>
        <p:txBody>
          <a:bodyPr/>
          <a:lstStyle/>
          <a:p>
            <a:fld id="{CA15C064-DD44-4CAC-873E-2D1F54821676}" type="slidenum">
              <a:rPr kumimoji="0" lang="en-US" smtClean="0"/>
              <a:pPr/>
              <a:t>‹#›</a:t>
            </a:fld>
            <a:endParaRPr kumimoji="0" lang="en-US" dirty="0"/>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a:t>Click to edit Master title style</a:t>
            </a:r>
          </a:p>
        </p:txBody>
      </p:sp>
      <p:sp>
        <p:nvSpPr>
          <p:cNvPr id="12" name="Date Placeholder 11"/>
          <p:cNvSpPr>
            <a:spLocks noGrp="1"/>
          </p:cNvSpPr>
          <p:nvPr>
            <p:ph type="dt" sz="half" idx="10"/>
          </p:nvPr>
        </p:nvSpPr>
        <p:spPr/>
        <p:txBody>
          <a:bodyPr/>
          <a:lstStyle/>
          <a:p>
            <a:fld id="{74CBEAF9-9E58-4CC8-A6FF-6DD8A58DEEA4}" type="datetimeFigureOut">
              <a:rPr lang="en-US" smtClean="0"/>
              <a:pPr/>
              <a:t>1/31/2026</a:t>
            </a:fld>
            <a:endParaRPr lang="en-US"/>
          </a:p>
        </p:txBody>
      </p:sp>
      <p:sp>
        <p:nvSpPr>
          <p:cNvPr id="21" name="Footer Placeholder 20"/>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4CBEAF9-9E58-4CC8-A6FF-6DD8A58DEEA4}" type="datetimeFigureOut">
              <a:rPr lang="en-US" smtClean="0"/>
              <a:pPr/>
              <a:t>1/31/2026</a:t>
            </a:fld>
            <a:endParaRPr lang="en-US"/>
          </a:p>
        </p:txBody>
      </p:sp>
      <p:sp>
        <p:nvSpPr>
          <p:cNvPr id="24" name="Footer Placeholder 23"/>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a:t>Click to edit Master title style</a:t>
            </a:r>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pPr/>
              <a:t>1/31/2026</a:t>
            </a:fld>
            <a:endParaRPr lang="en-US"/>
          </a:p>
        </p:txBody>
      </p:sp>
      <p:sp>
        <p:nvSpPr>
          <p:cNvPr id="29" name="Footer Placeholder 28"/>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a:t>Click icon to add picture</a:t>
            </a:r>
            <a:endParaRPr kumimoji="0" lang="en-US" dirty="0"/>
          </a:p>
        </p:txBody>
      </p:sp>
      <p:sp>
        <p:nvSpPr>
          <p:cNvPr id="7" name="Date Placeholder 6"/>
          <p:cNvSpPr>
            <a:spLocks noGrp="1"/>
          </p:cNvSpPr>
          <p:nvPr>
            <p:ph type="dt" sz="half" idx="10"/>
          </p:nvPr>
        </p:nvSpPr>
        <p:spPr/>
        <p:txBody>
          <a:bodyPr/>
          <a:lstStyle/>
          <a:p>
            <a:fld id="{74CBEAF9-9E58-4CC8-A6FF-6DD8A58DEEA4}"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pPr/>
              <a:t>‹#›</a:t>
            </a:fld>
            <a:endParaRPr kumimoji="0"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a:t>Click to edit Master title style</a:t>
            </a:r>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pPr algn="l" eaLnBrk="1" latinLnBrk="0" hangingPunct="1"/>
            <a:fld id="{74CBEAF9-9E58-4CC8-A6FF-6DD8A58DEEA4}" type="datetimeFigureOut">
              <a:rPr lang="en-US" smtClean="0"/>
              <a:pPr algn="l" eaLnBrk="1" latinLnBrk="0" hangingPunct="1"/>
              <a:t>1/31/2026</a:t>
            </a:fld>
            <a:endParaRPr lang="en-US" dirty="0">
              <a:solidFill>
                <a:schemeClr val="accent1">
                  <a:shade val="75000"/>
                </a:schemeClr>
              </a:solidFill>
            </a:endParaRPr>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pPr algn="r" eaLnBrk="1" latinLnBrk="0" hangingPunct="1"/>
            <a:endParaRPr kumimoji="0" lang="en-US" dirty="0">
              <a:solidFill>
                <a:schemeClr val="accent1">
                  <a:shade val="75000"/>
                </a:schemeClr>
              </a:solidFill>
            </a:endParaRPr>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CA15C064-DD44-4CAC-873E-2D1F54821676}" type="slidenum">
              <a:rPr kumimoji="0" lang="en-US" smtClean="0"/>
              <a:pPr/>
              <a:t>‹#›</a:t>
            </a:fld>
            <a:endParaRPr kumimoji="0" lang="en-US" dirty="0">
              <a:solidFill>
                <a:schemeClr val="accent1">
                  <a:shade val="75000"/>
                </a:schemeClr>
              </a:solidFill>
            </a:endParaRPr>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a:t>Click to edit Master title style</a:t>
            </a:r>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panose="05020102010507070707"/>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panose="05020102010507070707"/>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panose="05020102010507070707"/>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panose="05020102010507070707"/>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panose="05020102010507070707"/>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panose="05020102010507070707"/>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panose="05020102010507070707"/>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panose="05020102010507070707"/>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panose="05020102010507070707"/>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8839200" cy="838200"/>
          </a:xfrm>
        </p:spPr>
        <p:txBody>
          <a:bodyPr>
            <a:normAutofit fontScale="90000"/>
          </a:bodyPr>
          <a:lstStyle/>
          <a:p>
            <a:pPr marL="484505" indent="0" eaLnBrk="1" fontAlgn="auto" hangingPunct="1">
              <a:spcAft>
                <a:spcPts val="0"/>
              </a:spcAft>
              <a:defRPr/>
            </a:pPr>
            <a:r>
              <a:rPr lang="en-US" b="1" i="1" dirty="0">
                <a:solidFill>
                  <a:schemeClr val="accent6">
                    <a:lumMod val="75000"/>
                  </a:schemeClr>
                </a:solidFill>
                <a:latin typeface="Algerian" panose="04020705040A02060702" pitchFamily="82" charset="0"/>
              </a:rPr>
              <a:t>COMMUNICATION  </a:t>
            </a:r>
            <a:r>
              <a:rPr lang="en-US" b="1" i="1" dirty="0" err="1">
                <a:solidFill>
                  <a:schemeClr val="accent6">
                    <a:lumMod val="75000"/>
                  </a:schemeClr>
                </a:solidFill>
                <a:latin typeface="Algerian" panose="04020705040A02060702" pitchFamily="82" charset="0"/>
              </a:rPr>
              <a:t>iS</a:t>
            </a:r>
            <a:r>
              <a:rPr lang="en-US" b="1" i="1" dirty="0">
                <a:solidFill>
                  <a:schemeClr val="accent6">
                    <a:lumMod val="75000"/>
                  </a:schemeClr>
                </a:solidFill>
                <a:latin typeface="Algerian" panose="04020705040A02060702" pitchFamily="82" charset="0"/>
              </a:rPr>
              <a:t>  A </a:t>
            </a:r>
            <a:r>
              <a:rPr lang="en-US" b="1" i="1" dirty="0" err="1">
                <a:solidFill>
                  <a:schemeClr val="accent6">
                    <a:lumMod val="75000"/>
                  </a:schemeClr>
                </a:solidFill>
                <a:latin typeface="Algerian" panose="04020705040A02060702" pitchFamily="82" charset="0"/>
              </a:rPr>
              <a:t>tWO</a:t>
            </a:r>
            <a:r>
              <a:rPr lang="en-US" b="1" i="1" dirty="0">
                <a:solidFill>
                  <a:schemeClr val="accent6">
                    <a:lumMod val="75000"/>
                  </a:schemeClr>
                </a:solidFill>
                <a:latin typeface="Algerian" panose="04020705040A02060702" pitchFamily="82" charset="0"/>
              </a:rPr>
              <a:t>-WAY   PROCESS</a:t>
            </a:r>
          </a:p>
        </p:txBody>
      </p:sp>
      <p:pic>
        <p:nvPicPr>
          <p:cNvPr id="20483" name="Object 1"/>
          <p:cNvPicPr>
            <a:picLocks noGrp="1" noChangeArrowheads="1"/>
          </p:cNvPicPr>
          <p:nvPr>
            <p:ph idx="1"/>
          </p:nvPr>
        </p:nvPicPr>
        <p:blipFill>
          <a:blip r:embed="rId2"/>
          <a:srcRect l="-1218" t="-3555" r="-6282" b="-21800"/>
          <a:stretch>
            <a:fillRect/>
          </a:stretch>
        </p:blipFill>
        <p:spPr>
          <a:xfrm>
            <a:off x="0" y="1139190"/>
            <a:ext cx="9529445" cy="5261610"/>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86800" cy="838200"/>
          </a:xfrm>
        </p:spPr>
        <p:txBody>
          <a:bodyPr/>
          <a:lstStyle/>
          <a:p>
            <a:pPr algn="ctr"/>
            <a:r>
              <a:rPr lang="en-US" i="1" dirty="0">
                <a:solidFill>
                  <a:schemeClr val="accent6">
                    <a:lumMod val="75000"/>
                  </a:schemeClr>
                </a:solidFill>
                <a:latin typeface="Algerian" panose="04020705040A02060702" pitchFamily="82" charset="0"/>
              </a:rPr>
              <a:t>BARRIERS  TO COMMUNICATION</a:t>
            </a:r>
          </a:p>
        </p:txBody>
      </p:sp>
      <p:sp>
        <p:nvSpPr>
          <p:cNvPr id="3" name="Content Placeholder 2"/>
          <p:cNvSpPr>
            <a:spLocks noGrp="1"/>
          </p:cNvSpPr>
          <p:nvPr>
            <p:ph idx="1"/>
          </p:nvPr>
        </p:nvSpPr>
        <p:spPr/>
        <p:txBody>
          <a:bodyPr/>
          <a:lstStyle/>
          <a:p>
            <a:endParaRPr lang="en-US" dirty="0"/>
          </a:p>
        </p:txBody>
      </p:sp>
      <p:pic>
        <p:nvPicPr>
          <p:cNvPr id="4" name="Object 4"/>
          <p:cNvPicPr>
            <a:picLocks noChangeArrowheads="1"/>
          </p:cNvPicPr>
          <p:nvPr/>
        </p:nvPicPr>
        <p:blipFill>
          <a:blip r:embed="rId2"/>
          <a:srcRect l="-1486" t="-10086" r="-2341" b="-23540"/>
          <a:stretch>
            <a:fillRect/>
          </a:stretch>
        </p:blipFill>
        <p:spPr bwMode="auto">
          <a:xfrm>
            <a:off x="-76200" y="457200"/>
            <a:ext cx="9220200" cy="6401435"/>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US" b="1" i="1" dirty="0"/>
              <a:t>PERCEPTIONS </a:t>
            </a:r>
          </a:p>
        </p:txBody>
      </p:sp>
      <p:pic>
        <p:nvPicPr>
          <p:cNvPr id="22531" name="Picture 2" descr="C:\Users\india\Desktop\IMG-20191112-WA0021  Perceptions - actually the lines are all straight !.jpg"/>
          <p:cNvPicPr>
            <a:picLocks noGrp="1" noChangeAspect="1" noChangeArrowheads="1"/>
          </p:cNvPicPr>
          <p:nvPr>
            <p:ph idx="1"/>
          </p:nvPr>
        </p:nvPicPr>
        <p:blipFill>
          <a:blip r:embed="rId2"/>
          <a:srcRect/>
          <a:stretch>
            <a:fillRect/>
          </a:stretch>
        </p:blipFill>
        <p:spPr>
          <a:xfrm>
            <a:off x="-93345" y="1167765"/>
            <a:ext cx="9674860" cy="5621020"/>
          </a:xfr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chemeClr val="accent6">
                    <a:lumMod val="75000"/>
                  </a:schemeClr>
                </a:solidFill>
              </a:rPr>
              <a:t>LISTENING SKILLS …..</a:t>
            </a:r>
          </a:p>
        </p:txBody>
      </p:sp>
      <p:sp>
        <p:nvSpPr>
          <p:cNvPr id="3" name="Content Placeholder 2"/>
          <p:cNvSpPr>
            <a:spLocks noGrp="1"/>
          </p:cNvSpPr>
          <p:nvPr>
            <p:ph idx="1"/>
          </p:nvPr>
        </p:nvSpPr>
        <p:spPr>
          <a:xfrm>
            <a:off x="304800" y="1295400"/>
            <a:ext cx="8686800" cy="4784725"/>
          </a:xfrm>
        </p:spPr>
        <p:txBody>
          <a:bodyPr>
            <a:normAutofit lnSpcReduction="10000"/>
          </a:bodyPr>
          <a:lstStyle/>
          <a:p>
            <a:r>
              <a:rPr lang="en-US" b="1" i="1" dirty="0">
                <a:solidFill>
                  <a:schemeClr val="accent6">
                    <a:lumMod val="75000"/>
                  </a:schemeClr>
                </a:solidFill>
              </a:rPr>
              <a:t>We hear but do not listen !</a:t>
            </a:r>
          </a:p>
          <a:p>
            <a:r>
              <a:rPr lang="en-US" b="1" i="1" dirty="0">
                <a:solidFill>
                  <a:schemeClr val="accent6">
                    <a:lumMod val="75000"/>
                  </a:schemeClr>
                </a:solidFill>
              </a:rPr>
              <a:t>Most essential skill of a </a:t>
            </a:r>
            <a:r>
              <a:rPr lang="en-US" b="1" i="1" dirty="0" err="1">
                <a:solidFill>
                  <a:schemeClr val="accent6">
                    <a:lumMod val="75000"/>
                  </a:schemeClr>
                </a:solidFill>
              </a:rPr>
              <a:t>Counsellor</a:t>
            </a:r>
            <a:r>
              <a:rPr lang="en-US" b="1" i="1" dirty="0">
                <a:solidFill>
                  <a:schemeClr val="accent6">
                    <a:lumMod val="75000"/>
                  </a:schemeClr>
                </a:solidFill>
              </a:rPr>
              <a:t> is LISTENING </a:t>
            </a:r>
          </a:p>
          <a:p>
            <a:r>
              <a:rPr lang="en-US" b="1" i="1" dirty="0">
                <a:solidFill>
                  <a:schemeClr val="accent6">
                    <a:lumMod val="75000"/>
                  </a:schemeClr>
                </a:solidFill>
              </a:rPr>
              <a:t>75% of </a:t>
            </a:r>
            <a:r>
              <a:rPr lang="en-US" b="1" i="1" dirty="0" err="1">
                <a:solidFill>
                  <a:schemeClr val="accent6">
                    <a:lumMod val="75000"/>
                  </a:schemeClr>
                </a:solidFill>
              </a:rPr>
              <a:t>Counselling</a:t>
            </a:r>
            <a:r>
              <a:rPr lang="en-US" b="1" i="1" dirty="0">
                <a:solidFill>
                  <a:schemeClr val="accent6">
                    <a:lumMod val="75000"/>
                  </a:schemeClr>
                </a:solidFill>
              </a:rPr>
              <a:t> is Listening …</a:t>
            </a:r>
          </a:p>
          <a:p>
            <a:r>
              <a:rPr lang="en-US" b="1" i="1" dirty="0">
                <a:solidFill>
                  <a:schemeClr val="accent6">
                    <a:lumMod val="75000"/>
                  </a:schemeClr>
                </a:solidFill>
              </a:rPr>
              <a:t>Hearing is to gain information for oneself</a:t>
            </a:r>
          </a:p>
          <a:p>
            <a:r>
              <a:rPr lang="en-US" b="1" i="1" dirty="0">
                <a:solidFill>
                  <a:schemeClr val="accent6">
                    <a:lumMod val="75000"/>
                  </a:schemeClr>
                </a:solidFill>
              </a:rPr>
              <a:t>LISTENING is to hear beyond what the other person is trying to communicate …..</a:t>
            </a:r>
          </a:p>
          <a:p>
            <a:r>
              <a:rPr lang="en-US" b="1" i="1" dirty="0">
                <a:solidFill>
                  <a:schemeClr val="accent6">
                    <a:lumMod val="75000"/>
                  </a:schemeClr>
                </a:solidFill>
              </a:rPr>
              <a:t>LISTEN with your heart …. </a:t>
            </a:r>
          </a:p>
          <a:p>
            <a:r>
              <a:rPr lang="en-US" b="1" i="1" dirty="0">
                <a:solidFill>
                  <a:schemeClr val="accent6">
                    <a:lumMod val="75000"/>
                  </a:schemeClr>
                </a:solidFill>
              </a:rPr>
              <a:t>Be empathetic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Object 4"/>
          <p:cNvPicPr>
            <a:picLocks noGrp="1" noChangeArrowheads="1"/>
          </p:cNvPicPr>
          <p:nvPr>
            <p:ph idx="1"/>
          </p:nvPr>
        </p:nvPicPr>
        <p:blipFill>
          <a:blip r:embed="rId2"/>
          <a:srcRect l="-1486" t="-10086" r="-2341" b="-23540"/>
          <a:stretch>
            <a:fillRect/>
          </a:stretch>
        </p:blipFill>
        <p:spPr bwMode="auto">
          <a:xfrm>
            <a:off x="0" y="685800"/>
            <a:ext cx="9143999" cy="61722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sz="3600" b="1" i="1" dirty="0">
                <a:solidFill>
                  <a:schemeClr val="accent1">
                    <a:lumMod val="50000"/>
                  </a:schemeClr>
                </a:solidFill>
              </a:rPr>
              <a:t>GOOD LISTENER</a:t>
            </a:r>
          </a:p>
        </p:txBody>
      </p:sp>
      <p:pic>
        <p:nvPicPr>
          <p:cNvPr id="2050" name="Picture 2"/>
          <p:cNvPicPr>
            <a:picLocks noGrp="1" noChangeAspect="1" noChangeArrowheads="1"/>
          </p:cNvPicPr>
          <p:nvPr>
            <p:ph sz="quarter" idx="1"/>
          </p:nvPr>
        </p:nvPicPr>
        <p:blipFill>
          <a:blip r:embed="rId2"/>
          <a:srcRect/>
          <a:stretch>
            <a:fillRect/>
          </a:stretch>
        </p:blipFill>
        <p:spPr bwMode="auto">
          <a:xfrm>
            <a:off x="2634909" y="1600200"/>
            <a:ext cx="3112182" cy="31242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chemeClr val="accent6">
                    <a:lumMod val="75000"/>
                  </a:schemeClr>
                </a:solidFill>
              </a:rPr>
              <a:t>LISTENING SKILLS …..</a:t>
            </a:r>
            <a:endParaRPr lang="en-US" dirty="0"/>
          </a:p>
        </p:txBody>
      </p:sp>
      <p:sp>
        <p:nvSpPr>
          <p:cNvPr id="3" name="Content Placeholder 2"/>
          <p:cNvSpPr>
            <a:spLocks noGrp="1"/>
          </p:cNvSpPr>
          <p:nvPr>
            <p:ph idx="1"/>
          </p:nvPr>
        </p:nvSpPr>
        <p:spPr/>
        <p:txBody>
          <a:bodyPr>
            <a:normAutofit fontScale="92500" lnSpcReduction="10000"/>
          </a:bodyPr>
          <a:lstStyle/>
          <a:p>
            <a:pPr marL="0" lvl="0" indent="0" fontAlgn="base">
              <a:spcBef>
                <a:spcPct val="0"/>
              </a:spcBef>
              <a:spcAft>
                <a:spcPct val="0"/>
              </a:spcAft>
              <a:buClrTx/>
              <a:buSzTx/>
              <a:buNone/>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Always be prepared to give an answer to everyone who asks you to give the reason for the hope that you have. But do this with gentleness and respect, ….’1 Peter 3:15 NIV. </a:t>
            </a:r>
          </a:p>
          <a:p>
            <a:pPr marL="0" lvl="0" indent="0" fontAlgn="base">
              <a:spcBef>
                <a:spcPct val="0"/>
              </a:spcBef>
              <a:spcAft>
                <a:spcPct val="0"/>
              </a:spcAft>
              <a:buClrTx/>
              <a:buSzTx/>
              <a:buNone/>
            </a:pPr>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fontAlgn="base">
              <a:spcBef>
                <a:spcPct val="0"/>
              </a:spcBef>
              <a:spcAft>
                <a:spcPct val="0"/>
              </a:spcAft>
              <a:buClrTx/>
              <a:buSzTx/>
              <a:buNone/>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and always be ready to give a defense to everyone who asks you a reason for the hope that is in you, with meekness and fear; ……’ </a:t>
            </a:r>
          </a:p>
          <a:p>
            <a:pPr marL="0" lvl="0" indent="0" fontAlgn="base">
              <a:spcBef>
                <a:spcPct val="0"/>
              </a:spcBef>
              <a:spcAft>
                <a:spcPct val="0"/>
              </a:spcAft>
              <a:buClrTx/>
              <a:buSzTx/>
              <a:buNone/>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 Peter 3 : 15 (Open Bible ).</a:t>
            </a:r>
            <a:endParaRPr lang="en-US" dirty="0">
              <a:solidFill>
                <a:schemeClr val="tx1"/>
              </a:solidFill>
              <a:latin typeface="Times New Roman" panose="02020603050405020304" pitchFamily="18" charset="0"/>
              <a:cs typeface="Times New Roman" panose="02020603050405020304" pitchFamily="18" charset="0"/>
            </a:endParaRPr>
          </a:p>
          <a:p>
            <a:r>
              <a:rPr lang="en-US" dirty="0"/>
              <a:t>3:15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Listening skills ……</a:t>
            </a:r>
          </a:p>
        </p:txBody>
      </p:sp>
      <p:sp>
        <p:nvSpPr>
          <p:cNvPr id="3" name="Content Placeholder 2"/>
          <p:cNvSpPr>
            <a:spLocks noGrp="1"/>
          </p:cNvSpPr>
          <p:nvPr>
            <p:ph idx="1"/>
          </p:nvPr>
        </p:nvSpPr>
        <p:spPr/>
        <p:txBody>
          <a:bodyPr/>
          <a:lstStyle/>
          <a:p>
            <a:endParaRPr lang="en-US" dirty="0"/>
          </a:p>
          <a:p>
            <a:r>
              <a:rPr lang="en-US" b="1" i="1" dirty="0">
                <a:solidFill>
                  <a:schemeClr val="accent5">
                    <a:lumMod val="75000"/>
                  </a:schemeClr>
                </a:solidFill>
              </a:rPr>
              <a:t>‘A man (or woman ) of knowledge uses words with restraint, and a man of understanding is even-tempered’ Pro 17:27</a:t>
            </a:r>
          </a:p>
          <a:p>
            <a:r>
              <a:rPr lang="en-US" b="1" i="1" dirty="0">
                <a:solidFill>
                  <a:schemeClr val="accent5">
                    <a:lumMod val="75000"/>
                  </a:schemeClr>
                </a:solidFill>
              </a:rPr>
              <a:t>{Especially in Grief </a:t>
            </a:r>
            <a:r>
              <a:rPr lang="en-US" b="1" i="1" dirty="0" err="1">
                <a:solidFill>
                  <a:schemeClr val="accent5">
                    <a:lumMod val="75000"/>
                  </a:schemeClr>
                </a:solidFill>
              </a:rPr>
              <a:t>counselling</a:t>
            </a:r>
            <a:r>
              <a:rPr lang="en-US" b="1" i="1" dirty="0">
                <a:solidFill>
                  <a:schemeClr val="accent5">
                    <a:lumMod val="75000"/>
                  </a:schemeClr>
                </a:solidFill>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JOURNAL, DIARY &amp; records</a:t>
            </a:r>
          </a:p>
        </p:txBody>
      </p:sp>
      <p:sp>
        <p:nvSpPr>
          <p:cNvPr id="3" name="Content Placeholder 2"/>
          <p:cNvSpPr>
            <a:spLocks noGrp="1"/>
          </p:cNvSpPr>
          <p:nvPr>
            <p:ph idx="1"/>
          </p:nvPr>
        </p:nvSpPr>
        <p:spPr/>
        <p:txBody>
          <a:bodyPr>
            <a:normAutofit fontScale="92500"/>
          </a:bodyPr>
          <a:lstStyle/>
          <a:p>
            <a:r>
              <a:rPr lang="en-US" b="1" dirty="0">
                <a:solidFill>
                  <a:schemeClr val="accent6"/>
                </a:solidFill>
              </a:rPr>
              <a:t>Details of </a:t>
            </a:r>
            <a:r>
              <a:rPr lang="en-US" b="1" dirty="0" err="1">
                <a:solidFill>
                  <a:schemeClr val="accent6"/>
                </a:solidFill>
              </a:rPr>
              <a:t>counsellee</a:t>
            </a:r>
            <a:r>
              <a:rPr lang="en-US" b="1" dirty="0">
                <a:solidFill>
                  <a:schemeClr val="accent6"/>
                </a:solidFill>
              </a:rPr>
              <a:t> and the case evaluation can be maintained in a journal or diary.</a:t>
            </a:r>
          </a:p>
          <a:p>
            <a:r>
              <a:rPr lang="en-US" b="1" dirty="0">
                <a:solidFill>
                  <a:schemeClr val="accent6"/>
                </a:solidFill>
              </a:rPr>
              <a:t>During subsequent sessions, the diary is of much help, as it jogs our memory about the details of the case and our analysis &amp; assessment made.</a:t>
            </a:r>
          </a:p>
          <a:p>
            <a:r>
              <a:rPr lang="en-US" b="1" dirty="0">
                <a:solidFill>
                  <a:schemeClr val="accent6"/>
                </a:solidFill>
              </a:rPr>
              <a:t>If </a:t>
            </a:r>
            <a:r>
              <a:rPr lang="en-US" b="1" dirty="0" err="1">
                <a:solidFill>
                  <a:schemeClr val="accent6"/>
                </a:solidFill>
              </a:rPr>
              <a:t>Counselling</a:t>
            </a:r>
            <a:r>
              <a:rPr lang="en-US" b="1" dirty="0">
                <a:solidFill>
                  <a:schemeClr val="accent6"/>
                </a:solidFill>
              </a:rPr>
              <a:t> of those with suicidal tendencies has been carried out, the journal/diary would service as a record/evidence, in case the </a:t>
            </a:r>
            <a:r>
              <a:rPr lang="en-US" b="1" dirty="0" err="1">
                <a:solidFill>
                  <a:schemeClr val="accent6"/>
                </a:solidFill>
              </a:rPr>
              <a:t>counsellee</a:t>
            </a:r>
            <a:r>
              <a:rPr lang="en-US" b="1" dirty="0">
                <a:solidFill>
                  <a:schemeClr val="accent6"/>
                </a:solidFill>
              </a:rPr>
              <a:t> commits suicide</a:t>
            </a:r>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F61E5-2694-AECE-A4FE-FE378EF79024}"/>
              </a:ext>
            </a:extLst>
          </p:cNvPr>
          <p:cNvSpPr>
            <a:spLocks noGrp="1"/>
          </p:cNvSpPr>
          <p:nvPr>
            <p:ph type="title"/>
          </p:nvPr>
        </p:nvSpPr>
        <p:spPr/>
        <p:txBody>
          <a:bodyPr/>
          <a:lstStyle/>
          <a:p>
            <a:r>
              <a:rPr lang="en-US" dirty="0"/>
              <a:t>Thank you !</a:t>
            </a:r>
            <a:endParaRPr lang="en-IN" dirty="0"/>
          </a:p>
        </p:txBody>
      </p:sp>
    </p:spTree>
    <p:extLst>
      <p:ext uri="{BB962C8B-B14F-4D97-AF65-F5344CB8AC3E}">
        <p14:creationId xmlns:p14="http://schemas.microsoft.com/office/powerpoint/2010/main" val="49586598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39</TotalTime>
  <Words>263</Words>
  <Application>Microsoft Office PowerPoint</Application>
  <PresentationFormat>On-screen Show (4:3)</PresentationFormat>
  <Paragraphs>27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Algerian</vt:lpstr>
      <vt:lpstr>Franklin Gothic Book</vt:lpstr>
      <vt:lpstr>Franklin Gothic Medium</vt:lpstr>
      <vt:lpstr>Times New Roman</vt:lpstr>
      <vt:lpstr>Wingdings 2</vt:lpstr>
      <vt:lpstr>Trek</vt:lpstr>
      <vt:lpstr>COMMUNICATION  iS  A tWO-WAY   PROCESS</vt:lpstr>
      <vt:lpstr>BARRIERS  TO COMMUNICATION</vt:lpstr>
      <vt:lpstr>PERCEPTIONS </vt:lpstr>
      <vt:lpstr>LISTENING SKILLS …..</vt:lpstr>
      <vt:lpstr>PowerPoint Presentation</vt:lpstr>
      <vt:lpstr>GOOD LISTENER</vt:lpstr>
      <vt:lpstr>LISTENING SKILLS …..</vt:lpstr>
      <vt:lpstr>Listening skills ……</vt:lpstr>
      <vt:lpstr>JOURNAL, DIARY &amp; records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IS    A       TWO-WAY   PROCESS</dc:title>
  <dc:creator>india</dc:creator>
  <cp:lastModifiedBy>Praveenmark1803@outlook.com</cp:lastModifiedBy>
  <cp:revision>14</cp:revision>
  <dcterms:created xsi:type="dcterms:W3CDTF">2020-10-25T08:46:00Z</dcterms:created>
  <dcterms:modified xsi:type="dcterms:W3CDTF">2026-01-31T04:39:48Z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B9D230A65E34465781A8784AEE09AB1B_12</vt:lpwstr>
  </property>
  <property fmtid="{D5CDD505-2E9C-101B-9397-08002B2CF9AE}" pid="3" name="KSOProductBuildVer">
    <vt:lpwstr>1033-12.2.0.17153</vt:lpwstr>
  </property>
</Properties>
</file>