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9" r:id="rId13"/>
    <p:sldId id="273" r:id="rId14"/>
    <p:sldId id="274" r:id="rId15"/>
    <p:sldId id="266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14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21095-8ACD-4F1E-ABC0-58B73DE0359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B9BF-D15B-45CC-8C24-AB4EBA625A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21095-8ACD-4F1E-ABC0-58B73DE0359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B9BF-D15B-45CC-8C24-AB4EBA625A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21095-8ACD-4F1E-ABC0-58B73DE0359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B9BF-D15B-45CC-8C24-AB4EBA625A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21095-8ACD-4F1E-ABC0-58B73DE0359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B9BF-D15B-45CC-8C24-AB4EBA625A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21095-8ACD-4F1E-ABC0-58B73DE0359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B9BF-D15B-45CC-8C24-AB4EBA625A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21095-8ACD-4F1E-ABC0-58B73DE0359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B9BF-D15B-45CC-8C24-AB4EBA625A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21095-8ACD-4F1E-ABC0-58B73DE0359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B9BF-D15B-45CC-8C24-AB4EBA625A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21095-8ACD-4F1E-ABC0-58B73DE0359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B9BF-D15B-45CC-8C24-AB4EBA625A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21095-8ACD-4F1E-ABC0-58B73DE0359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B9BF-D15B-45CC-8C24-AB4EBA625A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21095-8ACD-4F1E-ABC0-58B73DE0359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B9BF-D15B-45CC-8C24-AB4EBA625A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21095-8ACD-4F1E-ABC0-58B73DE0359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B9BF-D15B-45CC-8C24-AB4EBA625A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21095-8ACD-4F1E-ABC0-58B73DE0359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9B9BF-D15B-45CC-8C24-AB4EBA625A8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6801"/>
            <a:ext cx="7772400" cy="1219199"/>
          </a:xfrm>
        </p:spPr>
        <p:txBody>
          <a:bodyPr>
            <a:normAutofit fontScale="90000"/>
          </a:bodyPr>
          <a:lstStyle/>
          <a:p>
            <a:r>
              <a:rPr lang="en-US" i="1" dirty="0" smtClean="0">
                <a:latin typeface="Algerian" panose="04020705040A02060702" pitchFamily="82" charset="0"/>
              </a:rPr>
              <a:t>ADDICTION</a:t>
            </a:r>
            <a:br>
              <a:rPr lang="en-US" i="1" dirty="0" smtClean="0">
                <a:latin typeface="Algerian" panose="04020705040A02060702" pitchFamily="82" charset="0"/>
              </a:rPr>
            </a:br>
            <a:r>
              <a:rPr lang="en-US" i="1" dirty="0" smtClean="0">
                <a:latin typeface="Algerian" panose="04020705040A02060702" pitchFamily="82" charset="0"/>
              </a:rPr>
              <a:t>                                       </a:t>
            </a:r>
            <a:r>
              <a:rPr lang="en-US" sz="1800" i="1" dirty="0" smtClean="0">
                <a:latin typeface="Algerian" panose="04020705040A02060702" pitchFamily="82" charset="0"/>
              </a:rPr>
              <a:t>by </a:t>
            </a:r>
            <a:r>
              <a:rPr lang="en-US" sz="1800" i="1" dirty="0" err="1" smtClean="0">
                <a:latin typeface="Algerian" panose="04020705040A02060702" pitchFamily="82" charset="0"/>
              </a:rPr>
              <a:t>dr</a:t>
            </a:r>
            <a:r>
              <a:rPr lang="en-US" sz="1800" i="1" dirty="0" smtClean="0">
                <a:latin typeface="Algerian" panose="04020705040A02060702" pitchFamily="82" charset="0"/>
              </a:rPr>
              <a:t> </a:t>
            </a:r>
            <a:r>
              <a:rPr lang="en-US" sz="1800" i="1" dirty="0" err="1" smtClean="0">
                <a:latin typeface="Algerian" panose="04020705040A02060702" pitchFamily="82" charset="0"/>
              </a:rPr>
              <a:t>philo</a:t>
            </a:r>
            <a:r>
              <a:rPr lang="en-US" sz="1800" i="1" dirty="0" smtClean="0">
                <a:latin typeface="Algerian" panose="04020705040A02060702" pitchFamily="82" charset="0"/>
              </a:rPr>
              <a:t> </a:t>
            </a:r>
            <a:r>
              <a:rPr lang="en-US" sz="1800" i="1" dirty="0" err="1" smtClean="0">
                <a:latin typeface="Algerian" panose="04020705040A02060702" pitchFamily="82" charset="0"/>
              </a:rPr>
              <a:t>kanagaraj</a:t>
            </a:r>
            <a:endParaRPr lang="en-US" sz="1800" i="1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hand holding a glass of win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2438400"/>
            <a:ext cx="69342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Addiction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Definition :</a:t>
            </a:r>
            <a:endParaRPr lang="en-US" dirty="0" smtClean="0"/>
          </a:p>
          <a:p>
            <a:r>
              <a:rPr lang="en-US" dirty="0" smtClean="0"/>
              <a:t>An addiction is a chronic dysfunction of the brain system that involves reward, motivation, and memory.  </a:t>
            </a:r>
            <a:endParaRPr lang="en-US" dirty="0" smtClean="0"/>
          </a:p>
          <a:p>
            <a:r>
              <a:rPr lang="en-US" dirty="0" smtClean="0"/>
              <a:t>Its about the way your body craves a substance or </a:t>
            </a:r>
            <a:r>
              <a:rPr lang="en-US" dirty="0" err="1" smtClean="0"/>
              <a:t>behaviour</a:t>
            </a:r>
            <a:r>
              <a:rPr lang="en-US" dirty="0" smtClean="0"/>
              <a:t>, especially if it causes a compulsive or obsessive pursuit of ‘reward’ and lack of concern over consequences.  </a:t>
            </a:r>
            <a:endParaRPr lang="en-US" dirty="0" smtClean="0"/>
          </a:p>
          <a:p>
            <a:r>
              <a:rPr lang="en-US" dirty="0" smtClean="0"/>
              <a:t>Mara Tyler 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Symptoms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Some who is experiencing an addition will :</a:t>
            </a:r>
            <a:endParaRPr lang="en-US" dirty="0" smtClean="0"/>
          </a:p>
          <a:p>
            <a:r>
              <a:rPr lang="en-US" dirty="0" smtClean="0"/>
              <a:t>Be unable to stay away from the substance or stop the addictive </a:t>
            </a:r>
            <a:r>
              <a:rPr lang="en-US" dirty="0" err="1" smtClean="0"/>
              <a:t>behaviour</a:t>
            </a:r>
            <a:endParaRPr lang="en-US" dirty="0" smtClean="0"/>
          </a:p>
          <a:p>
            <a:r>
              <a:rPr lang="en-US" dirty="0" smtClean="0"/>
              <a:t>Display a lack of self-control</a:t>
            </a:r>
            <a:endParaRPr lang="en-US" dirty="0" smtClean="0"/>
          </a:p>
          <a:p>
            <a:r>
              <a:rPr lang="en-US" dirty="0" smtClean="0"/>
              <a:t>Have an increased desire for the substance or </a:t>
            </a:r>
            <a:r>
              <a:rPr lang="en-US" dirty="0" err="1" smtClean="0"/>
              <a:t>behaviour</a:t>
            </a:r>
            <a:endParaRPr lang="en-US" dirty="0" smtClean="0"/>
          </a:p>
          <a:p>
            <a:r>
              <a:rPr lang="en-US" dirty="0" smtClean="0"/>
              <a:t>Dismiss how their </a:t>
            </a:r>
            <a:r>
              <a:rPr lang="en-US" dirty="0" err="1" smtClean="0"/>
              <a:t>behaviour</a:t>
            </a:r>
            <a:r>
              <a:rPr lang="en-US" dirty="0" smtClean="0"/>
              <a:t> may be causing problems</a:t>
            </a:r>
            <a:endParaRPr lang="en-US" dirty="0" smtClean="0"/>
          </a:p>
          <a:p>
            <a:r>
              <a:rPr lang="en-US" dirty="0" smtClean="0"/>
              <a:t>Lack an emotional response.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Symptoms ……..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 time :….</a:t>
            </a:r>
            <a:endParaRPr lang="en-US" dirty="0" smtClean="0"/>
          </a:p>
          <a:p>
            <a:r>
              <a:rPr lang="en-US" dirty="0" smtClean="0"/>
              <a:t>Addictions can seriously interfere with their daily life. </a:t>
            </a:r>
            <a:endParaRPr lang="en-US" dirty="0" smtClean="0"/>
          </a:p>
          <a:p>
            <a:r>
              <a:rPr lang="en-US" dirty="0" smtClean="0"/>
              <a:t>Prone to cycles of relapse and remission.</a:t>
            </a:r>
            <a:endParaRPr lang="en-US" dirty="0" smtClean="0"/>
          </a:p>
          <a:p>
            <a:r>
              <a:rPr lang="en-US" dirty="0" smtClean="0"/>
              <a:t>They may cycle between intense and mild use.</a:t>
            </a:r>
            <a:endParaRPr lang="en-US" dirty="0" smtClean="0"/>
          </a:p>
          <a:p>
            <a:r>
              <a:rPr lang="en-US" dirty="0" smtClean="0"/>
              <a:t>Addictions </a:t>
            </a:r>
            <a:r>
              <a:rPr lang="en-US" dirty="0" err="1" smtClean="0"/>
              <a:t>will typically</a:t>
            </a:r>
            <a:r>
              <a:rPr lang="en-US" dirty="0" smtClean="0"/>
              <a:t> worsen over time.</a:t>
            </a:r>
            <a:endParaRPr lang="en-US" dirty="0" smtClean="0"/>
          </a:p>
          <a:p>
            <a:r>
              <a:rPr lang="en-US" dirty="0" smtClean="0"/>
              <a:t>Can lead to permanent health </a:t>
            </a:r>
            <a:r>
              <a:rPr lang="en-US" dirty="0" err="1" smtClean="0"/>
              <a:t>complcations</a:t>
            </a:r>
            <a:r>
              <a:rPr lang="en-US" dirty="0" smtClean="0"/>
              <a:t> and serious consequences like bankruptcy.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drug addictions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 lnSpcReduction="20000"/>
          </a:bodyPr>
          <a:lstStyle/>
          <a:p>
            <a:r>
              <a:rPr lang="en-US" sz="4000" dirty="0" smtClean="0"/>
              <a:t>Nicotine, found in tobacco</a:t>
            </a:r>
            <a:endParaRPr lang="en-US" sz="4000" dirty="0" smtClean="0"/>
          </a:p>
          <a:p>
            <a:r>
              <a:rPr lang="en-US" sz="4000" dirty="0" smtClean="0"/>
              <a:t>THC found in </a:t>
            </a:r>
            <a:r>
              <a:rPr lang="en-US" sz="4000" dirty="0" err="1" smtClean="0"/>
              <a:t>Marujuana</a:t>
            </a:r>
            <a:endParaRPr lang="en-US" sz="4000" dirty="0" smtClean="0"/>
          </a:p>
          <a:p>
            <a:r>
              <a:rPr lang="en-US" sz="4000" dirty="0" err="1" smtClean="0"/>
              <a:t>Opioid</a:t>
            </a:r>
            <a:r>
              <a:rPr lang="en-US" sz="4000" dirty="0" smtClean="0"/>
              <a:t> (narcotics), or pain relievers</a:t>
            </a:r>
            <a:endParaRPr lang="en-US" sz="4000" dirty="0" smtClean="0"/>
          </a:p>
          <a:p>
            <a:r>
              <a:rPr lang="en-US" sz="4000" dirty="0" smtClean="0"/>
              <a:t>Cocaine</a:t>
            </a:r>
            <a:endParaRPr lang="en-US" sz="4000" dirty="0" smtClean="0"/>
          </a:p>
          <a:p>
            <a:r>
              <a:rPr lang="en-US" sz="4000" dirty="0" smtClean="0"/>
              <a:t>Crack cocaine</a:t>
            </a:r>
            <a:endParaRPr lang="en-US" sz="4000" dirty="0" smtClean="0"/>
          </a:p>
          <a:p>
            <a:r>
              <a:rPr lang="en-US" sz="4000" dirty="0" smtClean="0"/>
              <a:t>Crystal </a:t>
            </a:r>
            <a:r>
              <a:rPr lang="en-US" sz="4000" dirty="0" err="1" smtClean="0"/>
              <a:t>methinhalents</a:t>
            </a:r>
            <a:endParaRPr lang="en-US" sz="4000" dirty="0" smtClean="0"/>
          </a:p>
          <a:p>
            <a:r>
              <a:rPr lang="en-US" sz="4000" dirty="0" smtClean="0"/>
              <a:t>Heroin</a:t>
            </a:r>
            <a:endParaRPr lang="en-US" sz="4000" dirty="0" smtClean="0"/>
          </a:p>
          <a:p>
            <a:r>
              <a:rPr lang="en-US" sz="4000" dirty="0" smtClean="0"/>
              <a:t>LSD</a:t>
            </a:r>
            <a:endParaRPr lang="en-US" sz="4000" dirty="0" smtClean="0"/>
          </a:p>
          <a:p>
            <a:r>
              <a:rPr lang="en-US" sz="4000" dirty="0" smtClean="0"/>
              <a:t>Rx-drugs</a:t>
            </a:r>
            <a:endParaRPr lang="en-US" sz="4000" dirty="0" smtClean="0"/>
          </a:p>
          <a:p>
            <a:r>
              <a:rPr lang="en-US" sz="4000" dirty="0" smtClean="0"/>
              <a:t>Pain killers</a:t>
            </a:r>
            <a:endParaRPr lang="en-US" sz="4000" dirty="0" smtClean="0"/>
          </a:p>
          <a:p>
            <a:r>
              <a:rPr lang="en-US" sz="4000" dirty="0" smtClean="0"/>
              <a:t>Ritalin abuse</a:t>
            </a:r>
            <a:endParaRPr lang="en-US" sz="4000" dirty="0" smtClean="0"/>
          </a:p>
          <a:p>
            <a:r>
              <a:rPr lang="en-US" sz="4000" dirty="0" smtClean="0"/>
              <a:t>Synthetic drugs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Other addictions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Coffee or caffeine</a:t>
            </a:r>
            <a:endParaRPr lang="en-US" dirty="0" smtClean="0"/>
          </a:p>
          <a:p>
            <a:r>
              <a:rPr lang="en-US" dirty="0" smtClean="0"/>
              <a:t>Gambling</a:t>
            </a:r>
            <a:endParaRPr lang="en-US" dirty="0" smtClean="0"/>
          </a:p>
          <a:p>
            <a:r>
              <a:rPr lang="en-US" dirty="0" smtClean="0"/>
              <a:t>Anger, as a coping strategy</a:t>
            </a:r>
            <a:endParaRPr lang="en-US" dirty="0" smtClean="0"/>
          </a:p>
          <a:p>
            <a:r>
              <a:rPr lang="en-US" dirty="0" smtClean="0"/>
              <a:t>Food</a:t>
            </a:r>
            <a:endParaRPr lang="en-US" dirty="0" smtClean="0"/>
          </a:p>
          <a:p>
            <a:r>
              <a:rPr lang="en-US" dirty="0" smtClean="0"/>
              <a:t>Technology</a:t>
            </a:r>
            <a:endParaRPr lang="en-US" dirty="0" smtClean="0"/>
          </a:p>
          <a:p>
            <a:r>
              <a:rPr lang="en-US" dirty="0" smtClean="0"/>
              <a:t>Sex</a:t>
            </a:r>
            <a:endParaRPr lang="en-US" dirty="0" smtClean="0"/>
          </a:p>
          <a:p>
            <a:r>
              <a:rPr lang="en-US" dirty="0" smtClean="0"/>
              <a:t>work</a:t>
            </a:r>
            <a:endParaRPr lang="en-US" dirty="0" smtClean="0"/>
          </a:p>
          <a:p>
            <a:r>
              <a:rPr lang="en-US" dirty="0"/>
              <a:t>Shopping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Causes of Addiction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Addictive substances and behaviors can create a pleasurable “high” that’s physical and psychological.  </a:t>
            </a:r>
            <a:endParaRPr lang="en-US" dirty="0" smtClean="0"/>
          </a:p>
          <a:p>
            <a:r>
              <a:rPr lang="en-US" dirty="0" smtClean="0"/>
              <a:t>To achieve the same high again, the substances or engagement in </a:t>
            </a:r>
            <a:r>
              <a:rPr lang="en-US" dirty="0" err="1" smtClean="0"/>
              <a:t>behaviours</a:t>
            </a:r>
            <a:r>
              <a:rPr lang="en-US" dirty="0" smtClean="0"/>
              <a:t> longer is done.  </a:t>
            </a:r>
            <a:endParaRPr lang="en-US" dirty="0" smtClean="0"/>
          </a:p>
          <a:p>
            <a:r>
              <a:rPr lang="en-US" dirty="0" smtClean="0"/>
              <a:t>Over a period of time the addiction becomes difficult to stop. 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brain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Some never try again</a:t>
            </a:r>
            <a:endParaRPr lang="en-US" dirty="0" smtClean="0"/>
          </a:p>
          <a:p>
            <a:r>
              <a:rPr lang="en-US" dirty="0" smtClean="0"/>
              <a:t>Some others get addicted.</a:t>
            </a:r>
            <a:endParaRPr lang="en-US" dirty="0" smtClean="0"/>
          </a:p>
          <a:p>
            <a:r>
              <a:rPr lang="en-US" dirty="0" smtClean="0"/>
              <a:t>Why ?</a:t>
            </a:r>
            <a:endParaRPr lang="en-US" dirty="0" smtClean="0"/>
          </a:p>
          <a:p>
            <a:r>
              <a:rPr lang="en-US" dirty="0" smtClean="0"/>
              <a:t>This is partially due to the brains frontal lobes – which allows a person to delay feelings of reward or gratification. </a:t>
            </a:r>
            <a:endParaRPr lang="en-US" dirty="0" smtClean="0"/>
          </a:p>
          <a:p>
            <a:r>
              <a:rPr lang="en-US" dirty="0" smtClean="0"/>
              <a:t>In addiction :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The frontal lobe malfunctions and 	gratification is immediate…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possible causes of addiction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Chemical imbalances in the brain and mental disorders such as Schizophrenia or Bipolar disorder. </a:t>
            </a:r>
            <a:endParaRPr lang="en-US" dirty="0" smtClean="0"/>
          </a:p>
          <a:p>
            <a:r>
              <a:rPr lang="en-US" dirty="0" smtClean="0"/>
              <a:t>These disorders can lead to coping strategies that become addictions.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STAGES of Addiction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Experimentation : Uses or engages out of curiosity</a:t>
            </a:r>
            <a:endParaRPr lang="en-US" dirty="0" smtClean="0"/>
          </a:p>
          <a:p>
            <a:r>
              <a:rPr lang="en-US" dirty="0" smtClean="0"/>
              <a:t>Social or regular : Uses or engages in social situations or for social reasons </a:t>
            </a:r>
            <a:endParaRPr lang="en-US" dirty="0" smtClean="0"/>
          </a:p>
          <a:p>
            <a:r>
              <a:rPr lang="en-US" dirty="0" smtClean="0"/>
              <a:t>Problem or risk : Uses or engages in an extreme way with disregard for consequences</a:t>
            </a:r>
            <a:endParaRPr lang="en-US" dirty="0" smtClean="0"/>
          </a:p>
          <a:p>
            <a:r>
              <a:rPr lang="en-US" dirty="0" smtClean="0"/>
              <a:t>Dependency : Uses or engages in a </a:t>
            </a:r>
            <a:r>
              <a:rPr lang="en-US" dirty="0" err="1" smtClean="0"/>
              <a:t>behaviour</a:t>
            </a:r>
            <a:r>
              <a:rPr lang="en-US" dirty="0" smtClean="0"/>
              <a:t> on a daily basis, or several times per day, despite possible negative consequences 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HARMFUL EFFECTS OF ADDICTION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LIVER</a:t>
            </a:r>
            <a:endParaRPr lang="en-US" dirty="0" smtClean="0"/>
          </a:p>
          <a:p>
            <a:r>
              <a:rPr lang="en-US" dirty="0" smtClean="0"/>
              <a:t>KIDNEYS</a:t>
            </a:r>
            <a:endParaRPr lang="en-US" dirty="0" smtClean="0"/>
          </a:p>
          <a:p>
            <a:r>
              <a:rPr lang="en-US" dirty="0" smtClean="0"/>
              <a:t>RAPID HEART BEAT</a:t>
            </a:r>
            <a:endParaRPr lang="en-US" dirty="0" smtClean="0"/>
          </a:p>
          <a:p>
            <a:r>
              <a:rPr lang="en-US" dirty="0" smtClean="0"/>
              <a:t>SWEAT</a:t>
            </a:r>
            <a:endParaRPr lang="en-US" dirty="0" smtClean="0"/>
          </a:p>
          <a:p>
            <a:r>
              <a:rPr lang="en-US" dirty="0" smtClean="0"/>
              <a:t>DISORIENTATION</a:t>
            </a:r>
            <a:endParaRPr lang="en-US" dirty="0" smtClean="0"/>
          </a:p>
          <a:p>
            <a:r>
              <a:rPr lang="en-US" dirty="0" smtClean="0"/>
              <a:t>LACK OF PHYSICAL COORDINATION</a:t>
            </a:r>
            <a:endParaRPr lang="en-US" dirty="0" smtClean="0"/>
          </a:p>
          <a:p>
            <a:r>
              <a:rPr lang="en-US" dirty="0" smtClean="0"/>
              <a:t>OFTEN FOLLOWED BY DEPRESSION OR SLEEPINESS</a:t>
            </a:r>
            <a:endParaRPr lang="en-US" dirty="0" smtClean="0"/>
          </a:p>
          <a:p>
            <a:r>
              <a:rPr lang="en-US" dirty="0" smtClean="0"/>
              <a:t>PANIC ATTACKS OR ANXIETY</a:t>
            </a:r>
            <a:endParaRPr lang="en-US" dirty="0" smtClean="0"/>
          </a:p>
          <a:p>
            <a:r>
              <a:rPr lang="en-US" dirty="0" smtClean="0"/>
              <a:t>LUNGS CANNABIS 1 SHOT = 5 CIGARETTES</a:t>
            </a:r>
            <a:endParaRPr lang="en-US" dirty="0" smtClean="0"/>
          </a:p>
          <a:p>
            <a:r>
              <a:rPr lang="en-US" dirty="0" smtClean="0"/>
              <a:t>BRAIN ABNORMALITIES</a:t>
            </a:r>
            <a:endParaRPr lang="en-US" dirty="0" smtClean="0"/>
          </a:p>
          <a:p>
            <a:r>
              <a:rPr lang="en-US" dirty="0" smtClean="0"/>
              <a:t>MRJ 50% TO 70% MORE CANCER-CAUSING-SUBSTANCE THAN TOBACCO SMOKE.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/>
            </a:br>
            <a:r>
              <a:rPr lang="en-US"/>
              <a:t>HARMFUL EFFECTS  </a:t>
            </a:r>
            <a:br>
              <a:rPr lang="en-US"/>
            </a:br>
            <a:r>
              <a:rPr lang="en-US"/>
              <a:t>SHORT TERM effects 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short-term memory problems</a:t>
            </a:r>
            <a:endParaRPr lang="en-US"/>
          </a:p>
          <a:p>
            <a:r>
              <a:rPr lang="en-US"/>
              <a:t>severe Anxiety-including fear that one is being watched or followed - Paranoia</a:t>
            </a:r>
            <a:endParaRPr lang="en-US"/>
          </a:p>
          <a:p>
            <a:r>
              <a:rPr lang="en-US"/>
              <a:t>very strange behaviour, seeing, hearing or, smelling things that are not there, not being able to tell imagination from reality (psychosis)</a:t>
            </a:r>
            <a:endParaRPr lang="en-US"/>
          </a:p>
          <a:p>
            <a:r>
              <a:rPr lang="en-US"/>
              <a:t>panic</a:t>
            </a:r>
            <a:endParaRPr lang="en-US"/>
          </a:p>
          <a:p>
            <a:r>
              <a:rPr lang="en-US"/>
              <a:t>hallucinations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LONG TERM EFFECTS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Health problems</a:t>
            </a:r>
            <a:endParaRPr lang="en-US"/>
          </a:p>
          <a:p>
            <a:r>
              <a:rPr lang="en-US"/>
              <a:t>violence </a:t>
            </a:r>
            <a:endParaRPr lang="en-US"/>
          </a:p>
          <a:p>
            <a:r>
              <a:rPr lang="en-US"/>
              <a:t>relationship problems with intimate partner; domestic violence </a:t>
            </a:r>
            <a:endParaRPr lang="en-US"/>
          </a:p>
          <a:p>
            <a:r>
              <a:rPr lang="en-US"/>
              <a:t>scars on children - psychological </a:t>
            </a:r>
            <a:endParaRPr lang="en-US"/>
          </a:p>
          <a:p>
            <a:r>
              <a:rPr lang="en-US"/>
              <a:t>financial difficulties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 for addiction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Psychotherapy, including </a:t>
            </a:r>
            <a:r>
              <a:rPr lang="en-US" dirty="0" err="1" smtClean="0"/>
              <a:t>behavioural</a:t>
            </a:r>
            <a:r>
              <a:rPr lang="en-US" dirty="0" smtClean="0"/>
              <a:t> talk and group therapies </a:t>
            </a:r>
            <a:endParaRPr lang="en-US" dirty="0" smtClean="0"/>
          </a:p>
          <a:p>
            <a:r>
              <a:rPr lang="en-US" dirty="0" smtClean="0"/>
              <a:t>Medications for mental disorders such as depression or schizophrenia</a:t>
            </a:r>
            <a:endParaRPr lang="en-US" dirty="0" smtClean="0"/>
          </a:p>
          <a:p>
            <a:r>
              <a:rPr lang="en-US" dirty="0" smtClean="0"/>
              <a:t>Inpatient addiction treatment</a:t>
            </a:r>
            <a:endParaRPr lang="en-US" dirty="0" smtClean="0"/>
          </a:p>
          <a:p>
            <a:r>
              <a:rPr lang="en-US" dirty="0" smtClean="0"/>
              <a:t>Self help and support groups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Help &amp; Support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You : </a:t>
            </a:r>
            <a:r>
              <a:rPr lang="en-US" dirty="0" err="1" smtClean="0"/>
              <a:t>counselling</a:t>
            </a:r>
            <a:r>
              <a:rPr lang="en-US" dirty="0" smtClean="0"/>
              <a:t> an addict : Your assessment.</a:t>
            </a:r>
            <a:endParaRPr lang="en-US" dirty="0" smtClean="0"/>
          </a:p>
          <a:p>
            <a:pPr lvl="1"/>
            <a:r>
              <a:rPr lang="en-US" dirty="0" smtClean="0"/>
              <a:t>If addiction is for some years then intensive outpatient treatment or in-patient treatment is in order ;  </a:t>
            </a:r>
            <a:endParaRPr lang="en-US" dirty="0" smtClean="0"/>
          </a:p>
          <a:p>
            <a:pPr lvl="1"/>
            <a:r>
              <a:rPr lang="en-US" dirty="0" smtClean="0"/>
              <a:t>If addiction has been for a longer period : then De-addiction Homes/Hospital for de-toxing will be required.</a:t>
            </a:r>
            <a:endParaRPr lang="en-US" dirty="0" smtClean="0"/>
          </a:p>
          <a:p>
            <a:r>
              <a:rPr lang="en-US" dirty="0" smtClean="0"/>
              <a:t>Alcoholics </a:t>
            </a:r>
            <a:r>
              <a:rPr lang="en-US" dirty="0" smtClean="0"/>
              <a:t>Anonymous </a:t>
            </a:r>
            <a:endParaRPr lang="en-US" dirty="0" smtClean="0"/>
          </a:p>
          <a:p>
            <a:r>
              <a:rPr lang="en-US" dirty="0" smtClean="0"/>
              <a:t>Gamblers Anonymous</a:t>
            </a:r>
            <a:endParaRPr lang="en-US" dirty="0" smtClean="0"/>
          </a:p>
          <a:p>
            <a:r>
              <a:rPr lang="en-US" dirty="0" smtClean="0"/>
              <a:t>Narcotics </a:t>
            </a:r>
            <a:r>
              <a:rPr lang="en-US" dirty="0" smtClean="0"/>
              <a:t>Anonymous</a:t>
            </a:r>
            <a:endParaRPr lang="en-US" dirty="0" smtClean="0"/>
          </a:p>
          <a:p>
            <a:r>
              <a:rPr lang="en-US" dirty="0" smtClean="0"/>
              <a:t>Sex addicts’ </a:t>
            </a:r>
            <a:r>
              <a:rPr lang="en-US" dirty="0" smtClean="0"/>
              <a:t>Anonymous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 pray for the addict.....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3728</Words>
  <Application>WPS Presentation</Application>
  <PresentationFormat>On-screen Show (4:3)</PresentationFormat>
  <Paragraphs>141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Algerian</vt:lpstr>
      <vt:lpstr>Calibri</vt:lpstr>
      <vt:lpstr>Microsoft YaHei</vt:lpstr>
      <vt:lpstr>Arial Unicode MS</vt:lpstr>
      <vt:lpstr>Office Theme</vt:lpstr>
      <vt:lpstr>ADDICTION                                        by dr philo kanagaraj</vt:lpstr>
      <vt:lpstr>What is Addiction ?</vt:lpstr>
      <vt:lpstr>Symptoms</vt:lpstr>
      <vt:lpstr>Symptoms ……..</vt:lpstr>
      <vt:lpstr>Common drug addictions </vt:lpstr>
      <vt:lpstr>Other addictions</vt:lpstr>
      <vt:lpstr>Causes of addiction</vt:lpstr>
      <vt:lpstr>The brain</vt:lpstr>
      <vt:lpstr>Other possible of addiction</vt:lpstr>
      <vt:lpstr>STAGES of addiction </vt:lpstr>
      <vt:lpstr>HARMFUL EFFECTS OF ADDICTION </vt:lpstr>
      <vt:lpstr>PowerPoint 演示文稿</vt:lpstr>
      <vt:lpstr>PowerPoint 演示文稿</vt:lpstr>
      <vt:lpstr>Treatment for addiction</vt:lpstr>
      <vt:lpstr>Help &amp; Support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ADDICTION                                        by dr philo kanagaraj</dc:title>
  <dc:creator>india</dc:creator>
  <cp:lastModifiedBy>india</cp:lastModifiedBy>
  <cp:revision>8</cp:revision>
  <dcterms:created xsi:type="dcterms:W3CDTF">2024-10-17T10:23:00Z</dcterms:created>
  <dcterms:modified xsi:type="dcterms:W3CDTF">2024-10-17T15:07:20Z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702648753EC246FE9C6B47F4C07CB30B_13</vt:lpwstr>
  </property>
  <property fmtid="{D5CDD505-2E9C-101B-9397-08002B2CF9AE}" pid="3" name="KSOProductBuildVer">
    <vt:lpwstr>1033-12.2.0.17562</vt:lpwstr>
  </property>
</Properties>
</file>