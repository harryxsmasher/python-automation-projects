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57" r:id="rId4"/>
    <p:sldId id="258" r:id="rId5"/>
    <p:sldId id="260" r:id="rId6"/>
    <p:sldId id="262" r:id="rId7"/>
    <p:sldId id="263" r:id="rId8"/>
    <p:sldId id="264" r:id="rId9"/>
    <p:sldId id="265" r:id="rId10"/>
    <p:sldId id="266" r:id="rId11"/>
    <p:sldId id="267" r:id="rId12"/>
    <p:sldId id="268" r:id="rId14"/>
    <p:sldId id="269" r:id="rId15"/>
    <p:sldId id="270" r:id="rId16"/>
    <p:sldId id="271" r:id="rId17"/>
    <p:sldId id="272" r:id="rId18"/>
    <p:sldId id="28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00" d="100"/>
          <a:sy n="100" d="100"/>
        </p:scale>
        <p:origin x="-516"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85C6FA-8EDB-439D-8000-77E5EAF5ADA0}"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B42F00-45D8-4D51-90C8-D4F84980705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98376951-453D-475E-A773-C1674DC1BA8D}"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74CBEAF9-9E58-4CC8-A6FF-6DD8A58DEEA4}" type="datetimeFigureOut">
              <a:rPr lang="en-US" smtClean="0"/>
            </a:fld>
            <a:endParaRPr lang="en-US"/>
          </a:p>
        </p:txBody>
      </p:sp>
      <p:sp>
        <p:nvSpPr>
          <p:cNvPr id="2" name="Footer Placeholder 1"/>
          <p:cNvSpPr>
            <a:spLocks noGrp="1"/>
          </p:cNvSpPr>
          <p:nvPr>
            <p:ph type="ftr" sz="quarter" idx="11"/>
          </p:nvPr>
        </p:nvSpPr>
        <p:spPr/>
        <p:txBody>
          <a:bodyPr/>
          <a:lstStyle/>
          <a:p>
            <a:endParaRPr kumimoji="0" lang="en-US"/>
          </a:p>
        </p:txBody>
      </p:sp>
      <p:sp>
        <p:nvSpPr>
          <p:cNvPr id="15" name="Slide Number Placeholder 14"/>
          <p:cNvSpPr>
            <a:spLocks noGrp="1"/>
          </p:cNvSpPr>
          <p:nvPr>
            <p:ph type="sldNum" sz="quarter" idx="12"/>
          </p:nvPr>
        </p:nvSpPr>
        <p:spPr>
          <a:xfrm>
            <a:off x="8229600" y="6473952"/>
            <a:ext cx="758952" cy="246888"/>
          </a:xfrm>
        </p:spPr>
        <p:txBody>
          <a:bodyPr/>
          <a:lstStyle/>
          <a:p>
            <a:fld id="{CA15C064-DD44-4CAC-873E-2D1F54821676}" type="slidenum">
              <a:rPr kumimoji="0" lang="en-US" smtClean="0"/>
            </a:fld>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kumimoji="0" lang="en-US"/>
          </a:p>
        </p:txBody>
      </p:sp>
      <p:sp>
        <p:nvSpPr>
          <p:cNvPr id="16" name="Slide Number Placeholder 15"/>
          <p:cNvSpPr>
            <a:spLocks noGrp="1"/>
          </p:cNvSpPr>
          <p:nvPr>
            <p:ph type="sldNum" sz="quarter" idx="12"/>
          </p:nvPr>
        </p:nvSpPr>
        <p:spPr>
          <a:xfrm>
            <a:off x="8229600" y="6473952"/>
            <a:ext cx="758952" cy="246888"/>
          </a:xfrm>
        </p:spPr>
        <p:txBody>
          <a:bodyPr/>
          <a:lstStyle/>
          <a:p>
            <a:fld id="{CA15C064-DD44-4CAC-873E-2D1F54821676}" type="slidenum">
              <a:rPr kumimoji="0" lang="en-US" smtClean="0"/>
            </a:fld>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19" name="Date Placeholder 18"/>
          <p:cNvSpPr>
            <a:spLocks noGrp="1"/>
          </p:cNvSpPr>
          <p:nvPr>
            <p:ph type="dt" sz="half" idx="10"/>
          </p:nvPr>
        </p:nvSpPr>
        <p:spPr/>
        <p:txBody>
          <a:bodyPr/>
          <a:lstStyle/>
          <a:p>
            <a:fld id="{74CBEAF9-9E58-4CC8-A6FF-6DD8A58DEEA4}" type="datetimeFigureOut">
              <a:rPr lang="en-US" smtClean="0"/>
            </a:fld>
            <a:endParaRPr lang="en-US"/>
          </a:p>
        </p:txBody>
      </p:sp>
      <p:sp>
        <p:nvSpPr>
          <p:cNvPr id="11" name="Footer Placeholder 10"/>
          <p:cNvSpPr>
            <a:spLocks noGrp="1"/>
          </p:cNvSpPr>
          <p:nvPr>
            <p:ph type="ftr" sz="quarter" idx="11"/>
          </p:nvPr>
        </p:nvSpPr>
        <p:spPr/>
        <p:txBody>
          <a:bodyPr/>
          <a:lstStyle/>
          <a:p>
            <a:endParaRPr kumimoji="0" lang="en-US"/>
          </a:p>
        </p:txBody>
      </p:sp>
      <p:sp>
        <p:nvSpPr>
          <p:cNvPr id="16" name="Slide Number Placeholder 15"/>
          <p:cNvSpPr>
            <a:spLocks noGrp="1"/>
          </p:cNvSpPr>
          <p:nvPr>
            <p:ph type="sldNum" sz="quarter" idx="12"/>
          </p:nvPr>
        </p:nvSpPr>
        <p:spPr/>
        <p:txBody>
          <a:bodyPr/>
          <a:lstStyle/>
          <a:p>
            <a:fld id="{CA15C064-DD44-4CAC-873E-2D1F54821676}" type="slidenum">
              <a:rPr kumimoji="0" lang="en-US" smtClean="0"/>
            </a:fld>
            <a:endParaRPr kumimoji="0"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74CBEAF9-9E58-4CC8-A6FF-6DD8A58DEEA4}" type="datetimeFigureOut">
              <a:rPr lang="en-US" smtClean="0"/>
            </a:fld>
            <a:endParaRPr lang="en-US"/>
          </a:p>
        </p:txBody>
      </p:sp>
      <p:sp>
        <p:nvSpPr>
          <p:cNvPr id="10" name="Footer Placeholder 9"/>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74CBEAF9-9E58-4CC8-A6FF-6DD8A58DEEA4}" type="datetimeFigureOut">
              <a:rPr lang="en-US" smtClean="0"/>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8229600" y="6477000"/>
            <a:ext cx="762000" cy="246888"/>
          </a:xfrm>
        </p:spPr>
        <p:txBody>
          <a:bodyPr/>
          <a:lstStyle/>
          <a:p>
            <a:fld id="{CA15C064-DD44-4CAC-873E-2D1F54821676}" type="slidenum">
              <a:rPr kumimoji="0" lang="en-US" smtClean="0"/>
            </a:fld>
            <a:endParaRPr kumimoji="0" lang="en-US" dirty="0"/>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74CBEAF9-9E58-4CC8-A6FF-6DD8A58DEEA4}" type="datetimeFigureOut">
              <a:rPr lang="en-US" smtClean="0"/>
            </a:fld>
            <a:endParaRPr lang="en-US"/>
          </a:p>
        </p:txBody>
      </p:sp>
      <p:sp>
        <p:nvSpPr>
          <p:cNvPr id="21" name="Footer Placeholder 20"/>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4CBEAF9-9E58-4CC8-A6FF-6DD8A58DEEA4}" type="datetimeFigureOut">
              <a:rPr lang="en-US" smtClean="0"/>
            </a:fld>
            <a:endParaRPr lang="en-US"/>
          </a:p>
        </p:txBody>
      </p:sp>
      <p:sp>
        <p:nvSpPr>
          <p:cNvPr id="24" name="Footer Placeholder 23"/>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CA15C064-DD44-4CAC-873E-2D1F54821676}" type="slidenum">
              <a:rPr kumimoji="0" lang="en-US" smtClean="0"/>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fld>
            <a:endParaRPr lang="en-US"/>
          </a:p>
        </p:txBody>
      </p:sp>
      <p:sp>
        <p:nvSpPr>
          <p:cNvPr id="29" name="Footer Placeholder 28"/>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CA15C064-DD44-4CAC-873E-2D1F54821676}" type="slidenum">
              <a:rPr kumimoji="0" lang="en-US" smtClean="0"/>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fld>
            <a:endParaRPr kumimoji="0"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pPr algn="l" eaLnBrk="1" latinLnBrk="0" hangingPunct="1"/>
            <a:fld id="{74CBEAF9-9E58-4CC8-A6FF-6DD8A58DEEA4}" type="datetimeFigureOut">
              <a:rPr lang="en-US" smtClean="0"/>
            </a:fld>
            <a:endParaRPr lang="en-US" dirty="0">
              <a:solidFill>
                <a:schemeClr val="accent1">
                  <a:shade val="75000"/>
                </a:schemeClr>
              </a:solidFill>
            </a:endParaRPr>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pPr algn="r" eaLnBrk="1" latinLnBrk="0" hangingPunct="1"/>
            <a:endParaRPr kumimoji="0" lang="en-US" dirty="0">
              <a:solidFill>
                <a:schemeClr val="accent1">
                  <a:shade val="75000"/>
                </a:schemeClr>
              </a:solidFill>
            </a:endParaRPr>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CA15C064-DD44-4CAC-873E-2D1F54821676}" type="slidenum">
              <a:rPr kumimoji="0" lang="en-US" smtClean="0"/>
            </a:fld>
            <a:endParaRPr kumimoji="0" lang="en-US" dirty="0">
              <a:solidFill>
                <a:schemeClr val="accent1">
                  <a:shade val="75000"/>
                </a:schemeClr>
              </a:solidFill>
            </a:endParaRPr>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panose="05020102010507070707"/>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panose="05020102010507070707"/>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panose="05020102010507070707"/>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panose="05020102010507070707"/>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panose="05020102010507070707"/>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panose="05020102010507070707"/>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panose="05020102010507070707"/>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panose="05020102010507070707"/>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panose="05020102010507070707"/>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280535"/>
            <a:ext cx="8458200" cy="822960"/>
          </a:xfrm>
        </p:spPr>
        <p:txBody>
          <a:bodyPr>
            <a:normAutofit fontScale="90000"/>
          </a:bodyPr>
          <a:lstStyle/>
          <a:p>
            <a:pPr algn="r"/>
            <a:br>
              <a:rPr lang="en-US" sz="2800" i="1" dirty="0" smtClean="0">
                <a:latin typeface="Algerian" panose="04020705040A02060702" pitchFamily="82" charset="0"/>
              </a:rPr>
            </a:br>
            <a:r>
              <a:rPr lang="en-US" sz="2800" i="1" dirty="0" smtClean="0">
                <a:latin typeface="Algerian" panose="04020705040A02060702" pitchFamily="82" charset="0"/>
              </a:rPr>
              <a:t>by Dr. Philomena Kanagaraj</a:t>
            </a:r>
            <a:br>
              <a:rPr lang="en-US" sz="2800" i="1" dirty="0" smtClean="0">
                <a:latin typeface="Algerian" panose="04020705040A02060702" pitchFamily="82" charset="0"/>
              </a:rPr>
            </a:br>
            <a:r>
              <a:rPr lang="en-US" sz="2800" i="1" dirty="0" smtClean="0">
                <a:latin typeface="Algerian" panose="04020705040A02060702" pitchFamily="82" charset="0"/>
              </a:rPr>
              <a:t>CF-India</a:t>
            </a:r>
            <a:br>
              <a:rPr lang="en-US" sz="2800" i="1" dirty="0" smtClean="0">
                <a:latin typeface="Algerian" panose="04020705040A02060702" pitchFamily="82" charset="0"/>
              </a:rPr>
            </a:br>
            <a:r>
              <a:rPr lang="en-US" sz="1780" i="1" dirty="0" smtClean="0">
                <a:latin typeface="Algerian" panose="04020705040A02060702" pitchFamily="82" charset="0"/>
              </a:rPr>
              <a:t>19 oCT 2022</a:t>
            </a:r>
            <a:endParaRPr lang="en-US" sz="1780" i="1" dirty="0" smtClean="0">
              <a:latin typeface="Algerian" panose="04020705040A02060702" pitchFamily="82" charset="0"/>
            </a:endParaRPr>
          </a:p>
        </p:txBody>
      </p:sp>
      <p:sp>
        <p:nvSpPr>
          <p:cNvPr id="3" name="Subtitle 2"/>
          <p:cNvSpPr>
            <a:spLocks noGrp="1"/>
          </p:cNvSpPr>
          <p:nvPr>
            <p:ph type="subTitle" idx="1"/>
          </p:nvPr>
        </p:nvSpPr>
        <p:spPr>
          <a:xfrm>
            <a:off x="381000" y="840740"/>
            <a:ext cx="8458200" cy="3481070"/>
          </a:xfrm>
        </p:spPr>
        <p:txBody>
          <a:bodyPr>
            <a:normAutofit/>
          </a:bodyPr>
          <a:lstStyle/>
          <a:p>
            <a:pPr algn="ctr"/>
            <a:r>
              <a:rPr lang="en-US" sz="4400" i="1" dirty="0" smtClean="0">
                <a:latin typeface="Algerian" panose="04020705040A02060702" pitchFamily="82" charset="0"/>
              </a:rPr>
              <a:t>SUICIDE  AWARENESS, PREVENTION, COUNSELLING</a:t>
            </a:r>
            <a:endParaRPr lang="en-US" sz="4400" i="1" dirty="0" smtClean="0">
              <a:latin typeface="Algerian" panose="04020705040A02060702" pitchFamily="82" charset="0"/>
            </a:endParaRPr>
          </a:p>
          <a:p>
            <a:pPr algn="ctr"/>
            <a:r>
              <a:rPr lang="en-US" sz="4400" i="1" dirty="0" smtClean="0">
                <a:latin typeface="Algerian" panose="04020705040A02060702" pitchFamily="82" charset="0"/>
                <a:sym typeface="+mn-ea"/>
              </a:rPr>
              <a:t>&amp; </a:t>
            </a:r>
            <a:endParaRPr lang="en-US" sz="4400" i="1" dirty="0" smtClean="0">
              <a:latin typeface="Algerian" panose="04020705040A02060702" pitchFamily="82" charset="0"/>
              <a:sym typeface="+mn-ea"/>
            </a:endParaRPr>
          </a:p>
          <a:p>
            <a:pPr algn="ctr"/>
            <a:r>
              <a:rPr lang="en-US" sz="4400" i="1" dirty="0" smtClean="0">
                <a:latin typeface="Algerian" panose="04020705040A02060702" pitchFamily="82" charset="0"/>
                <a:sym typeface="+mn-ea"/>
              </a:rPr>
              <a:t>tHE RED FLAGS</a:t>
            </a:r>
            <a:endParaRPr lang="en-US" sz="4400" i="1" dirty="0">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i="1" dirty="0" smtClean="0">
                <a:latin typeface="Algerian" panose="04020705040A02060702" pitchFamily="82" charset="0"/>
              </a:rPr>
              <a:t>what </a:t>
            </a:r>
            <a:r>
              <a:rPr lang="en-US" sz="3200" i="1" dirty="0" smtClean="0">
                <a:latin typeface="Algerian" panose="04020705040A02060702" pitchFamily="82" charset="0"/>
              </a:rPr>
              <a:t>is ‘Suicide</a:t>
            </a:r>
            <a:r>
              <a:rPr lang="en-US" sz="4000" dirty="0" smtClean="0"/>
              <a:t>’ </a:t>
            </a:r>
            <a:r>
              <a:rPr lang="en-US" dirty="0" smtClean="0"/>
              <a:t>?</a:t>
            </a:r>
            <a:endParaRPr lang="en-IN" dirty="0"/>
          </a:p>
        </p:txBody>
      </p:sp>
      <p:sp>
        <p:nvSpPr>
          <p:cNvPr id="3" name="Content Placeholder 2"/>
          <p:cNvSpPr>
            <a:spLocks noGrp="1"/>
          </p:cNvSpPr>
          <p:nvPr>
            <p:ph sz="quarter" idx="1"/>
          </p:nvPr>
        </p:nvSpPr>
        <p:spPr>
          <a:xfrm>
            <a:off x="457200" y="1066800"/>
            <a:ext cx="8229600" cy="5291158"/>
          </a:xfrm>
        </p:spPr>
        <p:txBody>
          <a:bodyPr>
            <a:normAutofit fontScale="25000"/>
          </a:bodyPr>
          <a:lstStyle/>
          <a:p>
            <a:pPr>
              <a:buNone/>
            </a:pPr>
            <a:endParaRPr lang="en-IN" dirty="0" smtClean="0"/>
          </a:p>
          <a:p>
            <a:pPr>
              <a:lnSpc>
                <a:spcPct val="60000"/>
              </a:lnSpc>
            </a:pPr>
            <a:r>
              <a:rPr lang="en-IN" sz="11200" b="1" dirty="0" smtClean="0">
                <a:latin typeface="Times New Roman" panose="02020603050405020304" pitchFamily="18" charset="0"/>
                <a:cs typeface="Times New Roman" panose="02020603050405020304" pitchFamily="18" charset="0"/>
              </a:rPr>
              <a:t>In Latin </a:t>
            </a:r>
            <a:r>
              <a:rPr lang="en-IN" sz="11200" b="1" i="1" dirty="0" err="1" smtClean="0">
                <a:latin typeface="Times New Roman" panose="02020603050405020304" pitchFamily="18" charset="0"/>
                <a:cs typeface="Times New Roman" panose="02020603050405020304" pitchFamily="18" charset="0"/>
              </a:rPr>
              <a:t>Suicidium</a:t>
            </a:r>
            <a:r>
              <a:rPr lang="en-IN" sz="11200" b="1" i="1" dirty="0" smtClean="0">
                <a:latin typeface="Times New Roman" panose="02020603050405020304" pitchFamily="18" charset="0"/>
                <a:cs typeface="Times New Roman" panose="02020603050405020304" pitchFamily="18" charset="0"/>
              </a:rPr>
              <a:t>, </a:t>
            </a:r>
            <a:r>
              <a:rPr lang="en-IN" sz="11200" b="1" dirty="0" smtClean="0">
                <a:latin typeface="Times New Roman" panose="02020603050405020304" pitchFamily="18" charset="0"/>
                <a:cs typeface="Times New Roman" panose="02020603050405020304" pitchFamily="18" charset="0"/>
              </a:rPr>
              <a:t>from </a:t>
            </a:r>
            <a:r>
              <a:rPr lang="en-IN" sz="11200" b="1" i="1" dirty="0" err="1" smtClean="0">
                <a:latin typeface="Times New Roman" panose="02020603050405020304" pitchFamily="18" charset="0"/>
                <a:cs typeface="Times New Roman" panose="02020603050405020304" pitchFamily="18" charset="0"/>
              </a:rPr>
              <a:t>Suicaedere</a:t>
            </a:r>
            <a:r>
              <a:rPr lang="en-IN" sz="11200" b="1" dirty="0" smtClean="0">
                <a:latin typeface="Times New Roman" panose="02020603050405020304" pitchFamily="18" charset="0"/>
                <a:cs typeface="Times New Roman" panose="02020603050405020304" pitchFamily="18" charset="0"/>
              </a:rPr>
              <a:t>  ‘to kill oneself’ is the act of intentionally causing one’s own death.</a:t>
            </a:r>
            <a:endParaRPr lang="en-IN" sz="11200" b="1" dirty="0" smtClean="0">
              <a:latin typeface="Times New Roman" panose="02020603050405020304" pitchFamily="18" charset="0"/>
              <a:cs typeface="Times New Roman" panose="02020603050405020304" pitchFamily="18" charset="0"/>
            </a:endParaRPr>
          </a:p>
          <a:p>
            <a:pPr>
              <a:lnSpc>
                <a:spcPct val="60000"/>
              </a:lnSpc>
            </a:pPr>
            <a:endParaRPr lang="en-IN" sz="11200" dirty="0" smtClean="0">
              <a:latin typeface="Times New Roman" panose="02020603050405020304" pitchFamily="18" charset="0"/>
              <a:cs typeface="Times New Roman" panose="02020603050405020304" pitchFamily="18" charset="0"/>
            </a:endParaRPr>
          </a:p>
          <a:p>
            <a:pPr>
              <a:lnSpc>
                <a:spcPct val="60000"/>
              </a:lnSpc>
            </a:pPr>
            <a:r>
              <a:rPr lang="en-IN" sz="11200" b="1" dirty="0" smtClean="0">
                <a:latin typeface="Times New Roman" panose="02020603050405020304" pitchFamily="18" charset="0"/>
                <a:cs typeface="Times New Roman" panose="02020603050405020304" pitchFamily="18" charset="0"/>
              </a:rPr>
              <a:t>Suicide is a desperate attempt to escape suffering that has become unbearable </a:t>
            </a:r>
            <a:r>
              <a:rPr lang="en-IN" sz="11200" dirty="0" smtClean="0">
                <a:latin typeface="Times New Roman" panose="02020603050405020304" pitchFamily="18" charset="0"/>
                <a:cs typeface="Times New Roman" panose="02020603050405020304" pitchFamily="18" charset="0"/>
              </a:rPr>
              <a:t>by taking one’s own life with whatever resources available.</a:t>
            </a:r>
            <a:endParaRPr lang="en-IN" sz="11200" dirty="0" smtClean="0">
              <a:latin typeface="Times New Roman" panose="02020603050405020304" pitchFamily="18" charset="0"/>
              <a:cs typeface="Times New Roman" panose="02020603050405020304" pitchFamily="18" charset="0"/>
            </a:endParaRPr>
          </a:p>
          <a:p>
            <a:pPr>
              <a:lnSpc>
                <a:spcPct val="60000"/>
              </a:lnSpc>
              <a:buNone/>
            </a:pPr>
            <a:r>
              <a:rPr lang="en-IN" sz="11200" dirty="0" smtClean="0">
                <a:latin typeface="Times New Roman" panose="02020603050405020304" pitchFamily="18" charset="0"/>
                <a:cs typeface="Times New Roman" panose="02020603050405020304" pitchFamily="18" charset="0"/>
              </a:rPr>
              <a:t> </a:t>
            </a:r>
            <a:endParaRPr lang="en-IN" sz="11200" dirty="0" smtClean="0">
              <a:latin typeface="Times New Roman" panose="02020603050405020304" pitchFamily="18" charset="0"/>
              <a:cs typeface="Times New Roman" panose="02020603050405020304" pitchFamily="18" charset="0"/>
            </a:endParaRPr>
          </a:p>
          <a:p>
            <a:pPr>
              <a:lnSpc>
                <a:spcPct val="60000"/>
              </a:lnSpc>
            </a:pPr>
            <a:r>
              <a:rPr lang="en-IN" sz="11200" dirty="0" smtClean="0">
                <a:latin typeface="Times New Roman" panose="02020603050405020304" pitchFamily="18" charset="0"/>
                <a:cs typeface="Times New Roman" panose="02020603050405020304" pitchFamily="18" charset="0"/>
              </a:rPr>
              <a:t>Blinded by </a:t>
            </a:r>
            <a:r>
              <a:rPr lang="en-IN" sz="11200" b="1" dirty="0" smtClean="0">
                <a:latin typeface="Times New Roman" panose="02020603050405020304" pitchFamily="18" charset="0"/>
                <a:cs typeface="Times New Roman" panose="02020603050405020304" pitchFamily="18" charset="0"/>
              </a:rPr>
              <a:t>feelings of self-loathing, hopelessness, and isolation,</a:t>
            </a:r>
            <a:r>
              <a:rPr lang="en-IN" sz="11200" dirty="0" smtClean="0">
                <a:latin typeface="Times New Roman" panose="02020603050405020304" pitchFamily="18" charset="0"/>
                <a:cs typeface="Times New Roman" panose="02020603050405020304" pitchFamily="18" charset="0"/>
              </a:rPr>
              <a:t> a suicidal person can't see any way of finding relief except through death.</a:t>
            </a:r>
            <a:endParaRPr lang="en-IN" sz="11200" dirty="0" smtClean="0">
              <a:latin typeface="Times New Roman" panose="02020603050405020304" pitchFamily="18" charset="0"/>
              <a:cs typeface="Times New Roman" panose="02020603050405020304" pitchFamily="18" charset="0"/>
            </a:endParaRPr>
          </a:p>
          <a:p>
            <a:pPr>
              <a:lnSpc>
                <a:spcPct val="60000"/>
              </a:lnSpc>
            </a:pPr>
            <a:endParaRPr lang="en-IN" sz="11200" dirty="0" smtClean="0">
              <a:latin typeface="Times New Roman" panose="02020603050405020304" pitchFamily="18" charset="0"/>
              <a:cs typeface="Times New Roman" panose="02020603050405020304" pitchFamily="18" charset="0"/>
            </a:endParaRPr>
          </a:p>
          <a:p>
            <a:pPr>
              <a:lnSpc>
                <a:spcPct val="60000"/>
              </a:lnSpc>
            </a:pPr>
            <a:r>
              <a:rPr lang="en-IN" sz="11200" b="1" dirty="0" smtClean="0">
                <a:latin typeface="Times New Roman" panose="02020603050405020304" pitchFamily="18" charset="0"/>
                <a:cs typeface="Times New Roman" panose="02020603050405020304" pitchFamily="18" charset="0"/>
              </a:rPr>
              <a:t>‘The act of taking one’s own life’.</a:t>
            </a:r>
            <a:endParaRPr lang="en-IN" sz="11200" b="1" dirty="0" smtClean="0">
              <a:latin typeface="Times New Roman" panose="02020603050405020304" pitchFamily="18" charset="0"/>
              <a:cs typeface="Times New Roman" panose="02020603050405020304" pitchFamily="18" charset="0"/>
            </a:endParaRPr>
          </a:p>
          <a:p>
            <a:pPr>
              <a:lnSpc>
                <a:spcPct val="60000"/>
              </a:lnSpc>
            </a:pPr>
            <a:endParaRPr lang="en-IN" sz="11200" dirty="0" smtClean="0">
              <a:latin typeface="Times New Roman" panose="02020603050405020304" pitchFamily="18" charset="0"/>
              <a:cs typeface="Times New Roman" panose="02020603050405020304" pitchFamily="18" charset="0"/>
            </a:endParaRPr>
          </a:p>
          <a:p>
            <a:pPr>
              <a:lnSpc>
                <a:spcPct val="60000"/>
              </a:lnSpc>
            </a:pPr>
            <a:r>
              <a:rPr lang="en-IN" sz="11200" dirty="0" smtClean="0">
                <a:latin typeface="Times New Roman" panose="02020603050405020304" pitchFamily="18" charset="0"/>
                <a:cs typeface="Times New Roman" panose="02020603050405020304" pitchFamily="18" charset="0"/>
              </a:rPr>
              <a:t>But despite their desire for the pain to stop, most suicidal people are deeply conflicted about ending their own lives.  </a:t>
            </a:r>
            <a:endParaRPr lang="en-IN" sz="11200" dirty="0" smtClean="0">
              <a:latin typeface="Times New Roman" panose="02020603050405020304" pitchFamily="18" charset="0"/>
              <a:cs typeface="Times New Roman" panose="02020603050405020304" pitchFamily="18" charset="0"/>
            </a:endParaRPr>
          </a:p>
          <a:p>
            <a:pPr>
              <a:lnSpc>
                <a:spcPct val="60000"/>
              </a:lnSpc>
            </a:pPr>
            <a:endParaRPr lang="en-IN" sz="1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7695"/>
          </a:xfrm>
        </p:spPr>
        <p:txBody>
          <a:bodyPr>
            <a:normAutofit/>
          </a:bodyPr>
          <a:lstStyle/>
          <a:p>
            <a:r>
              <a:rPr lang="en-US" sz="3200" dirty="0" smtClean="0"/>
              <a:t>	          MYTHS ABOUT SUICIDE </a:t>
            </a:r>
            <a:endParaRPr lang="en-US" sz="3200" dirty="0"/>
          </a:p>
        </p:txBody>
      </p:sp>
      <p:graphicFrame>
        <p:nvGraphicFramePr>
          <p:cNvPr id="3" name="Table 2"/>
          <p:cNvGraphicFramePr>
            <a:graphicFrameLocks noGrp="1"/>
          </p:cNvGraphicFramePr>
          <p:nvPr/>
        </p:nvGraphicFramePr>
        <p:xfrm>
          <a:off x="72390" y="634365"/>
          <a:ext cx="9311005" cy="6287770"/>
        </p:xfrm>
        <a:graphic>
          <a:graphicData uri="http://schemas.openxmlformats.org/drawingml/2006/table">
            <a:tbl>
              <a:tblPr/>
              <a:tblGrid>
                <a:gridCol w="9311005"/>
              </a:tblGrid>
              <a:tr h="953770">
                <a:tc>
                  <a:txBody>
                    <a:bodyPr/>
                    <a:lstStyle/>
                    <a:p>
                      <a:pPr marL="0" marR="0">
                        <a:lnSpc>
                          <a:spcPct val="115000"/>
                        </a:lnSpc>
                        <a:spcBef>
                          <a:spcPts val="0"/>
                        </a:spcBef>
                        <a:spcAft>
                          <a:spcPts val="0"/>
                        </a:spcAft>
                      </a:pPr>
                      <a:r>
                        <a:rPr lang="en-US" sz="2000" b="1" dirty="0">
                          <a:latin typeface="Baskerville Old Face" panose="02020602080505020303" charset="0"/>
                          <a:ea typeface="Times New Roman" panose="02020603050405020304"/>
                          <a:cs typeface="Baskerville Old Face" panose="02020602080505020303" charset="0"/>
                        </a:rPr>
                        <a:t>Myth: </a:t>
                      </a:r>
                      <a:r>
                        <a:rPr lang="en-US" sz="2000" b="1" u="sng" dirty="0">
                          <a:latin typeface="Baskerville Old Face" panose="02020602080505020303" charset="0"/>
                          <a:ea typeface="Times New Roman" panose="02020603050405020304"/>
                          <a:cs typeface="Baskerville Old Face" panose="02020602080505020303" charset="0"/>
                        </a:rPr>
                        <a:t>People who talk about suicide won’t really do it</a:t>
                      </a:r>
                      <a:r>
                        <a:rPr lang="en-US" sz="2000" b="1" dirty="0">
                          <a:latin typeface="Baskerville Old Face" panose="02020602080505020303" charset="0"/>
                          <a:ea typeface="Times New Roman" panose="02020603050405020304"/>
                          <a:cs typeface="Baskerville Old Face" panose="02020602080505020303" charset="0"/>
                        </a:rPr>
                        <a:t>. </a:t>
                      </a:r>
                      <a:endParaRPr lang="en-US" sz="2000" dirty="0">
                        <a:latin typeface="Baskerville Old Face" panose="02020602080505020303" charset="0"/>
                        <a:ea typeface="Calibri" panose="020F0502020204030204"/>
                        <a:cs typeface="Baskerville Old Face" panose="02020602080505020303" charset="0"/>
                      </a:endParaRPr>
                    </a:p>
                    <a:p>
                      <a:pPr marL="0" marR="0">
                        <a:lnSpc>
                          <a:spcPct val="75000"/>
                        </a:lnSpc>
                        <a:spcBef>
                          <a:spcPts val="0"/>
                        </a:spcBef>
                        <a:spcAft>
                          <a:spcPts val="1000"/>
                        </a:spcAft>
                      </a:pPr>
                      <a:r>
                        <a:rPr lang="en-US" sz="2000" b="1" dirty="0">
                          <a:latin typeface="Baskerville Old Face" panose="02020602080505020303" charset="0"/>
                          <a:ea typeface="Times New Roman" panose="02020603050405020304"/>
                          <a:cs typeface="Baskerville Old Face" panose="02020602080505020303" charset="0"/>
                        </a:rPr>
                        <a:t>Fact: </a:t>
                      </a:r>
                      <a:r>
                        <a:rPr lang="en-US" sz="2000" dirty="0">
                          <a:latin typeface="Baskerville Old Face" panose="02020602080505020303" charset="0"/>
                          <a:ea typeface="Times New Roman" panose="02020603050405020304"/>
                          <a:cs typeface="Baskerville Old Face" panose="02020602080505020303" charset="0"/>
                        </a:rPr>
                        <a:t>Almost everyone who attempts suicide has given some clue or warning. </a:t>
                      </a:r>
                      <a:endParaRPr lang="en-US" sz="2000" dirty="0" smtClean="0">
                        <a:latin typeface="Baskerville Old Face" panose="02020602080505020303" charset="0"/>
                        <a:ea typeface="Times New Roman" panose="02020603050405020304"/>
                        <a:cs typeface="Baskerville Old Face" panose="02020602080505020303" charset="0"/>
                      </a:endParaRPr>
                    </a:p>
                    <a:p>
                      <a:pPr marL="0" marR="0">
                        <a:lnSpc>
                          <a:spcPct val="75000"/>
                        </a:lnSpc>
                        <a:spcBef>
                          <a:spcPts val="0"/>
                        </a:spcBef>
                        <a:spcAft>
                          <a:spcPts val="1000"/>
                        </a:spcAft>
                      </a:pPr>
                      <a:r>
                        <a:rPr lang="en-US" sz="2000" dirty="0" smtClean="0">
                          <a:latin typeface="Baskerville Old Face" panose="02020602080505020303" charset="0"/>
                          <a:ea typeface="Times New Roman" panose="02020603050405020304"/>
                          <a:cs typeface="Baskerville Old Face" panose="02020602080505020303" charset="0"/>
                        </a:rPr>
                        <a:t>Don’t </a:t>
                      </a:r>
                      <a:r>
                        <a:rPr lang="en-US" sz="2000" dirty="0">
                          <a:latin typeface="Baskerville Old Face" panose="02020602080505020303" charset="0"/>
                          <a:ea typeface="Times New Roman" panose="02020603050405020304"/>
                          <a:cs typeface="Baskerville Old Face" panose="02020602080505020303" charset="0"/>
                        </a:rPr>
                        <a:t>ignore even indirect references to death or suicide. </a:t>
                      </a:r>
                      <a:endParaRPr lang="en-US" sz="2000" dirty="0">
                        <a:latin typeface="Baskerville Old Face" panose="02020602080505020303" charset="0"/>
                        <a:ea typeface="Calibri" panose="020F0502020204030204"/>
                        <a:cs typeface="Baskerville Old Face" panose="02020602080505020303" charset="0"/>
                      </a:endParaRPr>
                    </a:p>
                  </a:txBody>
                  <a:tcPr marL="9525" marR="9525" marT="9525" marB="9525" anchor="ctr">
                    <a:lnL>
                      <a:noFill/>
                    </a:lnL>
                    <a:lnR>
                      <a:noFill/>
                    </a:lnR>
                    <a:lnT>
                      <a:noFill/>
                    </a:lnT>
                    <a:lnB>
                      <a:noFill/>
                    </a:lnB>
                  </a:tcPr>
                </a:tc>
              </a:tr>
              <a:tr h="1421130">
                <a:tc>
                  <a:txBody>
                    <a:bodyPr/>
                    <a:lstStyle/>
                    <a:p>
                      <a:pPr marL="0" marR="0">
                        <a:lnSpc>
                          <a:spcPct val="115000"/>
                        </a:lnSpc>
                        <a:spcBef>
                          <a:spcPts val="0"/>
                        </a:spcBef>
                        <a:spcAft>
                          <a:spcPts val="0"/>
                        </a:spcAft>
                      </a:pPr>
                      <a:r>
                        <a:rPr lang="en-US" sz="2000" b="1" dirty="0">
                          <a:latin typeface="Baskerville Old Face" panose="02020602080505020303" charset="0"/>
                          <a:ea typeface="Times New Roman" panose="02020603050405020304"/>
                          <a:cs typeface="Baskerville Old Face" panose="02020602080505020303" charset="0"/>
                        </a:rPr>
                        <a:t>Myth: </a:t>
                      </a:r>
                      <a:r>
                        <a:rPr lang="en-US" sz="2000" b="1" u="sng" dirty="0">
                          <a:latin typeface="Baskerville Old Face" panose="02020602080505020303" charset="0"/>
                          <a:ea typeface="Times New Roman" panose="02020603050405020304"/>
                          <a:cs typeface="Baskerville Old Face" panose="02020602080505020303" charset="0"/>
                        </a:rPr>
                        <a:t>Anyone who tries to kill themselves must be crazy. </a:t>
                      </a:r>
                      <a:endParaRPr lang="en-US" sz="2000" u="sng" dirty="0">
                        <a:latin typeface="Baskerville Old Face" panose="02020602080505020303" charset="0"/>
                        <a:ea typeface="Calibri" panose="020F0502020204030204"/>
                        <a:cs typeface="Baskerville Old Face" panose="02020602080505020303" charset="0"/>
                      </a:endParaRPr>
                    </a:p>
                    <a:p>
                      <a:pPr marL="0" marR="0">
                        <a:lnSpc>
                          <a:spcPct val="115000"/>
                        </a:lnSpc>
                        <a:spcBef>
                          <a:spcPts val="0"/>
                        </a:spcBef>
                        <a:spcAft>
                          <a:spcPts val="1000"/>
                        </a:spcAft>
                      </a:pPr>
                      <a:r>
                        <a:rPr lang="en-US" sz="2000" b="1" dirty="0">
                          <a:latin typeface="Baskerville Old Face" panose="02020602080505020303" charset="0"/>
                          <a:ea typeface="Times New Roman" panose="02020603050405020304"/>
                          <a:cs typeface="Baskerville Old Face" panose="02020602080505020303" charset="0"/>
                        </a:rPr>
                        <a:t>Fact: </a:t>
                      </a:r>
                      <a:r>
                        <a:rPr lang="en-US" sz="2000" dirty="0">
                          <a:latin typeface="Baskerville Old Face" panose="02020602080505020303" charset="0"/>
                          <a:ea typeface="Times New Roman" panose="02020603050405020304"/>
                          <a:cs typeface="Baskerville Old Face" panose="02020602080505020303" charset="0"/>
                        </a:rPr>
                        <a:t>Most suicidal people are not psychotic or insane. They are upset, grief-stricken, depressed or despairing, but extreme distress and emotional pain are not necessarily signs of mental illness.</a:t>
                      </a:r>
                      <a:endParaRPr lang="en-US" sz="2000" dirty="0">
                        <a:latin typeface="Baskerville Old Face" panose="02020602080505020303" charset="0"/>
                        <a:ea typeface="Calibri" panose="020F0502020204030204"/>
                        <a:cs typeface="Baskerville Old Face" panose="02020602080505020303" charset="0"/>
                      </a:endParaRPr>
                    </a:p>
                  </a:txBody>
                  <a:tcPr marL="9525" marR="9525" marT="9525" marB="9525" anchor="ctr">
                    <a:lnL>
                      <a:noFill/>
                    </a:lnL>
                    <a:lnR>
                      <a:noFill/>
                    </a:lnR>
                    <a:lnT>
                      <a:noFill/>
                    </a:lnT>
                    <a:lnB>
                      <a:noFill/>
                    </a:lnB>
                  </a:tcPr>
                </a:tc>
              </a:tr>
              <a:tr h="1421130">
                <a:tc>
                  <a:txBody>
                    <a:bodyPr/>
                    <a:lstStyle/>
                    <a:p>
                      <a:pPr marL="0" marR="0">
                        <a:lnSpc>
                          <a:spcPct val="115000"/>
                        </a:lnSpc>
                        <a:spcBef>
                          <a:spcPts val="0"/>
                        </a:spcBef>
                        <a:spcAft>
                          <a:spcPts val="0"/>
                        </a:spcAft>
                      </a:pPr>
                      <a:r>
                        <a:rPr lang="en-US" sz="2000" b="1" dirty="0">
                          <a:latin typeface="Baskerville Old Face" panose="02020602080505020303" charset="0"/>
                          <a:ea typeface="Times New Roman" panose="02020603050405020304"/>
                          <a:cs typeface="Baskerville Old Face" panose="02020602080505020303" charset="0"/>
                        </a:rPr>
                        <a:t>Myth: </a:t>
                      </a:r>
                      <a:r>
                        <a:rPr lang="en-US" sz="2000" b="1" u="sng" dirty="0">
                          <a:latin typeface="Baskerville Old Face" panose="02020602080505020303" charset="0"/>
                          <a:ea typeface="Times New Roman" panose="02020603050405020304"/>
                          <a:cs typeface="Baskerville Old Face" panose="02020602080505020303" charset="0"/>
                        </a:rPr>
                        <a:t>If someone is determined to kill themselves, nothing is going to stop them. </a:t>
                      </a:r>
                      <a:endParaRPr lang="en-US" sz="2000" u="sng" dirty="0">
                        <a:latin typeface="Baskerville Old Face" panose="02020602080505020303" charset="0"/>
                        <a:ea typeface="Calibri" panose="020F0502020204030204"/>
                        <a:cs typeface="Baskerville Old Face" panose="02020602080505020303" charset="0"/>
                      </a:endParaRPr>
                    </a:p>
                    <a:p>
                      <a:pPr marL="0" marR="0">
                        <a:lnSpc>
                          <a:spcPct val="115000"/>
                        </a:lnSpc>
                        <a:spcBef>
                          <a:spcPts val="0"/>
                        </a:spcBef>
                        <a:spcAft>
                          <a:spcPts val="1000"/>
                        </a:spcAft>
                      </a:pPr>
                      <a:r>
                        <a:rPr lang="en-US" sz="2000" b="1" dirty="0">
                          <a:latin typeface="Baskerville Old Face" panose="02020602080505020303" charset="0"/>
                          <a:ea typeface="Times New Roman" panose="02020603050405020304"/>
                          <a:cs typeface="Baskerville Old Face" panose="02020602080505020303" charset="0"/>
                        </a:rPr>
                        <a:t>Fact</a:t>
                      </a:r>
                      <a:r>
                        <a:rPr lang="en-US" sz="2000" b="1" dirty="0" smtClean="0">
                          <a:latin typeface="Baskerville Old Face" panose="02020602080505020303" charset="0"/>
                          <a:ea typeface="Times New Roman" panose="02020603050405020304"/>
                          <a:cs typeface="Baskerville Old Face" panose="02020602080505020303" charset="0"/>
                        </a:rPr>
                        <a:t>:  </a:t>
                      </a:r>
                      <a:r>
                        <a:rPr lang="en-US" sz="2000" dirty="0" smtClean="0">
                          <a:latin typeface="Baskerville Old Face" panose="02020602080505020303" charset="0"/>
                          <a:ea typeface="Times New Roman" panose="02020603050405020304"/>
                          <a:cs typeface="Baskerville Old Face" panose="02020602080505020303" charset="0"/>
                        </a:rPr>
                        <a:t>Even </a:t>
                      </a:r>
                      <a:r>
                        <a:rPr lang="en-US" sz="2000" dirty="0">
                          <a:latin typeface="Baskerville Old Face" panose="02020602080505020303" charset="0"/>
                          <a:ea typeface="Times New Roman" panose="02020603050405020304"/>
                          <a:cs typeface="Baskerville Old Face" panose="02020602080505020303" charset="0"/>
                        </a:rPr>
                        <a:t>a very severely depressed person has mixed feelings about death, fluctuating between wanting to live and wanting to die. Rather than wanting death, they just want the pain to stop—and the impulse to end their life does not last forever.</a:t>
                      </a:r>
                      <a:endParaRPr lang="en-US" sz="2000" dirty="0">
                        <a:latin typeface="Baskerville Old Face" panose="02020602080505020303" charset="0"/>
                        <a:ea typeface="Calibri" panose="020F0502020204030204"/>
                        <a:cs typeface="Baskerville Old Face" panose="02020602080505020303" charset="0"/>
                      </a:endParaRPr>
                    </a:p>
                  </a:txBody>
                  <a:tcPr marL="9525" marR="9525" marT="9525" marB="9525" anchor="ctr">
                    <a:lnL>
                      <a:noFill/>
                    </a:lnL>
                    <a:lnR>
                      <a:noFill/>
                    </a:lnR>
                    <a:lnT>
                      <a:noFill/>
                    </a:lnT>
                    <a:lnB>
                      <a:noFill/>
                    </a:lnB>
                  </a:tcPr>
                </a:tc>
              </a:tr>
              <a:tr h="1421130">
                <a:tc>
                  <a:txBody>
                    <a:bodyPr/>
                    <a:lstStyle/>
                    <a:p>
                      <a:pPr marL="0" marR="0">
                        <a:lnSpc>
                          <a:spcPct val="115000"/>
                        </a:lnSpc>
                        <a:spcBef>
                          <a:spcPts val="0"/>
                        </a:spcBef>
                        <a:spcAft>
                          <a:spcPts val="0"/>
                        </a:spcAft>
                      </a:pPr>
                      <a:r>
                        <a:rPr lang="en-US" sz="2000" b="1" dirty="0">
                          <a:latin typeface="Baskerville Old Face" panose="02020602080505020303" charset="0"/>
                          <a:ea typeface="Times New Roman" panose="02020603050405020304"/>
                          <a:cs typeface="Baskerville Old Face" panose="02020602080505020303" charset="0"/>
                        </a:rPr>
                        <a:t>Myth: </a:t>
                      </a:r>
                      <a:r>
                        <a:rPr lang="en-US" sz="2000" b="1" u="sng" dirty="0">
                          <a:latin typeface="Baskerville Old Face" panose="02020602080505020303" charset="0"/>
                          <a:ea typeface="Times New Roman" panose="02020603050405020304"/>
                          <a:cs typeface="Baskerville Old Face" panose="02020602080505020303" charset="0"/>
                        </a:rPr>
                        <a:t>People who die by suicide are people who were unwilling to seek help. </a:t>
                      </a:r>
                      <a:endParaRPr lang="en-US" sz="2000" u="sng" dirty="0">
                        <a:latin typeface="Baskerville Old Face" panose="02020602080505020303" charset="0"/>
                        <a:ea typeface="Calibri" panose="020F0502020204030204"/>
                        <a:cs typeface="Baskerville Old Face" panose="02020602080505020303" charset="0"/>
                      </a:endParaRPr>
                    </a:p>
                    <a:p>
                      <a:pPr marL="0" marR="0">
                        <a:lnSpc>
                          <a:spcPct val="115000"/>
                        </a:lnSpc>
                        <a:spcBef>
                          <a:spcPts val="0"/>
                        </a:spcBef>
                        <a:spcAft>
                          <a:spcPts val="1000"/>
                        </a:spcAft>
                      </a:pPr>
                      <a:r>
                        <a:rPr lang="en-US" sz="2000" b="1" dirty="0">
                          <a:latin typeface="Baskerville Old Face" panose="02020602080505020303" charset="0"/>
                          <a:ea typeface="Times New Roman" panose="02020603050405020304"/>
                          <a:cs typeface="Baskerville Old Face" panose="02020602080505020303" charset="0"/>
                        </a:rPr>
                        <a:t>Fact: </a:t>
                      </a:r>
                      <a:r>
                        <a:rPr lang="en-US" sz="2000" dirty="0">
                          <a:latin typeface="Baskerville Old Face" panose="02020602080505020303" charset="0"/>
                          <a:ea typeface="Times New Roman" panose="02020603050405020304"/>
                          <a:cs typeface="Baskerville Old Face" panose="02020602080505020303" charset="0"/>
                        </a:rPr>
                        <a:t>Many people try to get help before attempting </a:t>
                      </a:r>
                      <a:r>
                        <a:rPr lang="en-US" sz="2000" dirty="0" smtClean="0">
                          <a:latin typeface="Baskerville Old Face" panose="02020602080505020303" charset="0"/>
                          <a:ea typeface="Times New Roman" panose="02020603050405020304"/>
                          <a:cs typeface="Baskerville Old Face" panose="02020602080505020303" charset="0"/>
                        </a:rPr>
                        <a:t>suicide. In </a:t>
                      </a:r>
                      <a:r>
                        <a:rPr lang="en-US" sz="2000" dirty="0">
                          <a:latin typeface="Baskerville Old Face" panose="02020602080505020303" charset="0"/>
                          <a:ea typeface="Times New Roman" panose="02020603050405020304"/>
                          <a:cs typeface="Baskerville Old Face" panose="02020602080505020303" charset="0"/>
                        </a:rPr>
                        <a:t>fact, studies indicate that more than 50 percent of suicide victims had sought medical help in the six months prior to their deaths.</a:t>
                      </a:r>
                      <a:endParaRPr lang="en-US" sz="2000" dirty="0">
                        <a:latin typeface="Baskerville Old Face" panose="02020602080505020303" charset="0"/>
                        <a:ea typeface="Calibri" panose="020F0502020204030204"/>
                        <a:cs typeface="Baskerville Old Face" panose="02020602080505020303" charset="0"/>
                      </a:endParaRPr>
                    </a:p>
                  </a:txBody>
                  <a:tcPr marL="9525" marR="9525" marT="9525" marB="9525" anchor="ctr">
                    <a:lnL>
                      <a:noFill/>
                    </a:lnL>
                    <a:lnR>
                      <a:noFill/>
                    </a:lnR>
                    <a:lnT>
                      <a:noFill/>
                    </a:lnT>
                    <a:lnB>
                      <a:noFill/>
                    </a:lnB>
                  </a:tcPr>
                </a:tc>
              </a:tr>
              <a:tr h="1070610">
                <a:tc>
                  <a:txBody>
                    <a:bodyPr/>
                    <a:lstStyle/>
                    <a:p>
                      <a:pPr marL="0" marR="0">
                        <a:lnSpc>
                          <a:spcPct val="115000"/>
                        </a:lnSpc>
                        <a:spcBef>
                          <a:spcPts val="0"/>
                        </a:spcBef>
                        <a:spcAft>
                          <a:spcPts val="0"/>
                        </a:spcAft>
                      </a:pPr>
                      <a:r>
                        <a:rPr lang="en-US" sz="2000" b="1" dirty="0">
                          <a:latin typeface="Baskerville Old Face" panose="02020602080505020303" charset="0"/>
                          <a:ea typeface="Times New Roman" panose="02020603050405020304"/>
                          <a:cs typeface="Baskerville Old Face" panose="02020602080505020303" charset="0"/>
                        </a:rPr>
                        <a:t>Myth: </a:t>
                      </a:r>
                      <a:r>
                        <a:rPr lang="en-US" sz="2000" b="1" u="sng" dirty="0">
                          <a:latin typeface="Baskerville Old Face" panose="02020602080505020303" charset="0"/>
                          <a:ea typeface="Times New Roman" panose="02020603050405020304"/>
                          <a:cs typeface="Baskerville Old Face" panose="02020602080505020303" charset="0"/>
                        </a:rPr>
                        <a:t>Talking about suicide may give someone the idea. </a:t>
                      </a:r>
                      <a:endParaRPr lang="en-US" sz="2000" u="sng" dirty="0">
                        <a:latin typeface="Baskerville Old Face" panose="02020602080505020303" charset="0"/>
                        <a:ea typeface="Calibri" panose="020F0502020204030204"/>
                        <a:cs typeface="Baskerville Old Face" panose="02020602080505020303" charset="0"/>
                      </a:endParaRPr>
                    </a:p>
                    <a:p>
                      <a:pPr marL="0" marR="0">
                        <a:lnSpc>
                          <a:spcPct val="115000"/>
                        </a:lnSpc>
                        <a:spcBef>
                          <a:spcPts val="0"/>
                        </a:spcBef>
                        <a:spcAft>
                          <a:spcPts val="1000"/>
                        </a:spcAft>
                      </a:pPr>
                      <a:r>
                        <a:rPr lang="en-US" sz="2000" b="1" dirty="0">
                          <a:latin typeface="Baskerville Old Face" panose="02020602080505020303" charset="0"/>
                          <a:ea typeface="Times New Roman" panose="02020603050405020304"/>
                          <a:cs typeface="Baskerville Old Face" panose="02020602080505020303" charset="0"/>
                        </a:rPr>
                        <a:t>Fact: </a:t>
                      </a:r>
                      <a:r>
                        <a:rPr lang="en-US" sz="2000" dirty="0">
                          <a:latin typeface="Baskerville Old Face" panose="02020602080505020303" charset="0"/>
                          <a:ea typeface="Times New Roman" panose="02020603050405020304"/>
                          <a:cs typeface="Baskerville Old Face" panose="02020602080505020303" charset="0"/>
                        </a:rPr>
                        <a:t>You don’t give someone suicidal ideas by talking about suicide. Rather, the opposite is true. Talking openly and honestly about suicidal thoughts and feelings can help save a life.</a:t>
                      </a:r>
                      <a:endParaRPr lang="en-US" sz="2000" dirty="0">
                        <a:latin typeface="Baskerville Old Face" panose="02020602080505020303" charset="0"/>
                        <a:ea typeface="Calibri" panose="020F0502020204030204"/>
                        <a:cs typeface="Baskerville Old Face" panose="02020602080505020303" charset="0"/>
                      </a:endParaRPr>
                    </a:p>
                  </a:txBody>
                  <a:tcPr marL="9525" marR="9525" marT="9525" marB="9525"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514"/>
            <a:ext cx="8229600" cy="796908"/>
          </a:xfrm>
        </p:spPr>
        <p:txBody>
          <a:bodyPr>
            <a:noAutofit/>
          </a:bodyPr>
          <a:lstStyle/>
          <a:p>
            <a:pPr algn="ctr"/>
            <a:r>
              <a:rPr lang="en-US" sz="2800" b="1" i="1" dirty="0" smtClean="0">
                <a:latin typeface="Times New Roman" panose="02020603050405020304" pitchFamily="18" charset="0"/>
                <a:cs typeface="Times New Roman" panose="02020603050405020304" pitchFamily="18" charset="0"/>
              </a:rPr>
              <a:t>Some common misconceptions </a:t>
            </a:r>
            <a:br>
              <a:rPr lang="en-US" sz="2800" b="1" i="1" dirty="0" smtClean="0">
                <a:latin typeface="Times New Roman" panose="02020603050405020304" pitchFamily="18" charset="0"/>
                <a:cs typeface="Times New Roman" panose="02020603050405020304" pitchFamily="18" charset="0"/>
              </a:rPr>
            </a:br>
            <a:r>
              <a:rPr lang="en-US" sz="2800" b="1" i="1" dirty="0" smtClean="0">
                <a:latin typeface="Times New Roman" panose="02020603050405020304" pitchFamily="18" charset="0"/>
                <a:cs typeface="Times New Roman" panose="02020603050405020304" pitchFamily="18" charset="0"/>
              </a:rPr>
              <a:t>about Suicide </a:t>
            </a:r>
            <a:endParaRPr lang="en-IN" sz="2800"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7200" y="1374779"/>
            <a:ext cx="8229600" cy="4768865"/>
          </a:xfrm>
        </p:spPr>
        <p:txBody>
          <a:bodyPr>
            <a:normAutofit lnSpcReduction="10000"/>
          </a:bodyPr>
          <a:lstStyle/>
          <a:p>
            <a:pPr>
              <a:lnSpc>
                <a:spcPct val="120000"/>
              </a:lnSpc>
            </a:pPr>
            <a:r>
              <a:rPr lang="en-US" dirty="0" smtClean="0">
                <a:latin typeface="Times New Roman" panose="02020603050405020304" pitchFamily="18" charset="0"/>
                <a:cs typeface="Times New Roman" panose="02020603050405020304" pitchFamily="18" charset="0"/>
              </a:rPr>
              <a:t>People who talk about suicide won’t really do it.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nSpc>
                <a:spcPct val="120000"/>
              </a:lnSpc>
            </a:pPr>
            <a:r>
              <a:rPr lang="en-US" dirty="0" smtClean="0">
                <a:latin typeface="Times New Roman" panose="02020603050405020304" pitchFamily="18" charset="0"/>
                <a:cs typeface="Times New Roman" panose="02020603050405020304" pitchFamily="18" charset="0"/>
              </a:rPr>
              <a:t>Anyone who tries to kill himself/herself must be crazy.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nSpc>
                <a:spcPct val="120000"/>
              </a:lnSpc>
            </a:pPr>
            <a:r>
              <a:rPr lang="en-US" dirty="0" smtClean="0">
                <a:latin typeface="Times New Roman" panose="02020603050405020304" pitchFamily="18" charset="0"/>
                <a:cs typeface="Times New Roman" panose="02020603050405020304" pitchFamily="18" charset="0"/>
              </a:rPr>
              <a:t>If a person is determined to kill himself/ herself, nothing is going to stop them.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nSpc>
                <a:spcPct val="120000"/>
              </a:lnSpc>
            </a:pPr>
            <a:r>
              <a:rPr lang="en-US" dirty="0" smtClean="0">
                <a:latin typeface="Times New Roman" panose="02020603050405020304" pitchFamily="18" charset="0"/>
                <a:cs typeface="Times New Roman" panose="02020603050405020304" pitchFamily="18" charset="0"/>
              </a:rPr>
              <a:t>People who commit suicide are people who were unwilling to seek help. (</a:t>
            </a:r>
            <a:r>
              <a:rPr lang="en-US" dirty="0" smtClean="0">
                <a:solidFill>
                  <a:srgbClr val="C00000"/>
                </a:solidFill>
                <a:latin typeface="Times New Roman" panose="02020603050405020304" pitchFamily="18" charset="0"/>
                <a:cs typeface="Times New Roman" panose="02020603050405020304" pitchFamily="18" charset="0"/>
              </a:rPr>
              <a:t>False)</a:t>
            </a:r>
            <a:r>
              <a:rPr lang="en-US" dirty="0" smtClean="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457200" y="333375"/>
            <a:ext cx="8229600" cy="907415"/>
          </a:xfrm>
        </p:spPr>
        <p:txBody>
          <a:bodyPr>
            <a:normAutofit fontScale="90000"/>
          </a:bodyPr>
          <a:lstStyle/>
          <a:p>
            <a:pPr algn="ctr"/>
            <a:r>
              <a:rPr lang="en-IN" sz="4000" b="1" dirty="0" smtClean="0"/>
              <a:t>  </a:t>
            </a:r>
            <a:r>
              <a:rPr lang="en-IN" sz="3555" b="1" dirty="0" smtClean="0">
                <a:latin typeface="Baskerville Old Face" panose="02020602080505020303" charset="0"/>
                <a:cs typeface="Baskerville Old Face" panose="02020602080505020303" charset="0"/>
              </a:rPr>
              <a:t> </a:t>
            </a:r>
            <a:r>
              <a:rPr lang="en-IN" sz="3555" b="1" i="1" dirty="0" smtClean="0">
                <a:latin typeface="Baskerville Old Face" panose="02020602080505020303" charset="0"/>
                <a:cs typeface="Baskerville Old Face" panose="02020602080505020303" charset="0"/>
              </a:rPr>
              <a:t>CAUSES of SUICIDE </a:t>
            </a:r>
            <a:br>
              <a:rPr lang="en-IN" sz="3555" i="1" dirty="0" smtClean="0">
                <a:latin typeface="Baskerville Old Face" panose="02020602080505020303" charset="0"/>
                <a:cs typeface="Baskerville Old Face" panose="02020602080505020303" charset="0"/>
              </a:rPr>
            </a:br>
            <a:endParaRPr lang="en-IN" sz="3555" i="1" dirty="0">
              <a:latin typeface="Baskerville Old Face" panose="02020602080505020303" charset="0"/>
              <a:cs typeface="Baskerville Old Face" panose="02020602080505020303" charset="0"/>
            </a:endParaRPr>
          </a:p>
        </p:txBody>
      </p:sp>
      <p:sp>
        <p:nvSpPr>
          <p:cNvPr id="3" name="Content Placeholder 2"/>
          <p:cNvSpPr>
            <a:spLocks noGrp="1"/>
          </p:cNvSpPr>
          <p:nvPr>
            <p:ph sz="quarter" idx="1"/>
          </p:nvPr>
        </p:nvSpPr>
        <p:spPr>
          <a:xfrm>
            <a:off x="457200" y="1112520"/>
            <a:ext cx="8511540" cy="5439410"/>
          </a:xfrm>
          <a:ln>
            <a:solidFill>
              <a:schemeClr val="tx1"/>
            </a:solidFill>
            <a:prstDash val="dashDot"/>
          </a:ln>
        </p:spPr>
        <p:txBody>
          <a:bodyPr>
            <a:normAutofit fontScale="25000" lnSpcReduction="20000"/>
          </a:bodyPr>
          <a:lstStyle/>
          <a:p>
            <a:pPr>
              <a:lnSpc>
                <a:spcPct val="170000"/>
              </a:lnSpc>
            </a:pPr>
            <a:r>
              <a:rPr lang="en-IN" sz="8000" b="1" dirty="0" smtClean="0">
                <a:latin typeface="Times New Roman" panose="02020603050405020304"/>
              </a:rPr>
              <a:t>Stress factors  : financial difficulties, love failure, exam failure.</a:t>
            </a:r>
            <a:endParaRPr lang="en-IN" sz="8000" b="1" dirty="0" smtClean="0">
              <a:latin typeface="Times New Roman" panose="02020603050405020304"/>
            </a:endParaRPr>
          </a:p>
          <a:p>
            <a:pPr>
              <a:lnSpc>
                <a:spcPct val="170000"/>
              </a:lnSpc>
            </a:pPr>
            <a:r>
              <a:rPr lang="en-IN" sz="8000" b="1" dirty="0" smtClean="0">
                <a:latin typeface="Times New Roman" panose="02020603050405020304"/>
              </a:rPr>
              <a:t>Often caused out of despair, frequently attributed to a mental disorder such as depression, bipolar disorder, schizophrenia, alcoholism or drug abuse, Substance abuse, smoking, gambling, medical conditions like cancer, traumatic brain injury, HIV, Insomnia, etc.</a:t>
            </a:r>
            <a:endParaRPr lang="en-IN" sz="8000" b="1" dirty="0" smtClean="0">
              <a:latin typeface="Times New Roman" panose="02020603050405020304"/>
            </a:endParaRPr>
          </a:p>
          <a:p>
            <a:pPr>
              <a:lnSpc>
                <a:spcPct val="170000"/>
              </a:lnSpc>
            </a:pPr>
            <a:r>
              <a:rPr lang="en-IN" sz="8000" b="1" u="sng" dirty="0" smtClean="0">
                <a:latin typeface="Baskerville Old Face" panose="02020602080505020303" charset="0"/>
                <a:cs typeface="Baskerville Old Face" panose="02020602080505020303" charset="0"/>
              </a:rPr>
              <a:t>CAUSES			In 		%age / numbers	</a:t>
            </a:r>
            <a:endParaRPr lang="en-IN" sz="8000" dirty="0" smtClean="0">
              <a:latin typeface="Baskerville Old Face" panose="02020602080505020303" charset="0"/>
              <a:cs typeface="Baskerville Old Face" panose="02020602080505020303" charset="0"/>
            </a:endParaRPr>
          </a:p>
          <a:p>
            <a:pPr>
              <a:lnSpc>
                <a:spcPct val="170000"/>
              </a:lnSpc>
            </a:pPr>
            <a:r>
              <a:rPr lang="en-IN" sz="8000" dirty="0" smtClean="0">
                <a:latin typeface="Baskerville Old Face" panose="02020602080505020303" charset="0"/>
                <a:cs typeface="Baskerville Old Face" panose="02020602080505020303" charset="0"/>
              </a:rPr>
              <a:t>Family Problems				84 suicides a day	</a:t>
            </a:r>
            <a:endParaRPr lang="en-IN" sz="8000" dirty="0" smtClean="0">
              <a:latin typeface="Baskerville Old Face" panose="02020602080505020303" charset="0"/>
              <a:cs typeface="Baskerville Old Face" panose="02020602080505020303" charset="0"/>
            </a:endParaRPr>
          </a:p>
          <a:p>
            <a:pPr>
              <a:lnSpc>
                <a:spcPct val="170000"/>
              </a:lnSpc>
            </a:pPr>
            <a:r>
              <a:rPr lang="en-IN" sz="8000" dirty="0" smtClean="0">
                <a:latin typeface="Baskerville Old Face" panose="02020602080505020303" charset="0"/>
                <a:cs typeface="Baskerville Old Face" panose="02020602080505020303" charset="0"/>
              </a:rPr>
              <a:t>Due Social &amp; Economic causes.	Married Men		71.6%	</a:t>
            </a:r>
            <a:endParaRPr lang="en-IN" sz="8000" dirty="0" smtClean="0">
              <a:latin typeface="Baskerville Old Face" panose="02020602080505020303" charset="0"/>
              <a:cs typeface="Baskerville Old Face" panose="02020602080505020303" charset="0"/>
            </a:endParaRPr>
          </a:p>
          <a:p>
            <a:pPr>
              <a:lnSpc>
                <a:spcPct val="170000"/>
              </a:lnSpc>
            </a:pPr>
            <a:r>
              <a:rPr lang="en-IN" sz="8000" dirty="0" smtClean="0">
                <a:latin typeface="Baskerville Old Face" panose="02020602080505020303" charset="0"/>
                <a:cs typeface="Baskerville Old Face" panose="02020602080505020303" charset="0"/>
              </a:rPr>
              <a:t>Due Emotional &amp; Personal	Married Woman		67.9%	</a:t>
            </a:r>
            <a:endParaRPr lang="en-IN" sz="8000" dirty="0" smtClean="0">
              <a:latin typeface="Baskerville Old Face" panose="02020602080505020303" charset="0"/>
              <a:cs typeface="Baskerville Old Face" panose="02020602080505020303" charset="0"/>
            </a:endParaRPr>
          </a:p>
          <a:p>
            <a:pPr lvl="8">
              <a:lnSpc>
                <a:spcPct val="170000"/>
              </a:lnSpc>
              <a:buNone/>
            </a:pPr>
            <a:r>
              <a:rPr lang="en-IN" sz="8000" dirty="0" smtClean="0">
                <a:latin typeface="Baskerville Old Face" panose="02020602080505020303" charset="0"/>
                <a:cs typeface="Baskerville Old Face" panose="02020602080505020303" charset="0"/>
              </a:rPr>
              <a:t>Housewives	1 out of 6 suicides.	</a:t>
            </a:r>
            <a:endParaRPr lang="en-IN" sz="8000" dirty="0" smtClean="0">
              <a:latin typeface="Baskerville Old Face" panose="02020602080505020303" charset="0"/>
              <a:cs typeface="Baskerville Old Face" panose="02020602080505020303" charset="0"/>
            </a:endParaRPr>
          </a:p>
          <a:p>
            <a:pPr>
              <a:lnSpc>
                <a:spcPct val="170000"/>
              </a:lnSpc>
            </a:pPr>
            <a:endParaRPr lang="en-IN" sz="8000" dirty="0" smtClean="0">
              <a:latin typeface="Baskerville Old Face" panose="02020602080505020303" charset="0"/>
              <a:cs typeface="Baskerville Old Face" panose="02020602080505020303" charset="0"/>
            </a:endParaRPr>
          </a:p>
          <a:p>
            <a:endParaRPr lang="en-IN" dirty="0" smtClean="0"/>
          </a:p>
          <a:p>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i="1" dirty="0" smtClean="0">
                <a:latin typeface="Algerian" panose="04020705040A02060702" pitchFamily="82" charset="0"/>
              </a:rPr>
              <a:t>SUICIDE PREVENTION -</a:t>
            </a:r>
            <a:r>
              <a:rPr lang="en-IN" sz="4000" i="1" dirty="0" smtClean="0">
                <a:latin typeface="Algerian" panose="04020705040A02060702" pitchFamily="82" charset="0"/>
                <a:sym typeface="+mn-ea"/>
              </a:rPr>
              <a:t>“RED FLAGS</a:t>
            </a:r>
            <a:r>
              <a:rPr lang="en-US" altLang="en-IN" sz="4000" i="1" dirty="0" smtClean="0">
                <a:latin typeface="Algerian" panose="04020705040A02060702" pitchFamily="82" charset="0"/>
                <a:sym typeface="+mn-ea"/>
              </a:rPr>
              <a:t>”</a:t>
            </a:r>
            <a:r>
              <a:rPr lang="en-IN" sz="4000" i="1" dirty="0" smtClean="0">
                <a:latin typeface="Algerian" panose="04020705040A02060702" pitchFamily="82" charset="0"/>
                <a:sym typeface="+mn-ea"/>
              </a:rPr>
              <a:t> </a:t>
            </a:r>
            <a:r>
              <a:rPr lang="en-IN" sz="3110" i="1" dirty="0" smtClean="0">
                <a:latin typeface="Algerian" panose="04020705040A02060702" pitchFamily="82" charset="0"/>
                <a:sym typeface="+mn-ea"/>
              </a:rPr>
              <a:t>Warnings </a:t>
            </a:r>
            <a:r>
              <a:rPr lang="en-IN" sz="3200" i="1" dirty="0" smtClean="0">
                <a:latin typeface="Algerian" panose="04020705040A02060702" pitchFamily="82" charset="0"/>
                <a:sym typeface="+mn-ea"/>
              </a:rPr>
              <a:t> </a:t>
            </a:r>
            <a:r>
              <a:rPr lang="en-IN" sz="3200" b="1" dirty="0" smtClean="0">
                <a:sym typeface="+mn-ea"/>
              </a:rPr>
              <a:t>  </a:t>
            </a:r>
            <a:endParaRPr lang="en-IN" sz="3200" i="1" dirty="0">
              <a:latin typeface="Algerian" panose="04020705040A02060702" pitchFamily="82" charset="0"/>
            </a:endParaRPr>
          </a:p>
        </p:txBody>
      </p:sp>
      <p:sp>
        <p:nvSpPr>
          <p:cNvPr id="3" name="Content Placeholder 2"/>
          <p:cNvSpPr>
            <a:spLocks noGrp="1"/>
          </p:cNvSpPr>
          <p:nvPr>
            <p:ph sz="quarter" idx="1"/>
          </p:nvPr>
        </p:nvSpPr>
        <p:spPr>
          <a:xfrm>
            <a:off x="457200" y="1214422"/>
            <a:ext cx="8229600" cy="5286412"/>
          </a:xfrm>
          <a:ln>
            <a:solidFill>
              <a:schemeClr val="tx1"/>
            </a:solidFill>
            <a:prstDash val="dashDot"/>
          </a:ln>
        </p:spPr>
        <p:txBody>
          <a:bodyPr>
            <a:normAutofit fontScale="62500" lnSpcReduction="20000"/>
          </a:bodyPr>
          <a:lstStyle/>
          <a:p>
            <a:pPr algn="ctr">
              <a:buNone/>
            </a:pPr>
            <a:r>
              <a:rPr lang="en-US" altLang="en-IN" b="1" dirty="0" smtClean="0"/>
              <a:t>                                                                                       </a:t>
            </a:r>
            <a:r>
              <a:rPr lang="en-IN" b="1" dirty="0" smtClean="0"/>
              <a:t> </a:t>
            </a:r>
            <a:r>
              <a:rPr lang="en-IN" sz="2900" dirty="0" smtClean="0"/>
              <a:t>by  Dr. B.J. </a:t>
            </a:r>
            <a:r>
              <a:rPr lang="en-IN" sz="2900" dirty="0" err="1" smtClean="0"/>
              <a:t>Prashantham</a:t>
            </a:r>
            <a:endParaRPr lang="en-IN" sz="2900" dirty="0" smtClean="0"/>
          </a:p>
          <a:p>
            <a:pPr>
              <a:buNone/>
            </a:pPr>
            <a:r>
              <a:rPr lang="en-IN" dirty="0" smtClean="0">
                <a:latin typeface="Baskerville Old Face" panose="02020602080505020303" charset="0"/>
                <a:cs typeface="Baskerville Old Face" panose="02020602080505020303" charset="0"/>
              </a:rPr>
              <a:t>A/		</a:t>
            </a:r>
            <a:r>
              <a:rPr lang="en-IN" b="1" u="sng" dirty="0" smtClean="0">
                <a:latin typeface="Baskerville Old Face" panose="02020602080505020303" charset="0"/>
                <a:cs typeface="Baskerville Old Face" panose="02020602080505020303" charset="0"/>
              </a:rPr>
              <a:t>NEVER  IGNORE</a:t>
            </a:r>
            <a:r>
              <a:rPr lang="en-IN" u="sng" dirty="0" smtClean="0">
                <a:latin typeface="Baskerville Old Face" panose="02020602080505020303" charset="0"/>
                <a:cs typeface="Baskerville Old Face" panose="02020602080505020303" charset="0"/>
              </a:rPr>
              <a:t> </a:t>
            </a:r>
            <a:r>
              <a:rPr lang="en-IN" dirty="0" smtClean="0">
                <a:latin typeface="Baskerville Old Face" panose="02020602080505020303" charset="0"/>
                <a:cs typeface="Baskerville Old Face" panose="02020602080505020303" charset="0"/>
              </a:rPr>
              <a:t>a suicide warning</a:t>
            </a:r>
            <a:endParaRPr lang="en-IN" dirty="0" smtClean="0">
              <a:latin typeface="Baskerville Old Face" panose="02020602080505020303" charset="0"/>
              <a:cs typeface="Baskerville Old Face" panose="02020602080505020303" charset="0"/>
            </a:endParaRPr>
          </a:p>
          <a:p>
            <a:pPr>
              <a:buNone/>
            </a:pPr>
            <a:endParaRPr lang="en-IN" dirty="0" smtClean="0">
              <a:latin typeface="Baskerville Old Face" panose="02020602080505020303" charset="0"/>
              <a:cs typeface="Baskerville Old Face" panose="02020602080505020303" charset="0"/>
            </a:endParaRPr>
          </a:p>
          <a:p>
            <a:pPr>
              <a:buNone/>
            </a:pPr>
            <a:r>
              <a:rPr lang="en-IN" dirty="0" smtClean="0">
                <a:latin typeface="Baskerville Old Face" panose="02020602080505020303" charset="0"/>
                <a:cs typeface="Baskerville Old Face" panose="02020602080505020303" charset="0"/>
              </a:rPr>
              <a:t>B/		IMPORTANT </a:t>
            </a:r>
            <a:r>
              <a:rPr lang="en-IN" b="1" u="sng" dirty="0" smtClean="0">
                <a:latin typeface="Baskerville Old Face" panose="02020602080505020303" charset="0"/>
                <a:cs typeface="Baskerville Old Face" panose="02020602080505020303" charset="0"/>
              </a:rPr>
              <a:t>to remove the capacity or thing to </a:t>
            </a:r>
            <a:r>
              <a:rPr lang="en-IN" b="1" u="sng" dirty="0" smtClean="0">
                <a:latin typeface="Baskerville Old Face" panose="02020602080505020303" charset="0"/>
                <a:cs typeface="Baskerville Old Face" panose="02020602080505020303" charset="0"/>
              </a:rPr>
              <a:t>commit suicide.</a:t>
            </a:r>
            <a:r>
              <a:rPr lang="en-IN" u="sng" dirty="0" smtClean="0">
                <a:latin typeface="Baskerville Old Face" panose="02020602080505020303" charset="0"/>
                <a:cs typeface="Baskerville Old Face" panose="02020602080505020303" charset="0"/>
              </a:rPr>
              <a:t> </a:t>
            </a:r>
            <a:endParaRPr lang="en-IN" u="sng" dirty="0" smtClean="0">
              <a:latin typeface="Baskerville Old Face" panose="02020602080505020303" charset="0"/>
              <a:cs typeface="Baskerville Old Face" panose="02020602080505020303" charset="0"/>
            </a:endParaRPr>
          </a:p>
          <a:p>
            <a:pPr>
              <a:buNone/>
            </a:pPr>
            <a:r>
              <a:rPr lang="en-IN" b="1" dirty="0" smtClean="0">
                <a:latin typeface="Baskerville Old Face" panose="02020602080505020303" charset="0"/>
                <a:cs typeface="Baskerville Old Face" panose="02020602080505020303" charset="0"/>
              </a:rPr>
              <a:t>		</a:t>
            </a:r>
            <a:r>
              <a:rPr lang="en-IN" b="1" dirty="0" smtClean="0">
                <a:latin typeface="Baskerville Old Face" panose="02020602080505020303" charset="0"/>
                <a:cs typeface="Baskerville Old Face" panose="02020602080505020303" charset="0"/>
              </a:rPr>
              <a:t>‘ The Escape </a:t>
            </a:r>
            <a:r>
              <a:rPr lang="en-IN" b="1" dirty="0" smtClean="0">
                <a:latin typeface="Baskerville Old Face" panose="02020602080505020303" charset="0"/>
                <a:cs typeface="Baskerville Old Face" panose="02020602080505020303" charset="0"/>
              </a:rPr>
              <a:t>Hatch’ :</a:t>
            </a:r>
            <a:endParaRPr lang="en-IN" b="1" dirty="0" smtClean="0">
              <a:latin typeface="Baskerville Old Face" panose="02020602080505020303" charset="0"/>
              <a:cs typeface="Baskerville Old Face" panose="02020602080505020303" charset="0"/>
            </a:endParaRPr>
          </a:p>
          <a:p>
            <a:pPr>
              <a:buNone/>
            </a:pPr>
            <a:r>
              <a:rPr lang="en-IN" b="1" dirty="0" smtClean="0">
                <a:latin typeface="Baskerville Old Face" panose="02020602080505020303" charset="0"/>
                <a:cs typeface="Baskerville Old Face" panose="02020602080505020303" charset="0"/>
              </a:rPr>
              <a:t>		</a:t>
            </a:r>
            <a:r>
              <a:rPr lang="en-IN" dirty="0" smtClean="0">
                <a:latin typeface="Baskerville Old Face" panose="02020602080505020303" charset="0"/>
                <a:cs typeface="Baskerville Old Face" panose="02020602080505020303" charset="0"/>
              </a:rPr>
              <a:t>Reduce access </a:t>
            </a:r>
            <a:r>
              <a:rPr lang="en-IN" dirty="0" smtClean="0">
                <a:latin typeface="Baskerville Old Face" panose="02020602080505020303" charset="0"/>
                <a:cs typeface="Baskerville Old Face" panose="02020602080505020303" charset="0"/>
              </a:rPr>
              <a:t>to poisons, </a:t>
            </a:r>
            <a:r>
              <a:rPr lang="en-IN" dirty="0" smtClean="0">
                <a:latin typeface="Baskerville Old Face" panose="02020602080505020303" charset="0"/>
                <a:cs typeface="Baskerville Old Face" panose="02020602080505020303" charset="0"/>
              </a:rPr>
              <a:t>medications, </a:t>
            </a:r>
            <a:r>
              <a:rPr lang="en-IN" dirty="0" smtClean="0">
                <a:latin typeface="Baskerville Old Face" panose="02020602080505020303" charset="0"/>
                <a:cs typeface="Baskerville Old Face" panose="02020602080505020303" charset="0"/>
              </a:rPr>
              <a:t>firearms, kerosene etc. </a:t>
            </a:r>
            <a:r>
              <a:rPr lang="en-IN" dirty="0" smtClean="0">
                <a:latin typeface="Baskerville Old Face" panose="02020602080505020303" charset="0"/>
                <a:cs typeface="Baskerville Old Face" panose="02020602080505020303" charset="0"/>
              </a:rPr>
              <a:t>  Also </a:t>
            </a:r>
            <a:r>
              <a:rPr lang="en-IN" dirty="0" smtClean="0">
                <a:latin typeface="Baskerville Old Face" panose="02020602080505020303" charset="0"/>
                <a:cs typeface="Baskerville Old Face" panose="02020602080505020303" charset="0"/>
              </a:rPr>
              <a:t>	building barriers </a:t>
            </a:r>
            <a:r>
              <a:rPr lang="en-IN" dirty="0" smtClean="0">
                <a:latin typeface="Baskerville Old Face" panose="02020602080505020303" charset="0"/>
                <a:cs typeface="Baskerville Old Face" panose="02020602080505020303" charset="0"/>
              </a:rPr>
              <a:t>to bridges and </a:t>
            </a:r>
            <a:r>
              <a:rPr lang="en-IN" dirty="0" smtClean="0">
                <a:latin typeface="Baskerville Old Face" panose="02020602080505020303" charset="0"/>
                <a:cs typeface="Baskerville Old Face" panose="02020602080505020303" charset="0"/>
              </a:rPr>
              <a:t>subway platforms. (‘Suicide points’ at </a:t>
            </a:r>
            <a:r>
              <a:rPr lang="en-IN" dirty="0" smtClean="0">
                <a:latin typeface="Baskerville Old Face" panose="02020602080505020303" charset="0"/>
                <a:cs typeface="Baskerville Old Face" panose="02020602080505020303" charset="0"/>
              </a:rPr>
              <a:t>   </a:t>
            </a:r>
            <a:endParaRPr lang="en-IN" dirty="0" smtClean="0">
              <a:latin typeface="Baskerville Old Face" panose="02020602080505020303" charset="0"/>
              <a:cs typeface="Baskerville Old Face" panose="02020602080505020303" charset="0"/>
            </a:endParaRPr>
          </a:p>
          <a:p>
            <a:pPr>
              <a:buNone/>
            </a:pPr>
            <a:r>
              <a:rPr lang="en-IN" dirty="0" smtClean="0">
                <a:latin typeface="Baskerville Old Face" panose="02020602080505020303" charset="0"/>
                <a:cs typeface="Baskerville Old Face" panose="02020602080505020303" charset="0"/>
              </a:rPr>
              <a:t>		</a:t>
            </a:r>
            <a:r>
              <a:rPr lang="en-IN" dirty="0" smtClean="0">
                <a:latin typeface="Baskerville Old Face" panose="02020602080505020303" charset="0"/>
                <a:cs typeface="Baskerville Old Face" panose="02020602080505020303" charset="0"/>
              </a:rPr>
              <a:t>Hill stations – </a:t>
            </a:r>
            <a:r>
              <a:rPr lang="en-IN" dirty="0" err="1" smtClean="0">
                <a:latin typeface="Baskerville Old Face" panose="02020602080505020303" charset="0"/>
                <a:cs typeface="Baskerville Old Face" panose="02020602080505020303" charset="0"/>
              </a:rPr>
              <a:t>Kodaikanal</a:t>
            </a:r>
            <a:r>
              <a:rPr lang="en-IN" dirty="0" smtClean="0">
                <a:latin typeface="Baskerville Old Face" panose="02020602080505020303" charset="0"/>
                <a:cs typeface="Baskerville Old Face" panose="02020602080505020303" charset="0"/>
              </a:rPr>
              <a:t>, </a:t>
            </a:r>
            <a:r>
              <a:rPr lang="en-IN" dirty="0" err="1" smtClean="0">
                <a:latin typeface="Baskerville Old Face" panose="02020602080505020303" charset="0"/>
                <a:cs typeface="Baskerville Old Face" panose="02020602080505020303" charset="0"/>
              </a:rPr>
              <a:t>Ooty</a:t>
            </a:r>
            <a:r>
              <a:rPr lang="en-IN" dirty="0" smtClean="0">
                <a:latin typeface="Baskerville Old Face" panose="02020602080505020303" charset="0"/>
                <a:cs typeface="Baskerville Old Face" panose="02020602080505020303" charset="0"/>
              </a:rPr>
              <a:t>, Srinagar etc., )</a:t>
            </a:r>
            <a:endParaRPr lang="en-IN" dirty="0" smtClean="0">
              <a:latin typeface="Baskerville Old Face" panose="02020602080505020303" charset="0"/>
              <a:cs typeface="Baskerville Old Face" panose="02020602080505020303" charset="0"/>
            </a:endParaRPr>
          </a:p>
          <a:p>
            <a:pPr>
              <a:buNone/>
            </a:pPr>
            <a:endParaRPr lang="en-IN" dirty="0" smtClean="0">
              <a:latin typeface="Baskerville Old Face" panose="02020602080505020303" charset="0"/>
              <a:cs typeface="Baskerville Old Face" panose="02020602080505020303" charset="0"/>
            </a:endParaRPr>
          </a:p>
          <a:p>
            <a:pPr>
              <a:buNone/>
            </a:pPr>
            <a:r>
              <a:rPr lang="en-IN" dirty="0" smtClean="0">
                <a:latin typeface="Baskerville Old Face" panose="02020602080505020303" charset="0"/>
                <a:cs typeface="Baskerville Old Face" panose="02020602080505020303" charset="0"/>
              </a:rPr>
              <a:t>C/		</a:t>
            </a:r>
            <a:r>
              <a:rPr lang="en-IN" b="1" u="sng" dirty="0" smtClean="0">
                <a:latin typeface="Baskerville Old Face" panose="02020602080505020303" charset="0"/>
                <a:cs typeface="Baskerville Old Face" panose="02020602080505020303" charset="0"/>
              </a:rPr>
              <a:t>LISTEN, </a:t>
            </a:r>
            <a:r>
              <a:rPr lang="en-IN" dirty="0" smtClean="0">
                <a:latin typeface="Baskerville Old Face" panose="02020602080505020303" charset="0"/>
                <a:cs typeface="Baskerville Old Face" panose="02020602080505020303" charset="0"/>
              </a:rPr>
              <a:t>Listen and Listen to them.</a:t>
            </a:r>
            <a:endParaRPr lang="en-IN" dirty="0" smtClean="0">
              <a:latin typeface="Baskerville Old Face" panose="02020602080505020303" charset="0"/>
              <a:cs typeface="Baskerville Old Face" panose="02020602080505020303" charset="0"/>
            </a:endParaRPr>
          </a:p>
          <a:p>
            <a:pPr>
              <a:buNone/>
            </a:pPr>
            <a:endParaRPr lang="en-IN" dirty="0" smtClean="0">
              <a:latin typeface="Baskerville Old Face" panose="02020602080505020303" charset="0"/>
              <a:cs typeface="Baskerville Old Face" panose="02020602080505020303" charset="0"/>
            </a:endParaRPr>
          </a:p>
          <a:p>
            <a:pPr>
              <a:buNone/>
            </a:pPr>
            <a:r>
              <a:rPr lang="en-IN" dirty="0" smtClean="0">
                <a:latin typeface="Baskerville Old Face" panose="02020602080505020303" charset="0"/>
                <a:cs typeface="Baskerville Old Face" panose="02020602080505020303" charset="0"/>
              </a:rPr>
              <a:t>D/		Usually </a:t>
            </a:r>
            <a:r>
              <a:rPr lang="en-IN" b="1" dirty="0" smtClean="0">
                <a:latin typeface="Baskerville Old Face" panose="02020602080505020303" charset="0"/>
                <a:cs typeface="Baskerville Old Face" panose="02020602080505020303" charset="0"/>
              </a:rPr>
              <a:t>Mode, Place &amp; Time is planned</a:t>
            </a:r>
            <a:endParaRPr lang="en-IN" b="1" dirty="0" smtClean="0">
              <a:latin typeface="Baskerville Old Face" panose="02020602080505020303" charset="0"/>
              <a:cs typeface="Baskerville Old Face" panose="02020602080505020303" charset="0"/>
            </a:endParaRPr>
          </a:p>
          <a:p>
            <a:pPr>
              <a:buNone/>
            </a:pPr>
            <a:endParaRPr lang="en-IN" b="1" dirty="0" smtClean="0">
              <a:latin typeface="Baskerville Old Face" panose="02020602080505020303" charset="0"/>
              <a:cs typeface="Baskerville Old Face" panose="02020602080505020303" charset="0"/>
            </a:endParaRPr>
          </a:p>
          <a:p>
            <a:pPr>
              <a:buNone/>
            </a:pPr>
            <a:r>
              <a:rPr lang="en-IN" dirty="0" smtClean="0">
                <a:latin typeface="Baskerville Old Face" panose="02020602080505020303" charset="0"/>
                <a:cs typeface="Baskerville Old Face" panose="02020602080505020303" charset="0"/>
              </a:rPr>
              <a:t>E/		</a:t>
            </a:r>
            <a:r>
              <a:rPr lang="en-IN" b="1" u="sng" dirty="0" smtClean="0">
                <a:latin typeface="Baskerville Old Face" panose="02020602080505020303" charset="0"/>
                <a:cs typeface="Baskerville Old Face" panose="02020602080505020303" charset="0"/>
              </a:rPr>
              <a:t>DO Risk Assessment</a:t>
            </a:r>
            <a:r>
              <a:rPr lang="en-IN" u="sng" dirty="0" smtClean="0">
                <a:latin typeface="Baskerville Old Face" panose="02020602080505020303" charset="0"/>
                <a:cs typeface="Baskerville Old Face" panose="02020602080505020303" charset="0"/>
              </a:rPr>
              <a:t> </a:t>
            </a:r>
            <a:r>
              <a:rPr lang="en-IN" dirty="0" smtClean="0">
                <a:latin typeface="Baskerville Old Face" panose="02020602080505020303" charset="0"/>
                <a:cs typeface="Baskerville Old Face" panose="02020602080505020303" charset="0"/>
              </a:rPr>
              <a:t>very early in the Counselling</a:t>
            </a:r>
            <a:endParaRPr lang="en-IN" dirty="0" smtClean="0">
              <a:latin typeface="Baskerville Old Face" panose="02020602080505020303" charset="0"/>
              <a:cs typeface="Baskerville Old Face" panose="02020602080505020303" charset="0"/>
            </a:endParaRPr>
          </a:p>
          <a:p>
            <a:pPr>
              <a:buNone/>
            </a:pPr>
            <a:endParaRPr lang="en-IN" dirty="0" smtClean="0">
              <a:latin typeface="Baskerville Old Face" panose="02020602080505020303" charset="0"/>
              <a:cs typeface="Baskerville Old Face" panose="02020602080505020303" charset="0"/>
            </a:endParaRPr>
          </a:p>
          <a:p>
            <a:pPr>
              <a:buNone/>
            </a:pPr>
            <a:r>
              <a:rPr lang="en-IN" dirty="0" smtClean="0">
                <a:latin typeface="Baskerville Old Face" panose="02020602080505020303" charset="0"/>
                <a:cs typeface="Baskerville Old Face" panose="02020602080505020303" charset="0"/>
              </a:rPr>
              <a:t>F/		</a:t>
            </a:r>
            <a:r>
              <a:rPr lang="en-IN" b="1" u="sng" dirty="0" smtClean="0">
                <a:latin typeface="Baskerville Old Face" panose="02020602080505020303" charset="0"/>
                <a:cs typeface="Baskerville Old Face" panose="02020602080505020303" charset="0"/>
              </a:rPr>
              <a:t>Don’t Hesitate to ask direct questions </a:t>
            </a:r>
            <a:r>
              <a:rPr lang="en-IN" dirty="0" smtClean="0">
                <a:latin typeface="Baskerville Old Face" panose="02020602080505020303" charset="0"/>
                <a:cs typeface="Baskerville Old Face" panose="02020602080505020303" charset="0"/>
              </a:rPr>
              <a:t>during  the counselling.</a:t>
            </a:r>
            <a:endParaRPr lang="en-IN" dirty="0" smtClean="0">
              <a:latin typeface="Baskerville Old Face" panose="02020602080505020303" charset="0"/>
              <a:cs typeface="Baskerville Old Face" panose="02020602080505020303" charset="0"/>
            </a:endParaRPr>
          </a:p>
          <a:p>
            <a:endParaRPr lang="en-IN" dirty="0">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dirty="0" smtClean="0">
                <a:latin typeface="Algerian" panose="04020705040A02060702" pitchFamily="82" charset="0"/>
              </a:rPr>
              <a:t>HOW TO IDENTIFY THE CLUES </a:t>
            </a:r>
            <a:br>
              <a:rPr lang="en-US" sz="2800" dirty="0" smtClean="0">
                <a:latin typeface="Algerian" panose="04020705040A02060702" pitchFamily="82" charset="0"/>
              </a:rPr>
            </a:br>
            <a:r>
              <a:rPr lang="en-US" sz="2800" dirty="0" smtClean="0">
                <a:latin typeface="Algerian" panose="04020705040A02060702" pitchFamily="82" charset="0"/>
              </a:rPr>
              <a:t>                                                            </a:t>
            </a:r>
            <a:r>
              <a:rPr lang="en-US" sz="1800" dirty="0" smtClean="0">
                <a:latin typeface="Algerian" panose="04020705040A02060702" pitchFamily="82" charset="0"/>
              </a:rPr>
              <a:t>by Dr. BJ </a:t>
            </a:r>
            <a:r>
              <a:rPr lang="en-US" sz="1800" dirty="0" err="1" smtClean="0">
                <a:latin typeface="Algerian" panose="04020705040A02060702" pitchFamily="82" charset="0"/>
              </a:rPr>
              <a:t>Prashantham</a:t>
            </a:r>
            <a:endParaRPr lang="en-IN" sz="1800" dirty="0">
              <a:latin typeface="Algerian" panose="04020705040A02060702" pitchFamily="82" charset="0"/>
            </a:endParaRPr>
          </a:p>
        </p:txBody>
      </p:sp>
      <p:sp>
        <p:nvSpPr>
          <p:cNvPr id="3" name="Content Placeholder 2"/>
          <p:cNvSpPr>
            <a:spLocks noGrp="1"/>
          </p:cNvSpPr>
          <p:nvPr>
            <p:ph sz="quarter" idx="1"/>
          </p:nvPr>
        </p:nvSpPr>
        <p:spPr>
          <a:xfrm>
            <a:off x="457200" y="1155700"/>
            <a:ext cx="8229600" cy="5416550"/>
          </a:xfrm>
          <a:ln>
            <a:solidFill>
              <a:schemeClr val="tx1"/>
            </a:solidFill>
            <a:prstDash val="dashDot"/>
          </a:ln>
        </p:spPr>
        <p:txBody>
          <a:bodyPr>
            <a:noAutofit/>
          </a:bodyPr>
          <a:lstStyle/>
          <a:p>
            <a:pPr>
              <a:lnSpc>
                <a:spcPct val="70000"/>
              </a:lnSpc>
              <a:buNone/>
            </a:pPr>
            <a:r>
              <a:rPr lang="en-IN" sz="2700" b="1" dirty="0" smtClean="0">
                <a:latin typeface="Baskerville Old Face" panose="02020602080505020303" charset="0"/>
                <a:cs typeface="Baskerville Old Face" panose="02020602080505020303" charset="0"/>
              </a:rPr>
              <a:t>75% give clues to committing suicide.</a:t>
            </a:r>
            <a:endParaRPr lang="en-IN" sz="2700" b="1"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1/ </a:t>
            </a:r>
            <a:r>
              <a:rPr lang="en-IN" sz="2700" b="1" dirty="0" smtClean="0">
                <a:latin typeface="Baskerville Old Face" panose="02020602080505020303" charset="0"/>
                <a:cs typeface="Baskerville Old Face" panose="02020602080505020303" charset="0"/>
              </a:rPr>
              <a:t>Clues  </a:t>
            </a:r>
            <a:r>
              <a:rPr lang="en-IN" sz="2700" dirty="0" smtClean="0">
                <a:latin typeface="Baskerville Old Face" panose="02020602080505020303" charset="0"/>
                <a:cs typeface="Baskerville Old Face" panose="02020602080505020303" charset="0"/>
              </a:rPr>
              <a:t>:  Verbal  clues  : Director or Indirect </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	 </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2/ </a:t>
            </a:r>
            <a:r>
              <a:rPr lang="en-IN" sz="2700" b="1" dirty="0" smtClean="0">
                <a:latin typeface="Baskerville Old Face" panose="02020602080505020303" charset="0"/>
                <a:cs typeface="Baskerville Old Face" panose="02020602080505020303" charset="0"/>
              </a:rPr>
              <a:t>Behavioural</a:t>
            </a:r>
            <a:r>
              <a:rPr lang="en-IN" sz="2700" dirty="0" smtClean="0">
                <a:latin typeface="Baskerville Old Face" panose="02020602080505020303" charset="0"/>
                <a:cs typeface="Baskerville Old Face" panose="02020602080505020303" charset="0"/>
              </a:rPr>
              <a:t>  –  </a:t>
            </a:r>
            <a:r>
              <a:rPr lang="en-IN" sz="2700" b="1" dirty="0" smtClean="0">
                <a:latin typeface="Baskerville Old Face" panose="02020602080505020303" charset="0"/>
                <a:cs typeface="Baskerville Old Face" panose="02020602080505020303" charset="0"/>
              </a:rPr>
              <a:t>Dramatic mood swings or sudden personality changes</a:t>
            </a:r>
            <a:r>
              <a:rPr lang="en-IN" sz="2700" dirty="0" smtClean="0">
                <a:latin typeface="Baskerville Old Face" panose="02020602080505020303" charset="0"/>
                <a:cs typeface="Baskerville Old Face" panose="02020602080505020303" charset="0"/>
              </a:rPr>
              <a:t>, such as </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	(a) going from outgoing to withdrawn or </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	(b) well-behaved to rebellious</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	(c) lose interest in day-to-day activities, </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	(d) neglect his or her appearance, and </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	(e) show big changes in eating or sleeping habits. </a:t>
            </a:r>
            <a:endParaRPr lang="en-IN" sz="2700" dirty="0" smtClean="0">
              <a:latin typeface="Baskerville Old Face" panose="02020602080505020303" charset="0"/>
              <a:cs typeface="Baskerville Old Face" panose="02020602080505020303" charset="0"/>
            </a:endParaRPr>
          </a:p>
          <a:p>
            <a:pPr>
              <a:lnSpc>
                <a:spcPct val="70000"/>
              </a:lnSpc>
              <a:buNone/>
            </a:pP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3/ </a:t>
            </a:r>
            <a:r>
              <a:rPr lang="en-IN" sz="2700" b="1" dirty="0" smtClean="0">
                <a:latin typeface="Baskerville Old Face" panose="02020602080505020303" charset="0"/>
                <a:cs typeface="Baskerville Old Face" panose="02020602080505020303" charset="0"/>
              </a:rPr>
              <a:t>Resources -  C</a:t>
            </a:r>
            <a:r>
              <a:rPr lang="en-IN" sz="2700" dirty="0" smtClean="0">
                <a:latin typeface="Baskerville Old Face" panose="02020602080505020303" charset="0"/>
                <a:cs typeface="Baskerville Old Face" panose="02020602080505020303" charset="0"/>
              </a:rPr>
              <a:t>ontacts in legal, govt offices, spiritual circles.</a:t>
            </a:r>
            <a:endParaRPr lang="en-IN" sz="2700" dirty="0" smtClean="0">
              <a:latin typeface="Baskerville Old Face" panose="02020602080505020303" charset="0"/>
              <a:cs typeface="Baskerville Old Face" panose="02020602080505020303" charset="0"/>
            </a:endParaRPr>
          </a:p>
          <a:p>
            <a:pPr>
              <a:lnSpc>
                <a:spcPct val="70000"/>
              </a:lnSpc>
              <a:buNone/>
            </a:pPr>
            <a:r>
              <a:rPr lang="en-IN" sz="2700" dirty="0" smtClean="0">
                <a:latin typeface="Baskerville Old Face" panose="02020602080505020303" charset="0"/>
                <a:cs typeface="Baskerville Old Face" panose="02020602080505020303" charset="0"/>
              </a:rPr>
              <a:t>	Seeking access to medicines, poison, pesticides, knives, firearms, Kerosene or other objects that could be used in a suicide attempt.</a:t>
            </a:r>
            <a:endParaRPr lang="en-IN" sz="2700" dirty="0" smtClean="0">
              <a:latin typeface="Baskerville Old Face" panose="02020602080505020303" charset="0"/>
              <a:cs typeface="Baskerville Old Face" panose="02020602080505020303" charset="0"/>
            </a:endParaRPr>
          </a:p>
          <a:p>
            <a:pPr>
              <a:lnSpc>
                <a:spcPct val="70000"/>
              </a:lnSpc>
              <a:buNone/>
            </a:pPr>
            <a:endParaRPr lang="en-IN" sz="1400" dirty="0" smtClean="0">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US" sz="2800" i="1" dirty="0" smtClean="0">
                <a:latin typeface="Algerian" panose="04020705040A02060702" pitchFamily="82" charset="0"/>
              </a:rPr>
              <a:t>How to identify the </a:t>
            </a:r>
            <a:r>
              <a:rPr lang="en-US" sz="2800" i="1" dirty="0" smtClean="0">
                <a:latin typeface="Algerian" panose="04020705040A02060702" pitchFamily="82" charset="0"/>
              </a:rPr>
              <a:t>clues		 </a:t>
            </a:r>
            <a:r>
              <a:rPr lang="en-US" sz="2000" i="1" dirty="0" smtClean="0">
                <a:latin typeface="Algerian" panose="04020705040A02060702" pitchFamily="82" charset="0"/>
              </a:rPr>
              <a:t>(Cont’d----)</a:t>
            </a:r>
            <a:endParaRPr lang="en-IN" sz="2000" i="1" dirty="0">
              <a:latin typeface="Algerian" panose="04020705040A02060702" pitchFamily="82" charset="0"/>
            </a:endParaRPr>
          </a:p>
        </p:txBody>
      </p:sp>
      <p:sp>
        <p:nvSpPr>
          <p:cNvPr id="3" name="Content Placeholder 2"/>
          <p:cNvSpPr>
            <a:spLocks noGrp="1"/>
          </p:cNvSpPr>
          <p:nvPr>
            <p:ph sz="quarter" idx="1"/>
          </p:nvPr>
        </p:nvSpPr>
        <p:spPr>
          <a:xfrm>
            <a:off x="457200" y="1071245"/>
            <a:ext cx="8768715" cy="5461635"/>
          </a:xfrm>
          <a:ln>
            <a:solidFill>
              <a:schemeClr val="accent1"/>
            </a:solidFill>
            <a:prstDash val="dashDot"/>
          </a:ln>
        </p:spPr>
        <p:txBody>
          <a:bodyPr>
            <a:noAutofit/>
          </a:bodyPr>
          <a:lstStyle/>
          <a:p>
            <a:pPr>
              <a:buNone/>
            </a:pPr>
            <a:r>
              <a:rPr lang="en-IN" sz="2300" dirty="0" smtClean="0"/>
              <a:t>4/  </a:t>
            </a:r>
            <a:r>
              <a:rPr lang="en-IN" sz="2300" b="1" dirty="0" smtClean="0"/>
              <a:t>Situational	-         	</a:t>
            </a:r>
            <a:r>
              <a:rPr lang="en-IN" sz="2300" dirty="0" smtClean="0"/>
              <a:t>Depending on the situation </a:t>
            </a:r>
            <a:r>
              <a:rPr lang="en-IN" sz="2300" b="1" dirty="0" smtClean="0"/>
              <a:t>-</a:t>
            </a:r>
            <a:endParaRPr lang="en-IN" sz="2300" dirty="0" smtClean="0"/>
          </a:p>
          <a:p>
            <a:pPr>
              <a:buNone/>
            </a:pPr>
            <a:r>
              <a:rPr lang="en-IN" sz="2300" dirty="0" smtClean="0"/>
              <a:t>5/  </a:t>
            </a:r>
            <a:r>
              <a:rPr lang="en-IN" sz="2300" b="1" dirty="0" smtClean="0"/>
              <a:t>Descriptive</a:t>
            </a:r>
            <a:r>
              <a:rPr lang="en-IN" sz="2300" dirty="0" smtClean="0"/>
              <a:t>          	Very  young</a:t>
            </a:r>
            <a:endParaRPr lang="en-IN" sz="2300" dirty="0" smtClean="0"/>
          </a:p>
          <a:p>
            <a:pPr>
              <a:buNone/>
            </a:pPr>
            <a:r>
              <a:rPr lang="en-IN" sz="2300" dirty="0" smtClean="0"/>
              <a:t>6/ </a:t>
            </a:r>
            <a:r>
              <a:rPr lang="en-IN" sz="2300" b="1" dirty="0" smtClean="0"/>
              <a:t>Symptomatic 	  </a:t>
            </a:r>
            <a:endParaRPr lang="en-IN" sz="2300" b="1" dirty="0" smtClean="0"/>
          </a:p>
          <a:p>
            <a:pPr>
              <a:buNone/>
            </a:pPr>
            <a:r>
              <a:rPr lang="en-IN" sz="2300" b="1" dirty="0" smtClean="0"/>
              <a:t>	</a:t>
            </a:r>
            <a:r>
              <a:rPr lang="en-IN" sz="2300" b="1" u="sng" dirty="0" smtClean="0"/>
              <a:t>Unhealthy				Healthy</a:t>
            </a:r>
            <a:endParaRPr lang="en-IN" sz="2300" u="sng" dirty="0" smtClean="0"/>
          </a:p>
          <a:p>
            <a:pPr>
              <a:buNone/>
            </a:pPr>
            <a:r>
              <a:rPr lang="en-IN" sz="2300" dirty="0" smtClean="0"/>
              <a:t>	</a:t>
            </a:r>
            <a:r>
              <a:rPr lang="en-IN" sz="2300" dirty="0" err="1" smtClean="0"/>
              <a:t>i</a:t>
            </a:r>
            <a:r>
              <a:rPr lang="en-IN" sz="2300" dirty="0" smtClean="0"/>
              <a:t>	Deny				Own &amp; Accept </a:t>
            </a:r>
            <a:endParaRPr lang="en-IN" sz="2300" dirty="0" smtClean="0"/>
          </a:p>
          <a:p>
            <a:pPr>
              <a:buNone/>
            </a:pPr>
            <a:r>
              <a:rPr lang="en-IN" sz="2300" dirty="0" smtClean="0"/>
              <a:t>	ii/	Not do anything		Will Do something about it</a:t>
            </a:r>
            <a:endParaRPr lang="en-IN" sz="2300" dirty="0" smtClean="0"/>
          </a:p>
          <a:p>
            <a:pPr>
              <a:buNone/>
            </a:pPr>
            <a:r>
              <a:rPr lang="en-IN" sz="2300" dirty="0" smtClean="0"/>
              <a:t>	iii/	Does not seek help when 	Seeks help beyond 		problem gets worse		himself. </a:t>
            </a:r>
            <a:endParaRPr lang="en-IN" sz="2300" dirty="0" smtClean="0"/>
          </a:p>
          <a:p>
            <a:pPr>
              <a:buNone/>
            </a:pPr>
            <a:r>
              <a:rPr lang="en-IN" sz="2300" dirty="0" smtClean="0"/>
              <a:t>	iv/	Problem gets worse,		When help is given 		does not accept help		accepts it.		</a:t>
            </a:r>
            <a:endParaRPr lang="en-IN" sz="2300" dirty="0" smtClean="0"/>
          </a:p>
          <a:p>
            <a:pPr>
              <a:buNone/>
            </a:pPr>
            <a:r>
              <a:rPr lang="en-IN" sz="2300" dirty="0" smtClean="0"/>
              <a:t>	v/	No change 			Leads  to change.</a:t>
            </a:r>
            <a:endParaRPr lang="en-IN" sz="2300" dirty="0" smtClean="0"/>
          </a:p>
          <a:p>
            <a:endParaRPr lang="en-IN" sz="11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428604"/>
            <a:ext cx="8229600" cy="1143000"/>
          </a:xfrm>
        </p:spPr>
        <p:txBody>
          <a:bodyPr>
            <a:normAutofit/>
          </a:bodyPr>
          <a:lstStyle/>
          <a:p>
            <a:r>
              <a:rPr lang="en-US" sz="2800" i="1" dirty="0" smtClean="0">
                <a:latin typeface="Algerian" panose="04020705040A02060702" pitchFamily="82" charset="0"/>
              </a:rPr>
              <a:t>HOW TO IDENTIFY THE CLUES in Teens </a:t>
            </a:r>
            <a:r>
              <a:rPr lang="en-US" sz="2000" i="1" dirty="0" smtClean="0">
                <a:latin typeface="Algerian" panose="04020705040A02060702" pitchFamily="82" charset="0"/>
              </a:rPr>
              <a:t>(Cont’d…)</a:t>
            </a:r>
            <a:endParaRPr lang="en-IN" sz="2000" i="1" dirty="0">
              <a:latin typeface="Algerian" panose="04020705040A02060702" pitchFamily="82" charset="0"/>
            </a:endParaRPr>
          </a:p>
        </p:txBody>
      </p:sp>
      <p:sp>
        <p:nvSpPr>
          <p:cNvPr id="5" name="Content Placeholder 4"/>
          <p:cNvSpPr>
            <a:spLocks noGrp="1"/>
          </p:cNvSpPr>
          <p:nvPr>
            <p:ph sz="quarter" idx="1"/>
          </p:nvPr>
        </p:nvSpPr>
        <p:spPr>
          <a:xfrm>
            <a:off x="457200" y="1357298"/>
            <a:ext cx="8229600" cy="4768865"/>
          </a:xfrm>
          <a:ln>
            <a:solidFill>
              <a:schemeClr val="tx1"/>
            </a:solidFill>
            <a:prstDash val="dashDot"/>
          </a:ln>
        </p:spPr>
        <p:txBody>
          <a:bodyPr>
            <a:normAutofit fontScale="85000" lnSpcReduction="10000"/>
          </a:bodyPr>
          <a:lstStyle/>
          <a:p>
            <a:pPr lvl="0"/>
            <a:r>
              <a:rPr lang="en-IN" dirty="0" smtClean="0"/>
              <a:t>Change in eating and sleeping habits </a:t>
            </a:r>
            <a:endParaRPr lang="en-IN" dirty="0" smtClean="0"/>
          </a:p>
          <a:p>
            <a:pPr lvl="0"/>
            <a:r>
              <a:rPr lang="en-IN" dirty="0" smtClean="0"/>
              <a:t>Withdrawal from friends, family, and regular activities</a:t>
            </a:r>
            <a:endParaRPr lang="en-IN" dirty="0" smtClean="0"/>
          </a:p>
          <a:p>
            <a:pPr lvl="0"/>
            <a:r>
              <a:rPr lang="en-IN" dirty="0" smtClean="0"/>
              <a:t>Violent or rebellious behaviour, running away </a:t>
            </a:r>
            <a:endParaRPr lang="en-IN" dirty="0" smtClean="0"/>
          </a:p>
          <a:p>
            <a:pPr lvl="0"/>
            <a:r>
              <a:rPr lang="en-IN" dirty="0" smtClean="0"/>
              <a:t>Drug and alcohol use</a:t>
            </a:r>
            <a:endParaRPr lang="en-IN" dirty="0" smtClean="0"/>
          </a:p>
          <a:p>
            <a:pPr lvl="0"/>
            <a:r>
              <a:rPr lang="en-IN" dirty="0" smtClean="0"/>
              <a:t>Unusual neglect of personal appearance </a:t>
            </a:r>
            <a:endParaRPr lang="en-IN" dirty="0" smtClean="0"/>
          </a:p>
          <a:p>
            <a:pPr lvl="0"/>
            <a:r>
              <a:rPr lang="en-IN" dirty="0" smtClean="0"/>
              <a:t>Persistent boredom, difficulty concentrating, or a decline in the quality of schoolwork </a:t>
            </a:r>
            <a:endParaRPr lang="en-IN" dirty="0" smtClean="0"/>
          </a:p>
          <a:p>
            <a:pPr lvl="0"/>
            <a:r>
              <a:rPr lang="en-IN" dirty="0" smtClean="0"/>
              <a:t>Frequent complaints about physical symptoms, often related to emotions, such as stomach aches, headaches, fatigue, etc. </a:t>
            </a:r>
            <a:endParaRPr lang="en-IN" dirty="0" smtClean="0"/>
          </a:p>
          <a:p>
            <a:pPr lvl="0"/>
            <a:r>
              <a:rPr lang="en-IN" dirty="0" smtClean="0"/>
              <a:t>Not tolerating praise or rewards </a:t>
            </a:r>
            <a:endParaRPr lang="en-IN" dirty="0" smtClean="0"/>
          </a:p>
          <a:p>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8229600" cy="642942"/>
          </a:xfrm>
        </p:spPr>
        <p:txBody>
          <a:bodyPr>
            <a:normAutofit/>
          </a:bodyPr>
          <a:lstStyle/>
          <a:p>
            <a:r>
              <a:rPr lang="en-US" sz="3600" i="1" dirty="0" smtClean="0">
                <a:latin typeface="Algerian" panose="04020705040A02060702" pitchFamily="82" charset="0"/>
              </a:rPr>
              <a:t> </a:t>
            </a:r>
            <a:r>
              <a:rPr lang="en-US" sz="3600" i="1" dirty="0" smtClean="0">
                <a:latin typeface="Algerian" panose="04020705040A02060702" pitchFamily="82" charset="0"/>
              </a:rPr>
              <a:t>COUNSELLING THE SUICIDAL</a:t>
            </a:r>
            <a:endParaRPr lang="en-IN" sz="3600" i="1" dirty="0">
              <a:latin typeface="Algerian" panose="04020705040A02060702" pitchFamily="82" charset="0"/>
            </a:endParaRPr>
          </a:p>
        </p:txBody>
      </p:sp>
      <p:sp>
        <p:nvSpPr>
          <p:cNvPr id="5" name="Content Placeholder 4"/>
          <p:cNvSpPr>
            <a:spLocks noGrp="1"/>
          </p:cNvSpPr>
          <p:nvPr>
            <p:ph sz="quarter" idx="1"/>
          </p:nvPr>
        </p:nvSpPr>
        <p:spPr>
          <a:xfrm>
            <a:off x="428596" y="1285860"/>
            <a:ext cx="8229600" cy="5286412"/>
          </a:xfrm>
          <a:ln>
            <a:solidFill>
              <a:schemeClr val="tx1"/>
            </a:solidFill>
            <a:prstDash val="dashDot"/>
          </a:ln>
        </p:spPr>
        <p:txBody>
          <a:bodyPr>
            <a:normAutofit fontScale="92500" lnSpcReduction="20000"/>
          </a:bodyPr>
          <a:lstStyle/>
          <a:p>
            <a:pPr>
              <a:buNone/>
            </a:pPr>
            <a:r>
              <a:rPr lang="en-IN" b="1" dirty="0" smtClean="0"/>
              <a:t>1</a:t>
            </a:r>
            <a:r>
              <a:rPr lang="en-IN" b="1" dirty="0" smtClean="0"/>
              <a:t>	</a:t>
            </a:r>
            <a:r>
              <a:rPr lang="en-IN" b="1" dirty="0" smtClean="0"/>
              <a:t>Educational </a:t>
            </a:r>
            <a:r>
              <a:rPr lang="en-IN" b="1" dirty="0" smtClean="0"/>
              <a:t>Counselling</a:t>
            </a:r>
            <a:endParaRPr lang="en-IN" dirty="0" smtClean="0"/>
          </a:p>
          <a:p>
            <a:pPr>
              <a:buNone/>
            </a:pPr>
            <a:r>
              <a:rPr lang="en-IN" dirty="0" smtClean="0"/>
              <a:t>		</a:t>
            </a:r>
            <a:r>
              <a:rPr lang="en-IN" sz="2800" dirty="0" smtClean="0"/>
              <a:t>In today’s world of growing technology, and competing to get the best out of life, education, career, promotions etc. by whatever means, the child goes through Stress in keeping up catching up with his/her parents’ expectations in studies.  </a:t>
            </a:r>
            <a:endParaRPr lang="en-IN" sz="2800" dirty="0" smtClean="0"/>
          </a:p>
          <a:p>
            <a:pPr>
              <a:buNone/>
            </a:pPr>
            <a:r>
              <a:rPr lang="en-US" sz="2800" dirty="0" smtClean="0"/>
              <a:t>	Study of suicidal cases, have shown that :</a:t>
            </a:r>
            <a:r>
              <a:rPr lang="en-US" dirty="0" smtClean="0"/>
              <a:t> </a:t>
            </a:r>
            <a:endParaRPr lang="en-IN" dirty="0" smtClean="0"/>
          </a:p>
          <a:p>
            <a:pPr>
              <a:buNone/>
            </a:pPr>
            <a:r>
              <a:rPr lang="en-IN" b="1" dirty="0" smtClean="0"/>
              <a:t>	a/	Parental Maturity is lacking</a:t>
            </a:r>
            <a:endParaRPr lang="en-IN" dirty="0" smtClean="0"/>
          </a:p>
          <a:p>
            <a:pPr>
              <a:buNone/>
            </a:pPr>
            <a:r>
              <a:rPr lang="en-IN" b="1" dirty="0" smtClean="0"/>
              <a:t>	b/	Expectations are high from parents – </a:t>
            </a:r>
            <a:r>
              <a:rPr lang="en-IN" b="1" dirty="0" err="1" smtClean="0"/>
              <a:t>Westism</a:t>
            </a:r>
            <a:endParaRPr lang="en-IN" dirty="0" smtClean="0"/>
          </a:p>
          <a:p>
            <a:pPr>
              <a:buNone/>
            </a:pPr>
            <a:r>
              <a:rPr lang="en-IN" b="1" dirty="0" smtClean="0"/>
              <a:t>	c/	Comparing with other children, youth.</a:t>
            </a:r>
            <a:endParaRPr lang="en-IN" dirty="0" smtClean="0"/>
          </a:p>
          <a:p>
            <a:pPr>
              <a:buNone/>
            </a:pPr>
            <a:r>
              <a:rPr lang="en-IN" b="1" dirty="0" smtClean="0"/>
              <a:t>	d/	How to fail or lose gracefully.</a:t>
            </a:r>
            <a:endParaRPr lang="en-IN" b="1" dirty="0" smtClean="0"/>
          </a:p>
          <a:p>
            <a:pPr>
              <a:buNone/>
            </a:pPr>
            <a:endParaRPr lang="en-I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2800" i="1" dirty="0" smtClean="0">
                <a:latin typeface="Algerian" panose="04020705040A02060702" pitchFamily="82" charset="0"/>
              </a:rPr>
              <a:t>1/	Educational Counselling</a:t>
            </a:r>
            <a:br>
              <a:rPr lang="en-IN" sz="2800" i="1" dirty="0" smtClean="0">
                <a:latin typeface="Algerian" panose="04020705040A02060702" pitchFamily="82" charset="0"/>
              </a:rPr>
            </a:br>
            <a:r>
              <a:rPr lang="en-IN" sz="2800" i="1" dirty="0" smtClean="0">
                <a:latin typeface="Algerian" panose="04020705040A02060702" pitchFamily="82" charset="0"/>
              </a:rPr>
              <a:t>The ‘HOW’</a:t>
            </a:r>
            <a:endParaRPr lang="en-IN" sz="2800" i="1" dirty="0">
              <a:latin typeface="Algerian" panose="04020705040A02060702" pitchFamily="82" charset="0"/>
            </a:endParaRPr>
          </a:p>
        </p:txBody>
      </p:sp>
      <p:sp>
        <p:nvSpPr>
          <p:cNvPr id="3" name="Content Placeholder 2"/>
          <p:cNvSpPr>
            <a:spLocks noGrp="1"/>
          </p:cNvSpPr>
          <p:nvPr>
            <p:ph sz="quarter" idx="1"/>
          </p:nvPr>
        </p:nvSpPr>
        <p:spPr>
          <a:xfrm>
            <a:off x="304165" y="1564640"/>
            <a:ext cx="8581390" cy="5233670"/>
          </a:xfrm>
          <a:ln>
            <a:solidFill>
              <a:schemeClr val="tx1"/>
            </a:solidFill>
            <a:prstDash val="lgDashDot"/>
          </a:ln>
        </p:spPr>
        <p:txBody>
          <a:bodyPr>
            <a:noAutofit/>
          </a:bodyPr>
          <a:lstStyle/>
          <a:p>
            <a:pPr>
              <a:lnSpc>
                <a:spcPct val="80000"/>
              </a:lnSpc>
            </a:pPr>
            <a:r>
              <a:rPr lang="en-IN" b="1" dirty="0" smtClean="0">
                <a:latin typeface="Baskerville Old Face" panose="02020602080505020303" charset="0"/>
                <a:cs typeface="Baskerville Old Face" panose="02020602080505020303" charset="0"/>
              </a:rPr>
              <a:t>Organise  Seminars, Lectures, Workshops  about Suicide Awareness, Suicide Prevention, Counselling and Social Change, </a:t>
            </a:r>
            <a:endParaRPr lang="en-IN" b="1" dirty="0" smtClean="0">
              <a:latin typeface="Baskerville Old Face" panose="02020602080505020303" charset="0"/>
              <a:cs typeface="Baskerville Old Face" panose="02020602080505020303" charset="0"/>
            </a:endParaRPr>
          </a:p>
          <a:p>
            <a:pPr marL="0" indent="0">
              <a:lnSpc>
                <a:spcPct val="80000"/>
              </a:lnSpc>
              <a:buNone/>
            </a:pPr>
            <a:r>
              <a:rPr lang="en-US" altLang="en-IN" b="1" dirty="0" smtClean="0">
                <a:latin typeface="Baskerville Old Face" panose="02020602080505020303" charset="0"/>
                <a:cs typeface="Baskerville Old Face" panose="02020602080505020303" charset="0"/>
              </a:rPr>
              <a:t>   </a:t>
            </a:r>
            <a:r>
              <a:rPr lang="en-IN" b="1" dirty="0" smtClean="0">
                <a:latin typeface="Baskerville Old Face" panose="02020602080505020303" charset="0"/>
                <a:cs typeface="Baskerville Old Face" panose="02020602080505020303" charset="0"/>
              </a:rPr>
              <a:t>How to fail/lose gracefully; etc.,  </a:t>
            </a:r>
            <a:endParaRPr lang="en-IN" b="1" dirty="0" smtClean="0">
              <a:latin typeface="Baskerville Old Face" panose="02020602080505020303" charset="0"/>
              <a:cs typeface="Baskerville Old Face" panose="02020602080505020303" charset="0"/>
            </a:endParaRPr>
          </a:p>
          <a:p>
            <a:pPr>
              <a:lnSpc>
                <a:spcPct val="80000"/>
              </a:lnSpc>
              <a:buNone/>
            </a:pPr>
            <a:r>
              <a:rPr lang="en-IN" b="1" dirty="0" smtClean="0">
                <a:latin typeface="Baskerville Old Face" panose="02020602080505020303" charset="0"/>
                <a:cs typeface="Baskerville Old Face" panose="02020602080505020303" charset="0"/>
              </a:rPr>
              <a:t>		</a:t>
            </a:r>
            <a:r>
              <a:rPr lang="en-US" altLang="en-IN" b="1" dirty="0" smtClean="0">
                <a:latin typeface="Baskerville Old Face" panose="02020602080505020303" charset="0"/>
                <a:cs typeface="Baskerville Old Face" panose="02020602080505020303" charset="0"/>
              </a:rPr>
              <a:t>a</a:t>
            </a:r>
            <a:r>
              <a:rPr lang="en-IN" b="1" dirty="0" smtClean="0">
                <a:latin typeface="Baskerville Old Face" panose="02020602080505020303" charset="0"/>
                <a:cs typeface="Baskerville Old Face" panose="02020602080505020303" charset="0"/>
              </a:rPr>
              <a:t>/	</a:t>
            </a:r>
            <a:r>
              <a:rPr lang="en-US" altLang="en-IN" b="1" dirty="0" smtClean="0">
                <a:latin typeface="Baskerville Old Face" panose="02020602080505020303" charset="0"/>
                <a:cs typeface="Baskerville Old Face" panose="02020602080505020303" charset="0"/>
              </a:rPr>
              <a:t>T</a:t>
            </a:r>
            <a:r>
              <a:rPr lang="en-IN" b="1" dirty="0" smtClean="0">
                <a:latin typeface="Baskerville Old Face" panose="02020602080505020303" charset="0"/>
                <a:cs typeface="Baskerville Old Face" panose="02020602080505020303" charset="0"/>
              </a:rPr>
              <a:t>hrough  Schools, Colleges, Orphanages</a:t>
            </a:r>
            <a:r>
              <a:rPr lang="en-US" altLang="en-IN" b="1" dirty="0" smtClean="0">
                <a:latin typeface="Baskerville Old Face" panose="02020602080505020303" charset="0"/>
                <a:cs typeface="Baskerville Old Face" panose="02020602080505020303" charset="0"/>
              </a:rPr>
              <a:t>;</a:t>
            </a:r>
            <a:endParaRPr lang="en-IN" b="1" dirty="0" smtClean="0">
              <a:latin typeface="Baskerville Old Face" panose="02020602080505020303" charset="0"/>
              <a:cs typeface="Baskerville Old Face" panose="02020602080505020303" charset="0"/>
            </a:endParaRPr>
          </a:p>
          <a:p>
            <a:pPr>
              <a:lnSpc>
                <a:spcPct val="80000"/>
              </a:lnSpc>
              <a:buNone/>
            </a:pPr>
            <a:r>
              <a:rPr lang="en-IN" b="1" dirty="0" smtClean="0">
                <a:latin typeface="Baskerville Old Face" panose="02020602080505020303" charset="0"/>
                <a:cs typeface="Baskerville Old Face" panose="02020602080505020303" charset="0"/>
              </a:rPr>
              <a:t>		</a:t>
            </a:r>
            <a:r>
              <a:rPr lang="en-US" altLang="en-IN" b="1" dirty="0" smtClean="0">
                <a:latin typeface="Baskerville Old Face" panose="02020602080505020303" charset="0"/>
                <a:cs typeface="Baskerville Old Face" panose="02020602080505020303" charset="0"/>
              </a:rPr>
              <a:t>b</a:t>
            </a:r>
            <a:r>
              <a:rPr lang="en-IN" b="1" dirty="0" smtClean="0">
                <a:latin typeface="Baskerville Old Face" panose="02020602080505020303" charset="0"/>
                <a:cs typeface="Baskerville Old Face" panose="02020602080505020303" charset="0"/>
              </a:rPr>
              <a:t>/	 Youth </a:t>
            </a:r>
            <a:r>
              <a:rPr lang="en-US" altLang="en-IN" b="1" dirty="0" smtClean="0">
                <a:latin typeface="Baskerville Old Face" panose="02020602080505020303" charset="0"/>
                <a:cs typeface="Baskerville Old Face" panose="02020602080505020303" charset="0"/>
              </a:rPr>
              <a:t>Gatherings; </a:t>
            </a:r>
            <a:r>
              <a:rPr lang="en-IN" b="1" dirty="0" smtClean="0">
                <a:latin typeface="Baskerville Old Face" panose="02020602080505020303" charset="0"/>
                <a:cs typeface="Baskerville Old Face" panose="02020602080505020303" charset="0"/>
              </a:rPr>
              <a:t>Meetings</a:t>
            </a:r>
            <a:r>
              <a:rPr lang="en-US" altLang="en-IN" b="1" dirty="0" smtClean="0">
                <a:latin typeface="Baskerville Old Face" panose="02020602080505020303" charset="0"/>
                <a:cs typeface="Baskerville Old Face" panose="02020602080505020303" charset="0"/>
              </a:rPr>
              <a:t>;</a:t>
            </a:r>
            <a:r>
              <a:rPr lang="en-IN" b="1" dirty="0" smtClean="0">
                <a:latin typeface="Baskerville Old Face" panose="02020602080505020303" charset="0"/>
                <a:cs typeface="Baskerville Old Face" panose="02020602080505020303" charset="0"/>
              </a:rPr>
              <a:t> 		</a:t>
            </a:r>
            <a:endParaRPr lang="en-IN" b="1" dirty="0" smtClean="0">
              <a:latin typeface="Baskerville Old Face" panose="02020602080505020303" charset="0"/>
              <a:cs typeface="Baskerville Old Face" panose="02020602080505020303" charset="0"/>
            </a:endParaRPr>
          </a:p>
          <a:p>
            <a:pPr>
              <a:lnSpc>
                <a:spcPct val="80000"/>
              </a:lnSpc>
              <a:buNone/>
            </a:pPr>
            <a:r>
              <a:rPr lang="en-US" altLang="en-IN" b="1" dirty="0" smtClean="0">
                <a:latin typeface="Baskerville Old Face" panose="02020602080505020303" charset="0"/>
                <a:cs typeface="Baskerville Old Face" panose="02020602080505020303" charset="0"/>
              </a:rPr>
              <a:t>		c</a:t>
            </a:r>
            <a:r>
              <a:rPr lang="en-IN" b="1" dirty="0" smtClean="0">
                <a:latin typeface="Baskerville Old Face" panose="02020602080505020303" charset="0"/>
                <a:cs typeface="Baskerville Old Face" panose="02020602080505020303" charset="0"/>
              </a:rPr>
              <a:t>/	</a:t>
            </a:r>
            <a:r>
              <a:rPr lang="en-IN" b="1" dirty="0" err="1" smtClean="0">
                <a:latin typeface="Baskerville Old Face" panose="02020602080505020303" charset="0"/>
                <a:cs typeface="Baskerville Old Face" panose="02020602080505020303" charset="0"/>
              </a:rPr>
              <a:t>Rallys</a:t>
            </a:r>
            <a:r>
              <a:rPr lang="en-IN" b="1" dirty="0" smtClean="0">
                <a:latin typeface="Baskerville Old Face" panose="02020602080505020303" charset="0"/>
                <a:cs typeface="Baskerville Old Face" panose="02020602080505020303" charset="0"/>
              </a:rPr>
              <a:t>, Walks, etc. Spreading awareness</a:t>
            </a:r>
            <a:r>
              <a:rPr lang="en-US" altLang="en-IN" b="1" dirty="0" smtClean="0">
                <a:latin typeface="Baskerville Old Face" panose="02020602080505020303" charset="0"/>
                <a:cs typeface="Baskerville Old Face" panose="02020602080505020303" charset="0"/>
              </a:rPr>
              <a:t>;</a:t>
            </a:r>
            <a:endParaRPr lang="en-IN" b="1" dirty="0" smtClean="0">
              <a:latin typeface="Baskerville Old Face" panose="02020602080505020303" charset="0"/>
              <a:cs typeface="Baskerville Old Face" panose="02020602080505020303" charset="0"/>
            </a:endParaRPr>
          </a:p>
          <a:p>
            <a:pPr>
              <a:lnSpc>
                <a:spcPct val="80000"/>
              </a:lnSpc>
              <a:buNone/>
            </a:pPr>
            <a:r>
              <a:rPr lang="en-IN" b="1" dirty="0" smtClean="0">
                <a:latin typeface="Baskerville Old Face" panose="02020602080505020303" charset="0"/>
                <a:cs typeface="Baskerville Old Face" panose="02020602080505020303" charset="0"/>
              </a:rPr>
              <a:t>		</a:t>
            </a:r>
            <a:r>
              <a:rPr lang="en-US" altLang="en-IN" b="1" dirty="0" smtClean="0">
                <a:latin typeface="Baskerville Old Face" panose="02020602080505020303" charset="0"/>
                <a:cs typeface="Baskerville Old Face" panose="02020602080505020303" charset="0"/>
              </a:rPr>
              <a:t>d/</a:t>
            </a:r>
            <a:r>
              <a:rPr lang="en-IN" b="1" dirty="0" smtClean="0">
                <a:latin typeface="Baskerville Old Face" panose="02020602080505020303" charset="0"/>
                <a:cs typeface="Baskerville Old Face" panose="02020602080505020303" charset="0"/>
              </a:rPr>
              <a:t>	Distributing  Leaflets / Pamphlets</a:t>
            </a:r>
            <a:r>
              <a:rPr lang="en-US" altLang="en-IN" b="1" dirty="0" smtClean="0">
                <a:latin typeface="Baskerville Old Face" panose="02020602080505020303" charset="0"/>
                <a:cs typeface="Baskerville Old Face" panose="02020602080505020303" charset="0"/>
              </a:rPr>
              <a:t>;</a:t>
            </a:r>
            <a:endParaRPr lang="en-IN" b="1" dirty="0" smtClean="0">
              <a:latin typeface="Baskerville Old Face" panose="02020602080505020303" charset="0"/>
              <a:cs typeface="Baskerville Old Face" panose="02020602080505020303" charset="0"/>
            </a:endParaRPr>
          </a:p>
          <a:p>
            <a:pPr>
              <a:lnSpc>
                <a:spcPct val="80000"/>
              </a:lnSpc>
              <a:buNone/>
            </a:pPr>
            <a:r>
              <a:rPr lang="en-IN" b="1" dirty="0" smtClean="0">
                <a:latin typeface="Baskerville Old Face" panose="02020602080505020303" charset="0"/>
                <a:cs typeface="Baskerville Old Face" panose="02020602080505020303" charset="0"/>
              </a:rPr>
              <a:t>		</a:t>
            </a:r>
            <a:r>
              <a:rPr lang="en-US" altLang="en-IN" b="1" dirty="0" smtClean="0">
                <a:latin typeface="Baskerville Old Face" panose="02020602080505020303" charset="0"/>
                <a:cs typeface="Baskerville Old Face" panose="02020602080505020303" charset="0"/>
              </a:rPr>
              <a:t>e</a:t>
            </a:r>
            <a:r>
              <a:rPr lang="en-IN" b="1" dirty="0" smtClean="0">
                <a:latin typeface="Baskerville Old Face" panose="02020602080505020303" charset="0"/>
                <a:cs typeface="Baskerville Old Face" panose="02020602080505020303" charset="0"/>
              </a:rPr>
              <a:t>/	</a:t>
            </a:r>
            <a:r>
              <a:rPr lang="en-US" altLang="en-IN" b="1" dirty="0" smtClean="0">
                <a:latin typeface="Baskerville Old Face" panose="02020602080505020303" charset="0"/>
                <a:cs typeface="Baskerville Old Face" panose="02020602080505020303" charset="0"/>
              </a:rPr>
              <a:t>t</a:t>
            </a:r>
            <a:r>
              <a:rPr lang="en-IN" b="1" dirty="0" smtClean="0">
                <a:latin typeface="Baskerville Old Face" panose="02020602080505020303" charset="0"/>
                <a:cs typeface="Baskerville Old Face" panose="02020602080505020303" charset="0"/>
              </a:rPr>
              <a:t>hrough Emails/</a:t>
            </a:r>
            <a:r>
              <a:rPr lang="en-IN" b="1" dirty="0" err="1" smtClean="0">
                <a:latin typeface="Baskerville Old Face" panose="02020602080505020303" charset="0"/>
                <a:cs typeface="Baskerville Old Face" panose="02020602080505020303" charset="0"/>
              </a:rPr>
              <a:t>Facebook</a:t>
            </a:r>
            <a:r>
              <a:rPr lang="en-IN" b="1" dirty="0" smtClean="0">
                <a:latin typeface="Baskerville Old Face" panose="02020602080505020303" charset="0"/>
                <a:cs typeface="Baskerville Old Face" panose="02020602080505020303" charset="0"/>
              </a:rPr>
              <a:t>/ etc.</a:t>
            </a:r>
            <a:r>
              <a:rPr lang="en-US" altLang="en-IN" b="1" dirty="0" smtClean="0">
                <a:latin typeface="Baskerville Old Face" panose="02020602080505020303" charset="0"/>
                <a:cs typeface="Baskerville Old Face" panose="02020602080505020303" charset="0"/>
              </a:rPr>
              <a:t>;</a:t>
            </a:r>
            <a:endParaRPr lang="en-IN" b="1" dirty="0" smtClean="0">
              <a:latin typeface="Baskerville Old Face" panose="02020602080505020303" charset="0"/>
              <a:cs typeface="Baskerville Old Face" panose="02020602080505020303" charset="0"/>
            </a:endParaRPr>
          </a:p>
          <a:p>
            <a:pPr>
              <a:lnSpc>
                <a:spcPct val="80000"/>
              </a:lnSpc>
              <a:buNone/>
            </a:pPr>
            <a:r>
              <a:rPr lang="en-US" altLang="en-IN" b="1" dirty="0" smtClean="0">
                <a:latin typeface="Baskerville Old Face" panose="02020602080505020303" charset="0"/>
                <a:cs typeface="Baskerville Old Face" panose="02020602080505020303" charset="0"/>
                <a:sym typeface="+mn-ea"/>
              </a:rPr>
              <a:t>	</a:t>
            </a:r>
            <a:r>
              <a:rPr lang="en-IN" b="1" dirty="0" smtClean="0">
                <a:latin typeface="Baskerville Old Face" panose="02020602080505020303" charset="0"/>
                <a:cs typeface="Baskerville Old Face" panose="02020602080505020303" charset="0"/>
                <a:sym typeface="+mn-ea"/>
              </a:rPr>
              <a:t>	</a:t>
            </a:r>
            <a:r>
              <a:rPr lang="en-US" altLang="en-IN" b="1" dirty="0" smtClean="0">
                <a:latin typeface="Baskerville Old Face" panose="02020602080505020303" charset="0"/>
                <a:cs typeface="Baskerville Old Face" panose="02020602080505020303" charset="0"/>
                <a:sym typeface="+mn-ea"/>
              </a:rPr>
              <a:t>f/	</a:t>
            </a:r>
            <a:r>
              <a:rPr lang="en-IN" b="1" dirty="0" smtClean="0">
                <a:latin typeface="Baskerville Old Face" panose="02020602080505020303" charset="0"/>
                <a:cs typeface="Baskerville Old Face" panose="02020602080505020303" charset="0"/>
                <a:sym typeface="+mn-ea"/>
              </a:rPr>
              <a:t>through </a:t>
            </a:r>
            <a:r>
              <a:rPr lang="en-US" altLang="en-IN" b="1" dirty="0" smtClean="0">
                <a:latin typeface="Baskerville Old Face" panose="02020602080505020303" charset="0"/>
                <a:cs typeface="Baskerville Old Face" panose="02020602080505020303" charset="0"/>
                <a:sym typeface="+mn-ea"/>
              </a:rPr>
              <a:t>Social Action groups; </a:t>
            </a:r>
            <a:r>
              <a:rPr lang="en-IN" b="1" dirty="0" smtClean="0">
                <a:latin typeface="Baskerville Old Face" panose="02020602080505020303" charset="0"/>
                <a:cs typeface="Baskerville Old Face" panose="02020602080505020303" charset="0"/>
                <a:sym typeface="+mn-ea"/>
              </a:rPr>
              <a:t>Lions</a:t>
            </a:r>
            <a:r>
              <a:rPr lang="en-US" altLang="en-IN" b="1" dirty="0" smtClean="0">
                <a:latin typeface="Baskerville Old Face" panose="02020602080505020303" charset="0"/>
                <a:cs typeface="Baskerville Old Face" panose="02020602080505020303" charset="0"/>
                <a:sym typeface="+mn-ea"/>
              </a:rPr>
              <a:t> Club, Rotaract Club</a:t>
            </a:r>
            <a:r>
              <a:rPr lang="en-IN" b="1" dirty="0" smtClean="0">
                <a:latin typeface="Baskerville Old Face" panose="02020602080505020303" charset="0"/>
                <a:cs typeface="Baskerville Old Face" panose="02020602080505020303" charset="0"/>
                <a:sym typeface="+mn-ea"/>
              </a:rPr>
              <a:t>, Alumni Assn Clubs</a:t>
            </a:r>
            <a:r>
              <a:rPr lang="en-US" altLang="en-IN" b="1" dirty="0" smtClean="0">
                <a:latin typeface="Baskerville Old Face" panose="02020602080505020303" charset="0"/>
                <a:cs typeface="Baskerville Old Face" panose="02020602080505020303" charset="0"/>
                <a:sym typeface="+mn-ea"/>
              </a:rPr>
              <a:t>;</a:t>
            </a:r>
            <a:r>
              <a:rPr lang="en-IN" b="1" dirty="0" smtClean="0">
                <a:latin typeface="Baskerville Old Face" panose="02020602080505020303" charset="0"/>
                <a:cs typeface="Baskerville Old Face" panose="02020602080505020303" charset="0"/>
                <a:sym typeface="+mn-ea"/>
              </a:rPr>
              <a:t> etc. </a:t>
            </a:r>
            <a:endParaRPr lang="en-IN" b="1" dirty="0" smtClean="0">
              <a:latin typeface="Baskerville Old Face" panose="02020602080505020303" charset="0"/>
              <a:cs typeface="Baskerville Old Face" panose="02020602080505020303" charset="0"/>
            </a:endParaRPr>
          </a:p>
          <a:p>
            <a:pPr>
              <a:lnSpc>
                <a:spcPct val="80000"/>
              </a:lnSpc>
              <a:buNone/>
            </a:pPr>
            <a:endParaRPr lang="en-IN" dirty="0" smtClean="0">
              <a:latin typeface="Baskerville Old Face" panose="02020602080505020303" charset="0"/>
              <a:cs typeface="Baskerville Old Face" panose="02020602080505020303" charset="0"/>
            </a:endParaRPr>
          </a:p>
          <a:p>
            <a:pPr>
              <a:lnSpc>
                <a:spcPct val="80000"/>
              </a:lnSpc>
              <a:buNone/>
            </a:pPr>
            <a:endParaRPr lang="en-IN" sz="1100" dirty="0" smtClean="0">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i="1" dirty="0" smtClean="0">
                <a:latin typeface="Algerian" panose="04020705040A02060702" pitchFamily="82" charset="0"/>
              </a:rPr>
              <a:t>2</a:t>
            </a:r>
            <a:r>
              <a:rPr lang="en-US" sz="3200" i="1" dirty="0" smtClean="0">
                <a:latin typeface="Algerian" panose="04020705040A02060702" pitchFamily="82" charset="0"/>
              </a:rPr>
              <a:t>)	SUPPORTIVE COUNSELLING </a:t>
            </a:r>
            <a:endParaRPr lang="en-IN" sz="3200" i="1" dirty="0">
              <a:latin typeface="Algerian" panose="04020705040A02060702" pitchFamily="82" charset="0"/>
            </a:endParaRPr>
          </a:p>
        </p:txBody>
      </p:sp>
      <p:sp>
        <p:nvSpPr>
          <p:cNvPr id="3" name="Content Placeholder 2"/>
          <p:cNvSpPr>
            <a:spLocks noGrp="1"/>
          </p:cNvSpPr>
          <p:nvPr>
            <p:ph sz="quarter" idx="1"/>
          </p:nvPr>
        </p:nvSpPr>
        <p:spPr>
          <a:xfrm>
            <a:off x="308610" y="1252855"/>
            <a:ext cx="8649970" cy="5429250"/>
          </a:xfrm>
          <a:ln>
            <a:solidFill>
              <a:schemeClr val="tx1"/>
            </a:solidFill>
            <a:prstDash val="dashDot"/>
          </a:ln>
        </p:spPr>
        <p:txBody>
          <a:bodyPr>
            <a:normAutofit lnSpcReduction="10000"/>
          </a:bodyPr>
          <a:lstStyle/>
          <a:p>
            <a:pPr>
              <a:lnSpc>
                <a:spcPct val="120000"/>
              </a:lnSpc>
              <a:buNone/>
            </a:pPr>
            <a:r>
              <a:rPr lang="en-US" b="1" dirty="0" smtClean="0"/>
              <a:t>1/	You</a:t>
            </a:r>
            <a:endParaRPr lang="en-US" b="1" dirty="0" smtClean="0"/>
          </a:p>
          <a:p>
            <a:pPr>
              <a:lnSpc>
                <a:spcPct val="120000"/>
              </a:lnSpc>
              <a:buNone/>
            </a:pPr>
            <a:r>
              <a:rPr lang="en-US" b="1" dirty="0" smtClean="0"/>
              <a:t>2/	Family</a:t>
            </a:r>
            <a:endParaRPr lang="en-US" b="1" dirty="0" smtClean="0"/>
          </a:p>
          <a:p>
            <a:pPr>
              <a:lnSpc>
                <a:spcPct val="120000"/>
              </a:lnSpc>
              <a:buNone/>
            </a:pPr>
            <a:r>
              <a:rPr lang="en-US" b="1" dirty="0" smtClean="0"/>
              <a:t>3/	Teachers, Lecturers, Professors, Pastors, 	Youth Pastors etc.</a:t>
            </a:r>
            <a:endParaRPr lang="en-US" b="1" dirty="0" smtClean="0"/>
          </a:p>
          <a:p>
            <a:pPr>
              <a:lnSpc>
                <a:spcPct val="120000"/>
              </a:lnSpc>
              <a:buNone/>
            </a:pPr>
            <a:r>
              <a:rPr lang="en-US" b="1" dirty="0" smtClean="0"/>
              <a:t>4/	Peer Group Support and </a:t>
            </a:r>
            <a:r>
              <a:rPr lang="en-US" b="1" dirty="0" err="1" smtClean="0"/>
              <a:t>Counselling</a:t>
            </a:r>
            <a:r>
              <a:rPr lang="en-US" b="1" dirty="0" smtClean="0"/>
              <a:t> </a:t>
            </a:r>
            <a:endParaRPr lang="en-US" b="1" dirty="0" smtClean="0"/>
          </a:p>
          <a:p>
            <a:pPr>
              <a:lnSpc>
                <a:spcPct val="120000"/>
              </a:lnSpc>
              <a:buNone/>
            </a:pPr>
            <a:r>
              <a:rPr lang="en-US" b="1" dirty="0" smtClean="0"/>
              <a:t>		Those at the highest risk for committing suicide in the near future have a specific PLAN, the </a:t>
            </a:r>
            <a:r>
              <a:rPr lang="en-US" b="1" dirty="0" smtClean="0"/>
              <a:t>MEANS to carry out, a TIME SET for doing it,  and an INTENTION TO DO IT.</a:t>
            </a:r>
            <a:endParaRPr lang="en-IN"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i="1" dirty="0" smtClean="0">
                <a:latin typeface="Algerian" panose="04020705040A02060702" pitchFamily="82" charset="0"/>
              </a:rPr>
              <a:t>SOCIAL CHANGE</a:t>
            </a:r>
            <a:endParaRPr lang="en-IN" sz="3200" i="1" dirty="0">
              <a:latin typeface="Algerian" panose="04020705040A02060702" pitchFamily="82" charset="0"/>
            </a:endParaRPr>
          </a:p>
        </p:txBody>
      </p:sp>
      <p:sp>
        <p:nvSpPr>
          <p:cNvPr id="3" name="Content Placeholder 2"/>
          <p:cNvSpPr>
            <a:spLocks noGrp="1"/>
          </p:cNvSpPr>
          <p:nvPr>
            <p:ph sz="quarter" idx="1"/>
          </p:nvPr>
        </p:nvSpPr>
        <p:spPr>
          <a:ln>
            <a:solidFill>
              <a:schemeClr val="accent1"/>
            </a:solidFill>
            <a:prstDash val="dashDot"/>
          </a:ln>
        </p:spPr>
        <p:txBody>
          <a:bodyPr>
            <a:normAutofit fontScale="92500" lnSpcReduction="20000"/>
          </a:bodyPr>
          <a:lstStyle/>
          <a:p>
            <a:pPr>
              <a:buNone/>
            </a:pPr>
            <a:r>
              <a:rPr lang="en-US" dirty="0" smtClean="0"/>
              <a:t>1/	</a:t>
            </a:r>
            <a:r>
              <a:rPr lang="en-US" sz="3460" b="1" dirty="0" smtClean="0"/>
              <a:t>Rehabilitation of those who survive 	suicidal attempt</a:t>
            </a:r>
            <a:endParaRPr lang="en-US" sz="3460" b="1" dirty="0" smtClean="0"/>
          </a:p>
          <a:p>
            <a:pPr>
              <a:buNone/>
            </a:pPr>
            <a:endParaRPr lang="en-US" sz="3460" b="1" dirty="0" smtClean="0"/>
          </a:p>
          <a:p>
            <a:pPr>
              <a:buNone/>
            </a:pPr>
            <a:r>
              <a:rPr lang="en-US" sz="3460" b="1" dirty="0" smtClean="0"/>
              <a:t>2/	Suicide is a medico-legal case</a:t>
            </a:r>
            <a:endParaRPr lang="en-US" sz="3460" b="1" dirty="0" smtClean="0"/>
          </a:p>
          <a:p>
            <a:pPr>
              <a:buNone/>
            </a:pPr>
            <a:endParaRPr lang="en-US" sz="3460" b="1" dirty="0" smtClean="0"/>
          </a:p>
          <a:p>
            <a:pPr>
              <a:buNone/>
            </a:pPr>
            <a:r>
              <a:rPr lang="en-US" sz="3460" b="1" dirty="0" smtClean="0"/>
              <a:t>3/	De-criminalize suicide</a:t>
            </a:r>
            <a:endParaRPr lang="en-US" sz="3460" b="1" dirty="0" smtClean="0"/>
          </a:p>
          <a:p>
            <a:pPr>
              <a:buNone/>
            </a:pPr>
            <a:endParaRPr lang="en-US" sz="3460" b="1" dirty="0" smtClean="0"/>
          </a:p>
          <a:p>
            <a:pPr>
              <a:buNone/>
            </a:pPr>
            <a:r>
              <a:rPr lang="en-US" sz="3460" b="1" dirty="0" smtClean="0"/>
              <a:t>4/ 	World Suicide Prevention Day 10</a:t>
            </a:r>
            <a:r>
              <a:rPr lang="en-US" sz="3460" b="1" baseline="30000" dirty="0" smtClean="0"/>
              <a:t>TH</a:t>
            </a:r>
            <a:r>
              <a:rPr lang="en-US" sz="3460" b="1" dirty="0" smtClean="0"/>
              <a:t> September.</a:t>
            </a:r>
            <a:endParaRPr lang="en-US" sz="3460" b="1" dirty="0" smtClean="0"/>
          </a:p>
          <a:p>
            <a:pPr>
              <a:buNone/>
            </a:pPr>
            <a:endParaRPr lang="en-US" sz="3460" b="1" dirty="0" smtClean="0"/>
          </a:p>
          <a:p>
            <a:pPr>
              <a:buNone/>
            </a:pPr>
            <a:endParaRPr lang="en-IN" b="1" dirty="0" smtClean="0"/>
          </a:p>
          <a:p>
            <a:pPr>
              <a:buNone/>
            </a:pPr>
            <a:endParaRPr lang="en-US" dirty="0" smtClean="0"/>
          </a:p>
          <a:p>
            <a:pPr>
              <a:buNone/>
            </a:pPr>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i="1" dirty="0" smtClean="0">
                <a:latin typeface="Algerian" panose="04020705040A02060702" pitchFamily="82" charset="0"/>
              </a:rPr>
              <a:t>SOCIAL CHANGE (cont’d…)</a:t>
            </a:r>
            <a:endParaRPr lang="en-IN" sz="3200" i="1" dirty="0">
              <a:latin typeface="Algerian" panose="04020705040A02060702" pitchFamily="82" charset="0"/>
            </a:endParaRPr>
          </a:p>
        </p:txBody>
      </p:sp>
      <p:sp>
        <p:nvSpPr>
          <p:cNvPr id="3" name="Content Placeholder 2"/>
          <p:cNvSpPr>
            <a:spLocks noGrp="1"/>
          </p:cNvSpPr>
          <p:nvPr>
            <p:ph sz="quarter" idx="1"/>
          </p:nvPr>
        </p:nvSpPr>
        <p:spPr>
          <a:xfrm>
            <a:off x="457200" y="1142984"/>
            <a:ext cx="8229600" cy="5715016"/>
          </a:xfrm>
          <a:ln>
            <a:solidFill>
              <a:schemeClr val="accent1"/>
            </a:solidFill>
            <a:prstDash val="dashDot"/>
          </a:ln>
        </p:spPr>
        <p:txBody>
          <a:bodyPr>
            <a:noAutofit/>
          </a:bodyPr>
          <a:lstStyle/>
          <a:p>
            <a:r>
              <a:rPr lang="en-US" b="1" dirty="0" smtClean="0">
                <a:latin typeface="Baskerville Old Face" panose="02020602080505020303" charset="0"/>
                <a:cs typeface="Baskerville Old Face" panose="02020602080505020303" charset="0"/>
              </a:rPr>
              <a:t>5/	WHAT CAN I DO TO SAVE A LIFE  ?</a:t>
            </a:r>
            <a:endParaRPr lang="en-US" b="1" dirty="0" smtClean="0">
              <a:latin typeface="Baskerville Old Face" panose="02020602080505020303" charset="0"/>
              <a:cs typeface="Baskerville Old Face" panose="02020602080505020303" charset="0"/>
            </a:endParaRPr>
          </a:p>
          <a:p>
            <a:pPr>
              <a:lnSpc>
                <a:spcPct val="60000"/>
              </a:lnSpc>
            </a:pPr>
            <a:r>
              <a:rPr lang="en-IN" b="1" dirty="0" smtClean="0">
                <a:latin typeface="Baskerville Old Face" panose="02020602080505020303" charset="0"/>
                <a:cs typeface="Baskerville Old Face" panose="02020602080505020303" charset="0"/>
              </a:rPr>
              <a:t>Never ignore anyone who speaks about suicide.</a:t>
            </a:r>
            <a:endParaRPr lang="en-IN" b="1" dirty="0" smtClean="0">
              <a:latin typeface="Baskerville Old Face" panose="02020602080505020303" charset="0"/>
              <a:cs typeface="Baskerville Old Face" panose="02020602080505020303" charset="0"/>
            </a:endParaRPr>
          </a:p>
          <a:p>
            <a:pPr>
              <a:lnSpc>
                <a:spcPct val="60000"/>
              </a:lnSpc>
            </a:pPr>
            <a:endParaRPr lang="en-IN" b="1" dirty="0" smtClean="0">
              <a:latin typeface="Baskerville Old Face" panose="02020602080505020303" charset="0"/>
              <a:cs typeface="Baskerville Old Face" panose="02020602080505020303" charset="0"/>
            </a:endParaRPr>
          </a:p>
          <a:p>
            <a:pPr>
              <a:lnSpc>
                <a:spcPct val="60000"/>
              </a:lnSpc>
            </a:pPr>
            <a:r>
              <a:rPr lang="en-IN" b="1" dirty="0" smtClean="0">
                <a:latin typeface="Baskerville Old Face" panose="02020602080505020303" charset="0"/>
                <a:cs typeface="Baskerville Old Face" panose="02020602080505020303" charset="0"/>
              </a:rPr>
              <a:t>LISTEN, LISTEN and  LISTEN to them.</a:t>
            </a:r>
            <a:endParaRPr lang="en-IN" b="1" dirty="0" smtClean="0">
              <a:latin typeface="Baskerville Old Face" panose="02020602080505020303" charset="0"/>
              <a:cs typeface="Baskerville Old Face" panose="02020602080505020303" charset="0"/>
            </a:endParaRPr>
          </a:p>
          <a:p>
            <a:pPr>
              <a:lnSpc>
                <a:spcPct val="60000"/>
              </a:lnSpc>
            </a:pPr>
            <a:endParaRPr lang="en-IN" b="1" dirty="0" smtClean="0">
              <a:latin typeface="Baskerville Old Face" panose="02020602080505020303" charset="0"/>
              <a:cs typeface="Baskerville Old Face" panose="02020602080505020303" charset="0"/>
            </a:endParaRPr>
          </a:p>
          <a:p>
            <a:pPr>
              <a:lnSpc>
                <a:spcPct val="60000"/>
              </a:lnSpc>
            </a:pPr>
            <a:r>
              <a:rPr lang="en-IN" b="1" dirty="0" smtClean="0">
                <a:latin typeface="Baskerville Old Face" panose="02020602080505020303" charset="0"/>
                <a:cs typeface="Baskerville Old Face" panose="02020602080505020303" charset="0"/>
              </a:rPr>
              <a:t>Remove the source (poison, pesticides, firearm, knife, kerosene etc.) from their possession.</a:t>
            </a:r>
            <a:endParaRPr lang="en-IN" b="1" dirty="0" smtClean="0">
              <a:latin typeface="Baskerville Old Face" panose="02020602080505020303" charset="0"/>
              <a:cs typeface="Baskerville Old Face" panose="02020602080505020303" charset="0"/>
            </a:endParaRPr>
          </a:p>
          <a:p>
            <a:pPr>
              <a:lnSpc>
                <a:spcPct val="60000"/>
              </a:lnSpc>
            </a:pPr>
            <a:endParaRPr lang="en-IN" b="1" dirty="0" smtClean="0">
              <a:latin typeface="Baskerville Old Face" panose="02020602080505020303" charset="0"/>
              <a:cs typeface="Baskerville Old Face" panose="02020602080505020303" charset="0"/>
            </a:endParaRPr>
          </a:p>
          <a:p>
            <a:pPr>
              <a:lnSpc>
                <a:spcPct val="60000"/>
              </a:lnSpc>
            </a:pPr>
            <a:r>
              <a:rPr lang="en-IN" b="1" dirty="0" smtClean="0">
                <a:latin typeface="Baskerville Old Face" panose="02020602080505020303" charset="0"/>
                <a:cs typeface="Baskerville Old Face" panose="02020602080505020303" charset="0"/>
              </a:rPr>
              <a:t>Do not hesitate to ask direct questions.</a:t>
            </a:r>
            <a:endParaRPr lang="en-IN" b="1" dirty="0" smtClean="0">
              <a:latin typeface="Baskerville Old Face" panose="02020602080505020303" charset="0"/>
              <a:cs typeface="Baskerville Old Face" panose="02020602080505020303" charset="0"/>
            </a:endParaRPr>
          </a:p>
          <a:p>
            <a:pPr>
              <a:lnSpc>
                <a:spcPct val="60000"/>
              </a:lnSpc>
              <a:buNone/>
            </a:pPr>
            <a:endParaRPr lang="en-IN" b="1" dirty="0" smtClean="0">
              <a:latin typeface="Baskerville Old Face" panose="02020602080505020303" charset="0"/>
              <a:cs typeface="Baskerville Old Face" panose="02020602080505020303" charset="0"/>
            </a:endParaRPr>
          </a:p>
          <a:p>
            <a:pPr>
              <a:lnSpc>
                <a:spcPct val="60000"/>
              </a:lnSpc>
            </a:pPr>
            <a:r>
              <a:rPr lang="en-IN" b="1" dirty="0" smtClean="0">
                <a:latin typeface="Baskerville Old Face" panose="02020602080505020303" charset="0"/>
                <a:cs typeface="Baskerville Old Face" panose="02020602080505020303" charset="0"/>
              </a:rPr>
              <a:t>Do not, under any circumstances, leave a suicidal person alone.</a:t>
            </a:r>
            <a:endParaRPr lang="en-IN" b="1" dirty="0" smtClean="0">
              <a:latin typeface="Baskerville Old Face" panose="02020602080505020303" charset="0"/>
              <a:cs typeface="Baskerville Old Face" panose="02020602080505020303" charset="0"/>
            </a:endParaRPr>
          </a:p>
          <a:p>
            <a:pPr>
              <a:lnSpc>
                <a:spcPct val="60000"/>
              </a:lnSpc>
            </a:pPr>
            <a:endParaRPr lang="en-IN" b="1" dirty="0" smtClean="0">
              <a:latin typeface="Baskerville Old Face" panose="02020602080505020303" charset="0"/>
              <a:cs typeface="Baskerville Old Face" panose="02020602080505020303" charset="0"/>
            </a:endParaRPr>
          </a:p>
          <a:p>
            <a:pPr>
              <a:lnSpc>
                <a:spcPct val="60000"/>
              </a:lnSpc>
            </a:pPr>
            <a:r>
              <a:rPr lang="en-IN" b="1" dirty="0" smtClean="0">
                <a:latin typeface="Baskerville Old Face" panose="02020602080505020303" charset="0"/>
                <a:cs typeface="Baskerville Old Face" panose="02020602080505020303" charset="0"/>
              </a:rPr>
              <a:t>Seek Professional Help, a Medical Doctor, Psychological Counsellor, Psycho therapist.</a:t>
            </a:r>
            <a:endParaRPr lang="en-IN" b="1" dirty="0" smtClean="0">
              <a:latin typeface="Baskerville Old Face" panose="02020602080505020303" charset="0"/>
              <a:cs typeface="Baskerville Old Face" panose="02020602080505020303" charset="0"/>
            </a:endParaRPr>
          </a:p>
          <a:p>
            <a:pPr>
              <a:lnSpc>
                <a:spcPct val="60000"/>
              </a:lnSpc>
            </a:pPr>
            <a:endParaRPr lang="en-IN" sz="2400" b="1" dirty="0" smtClean="0">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i="1" dirty="0" smtClean="0">
                <a:latin typeface="Algerian" panose="04020705040A02060702" pitchFamily="82" charset="0"/>
              </a:rPr>
              <a:t>THANK YOU</a:t>
            </a:r>
            <a:endParaRPr lang="en-IN" sz="3200" i="1" dirty="0">
              <a:latin typeface="Algerian" panose="04020705040A02060702" pitchFamily="82" charset="0"/>
            </a:endParaRPr>
          </a:p>
        </p:txBody>
      </p:sp>
      <p:sp>
        <p:nvSpPr>
          <p:cNvPr id="3" name="Content Placeholder 2"/>
          <p:cNvSpPr>
            <a:spLocks noGrp="1"/>
          </p:cNvSpPr>
          <p:nvPr>
            <p:ph sz="quarter" idx="1"/>
          </p:nvPr>
        </p:nvSpPr>
        <p:spPr/>
        <p:txBody>
          <a:bodyPr/>
          <a:lstStyle/>
          <a:p>
            <a:endParaRPr lang="en-US" dirty="0" smtClean="0"/>
          </a:p>
          <a:p>
            <a:r>
              <a:rPr lang="en-US" dirty="0" smtClean="0"/>
              <a:t>THANK YOU for your patient listening.</a:t>
            </a:r>
            <a:endParaRPr lang="en-US" dirty="0" smtClean="0"/>
          </a:p>
          <a:p>
            <a:pPr>
              <a:buNone/>
            </a:pPr>
            <a:r>
              <a:rPr lang="en-US" dirty="0" smtClean="0"/>
              <a:t>	</a:t>
            </a:r>
            <a:endParaRPr lang="en-US" dirty="0" smtClean="0"/>
          </a:p>
          <a:p>
            <a:r>
              <a:rPr lang="en-US" dirty="0" smtClean="0"/>
              <a:t>Any questions please ?</a:t>
            </a:r>
            <a:endParaRPr lang="en-US" dirty="0" smtClean="0"/>
          </a:p>
          <a:p>
            <a:pPr>
              <a:buNone/>
            </a:pPr>
            <a:endParaRPr lang="en-US" dirty="0" smtClean="0"/>
          </a:p>
          <a:p>
            <a:endParaRPr lang="en-US" dirty="0" smtClean="0"/>
          </a:p>
          <a:p>
            <a:pPr lvl="8"/>
            <a:r>
              <a:rPr lang="en-US" sz="2400" dirty="0" smtClean="0"/>
              <a:t>By  </a:t>
            </a:r>
            <a:r>
              <a:rPr lang="en-US" sz="2400" dirty="0" smtClean="0"/>
              <a:t>Dr. </a:t>
            </a:r>
            <a:r>
              <a:rPr lang="en-US" sz="2400" dirty="0" smtClean="0"/>
              <a:t>Philomena </a:t>
            </a:r>
            <a:r>
              <a:rPr lang="en-US" sz="2400" dirty="0" err="1" smtClean="0"/>
              <a:t>Kanagaraj</a:t>
            </a:r>
            <a:endParaRPr lang="en-IN"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Related image"/>
          <p:cNvPicPr>
            <a:picLocks noChangeAspect="1" noChangeArrowheads="1"/>
          </p:cNvPicPr>
          <p:nvPr/>
        </p:nvPicPr>
        <p:blipFill>
          <a:blip r:embed="rId1"/>
          <a:srcRect/>
          <a:stretch>
            <a:fillRect/>
          </a:stretch>
        </p:blipFill>
        <p:spPr bwMode="auto">
          <a:xfrm>
            <a:off x="0" y="0"/>
            <a:ext cx="9144000" cy="6858000"/>
          </a:xfrm>
          <a:prstGeom prst="rect">
            <a:avLst/>
          </a:prstGeom>
          <a:noFill/>
        </p:spPr>
      </p:pic>
      <p:sp>
        <p:nvSpPr>
          <p:cNvPr id="2" name="Rectangle 1"/>
          <p:cNvSpPr/>
          <p:nvPr/>
        </p:nvSpPr>
        <p:spPr>
          <a:xfrm>
            <a:off x="2057400" y="762000"/>
            <a:ext cx="5029200" cy="2611677"/>
          </a:xfrm>
          <a:prstGeom prst="rect">
            <a:avLst/>
          </a:prstGeom>
        </p:spPr>
        <p:txBody>
          <a:bodyPr wrap="square">
            <a:spAutoFit/>
          </a:bodyPr>
          <a:lstStyle/>
          <a:p>
            <a:pPr algn="ctr">
              <a:lnSpc>
                <a:spcPct val="150000"/>
              </a:lnSpc>
            </a:pPr>
            <a:r>
              <a:rPr lang="en-US" sz="2800" b="1" dirty="0">
                <a:solidFill>
                  <a:schemeClr val="bg1"/>
                </a:solidFill>
                <a:effectLst>
                  <a:glow rad="101600">
                    <a:schemeClr val="tx1">
                      <a:alpha val="60000"/>
                    </a:schemeClr>
                  </a:glow>
                </a:effectLst>
                <a:latin typeface="Palatino Linotype" panose="02040502050505030304" pitchFamily="18" charset="0"/>
                <a:cs typeface="Times New Roman" panose="02020603050405020304" pitchFamily="18" charset="0"/>
              </a:rPr>
              <a:t>Suicide is not a mental illness in itself, but a serious potential consequence of treatable mental disorders</a:t>
            </a:r>
            <a:endParaRPr lang="en-US" sz="2800" b="1" dirty="0">
              <a:solidFill>
                <a:schemeClr val="bg1"/>
              </a:solidFill>
              <a:effectLst>
                <a:glow rad="101600">
                  <a:schemeClr val="tx1">
                    <a:alpha val="60000"/>
                  </a:schemeClr>
                </a:glow>
              </a:effectLst>
              <a:latin typeface="Palatino Linotype" panose="02040502050505030304" pitchFamily="18" charset="0"/>
              <a:cs typeface="Times New Roman" panose="02020603050405020304" pitchFamily="18" charset="0"/>
            </a:endParaRPr>
          </a:p>
        </p:txBody>
      </p:sp>
      <p:sp>
        <p:nvSpPr>
          <p:cNvPr id="3" name="Rectangle 2"/>
          <p:cNvSpPr/>
          <p:nvPr/>
        </p:nvSpPr>
        <p:spPr>
          <a:xfrm>
            <a:off x="1828800" y="3932872"/>
            <a:ext cx="5562600" cy="2215991"/>
          </a:xfrm>
          <a:prstGeom prst="rect">
            <a:avLst/>
          </a:prstGeom>
        </p:spPr>
        <p:txBody>
          <a:bodyPr wrap="square">
            <a:spAutoFit/>
          </a:bodyPr>
          <a:lstStyle/>
          <a:p>
            <a:pPr algn="ctr" fontAlgn="t"/>
            <a:r>
              <a:rPr lang="en-US" sz="2400" b="1" dirty="0" smtClean="0">
                <a:solidFill>
                  <a:srgbClr val="FFFF00"/>
                </a:solidFill>
                <a:effectLst>
                  <a:glow rad="101600">
                    <a:schemeClr val="tx1">
                      <a:alpha val="60000"/>
                    </a:schemeClr>
                  </a:glow>
                </a:effectLst>
                <a:latin typeface="Myriad Pro Light" pitchFamily="34" charset="0"/>
              </a:rPr>
              <a:t>BORDERLINE PERSONALITY DISORDER</a:t>
            </a:r>
            <a:endParaRPr lang="en-US" sz="2400" b="1" dirty="0" smtClean="0">
              <a:solidFill>
                <a:srgbClr val="FFFF00"/>
              </a:solidFill>
              <a:effectLst>
                <a:glow rad="101600">
                  <a:schemeClr val="tx1">
                    <a:alpha val="60000"/>
                  </a:schemeClr>
                </a:glow>
              </a:effectLst>
              <a:latin typeface="Myriad Pro Light" pitchFamily="34" charset="0"/>
            </a:endParaRPr>
          </a:p>
          <a:p>
            <a:endParaRPr lang="en-US" dirty="0" smtClean="0">
              <a:solidFill>
                <a:srgbClr val="FFFF00"/>
              </a:solidFill>
              <a:effectLst>
                <a:glow rad="101600">
                  <a:schemeClr val="tx1">
                    <a:alpha val="60000"/>
                  </a:schemeClr>
                </a:glow>
              </a:effectLst>
            </a:endParaRPr>
          </a:p>
          <a:p>
            <a:pPr algn="ctr"/>
            <a:r>
              <a:rPr lang="en-US" sz="2400" b="1" dirty="0" smtClean="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A </a:t>
            </a:r>
            <a:r>
              <a:rPr lang="en-US" sz="24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personality disorder characterized by severe mood swings, impulsive </a:t>
            </a:r>
            <a:r>
              <a:rPr lang="en-US" sz="2400" b="1" dirty="0" smtClean="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behavior, </a:t>
            </a:r>
            <a:r>
              <a:rPr lang="en-US" sz="24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and difficulty forming stable personal relationships</a:t>
            </a:r>
            <a:r>
              <a:rPr lang="en-US"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a:t>
            </a:r>
            <a:endParaRPr lang="en-US"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7393</Words>
  <Application>WPS Presentation</Application>
  <PresentationFormat>On-screen Show (4:3)</PresentationFormat>
  <Paragraphs>194</Paragraphs>
  <Slides>16</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16</vt:i4>
      </vt:variant>
    </vt:vector>
  </HeadingPairs>
  <TitlesOfParts>
    <vt:vector size="35" baseType="lpstr">
      <vt:lpstr>Arial</vt:lpstr>
      <vt:lpstr>SimSun</vt:lpstr>
      <vt:lpstr>Wingdings</vt:lpstr>
      <vt:lpstr>Wingdings 2</vt:lpstr>
      <vt:lpstr>Algerian</vt:lpstr>
      <vt:lpstr>Times New Roman</vt:lpstr>
      <vt:lpstr>Times New Roman</vt:lpstr>
      <vt:lpstr>Calibri</vt:lpstr>
      <vt:lpstr>Franklin Gothic Book</vt:lpstr>
      <vt:lpstr>Microsoft YaHei</vt:lpstr>
      <vt:lpstr>Arial Unicode MS</vt:lpstr>
      <vt:lpstr>Franklin Gothic Medium</vt:lpstr>
      <vt:lpstr>Aharoni</vt:lpstr>
      <vt:lpstr>Palatino Linotype</vt:lpstr>
      <vt:lpstr>Myriad Pro Light</vt:lpstr>
      <vt:lpstr>Segoe Print</vt:lpstr>
      <vt:lpstr>Baskerville Old Face</vt:lpstr>
      <vt:lpstr>Calibri</vt:lpstr>
      <vt:lpstr>Trek</vt:lpstr>
      <vt:lpstr>RED FLAGS</vt:lpstr>
      <vt:lpstr>what is ‘Suicide’ ?</vt:lpstr>
      <vt:lpstr>	MYTHS ABOUT SUICIDE </vt:lpstr>
      <vt:lpstr>Some common misconceptions  about Suicide </vt:lpstr>
      <vt:lpstr>   CAUSES of SUICIDE  </vt:lpstr>
      <vt:lpstr>SUICIDE   PREVENTION</vt:lpstr>
      <vt:lpstr>HOW TO IDENTIFY THE CLUES  by Dr. BJ Prashantham</vt:lpstr>
      <vt:lpstr>How to identify the clues		 (Cont’d----)</vt:lpstr>
      <vt:lpstr>HOW TO IDENTIFY THE CLUES in Teens (Cont’d…)</vt:lpstr>
      <vt:lpstr> COUNSELLING THE SUICIDAL</vt:lpstr>
      <vt:lpstr>1/	Educational Counselling The ‘HOW’</vt:lpstr>
      <vt:lpstr>2)	SUPPORTIVE COUNSELLING </vt:lpstr>
      <vt:lpstr>SOCIAL CHANGE</vt:lpstr>
      <vt:lpstr>SOCIAL CHANGE (cont’d…)</vt:lpstr>
      <vt:lpstr>THANK YOU</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india</dc:creator>
  <cp:lastModifiedBy>philo kanagaraj</cp:lastModifiedBy>
  <cp:revision>21</cp:revision>
  <dcterms:created xsi:type="dcterms:W3CDTF">2021-06-29T16:17:00Z</dcterms:created>
  <dcterms:modified xsi:type="dcterms:W3CDTF">2022-10-18T07:29:30Z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A3A348830E65414799F8AC06A2B81433</vt:lpwstr>
  </property>
  <property fmtid="{D5CDD505-2E9C-101B-9397-08002B2CF9AE}" pid="3" name="KSOProductBuildVer">
    <vt:lpwstr>1033-11.2.0.11341</vt:lpwstr>
  </property>
</Properties>
</file>