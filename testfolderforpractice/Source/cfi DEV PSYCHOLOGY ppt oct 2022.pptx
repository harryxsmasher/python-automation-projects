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x" ContentType="application/vnd.openxmlformats-officedocument.wordprocessingml.documen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91" r:id="rId3"/>
    <p:sldId id="306" r:id="rId4"/>
    <p:sldId id="292" r:id="rId6"/>
    <p:sldId id="257" r:id="rId7"/>
    <p:sldId id="263" r:id="rId8"/>
    <p:sldId id="287" r:id="rId9"/>
    <p:sldId id="286" r:id="rId10"/>
    <p:sldId id="285" r:id="rId11"/>
    <p:sldId id="297" r:id="rId12"/>
    <p:sldId id="269" r:id="rId13"/>
    <p:sldId id="398" r:id="rId14"/>
    <p:sldId id="348" r:id="rId15"/>
    <p:sldId id="299" r:id="rId16"/>
    <p:sldId id="300" r:id="rId17"/>
    <p:sldId id="301" r:id="rId18"/>
    <p:sldId id="303" r:id="rId19"/>
    <p:sldId id="375" r:id="rId20"/>
    <p:sldId id="389" r:id="rId21"/>
    <p:sldId id="388" r:id="rId22"/>
    <p:sldId id="278" r:id="rId23"/>
    <p:sldId id="281" r:id="rId24"/>
    <p:sldId id="333" r:id="rId25"/>
    <p:sldId id="334" r:id="rId26"/>
    <p:sldId id="335" r:id="rId27"/>
    <p:sldId id="304"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6" d="100"/>
          <a:sy n="66" d="100"/>
        </p:scale>
        <p:origin x="-732"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B0B7038-E59F-4A80-A75E-7AA9F300D739}" type="doc">
      <dgm:prSet loTypeId="urn:microsoft.com/office/officeart/2005/8/layout/StepDownProcess" loCatId="process" qsTypeId="urn:microsoft.com/office/officeart/2005/8/quickstyle/simple1" qsCatId="simple" csTypeId="urn:microsoft.com/office/officeart/2005/8/colors/accent1_2" csCatId="accent1" phldr="0"/>
      <dgm:spPr/>
      <dgm:t>
        <a:bodyPr/>
        <a:p>
          <a:endParaRPr lang="en-US"/>
        </a:p>
      </dgm:t>
    </dgm:pt>
    <dgm:pt modelId="{E9FF6F63-DE8B-49AE-AD60-255A714A296C}">
      <dgm:prSet phldrT="[Text]" phldr="0" custT="0"/>
      <dgm:spPr/>
      <dgm:t>
        <a:bodyPr vert="horz" wrap="square"/>
        <a:p>
          <a:pPr>
            <a:lnSpc>
              <a:spcPct val="100000"/>
            </a:lnSpc>
            <a:spcBef>
              <a:spcPct val="0"/>
            </a:spcBef>
            <a:spcAft>
              <a:spcPct val="35000"/>
            </a:spcAft>
          </a:pPr>
          <a:r>
            <a:rPr lang="en-US"/>
            <a:t>Tight dress showing (exposed) female body parts </a:t>
          </a:r>
          <a:r>
            <a:rPr lang="en-US"/>
            <a:t/>
          </a:r>
          <a:endParaRPr lang="en-US"/>
        </a:p>
      </dgm:t>
    </dgm:pt>
    <dgm:pt modelId="{E2F25AF7-B1AC-494B-B2C1-7761C2AD5D10}" cxnId="{D0806A38-BB50-4026-A4E1-0733571D495E}" type="parTrans">
      <dgm:prSet/>
      <dgm:spPr/>
      <dgm:t>
        <a:bodyPr/>
        <a:p>
          <a:endParaRPr lang="en-US"/>
        </a:p>
      </dgm:t>
    </dgm:pt>
    <dgm:pt modelId="{7C3A5ED0-3AE2-4C34-80A5-AFDCC3D00C7D}" cxnId="{D0806A38-BB50-4026-A4E1-0733571D495E}" type="sibTrans">
      <dgm:prSet/>
      <dgm:spPr/>
      <dgm:t>
        <a:bodyPr/>
        <a:p>
          <a:endParaRPr lang="en-US"/>
        </a:p>
      </dgm:t>
    </dgm:pt>
    <dgm:pt modelId="{9605A072-0B47-4717-B762-6E4A030618BB}">
      <dgm:prSet phldrT="[Text]" phldr="1"/>
      <dgm:spPr/>
      <dgm:t>
        <a:bodyPr/>
        <a:p>
          <a:endParaRPr lang="en-US"/>
        </a:p>
      </dgm:t>
    </dgm:pt>
    <dgm:pt modelId="{634AE88D-8820-420B-87FD-977F139B503C}" cxnId="{4EB723C1-06AC-4570-81D0-D6A0203E218E}" type="parTrans">
      <dgm:prSet/>
      <dgm:spPr/>
      <dgm:t>
        <a:bodyPr/>
        <a:p>
          <a:endParaRPr lang="en-US"/>
        </a:p>
      </dgm:t>
    </dgm:pt>
    <dgm:pt modelId="{944FE9C1-9611-4716-B91B-6E3024D1434A}" cxnId="{4EB723C1-06AC-4570-81D0-D6A0203E218E}" type="sibTrans">
      <dgm:prSet/>
      <dgm:spPr/>
      <dgm:t>
        <a:bodyPr/>
        <a:p>
          <a:endParaRPr lang="en-US"/>
        </a:p>
      </dgm:t>
    </dgm:pt>
    <dgm:pt modelId="{4D3602F6-4A56-471E-94CA-95C297AF4D0A}">
      <dgm:prSet phldrT="[Text]" phldr="0" custT="0"/>
      <dgm:spPr/>
      <dgm:t>
        <a:bodyPr vert="horz" wrap="square"/>
        <a:p>
          <a:pPr>
            <a:lnSpc>
              <a:spcPct val="100000"/>
            </a:lnSpc>
            <a:spcBef>
              <a:spcPct val="0"/>
            </a:spcBef>
            <a:spcAft>
              <a:spcPct val="35000"/>
            </a:spcAft>
          </a:pPr>
          <a:r>
            <a:rPr lang="en-US"/>
            <a:t>Lustful eyes</a:t>
          </a:r>
          <a:endParaRPr lang="en-US"/>
        </a:p>
        <a:p>
          <a:pPr>
            <a:lnSpc>
              <a:spcPct val="100000"/>
            </a:lnSpc>
            <a:spcBef>
              <a:spcPct val="0"/>
            </a:spcBef>
            <a:spcAft>
              <a:spcPct val="35000"/>
            </a:spcAft>
          </a:pPr>
          <a:r>
            <a:rPr lang="en-US"/>
            <a:t>Jealous eyes</a:t>
          </a:r>
          <a:r>
            <a:rPr lang="en-US"/>
            <a:t/>
          </a:r>
          <a:endParaRPr lang="en-US"/>
        </a:p>
      </dgm:t>
    </dgm:pt>
    <dgm:pt modelId="{511DB170-6BB5-4ADD-8085-548C5A4D75BB}" cxnId="{F297D697-FC19-426D-9D15-02BFC9F00289}" type="parTrans">
      <dgm:prSet/>
      <dgm:spPr/>
      <dgm:t>
        <a:bodyPr/>
        <a:p>
          <a:endParaRPr lang="en-US"/>
        </a:p>
      </dgm:t>
    </dgm:pt>
    <dgm:pt modelId="{44F1BF6E-18A0-4182-BD68-FA72641FED89}" cxnId="{F297D697-FC19-426D-9D15-02BFC9F00289}" type="sibTrans">
      <dgm:prSet/>
      <dgm:spPr/>
      <dgm:t>
        <a:bodyPr/>
        <a:p>
          <a:endParaRPr lang="en-US"/>
        </a:p>
      </dgm:t>
    </dgm:pt>
    <dgm:pt modelId="{5137751A-6B92-4416-913C-FAEC6CB5829E}">
      <dgm:prSet phldrT="[Text]" phldr="1"/>
      <dgm:spPr/>
      <dgm:t>
        <a:bodyPr/>
        <a:p>
          <a:endParaRPr lang="en-US"/>
        </a:p>
      </dgm:t>
    </dgm:pt>
    <dgm:pt modelId="{059D19CA-05CD-47BD-8E16-408EC613C9A8}" cxnId="{EEC9B1AD-D10B-4CA1-BBA1-71BEABEC3538}" type="parTrans">
      <dgm:prSet/>
      <dgm:spPr/>
      <dgm:t>
        <a:bodyPr/>
        <a:p>
          <a:endParaRPr lang="en-US"/>
        </a:p>
      </dgm:t>
    </dgm:pt>
    <dgm:pt modelId="{3D0CFC71-DD02-4AEE-931E-800CBFD442DE}" cxnId="{EEC9B1AD-D10B-4CA1-BBA1-71BEABEC3538}" type="sibTrans">
      <dgm:prSet/>
      <dgm:spPr/>
      <dgm:t>
        <a:bodyPr/>
        <a:p>
          <a:endParaRPr lang="en-US"/>
        </a:p>
      </dgm:t>
    </dgm:pt>
    <dgm:pt modelId="{C77B2DE7-72B5-4696-8020-E9D212156430}">
      <dgm:prSet phldrT="[Text]" phldr="0" custT="0"/>
      <dgm:spPr/>
      <dgm:t>
        <a:bodyPr vert="horz" wrap="square"/>
        <a:p>
          <a:pPr>
            <a:lnSpc>
              <a:spcPct val="100000"/>
            </a:lnSpc>
            <a:spcBef>
              <a:spcPct val="0"/>
            </a:spcBef>
            <a:spcAft>
              <a:spcPct val="35000"/>
            </a:spcAft>
          </a:pPr>
          <a:r>
            <a:rPr lang="en-US"/>
            <a:t>Desire rises in Males (control ?)Roving eyes ‘looking for whom he may devour’</a:t>
          </a:r>
          <a:r>
            <a:rPr lang="en-US"/>
            <a:t/>
          </a:r>
          <a:endParaRPr lang="en-US"/>
        </a:p>
      </dgm:t>
    </dgm:pt>
    <dgm:pt modelId="{CFDAE099-E9CA-400D-9E0B-5FF2A223D856}" cxnId="{52FEC163-7641-438C-9AD5-8F8D2C2D4426}" type="parTrans">
      <dgm:prSet/>
      <dgm:spPr/>
      <dgm:t>
        <a:bodyPr/>
        <a:p>
          <a:endParaRPr lang="en-US"/>
        </a:p>
      </dgm:t>
    </dgm:pt>
    <dgm:pt modelId="{00E0D5AB-294E-4D02-9E82-5E730EC20037}" cxnId="{52FEC163-7641-438C-9AD5-8F8D2C2D4426}" type="sibTrans">
      <dgm:prSet/>
      <dgm:spPr/>
      <dgm:t>
        <a:bodyPr/>
        <a:p>
          <a:endParaRPr lang="en-US"/>
        </a:p>
      </dgm:t>
    </dgm:pt>
    <dgm:pt modelId="{2C6AD28F-A1D9-42FD-8523-B2CDE1C853BE}">
      <dgm:prSet phldrT="[Text]" phldr="1"/>
      <dgm:spPr/>
      <dgm:t>
        <a:bodyPr/>
        <a:p>
          <a:endParaRPr lang="en-US"/>
        </a:p>
      </dgm:t>
    </dgm:pt>
    <dgm:pt modelId="{C2130940-6177-476C-8D94-9A73013EDAE3}" cxnId="{8D7EDB4E-DB4E-45D1-A7F4-EABEBE682B39}" type="parTrans">
      <dgm:prSet/>
      <dgm:spPr/>
      <dgm:t>
        <a:bodyPr/>
        <a:p>
          <a:endParaRPr lang="en-US"/>
        </a:p>
      </dgm:t>
    </dgm:pt>
    <dgm:pt modelId="{03815DB2-473C-47DE-A096-BBAC8434EAE7}" cxnId="{8D7EDB4E-DB4E-45D1-A7F4-EABEBE682B39}" type="sibTrans">
      <dgm:prSet/>
      <dgm:spPr/>
      <dgm:t>
        <a:bodyPr/>
        <a:p>
          <a:endParaRPr lang="en-US"/>
        </a:p>
      </dgm:t>
    </dgm:pt>
    <dgm:pt modelId="{59C683E6-5576-4EC3-80E6-BF43908B1ADF}">
      <dgm:prSet phldr="0" custT="0"/>
      <dgm:spPr/>
      <dgm:t>
        <a:bodyPr vert="horz" wrap="square"/>
        <a:p>
          <a:pPr>
            <a:lnSpc>
              <a:spcPct val="100000"/>
            </a:lnSpc>
            <a:spcBef>
              <a:spcPct val="0"/>
            </a:spcBef>
            <a:spcAft>
              <a:spcPct val="35000"/>
            </a:spcAft>
          </a:pPr>
          <a:r>
            <a:rPr lang="en-US"/>
            <a:t>Lonely roads  ;  Unaccompanied Females .... </a:t>
          </a:r>
          <a:r>
            <a:rPr lang="en-US"/>
            <a:t/>
          </a:r>
          <a:endParaRPr lang="en-US"/>
        </a:p>
      </dgm:t>
    </dgm:pt>
    <dgm:pt modelId="{44320CC5-7B23-445F-92A0-14371EDF6F99}" cxnId="{79750854-802F-4A9C-9CB3-3BC8A3733D91}" type="parTrans">
      <dgm:prSet/>
      <dgm:spPr/>
    </dgm:pt>
    <dgm:pt modelId="{A1C4580D-77FD-41C4-B103-0A623ABC5451}" cxnId="{79750854-802F-4A9C-9CB3-3BC8A3733D91}" type="sibTrans">
      <dgm:prSet/>
      <dgm:spPr/>
    </dgm:pt>
    <dgm:pt modelId="{541EE2D4-513E-4C6D-B4DA-CE2D842FFD5E}">
      <dgm:prSet phldr="0" custT="0"/>
      <dgm:spPr/>
      <dgm:t>
        <a:bodyPr vert="horz" wrap="square"/>
        <a:p>
          <a:pPr>
            <a:lnSpc>
              <a:spcPct val="100000"/>
            </a:lnSpc>
            <a:spcBef>
              <a:spcPct val="0"/>
            </a:spcBef>
            <a:spcAft>
              <a:spcPct val="35000"/>
            </a:spcAft>
          </a:pPr>
          <a:r>
            <a:rPr lang="en-US"/>
            <a:t>RAPE   !</a:t>
          </a:r>
          <a:endParaRPr lang="en-US"/>
        </a:p>
        <a:p>
          <a:pPr>
            <a:lnSpc>
              <a:spcPct val="100000"/>
            </a:lnSpc>
            <a:spcBef>
              <a:spcPct val="0"/>
            </a:spcBef>
            <a:spcAft>
              <a:spcPct val="35000"/>
            </a:spcAft>
          </a:pPr>
          <a:r>
            <a:rPr lang="en-US"/>
            <a:t> LIFE RUINED </a:t>
          </a:r>
          <a:endParaRPr lang="en-US"/>
        </a:p>
        <a:p>
          <a:pPr>
            <a:lnSpc>
              <a:spcPct val="100000"/>
            </a:lnSpc>
            <a:spcBef>
              <a:spcPct val="0"/>
            </a:spcBef>
            <a:spcAft>
              <a:spcPct val="35000"/>
            </a:spcAft>
          </a:pPr>
          <a:r>
            <a:rPr lang="en-US"/>
            <a:t/>
          </a:r>
          <a:endParaRPr lang="en-US"/>
        </a:p>
      </dgm:t>
    </dgm:pt>
    <dgm:pt modelId="{F36AF35C-4D3F-4111-8AE7-5F58247680FD}" cxnId="{D7E1C0D1-744D-4DA9-B7C7-09B4ABC79938}" type="parTrans">
      <dgm:prSet/>
      <dgm:spPr/>
    </dgm:pt>
    <dgm:pt modelId="{AC2B4927-D6FA-4639-8D4B-230C3C9B8710}" cxnId="{D7E1C0D1-744D-4DA9-B7C7-09B4ABC79938}" type="sibTrans">
      <dgm:prSet/>
      <dgm:spPr/>
    </dgm:pt>
    <dgm:pt modelId="{9594E16A-3AD9-46A2-A45E-401896A7F5C9}">
      <dgm:prSet phldr="0" custT="0"/>
      <dgm:spPr/>
      <dgm:t>
        <a:bodyPr vert="horz" wrap="square"/>
        <a:p>
          <a:pPr>
            <a:lnSpc>
              <a:spcPct val="100000"/>
            </a:lnSpc>
            <a:spcBef>
              <a:spcPct val="0"/>
            </a:spcBef>
            <a:spcAft>
              <a:spcPct val="35000"/>
            </a:spcAft>
          </a:pPr>
          <a:r>
            <a:rPr lang="en-US"/>
            <a:t>SE</a:t>
          </a:r>
          <a:r>
            <a:rPr lang="en-US"/>
            <a:t>LF ESTEEM;</a:t>
          </a:r>
          <a:endParaRPr lang="en-US"/>
        </a:p>
        <a:p>
          <a:pPr>
            <a:lnSpc>
              <a:spcPct val="100000"/>
            </a:lnSpc>
            <a:spcBef>
              <a:spcPct val="0"/>
            </a:spcBef>
            <a:spcAft>
              <a:spcPct val="35000"/>
            </a:spcAft>
          </a:pPr>
          <a:r>
            <a:rPr lang="en-US"/>
            <a:t>SPIRITUAL DEATH;</a:t>
          </a:r>
          <a:endParaRPr lang="en-US"/>
        </a:p>
        <a:p>
          <a:pPr>
            <a:lnSpc>
              <a:spcPct val="100000"/>
            </a:lnSpc>
            <a:spcBef>
              <a:spcPct val="0"/>
            </a:spcBef>
            <a:spcAft>
              <a:spcPct val="35000"/>
            </a:spcAft>
          </a:pPr>
          <a:r>
            <a:rPr lang="en-US"/>
            <a:t>SUICIDE  !</a:t>
          </a:r>
          <a:r>
            <a:rPr lang="en-US"/>
            <a:t/>
          </a:r>
          <a:endParaRPr lang="en-US"/>
        </a:p>
      </dgm:t>
    </dgm:pt>
    <dgm:pt modelId="{5AD95834-21E3-48E5-AE34-EDC20BDA4083}" cxnId="{C6F39F0F-2B1C-436C-B5B6-97BEB556692D}" type="parTrans">
      <dgm:prSet/>
      <dgm:spPr/>
    </dgm:pt>
    <dgm:pt modelId="{D360AD47-077B-48E7-AA40-08F0BE22BC53}" cxnId="{C6F39F0F-2B1C-436C-B5B6-97BEB556692D}" type="sibTrans">
      <dgm:prSet/>
      <dgm:spPr/>
    </dgm:pt>
    <dgm:pt modelId="{4E8D2CA5-E8F3-41AD-B35D-1FCF8CAD3487}" type="pres">
      <dgm:prSet presAssocID="{FB0B7038-E59F-4A80-A75E-7AA9F300D739}" presName="rootnode" presStyleCnt="0">
        <dgm:presLayoutVars>
          <dgm:chMax/>
          <dgm:chPref/>
          <dgm:dir/>
          <dgm:animLvl val="lvl"/>
        </dgm:presLayoutVars>
      </dgm:prSet>
      <dgm:spPr/>
    </dgm:pt>
    <dgm:pt modelId="{4885D9FF-6621-4FC5-A9DE-327AB74500CD}" type="pres">
      <dgm:prSet presAssocID="{E9FF6F63-DE8B-49AE-AD60-255A714A296C}" presName="composite" presStyleCnt="0"/>
      <dgm:spPr/>
    </dgm:pt>
    <dgm:pt modelId="{C1069558-9A0D-4777-9B5C-1F8CC5A904D0}" type="pres">
      <dgm:prSet presAssocID="{E9FF6F63-DE8B-49AE-AD60-255A714A296C}" presName="bentUpArrow1" presStyleLbl="alignImgPlace1" presStyleIdx="0" presStyleCnt="5"/>
      <dgm:spPr/>
    </dgm:pt>
    <dgm:pt modelId="{B6B3DBAD-9628-4182-98C9-C3F56A96B563}" type="pres">
      <dgm:prSet presAssocID="{E9FF6F63-DE8B-49AE-AD60-255A714A296C}" presName="ParentText" presStyleLbl="node1" presStyleIdx="0" presStyleCnt="6">
        <dgm:presLayoutVars>
          <dgm:chMax val="1"/>
          <dgm:chPref val="1"/>
          <dgm:bulletEnabled val="1"/>
        </dgm:presLayoutVars>
      </dgm:prSet>
      <dgm:spPr/>
    </dgm:pt>
    <dgm:pt modelId="{CF563743-F0CD-43FF-8ED9-181590D5AEC7}" type="pres">
      <dgm:prSet presAssocID="{E9FF6F63-DE8B-49AE-AD60-255A714A296C}" presName="ChildText" presStyleLbl="revTx" presStyleIdx="0" presStyleCnt="5">
        <dgm:presLayoutVars>
          <dgm:chMax val="0"/>
          <dgm:chPref val="0"/>
          <dgm:bulletEnabled val="1"/>
        </dgm:presLayoutVars>
      </dgm:prSet>
      <dgm:spPr/>
    </dgm:pt>
    <dgm:pt modelId="{F1E93E89-BF11-425F-8AD8-57BDCD076633}" type="pres">
      <dgm:prSet presAssocID="{7C3A5ED0-3AE2-4C34-80A5-AFDCC3D00C7D}" presName="sibTrans" presStyleCnt="0"/>
      <dgm:spPr/>
    </dgm:pt>
    <dgm:pt modelId="{5D08F00E-1A1B-44FE-B733-AC1EDA64F34E}" type="pres">
      <dgm:prSet presAssocID="{4D3602F6-4A56-471E-94CA-95C297AF4D0A}" presName="composite" presStyleCnt="0"/>
      <dgm:spPr/>
    </dgm:pt>
    <dgm:pt modelId="{A3E57910-EB90-4850-9A4E-8662A513D003}" type="pres">
      <dgm:prSet presAssocID="{4D3602F6-4A56-471E-94CA-95C297AF4D0A}" presName="bentUpArrow1" presStyleLbl="alignImgPlace1" presStyleIdx="1" presStyleCnt="5"/>
      <dgm:spPr/>
    </dgm:pt>
    <dgm:pt modelId="{FAF4FC6F-67B2-4C23-BD82-FF5779C49F32}" type="pres">
      <dgm:prSet presAssocID="{4D3602F6-4A56-471E-94CA-95C297AF4D0A}" presName="ParentText" presStyleLbl="node1" presStyleIdx="1" presStyleCnt="6">
        <dgm:presLayoutVars>
          <dgm:chMax val="1"/>
          <dgm:chPref val="1"/>
          <dgm:bulletEnabled val="1"/>
        </dgm:presLayoutVars>
      </dgm:prSet>
      <dgm:spPr/>
    </dgm:pt>
    <dgm:pt modelId="{8F521252-50A6-4EA9-AC51-762FFBA643C9}" type="pres">
      <dgm:prSet presAssocID="{4D3602F6-4A56-471E-94CA-95C297AF4D0A}" presName="ChildText" presStyleLbl="revTx" presStyleIdx="1" presStyleCnt="5">
        <dgm:presLayoutVars>
          <dgm:chMax val="0"/>
          <dgm:chPref val="0"/>
          <dgm:bulletEnabled val="1"/>
        </dgm:presLayoutVars>
      </dgm:prSet>
      <dgm:spPr/>
    </dgm:pt>
    <dgm:pt modelId="{B2014751-3328-490B-A771-AD3E49DD01DB}" type="pres">
      <dgm:prSet presAssocID="{44F1BF6E-18A0-4182-BD68-FA72641FED89}" presName="sibTrans" presStyleCnt="0"/>
      <dgm:spPr/>
    </dgm:pt>
    <dgm:pt modelId="{694786D1-918A-4EAD-89A6-0B79C452A099}" type="pres">
      <dgm:prSet presAssocID="{C77B2DE7-72B5-4696-8020-E9D212156430}" presName="composite" presStyleCnt="0"/>
      <dgm:spPr/>
    </dgm:pt>
    <dgm:pt modelId="{832986D8-389C-4398-9CA7-358BB99574FB}" type="pres">
      <dgm:prSet presAssocID="{C77B2DE7-72B5-4696-8020-E9D212156430}" presName="bentUpArrow1" presStyleLbl="alignImgPlace1" presStyleIdx="2" presStyleCnt="5"/>
      <dgm:spPr/>
    </dgm:pt>
    <dgm:pt modelId="{54F8B79A-809C-4F22-B417-84B1257C574F}" type="pres">
      <dgm:prSet presAssocID="{C77B2DE7-72B5-4696-8020-E9D212156430}" presName="ParentText" presStyleLbl="node1" presStyleIdx="2" presStyleCnt="6">
        <dgm:presLayoutVars>
          <dgm:chMax val="1"/>
          <dgm:chPref val="1"/>
          <dgm:bulletEnabled val="1"/>
        </dgm:presLayoutVars>
      </dgm:prSet>
      <dgm:spPr/>
    </dgm:pt>
    <dgm:pt modelId="{9A52C34D-33FE-4ECF-A2CA-02CD6148E15F}" type="pres">
      <dgm:prSet presAssocID="{C77B2DE7-72B5-4696-8020-E9D212156430}" presName="ChildText" presStyleLbl="revTx" presStyleIdx="2" presStyleCnt="5">
        <dgm:presLayoutVars>
          <dgm:chMax val="0"/>
          <dgm:chPref val="0"/>
          <dgm:bulletEnabled val="1"/>
        </dgm:presLayoutVars>
      </dgm:prSet>
      <dgm:spPr/>
    </dgm:pt>
    <dgm:pt modelId="{1A9A183E-C713-40A0-B064-2F76DEFDED4C}" type="pres">
      <dgm:prSet presAssocID="{00E0D5AB-294E-4D02-9E82-5E730EC20037}" presName="sibTrans" presStyleCnt="0"/>
      <dgm:spPr/>
    </dgm:pt>
    <dgm:pt modelId="{04FEBB79-D3FF-453E-AB04-FCA1B867ED60}" type="pres">
      <dgm:prSet presAssocID="{59C683E6-5576-4EC3-80E6-BF43908B1ADF}" presName="composite" presStyleCnt="0"/>
      <dgm:spPr/>
    </dgm:pt>
    <dgm:pt modelId="{C11275EC-95FA-4E83-ADD8-60B760A59F25}" type="pres">
      <dgm:prSet presAssocID="{59C683E6-5576-4EC3-80E6-BF43908B1ADF}" presName="bentUpArrow1" presStyleLbl="alignImgPlace1" presStyleIdx="3" presStyleCnt="5"/>
      <dgm:spPr/>
    </dgm:pt>
    <dgm:pt modelId="{D42E5E43-482B-4B0B-80C5-2AF6105E3E34}" type="pres">
      <dgm:prSet presAssocID="{59C683E6-5576-4EC3-80E6-BF43908B1ADF}" presName="ParentText" presStyleLbl="node1" presStyleIdx="3" presStyleCnt="6">
        <dgm:presLayoutVars>
          <dgm:chMax val="1"/>
          <dgm:chPref val="1"/>
          <dgm:bulletEnabled val="1"/>
        </dgm:presLayoutVars>
      </dgm:prSet>
      <dgm:spPr/>
    </dgm:pt>
    <dgm:pt modelId="{E0946F76-7729-4A51-A480-D378331D072A}" type="pres">
      <dgm:prSet presAssocID="{59C683E6-5576-4EC3-80E6-BF43908B1ADF}" presName="ChildText" presStyleLbl="revTx" presStyleIdx="3" presStyleCnt="5">
        <dgm:presLayoutVars>
          <dgm:chMax val="0"/>
          <dgm:chPref val="0"/>
          <dgm:bulletEnabled val="1"/>
        </dgm:presLayoutVars>
      </dgm:prSet>
      <dgm:spPr/>
    </dgm:pt>
    <dgm:pt modelId="{351EB3D7-7B94-4721-83A7-DB638A256717}" type="pres">
      <dgm:prSet presAssocID="{A1C4580D-77FD-41C4-B103-0A623ABC5451}" presName="sibTrans" presStyleCnt="0"/>
      <dgm:spPr/>
    </dgm:pt>
    <dgm:pt modelId="{3DE22FF2-9A82-4A98-8071-176A1B6D968B}" type="pres">
      <dgm:prSet presAssocID="{541EE2D4-513E-4C6D-B4DA-CE2D842FFD5E}" presName="composite" presStyleCnt="0"/>
      <dgm:spPr/>
    </dgm:pt>
    <dgm:pt modelId="{F0DD67A9-5E84-4ECA-93BE-4E69C0C7498F}" type="pres">
      <dgm:prSet presAssocID="{541EE2D4-513E-4C6D-B4DA-CE2D842FFD5E}" presName="bentUpArrow1" presStyleLbl="alignImgPlace1" presStyleIdx="4" presStyleCnt="5"/>
      <dgm:spPr/>
    </dgm:pt>
    <dgm:pt modelId="{C87753AD-6F11-4479-958F-E15A03050DDD}" type="pres">
      <dgm:prSet presAssocID="{541EE2D4-513E-4C6D-B4DA-CE2D842FFD5E}" presName="ParentText" presStyleLbl="node1" presStyleIdx="4" presStyleCnt="6">
        <dgm:presLayoutVars>
          <dgm:chMax val="1"/>
          <dgm:chPref val="1"/>
          <dgm:bulletEnabled val="1"/>
        </dgm:presLayoutVars>
      </dgm:prSet>
      <dgm:spPr/>
    </dgm:pt>
    <dgm:pt modelId="{5C4BA3D8-9D92-4C22-9090-3DA4D00FC238}" type="pres">
      <dgm:prSet presAssocID="{541EE2D4-513E-4C6D-B4DA-CE2D842FFD5E}" presName="ChildText" presStyleLbl="revTx" presStyleIdx="4" presStyleCnt="5">
        <dgm:presLayoutVars>
          <dgm:chMax val="0"/>
          <dgm:chPref val="0"/>
          <dgm:bulletEnabled val="1"/>
        </dgm:presLayoutVars>
      </dgm:prSet>
      <dgm:spPr/>
    </dgm:pt>
    <dgm:pt modelId="{BC5141EB-2681-49AA-8B55-DE8A7A27A546}" type="pres">
      <dgm:prSet presAssocID="{AC2B4927-D6FA-4639-8D4B-230C3C9B8710}" presName="sibTrans" presStyleCnt="0"/>
      <dgm:spPr/>
    </dgm:pt>
    <dgm:pt modelId="{39447208-8F29-44D4-BDEB-9A7D64EAC394}" type="pres">
      <dgm:prSet presAssocID="{9594E16A-3AD9-46A2-A45E-401896A7F5C9}" presName="composite" presStyleCnt="0"/>
      <dgm:spPr/>
    </dgm:pt>
    <dgm:pt modelId="{E04ADDFB-CB0C-4386-8338-194D5E9466A1}" type="pres">
      <dgm:prSet presAssocID="{9594E16A-3AD9-46A2-A45E-401896A7F5C9}" presName="ParentText" presStyleLbl="node1" presStyleIdx="5" presStyleCnt="6">
        <dgm:presLayoutVars>
          <dgm:chMax val="1"/>
          <dgm:chPref val="1"/>
          <dgm:bulletEnabled val="1"/>
        </dgm:presLayoutVars>
      </dgm:prSet>
      <dgm:spPr/>
    </dgm:pt>
  </dgm:ptLst>
  <dgm:cxnLst>
    <dgm:cxn modelId="{D0806A38-BB50-4026-A4E1-0733571D495E}" srcId="{FB0B7038-E59F-4A80-A75E-7AA9F300D739}" destId="{E9FF6F63-DE8B-49AE-AD60-255A714A296C}" srcOrd="0" destOrd="0" parTransId="{E2F25AF7-B1AC-494B-B2C1-7761C2AD5D10}" sibTransId="{7C3A5ED0-3AE2-4C34-80A5-AFDCC3D00C7D}"/>
    <dgm:cxn modelId="{4EB723C1-06AC-4570-81D0-D6A0203E218E}" srcId="{E9FF6F63-DE8B-49AE-AD60-255A714A296C}" destId="{9605A072-0B47-4717-B762-6E4A030618BB}" srcOrd="0" destOrd="0" parTransId="{634AE88D-8820-420B-87FD-977F139B503C}" sibTransId="{944FE9C1-9611-4716-B91B-6E3024D1434A}"/>
    <dgm:cxn modelId="{F297D697-FC19-426D-9D15-02BFC9F00289}" srcId="{FB0B7038-E59F-4A80-A75E-7AA9F300D739}" destId="{4D3602F6-4A56-471E-94CA-95C297AF4D0A}" srcOrd="1" destOrd="0" parTransId="{511DB170-6BB5-4ADD-8085-548C5A4D75BB}" sibTransId="{44F1BF6E-18A0-4182-BD68-FA72641FED89}"/>
    <dgm:cxn modelId="{EEC9B1AD-D10B-4CA1-BBA1-71BEABEC3538}" srcId="{4D3602F6-4A56-471E-94CA-95C297AF4D0A}" destId="{5137751A-6B92-4416-913C-FAEC6CB5829E}" srcOrd="0" destOrd="1" parTransId="{059D19CA-05CD-47BD-8E16-408EC613C9A8}" sibTransId="{3D0CFC71-DD02-4AEE-931E-800CBFD442DE}"/>
    <dgm:cxn modelId="{52FEC163-7641-438C-9AD5-8F8D2C2D4426}" srcId="{FB0B7038-E59F-4A80-A75E-7AA9F300D739}" destId="{C77B2DE7-72B5-4696-8020-E9D212156430}" srcOrd="2" destOrd="0" parTransId="{CFDAE099-E9CA-400D-9E0B-5FF2A223D856}" sibTransId="{00E0D5AB-294E-4D02-9E82-5E730EC20037}"/>
    <dgm:cxn modelId="{8D7EDB4E-DB4E-45D1-A7F4-EABEBE682B39}" srcId="{C77B2DE7-72B5-4696-8020-E9D212156430}" destId="{2C6AD28F-A1D9-42FD-8523-B2CDE1C853BE}" srcOrd="0" destOrd="2" parTransId="{C2130940-6177-476C-8D94-9A73013EDAE3}" sibTransId="{03815DB2-473C-47DE-A096-BBAC8434EAE7}"/>
    <dgm:cxn modelId="{79750854-802F-4A9C-9CB3-3BC8A3733D91}" srcId="{FB0B7038-E59F-4A80-A75E-7AA9F300D739}" destId="{59C683E6-5576-4EC3-80E6-BF43908B1ADF}" srcOrd="3" destOrd="0" parTransId="{44320CC5-7B23-445F-92A0-14371EDF6F99}" sibTransId="{A1C4580D-77FD-41C4-B103-0A623ABC5451}"/>
    <dgm:cxn modelId="{D7E1C0D1-744D-4DA9-B7C7-09B4ABC79938}" srcId="{FB0B7038-E59F-4A80-A75E-7AA9F300D739}" destId="{541EE2D4-513E-4C6D-B4DA-CE2D842FFD5E}" srcOrd="4" destOrd="0" parTransId="{F36AF35C-4D3F-4111-8AE7-5F58247680FD}" sibTransId="{AC2B4927-D6FA-4639-8D4B-230C3C9B8710}"/>
    <dgm:cxn modelId="{C6F39F0F-2B1C-436C-B5B6-97BEB556692D}" srcId="{FB0B7038-E59F-4A80-A75E-7AA9F300D739}" destId="{9594E16A-3AD9-46A2-A45E-401896A7F5C9}" srcOrd="5" destOrd="0" parTransId="{5AD95834-21E3-48E5-AE34-EDC20BDA4083}" sibTransId="{D360AD47-077B-48E7-AA40-08F0BE22BC53}"/>
    <dgm:cxn modelId="{5CE45B90-4648-4AB6-B0C2-49C0FE8DF545}" type="presOf" srcId="{FB0B7038-E59F-4A80-A75E-7AA9F300D739}" destId="{4E8D2CA5-E8F3-41AD-B35D-1FCF8CAD3487}" srcOrd="0" destOrd="0" presId="urn:microsoft.com/office/officeart/2005/8/layout/StepDownProcess"/>
    <dgm:cxn modelId="{6EC017D2-9771-4E36-A37C-DB7E1CECE816}" type="presParOf" srcId="{4E8D2CA5-E8F3-41AD-B35D-1FCF8CAD3487}" destId="{4885D9FF-6621-4FC5-A9DE-327AB74500CD}" srcOrd="0" destOrd="0" presId="urn:microsoft.com/office/officeart/2005/8/layout/StepDownProcess"/>
    <dgm:cxn modelId="{2AF88F46-588E-4AF1-8A68-A024F66C8532}" type="presParOf" srcId="{4885D9FF-6621-4FC5-A9DE-327AB74500CD}" destId="{C1069558-9A0D-4777-9B5C-1F8CC5A904D0}" srcOrd="0" destOrd="0" presId="urn:microsoft.com/office/officeart/2005/8/layout/StepDownProcess"/>
    <dgm:cxn modelId="{50131D81-988C-49DA-A2A7-0EF8F45994DD}" type="presParOf" srcId="{4885D9FF-6621-4FC5-A9DE-327AB74500CD}" destId="{B6B3DBAD-9628-4182-98C9-C3F56A96B563}" srcOrd="1" destOrd="0" presId="urn:microsoft.com/office/officeart/2005/8/layout/StepDownProcess"/>
    <dgm:cxn modelId="{6B1E02E1-41F5-422F-8CC5-8BD593371940}" type="presOf" srcId="{E9FF6F63-DE8B-49AE-AD60-255A714A296C}" destId="{B6B3DBAD-9628-4182-98C9-C3F56A96B563}" srcOrd="0" destOrd="0" presId="urn:microsoft.com/office/officeart/2005/8/layout/StepDownProcess"/>
    <dgm:cxn modelId="{866411B5-8041-47DC-8D09-5FCC718AAAB9}" type="presParOf" srcId="{4885D9FF-6621-4FC5-A9DE-327AB74500CD}" destId="{CF563743-F0CD-43FF-8ED9-181590D5AEC7}" srcOrd="2" destOrd="0" presId="urn:microsoft.com/office/officeart/2005/8/layout/StepDownProcess"/>
    <dgm:cxn modelId="{101769B7-2A21-4F32-8901-064241693E10}" type="presOf" srcId="{9605A072-0B47-4717-B762-6E4A030618BB}" destId="{CF563743-F0CD-43FF-8ED9-181590D5AEC7}" srcOrd="0" destOrd="0" presId="urn:microsoft.com/office/officeart/2005/8/layout/StepDownProcess"/>
    <dgm:cxn modelId="{3FF63B1B-D79E-4750-9CAF-6A5F54786826}" type="presParOf" srcId="{4E8D2CA5-E8F3-41AD-B35D-1FCF8CAD3487}" destId="{F1E93E89-BF11-425F-8AD8-57BDCD076633}" srcOrd="1" destOrd="0" presId="urn:microsoft.com/office/officeart/2005/8/layout/StepDownProcess"/>
    <dgm:cxn modelId="{875F434A-101B-46F7-B7E6-41873A779FBE}" type="presParOf" srcId="{4E8D2CA5-E8F3-41AD-B35D-1FCF8CAD3487}" destId="{5D08F00E-1A1B-44FE-B733-AC1EDA64F34E}" srcOrd="2" destOrd="0" presId="urn:microsoft.com/office/officeart/2005/8/layout/StepDownProcess"/>
    <dgm:cxn modelId="{7E0ABD35-0E24-428F-96F4-E222F0AFF3C6}" type="presParOf" srcId="{5D08F00E-1A1B-44FE-B733-AC1EDA64F34E}" destId="{A3E57910-EB90-4850-9A4E-8662A513D003}" srcOrd="0" destOrd="2" presId="urn:microsoft.com/office/officeart/2005/8/layout/StepDownProcess"/>
    <dgm:cxn modelId="{1F16DE14-059D-4F73-84EF-359BCF9DA87D}" type="presParOf" srcId="{5D08F00E-1A1B-44FE-B733-AC1EDA64F34E}" destId="{FAF4FC6F-67B2-4C23-BD82-FF5779C49F32}" srcOrd="1" destOrd="2" presId="urn:microsoft.com/office/officeart/2005/8/layout/StepDownProcess"/>
    <dgm:cxn modelId="{657B8DBD-CD78-43B2-8632-EFCBD57A7264}" type="presOf" srcId="{4D3602F6-4A56-471E-94CA-95C297AF4D0A}" destId="{FAF4FC6F-67B2-4C23-BD82-FF5779C49F32}" srcOrd="0" destOrd="0" presId="urn:microsoft.com/office/officeart/2005/8/layout/StepDownProcess"/>
    <dgm:cxn modelId="{EA6242FD-C0DF-402E-B5AB-218C2E388EAC}" type="presParOf" srcId="{5D08F00E-1A1B-44FE-B733-AC1EDA64F34E}" destId="{8F521252-50A6-4EA9-AC51-762FFBA643C9}" srcOrd="2" destOrd="2" presId="urn:microsoft.com/office/officeart/2005/8/layout/StepDownProcess"/>
    <dgm:cxn modelId="{B203F929-A1A1-4E70-951E-C0C9ACBEA9C2}" type="presOf" srcId="{5137751A-6B92-4416-913C-FAEC6CB5829E}" destId="{8F521252-50A6-4EA9-AC51-762FFBA643C9}" srcOrd="0" destOrd="0" presId="urn:microsoft.com/office/officeart/2005/8/layout/StepDownProcess"/>
    <dgm:cxn modelId="{311909F0-4DC2-4440-AA8B-39347545F41F}" type="presParOf" srcId="{4E8D2CA5-E8F3-41AD-B35D-1FCF8CAD3487}" destId="{B2014751-3328-490B-A771-AD3E49DD01DB}" srcOrd="3" destOrd="0" presId="urn:microsoft.com/office/officeart/2005/8/layout/StepDownProcess"/>
    <dgm:cxn modelId="{C3B1F1B1-2B04-4295-A825-239EFC0FF5D9}" type="presParOf" srcId="{4E8D2CA5-E8F3-41AD-B35D-1FCF8CAD3487}" destId="{694786D1-918A-4EAD-89A6-0B79C452A099}" srcOrd="4" destOrd="0" presId="urn:microsoft.com/office/officeart/2005/8/layout/StepDownProcess"/>
    <dgm:cxn modelId="{6B09E996-686D-41EC-9886-60FC750C013A}" type="presParOf" srcId="{694786D1-918A-4EAD-89A6-0B79C452A099}" destId="{832986D8-389C-4398-9CA7-358BB99574FB}" srcOrd="0" destOrd="4" presId="urn:microsoft.com/office/officeart/2005/8/layout/StepDownProcess"/>
    <dgm:cxn modelId="{119D7C81-D613-4E9B-A824-5155DC770BA8}" type="presParOf" srcId="{694786D1-918A-4EAD-89A6-0B79C452A099}" destId="{54F8B79A-809C-4F22-B417-84B1257C574F}" srcOrd="1" destOrd="4" presId="urn:microsoft.com/office/officeart/2005/8/layout/StepDownProcess"/>
    <dgm:cxn modelId="{4C674240-FCC2-42A5-A5E5-7E0571F2250F}" type="presOf" srcId="{C77B2DE7-72B5-4696-8020-E9D212156430}" destId="{54F8B79A-809C-4F22-B417-84B1257C574F}" srcOrd="0" destOrd="0" presId="urn:microsoft.com/office/officeart/2005/8/layout/StepDownProcess"/>
    <dgm:cxn modelId="{3715CA31-CAF4-412C-9D07-1B33F2BD49FF}" type="presParOf" srcId="{694786D1-918A-4EAD-89A6-0B79C452A099}" destId="{9A52C34D-33FE-4ECF-A2CA-02CD6148E15F}" srcOrd="2" destOrd="4" presId="urn:microsoft.com/office/officeart/2005/8/layout/StepDownProcess"/>
    <dgm:cxn modelId="{5B247FA5-E64A-4430-B344-8453ADF89B91}" type="presOf" srcId="{2C6AD28F-A1D9-42FD-8523-B2CDE1C853BE}" destId="{9A52C34D-33FE-4ECF-A2CA-02CD6148E15F}" srcOrd="0" destOrd="0" presId="urn:microsoft.com/office/officeart/2005/8/layout/StepDownProcess"/>
    <dgm:cxn modelId="{522035D7-45A5-41CA-A218-F1C452C5BACC}" type="presParOf" srcId="{4E8D2CA5-E8F3-41AD-B35D-1FCF8CAD3487}" destId="{1A9A183E-C713-40A0-B064-2F76DEFDED4C}" srcOrd="5" destOrd="0" presId="urn:microsoft.com/office/officeart/2005/8/layout/StepDownProcess"/>
    <dgm:cxn modelId="{572A20E8-5F18-445F-9808-7DE746C3EDFB}" type="presParOf" srcId="{4E8D2CA5-E8F3-41AD-B35D-1FCF8CAD3487}" destId="{04FEBB79-D3FF-453E-AB04-FCA1B867ED60}" srcOrd="6" destOrd="0" presId="urn:microsoft.com/office/officeart/2005/8/layout/StepDownProcess"/>
    <dgm:cxn modelId="{DEF07C63-6BA2-42A0-9E5A-DA7014B2D7CA}" type="presParOf" srcId="{04FEBB79-D3FF-453E-AB04-FCA1B867ED60}" destId="{C11275EC-95FA-4E83-ADD8-60B760A59F25}" srcOrd="0" destOrd="6" presId="urn:microsoft.com/office/officeart/2005/8/layout/StepDownProcess"/>
    <dgm:cxn modelId="{81DD7B92-582E-4D4E-B70D-7BBB06F44F8A}" type="presParOf" srcId="{04FEBB79-D3FF-453E-AB04-FCA1B867ED60}" destId="{D42E5E43-482B-4B0B-80C5-2AF6105E3E34}" srcOrd="1" destOrd="6" presId="urn:microsoft.com/office/officeart/2005/8/layout/StepDownProcess"/>
    <dgm:cxn modelId="{469BEDF0-5463-4711-97B3-F56B9CF4093E}" type="presOf" srcId="{59C683E6-5576-4EC3-80E6-BF43908B1ADF}" destId="{D42E5E43-482B-4B0B-80C5-2AF6105E3E34}" srcOrd="0" destOrd="0" presId="urn:microsoft.com/office/officeart/2005/8/layout/StepDownProcess"/>
    <dgm:cxn modelId="{EA7A64F2-0520-48D9-958C-F25C102204EF}" type="presParOf" srcId="{04FEBB79-D3FF-453E-AB04-FCA1B867ED60}" destId="{E0946F76-7729-4A51-A480-D378331D072A}" srcOrd="2" destOrd="6" presId="urn:microsoft.com/office/officeart/2005/8/layout/StepDownProcess"/>
    <dgm:cxn modelId="{6EBA627F-47AE-47FE-BAF2-C1474574BB25}" type="presParOf" srcId="{4E8D2CA5-E8F3-41AD-B35D-1FCF8CAD3487}" destId="{351EB3D7-7B94-4721-83A7-DB638A256717}" srcOrd="7" destOrd="0" presId="urn:microsoft.com/office/officeart/2005/8/layout/StepDownProcess"/>
    <dgm:cxn modelId="{57970A8E-F1A6-4C07-81DC-07270DF03550}" type="presParOf" srcId="{4E8D2CA5-E8F3-41AD-B35D-1FCF8CAD3487}" destId="{3DE22FF2-9A82-4A98-8071-176A1B6D968B}" srcOrd="8" destOrd="0" presId="urn:microsoft.com/office/officeart/2005/8/layout/StepDownProcess"/>
    <dgm:cxn modelId="{697DFF5F-C5A6-4449-94C9-67E69BDEF5AF}" type="presParOf" srcId="{3DE22FF2-9A82-4A98-8071-176A1B6D968B}" destId="{F0DD67A9-5E84-4ECA-93BE-4E69C0C7498F}" srcOrd="0" destOrd="8" presId="urn:microsoft.com/office/officeart/2005/8/layout/StepDownProcess"/>
    <dgm:cxn modelId="{91EDBF53-6842-4ABB-91B0-2C6CC2665C91}" type="presParOf" srcId="{3DE22FF2-9A82-4A98-8071-176A1B6D968B}" destId="{C87753AD-6F11-4479-958F-E15A03050DDD}" srcOrd="1" destOrd="8" presId="urn:microsoft.com/office/officeart/2005/8/layout/StepDownProcess"/>
    <dgm:cxn modelId="{53492BB6-4F72-453A-B606-38369B5AFF7A}" type="presOf" srcId="{541EE2D4-513E-4C6D-B4DA-CE2D842FFD5E}" destId="{C87753AD-6F11-4479-958F-E15A03050DDD}" srcOrd="0" destOrd="0" presId="urn:microsoft.com/office/officeart/2005/8/layout/StepDownProcess"/>
    <dgm:cxn modelId="{78F7512F-C4A7-45E3-B49B-21689CA26CAC}" type="presParOf" srcId="{3DE22FF2-9A82-4A98-8071-176A1B6D968B}" destId="{5C4BA3D8-9D92-4C22-9090-3DA4D00FC238}" srcOrd="2" destOrd="8" presId="urn:microsoft.com/office/officeart/2005/8/layout/StepDownProcess"/>
    <dgm:cxn modelId="{15AB1B85-C067-4D42-AEF7-95B3A7CD7BAF}" type="presParOf" srcId="{4E8D2CA5-E8F3-41AD-B35D-1FCF8CAD3487}" destId="{BC5141EB-2681-49AA-8B55-DE8A7A27A546}" srcOrd="9" destOrd="0" presId="urn:microsoft.com/office/officeart/2005/8/layout/StepDownProcess"/>
    <dgm:cxn modelId="{9581DE91-51F6-444E-959A-BAED937CC4F6}" type="presParOf" srcId="{4E8D2CA5-E8F3-41AD-B35D-1FCF8CAD3487}" destId="{39447208-8F29-44D4-BDEB-9A7D64EAC394}" srcOrd="10" destOrd="0" presId="urn:microsoft.com/office/officeart/2005/8/layout/StepDownProcess"/>
    <dgm:cxn modelId="{06F69FA3-E16A-4EB3-B00C-C293AE265C1B}" type="presParOf" srcId="{39447208-8F29-44D4-BDEB-9A7D64EAC394}" destId="{E04ADDFB-CB0C-4386-8338-194D5E9466A1}" srcOrd="0" destOrd="10" presId="urn:microsoft.com/office/officeart/2005/8/layout/StepDownProcess"/>
    <dgm:cxn modelId="{04A32DF5-6890-483F-A16E-D23EA1445CB9}" type="presOf" srcId="{9594E16A-3AD9-46A2-A45E-401896A7F5C9}" destId="{E04ADDFB-CB0C-4386-8338-194D5E9466A1}" srcOrd="0" destOrd="0" presId="urn:microsoft.com/office/officeart/2005/8/layout/StepDown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648700" cy="6410325"/>
        <a:chOff x="0" y="0"/>
        <a:chExt cx="8648700" cy="6410325"/>
      </a:xfrm>
    </dsp:grpSpPr>
    <dsp:sp modelId="{C1069558-9A0D-4777-9B5C-1F8CC5A904D0}">
      <dsp:nvSpPr>
        <dsp:cNvPr id="3" name="Bent-Up Arrow 2"/>
        <dsp:cNvSpPr/>
      </dsp:nvSpPr>
      <dsp:spPr bwMode="white">
        <a:xfrm rot="5400000">
          <a:off x="1239381" y="882532"/>
          <a:ext cx="748932" cy="852633"/>
        </a:xfrm>
        <a:prstGeom prst="bentUpArrow">
          <a:avLst>
            <a:gd name="adj1" fmla="val 32840"/>
            <a:gd name="adj2" fmla="val 25000"/>
            <a:gd name="adj3" fmla="val 35780"/>
          </a:avLst>
        </a:prstGeom>
      </dsp:spPr>
      <dsp:style>
        <a:lnRef idx="2">
          <a:schemeClr val="lt1"/>
        </a:lnRef>
        <a:fillRef idx="1">
          <a:schemeClr val="accent1">
            <a:tint val="50000"/>
          </a:schemeClr>
        </a:fillRef>
        <a:effectRef idx="0">
          <a:scrgbClr r="0" g="0" b="0"/>
        </a:effectRef>
        <a:fontRef idx="minor"/>
      </dsp:style>
      <dsp:txXfrm rot="5400000">
        <a:off x="1239381" y="882532"/>
        <a:ext cx="748932" cy="852633"/>
      </dsp:txXfrm>
    </dsp:sp>
    <dsp:sp modelId="{B6B3DBAD-9628-4182-98C9-C3F56A96B563}">
      <dsp:nvSpPr>
        <dsp:cNvPr id="4" name="Rounded Rectangle 3"/>
        <dsp:cNvSpPr/>
      </dsp:nvSpPr>
      <dsp:spPr bwMode="white">
        <a:xfrm>
          <a:off x="1032264" y="0"/>
          <a:ext cx="1260761" cy="882492"/>
        </a:xfrm>
        <a:prstGeom prst="roundRect">
          <a:avLst>
            <a:gd name="adj" fmla="val 16670"/>
          </a:avLst>
        </a:prstGeom>
      </dsp:spPr>
      <dsp:style>
        <a:lnRef idx="2">
          <a:schemeClr val="lt1"/>
        </a:lnRef>
        <a:fillRef idx="1">
          <a:schemeClr val="accent1"/>
        </a:fillRef>
        <a:effectRef idx="0">
          <a:scrgbClr r="0" g="0" b="0"/>
        </a:effectRef>
        <a:fontRef idx="minor">
          <a:schemeClr val="lt1"/>
        </a:fontRef>
      </dsp:style>
      <dsp:txBody>
        <a:bodyPr vert="horz" wrap="square" lIns="34290" tIns="34290" rIns="34290" bIns="34290" anchor="ctr"/>
        <a:lstStyle>
          <a:lvl1pPr algn="ctr">
            <a:defRPr sz="900"/>
          </a:lvl1pPr>
          <a:lvl2pPr marL="57150" indent="-57150" algn="ctr">
            <a:defRPr sz="700"/>
          </a:lvl2pPr>
          <a:lvl3pPr marL="114300" indent="-57150" algn="ctr">
            <a:defRPr sz="700"/>
          </a:lvl3pPr>
          <a:lvl4pPr marL="171450" indent="-57150" algn="ctr">
            <a:defRPr sz="700"/>
          </a:lvl4pPr>
          <a:lvl5pPr marL="228600" indent="-57150" algn="ctr">
            <a:defRPr sz="700"/>
          </a:lvl5pPr>
          <a:lvl6pPr marL="285750" indent="-57150" algn="ctr">
            <a:defRPr sz="700"/>
          </a:lvl6pPr>
          <a:lvl7pPr marL="342900" indent="-57150" algn="ctr">
            <a:defRPr sz="700"/>
          </a:lvl7pPr>
          <a:lvl8pPr marL="400050" indent="-57150" algn="ctr">
            <a:defRPr sz="700"/>
          </a:lvl8pPr>
          <a:lvl9pPr marL="457200" indent="-57150" algn="ctr">
            <a:defRPr sz="700"/>
          </a:lvl9pPr>
        </a:lstStyle>
        <a:p>
          <a:pPr lvl="0">
            <a:lnSpc>
              <a:spcPct val="100000"/>
            </a:lnSpc>
            <a:spcBef>
              <a:spcPct val="0"/>
            </a:spcBef>
            <a:spcAft>
              <a:spcPct val="35000"/>
            </a:spcAft>
          </a:pPr>
          <a:r>
            <a:rPr lang="en-US"/>
            <a:t>Tight dress showing (exposed) female body parts </a:t>
          </a:r>
          <a:endParaRPr lang="en-US"/>
        </a:p>
      </dsp:txBody>
      <dsp:txXfrm>
        <a:off x="1032264" y="0"/>
        <a:ext cx="1260761" cy="882492"/>
      </dsp:txXfrm>
    </dsp:sp>
    <dsp:sp modelId="{CF563743-F0CD-43FF-8ED9-181590D5AEC7}">
      <dsp:nvSpPr>
        <dsp:cNvPr id="5" name="Rectangles 4"/>
        <dsp:cNvSpPr/>
      </dsp:nvSpPr>
      <dsp:spPr bwMode="white">
        <a:xfrm>
          <a:off x="2293025" y="89159"/>
          <a:ext cx="916957" cy="71326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4290" tIns="34290" rIns="34290" bIns="34290" anchor="ctr"/>
        <a:lstStyle>
          <a:lvl1pPr algn="l">
            <a:defRPr sz="9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a:lnSpc>
              <a:spcPct val="100000"/>
            </a:lnSpc>
            <a:spcBef>
              <a:spcPct val="0"/>
            </a:spcBef>
            <a:spcAft>
              <a:spcPct val="15000"/>
            </a:spcAft>
            <a:buChar char="•"/>
          </a:pPr>
          <a:endParaRPr lang="en-US">
            <a:solidFill>
              <a:schemeClr val="tx1"/>
            </a:solidFill>
          </a:endParaRPr>
        </a:p>
      </dsp:txBody>
      <dsp:txXfrm>
        <a:off x="2293025" y="89159"/>
        <a:ext cx="916957" cy="713269"/>
      </dsp:txXfrm>
    </dsp:sp>
    <dsp:sp modelId="{A3E57910-EB90-4850-9A4E-8662A513D003}">
      <dsp:nvSpPr>
        <dsp:cNvPr id="6" name="Bent-Up Arrow 5"/>
        <dsp:cNvSpPr/>
      </dsp:nvSpPr>
      <dsp:spPr bwMode="white">
        <a:xfrm rot="5400000">
          <a:off x="2304063" y="1988098"/>
          <a:ext cx="748932" cy="852633"/>
        </a:xfrm>
        <a:prstGeom prst="bentUpArrow">
          <a:avLst>
            <a:gd name="adj1" fmla="val 32840"/>
            <a:gd name="adj2" fmla="val 25000"/>
            <a:gd name="adj3" fmla="val 35780"/>
          </a:avLst>
        </a:prstGeom>
      </dsp:spPr>
      <dsp:style>
        <a:lnRef idx="2">
          <a:schemeClr val="lt1"/>
        </a:lnRef>
        <a:fillRef idx="1">
          <a:schemeClr val="accent1">
            <a:tint val="50000"/>
          </a:schemeClr>
        </a:fillRef>
        <a:effectRef idx="0">
          <a:scrgbClr r="0" g="0" b="0"/>
        </a:effectRef>
        <a:fontRef idx="minor"/>
      </dsp:style>
      <dsp:txXfrm rot="5400000">
        <a:off x="2304063" y="1988098"/>
        <a:ext cx="748932" cy="852633"/>
      </dsp:txXfrm>
    </dsp:sp>
    <dsp:sp modelId="{FAF4FC6F-67B2-4C23-BD82-FF5779C49F32}">
      <dsp:nvSpPr>
        <dsp:cNvPr id="7" name="Rounded Rectangle 6"/>
        <dsp:cNvSpPr/>
      </dsp:nvSpPr>
      <dsp:spPr bwMode="white">
        <a:xfrm>
          <a:off x="2096946" y="1105567"/>
          <a:ext cx="1260761" cy="882492"/>
        </a:xfrm>
        <a:prstGeom prst="roundRect">
          <a:avLst>
            <a:gd name="adj" fmla="val 16670"/>
          </a:avLst>
        </a:prstGeom>
      </dsp:spPr>
      <dsp:style>
        <a:lnRef idx="2">
          <a:schemeClr val="lt1"/>
        </a:lnRef>
        <a:fillRef idx="1">
          <a:schemeClr val="accent1"/>
        </a:fillRef>
        <a:effectRef idx="0">
          <a:scrgbClr r="0" g="0" b="0"/>
        </a:effectRef>
        <a:fontRef idx="minor">
          <a:schemeClr val="lt1"/>
        </a:fontRef>
      </dsp:style>
      <dsp:txBody>
        <a:bodyPr vert="horz" wrap="square" lIns="34290" tIns="34290" rIns="34290" bIns="34290" anchor="ctr"/>
        <a:lstStyle>
          <a:lvl1pPr algn="ctr">
            <a:defRPr sz="900"/>
          </a:lvl1pPr>
          <a:lvl2pPr marL="57150" indent="-57150" algn="ctr">
            <a:defRPr sz="700"/>
          </a:lvl2pPr>
          <a:lvl3pPr marL="114300" indent="-57150" algn="ctr">
            <a:defRPr sz="700"/>
          </a:lvl3pPr>
          <a:lvl4pPr marL="171450" indent="-57150" algn="ctr">
            <a:defRPr sz="700"/>
          </a:lvl4pPr>
          <a:lvl5pPr marL="228600" indent="-57150" algn="ctr">
            <a:defRPr sz="700"/>
          </a:lvl5pPr>
          <a:lvl6pPr marL="285750" indent="-57150" algn="ctr">
            <a:defRPr sz="700"/>
          </a:lvl6pPr>
          <a:lvl7pPr marL="342900" indent="-57150" algn="ctr">
            <a:defRPr sz="700"/>
          </a:lvl7pPr>
          <a:lvl8pPr marL="400050" indent="-57150" algn="ctr">
            <a:defRPr sz="700"/>
          </a:lvl8pPr>
          <a:lvl9pPr marL="457200" indent="-57150" algn="ctr">
            <a:defRPr sz="700"/>
          </a:lvl9pPr>
        </a:lstStyle>
        <a:p>
          <a:pPr lvl="0">
            <a:lnSpc>
              <a:spcPct val="100000"/>
            </a:lnSpc>
            <a:spcBef>
              <a:spcPct val="0"/>
            </a:spcBef>
            <a:spcAft>
              <a:spcPct val="35000"/>
            </a:spcAft>
          </a:pPr>
          <a:r>
            <a:rPr lang="en-US"/>
            <a:t>Lustful eyes</a:t>
          </a:r>
          <a:endParaRPr lang="en-US"/>
        </a:p>
        <a:p>
          <a:pPr lvl="0">
            <a:lnSpc>
              <a:spcPct val="100000"/>
            </a:lnSpc>
            <a:spcBef>
              <a:spcPct val="0"/>
            </a:spcBef>
            <a:spcAft>
              <a:spcPct val="35000"/>
            </a:spcAft>
          </a:pPr>
          <a:r>
            <a:rPr lang="en-US"/>
            <a:t>Jealous eyes</a:t>
          </a:r>
          <a:endParaRPr lang="en-US"/>
        </a:p>
      </dsp:txBody>
      <dsp:txXfrm>
        <a:off x="2096946" y="1105567"/>
        <a:ext cx="1260761" cy="882492"/>
      </dsp:txXfrm>
    </dsp:sp>
    <dsp:sp modelId="{8F521252-50A6-4EA9-AC51-762FFBA643C9}">
      <dsp:nvSpPr>
        <dsp:cNvPr id="8" name="Rectangles 7"/>
        <dsp:cNvSpPr/>
      </dsp:nvSpPr>
      <dsp:spPr bwMode="white">
        <a:xfrm>
          <a:off x="3357707" y="1194725"/>
          <a:ext cx="916957" cy="71326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4290" tIns="34290" rIns="34290" bIns="34290" anchor="ctr"/>
        <a:lstStyle>
          <a:lvl1pPr algn="l">
            <a:defRPr sz="9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a:lnSpc>
              <a:spcPct val="100000"/>
            </a:lnSpc>
            <a:spcBef>
              <a:spcPct val="0"/>
            </a:spcBef>
            <a:spcAft>
              <a:spcPct val="15000"/>
            </a:spcAft>
            <a:buChar char="•"/>
          </a:pPr>
          <a:endParaRPr lang="en-US">
            <a:solidFill>
              <a:schemeClr val="tx1"/>
            </a:solidFill>
          </a:endParaRPr>
        </a:p>
      </dsp:txBody>
      <dsp:txXfrm>
        <a:off x="3357707" y="1194725"/>
        <a:ext cx="916957" cy="713269"/>
      </dsp:txXfrm>
    </dsp:sp>
    <dsp:sp modelId="{832986D8-389C-4398-9CA7-358BB99574FB}">
      <dsp:nvSpPr>
        <dsp:cNvPr id="9" name="Bent-Up Arrow 8"/>
        <dsp:cNvSpPr/>
      </dsp:nvSpPr>
      <dsp:spPr bwMode="white">
        <a:xfrm rot="5400000">
          <a:off x="3368745" y="3093665"/>
          <a:ext cx="748932" cy="852633"/>
        </a:xfrm>
        <a:prstGeom prst="bentUpArrow">
          <a:avLst>
            <a:gd name="adj1" fmla="val 32840"/>
            <a:gd name="adj2" fmla="val 25000"/>
            <a:gd name="adj3" fmla="val 35780"/>
          </a:avLst>
        </a:prstGeom>
      </dsp:spPr>
      <dsp:style>
        <a:lnRef idx="2">
          <a:schemeClr val="lt1"/>
        </a:lnRef>
        <a:fillRef idx="1">
          <a:schemeClr val="accent1">
            <a:tint val="50000"/>
          </a:schemeClr>
        </a:fillRef>
        <a:effectRef idx="0">
          <a:scrgbClr r="0" g="0" b="0"/>
        </a:effectRef>
        <a:fontRef idx="minor"/>
      </dsp:style>
      <dsp:txXfrm rot="5400000">
        <a:off x="3368745" y="3093665"/>
        <a:ext cx="748932" cy="852633"/>
      </dsp:txXfrm>
    </dsp:sp>
    <dsp:sp modelId="{54F8B79A-809C-4F22-B417-84B1257C574F}">
      <dsp:nvSpPr>
        <dsp:cNvPr id="10" name="Rounded Rectangle 9"/>
        <dsp:cNvSpPr/>
      </dsp:nvSpPr>
      <dsp:spPr bwMode="white">
        <a:xfrm>
          <a:off x="3161628" y="2211133"/>
          <a:ext cx="1260761" cy="882492"/>
        </a:xfrm>
        <a:prstGeom prst="roundRect">
          <a:avLst>
            <a:gd name="adj" fmla="val 16670"/>
          </a:avLst>
        </a:prstGeom>
      </dsp:spPr>
      <dsp:style>
        <a:lnRef idx="2">
          <a:schemeClr val="lt1"/>
        </a:lnRef>
        <a:fillRef idx="1">
          <a:schemeClr val="accent1"/>
        </a:fillRef>
        <a:effectRef idx="0">
          <a:scrgbClr r="0" g="0" b="0"/>
        </a:effectRef>
        <a:fontRef idx="minor">
          <a:schemeClr val="lt1"/>
        </a:fontRef>
      </dsp:style>
      <dsp:txBody>
        <a:bodyPr vert="horz" wrap="square" lIns="34290" tIns="34290" rIns="34290" bIns="34290" anchor="ctr"/>
        <a:lstStyle>
          <a:lvl1pPr algn="ctr">
            <a:defRPr sz="900"/>
          </a:lvl1pPr>
          <a:lvl2pPr marL="57150" indent="-57150" algn="ctr">
            <a:defRPr sz="700"/>
          </a:lvl2pPr>
          <a:lvl3pPr marL="114300" indent="-57150" algn="ctr">
            <a:defRPr sz="700"/>
          </a:lvl3pPr>
          <a:lvl4pPr marL="171450" indent="-57150" algn="ctr">
            <a:defRPr sz="700"/>
          </a:lvl4pPr>
          <a:lvl5pPr marL="228600" indent="-57150" algn="ctr">
            <a:defRPr sz="700"/>
          </a:lvl5pPr>
          <a:lvl6pPr marL="285750" indent="-57150" algn="ctr">
            <a:defRPr sz="700"/>
          </a:lvl6pPr>
          <a:lvl7pPr marL="342900" indent="-57150" algn="ctr">
            <a:defRPr sz="700"/>
          </a:lvl7pPr>
          <a:lvl8pPr marL="400050" indent="-57150" algn="ctr">
            <a:defRPr sz="700"/>
          </a:lvl8pPr>
          <a:lvl9pPr marL="457200" indent="-57150" algn="ctr">
            <a:defRPr sz="700"/>
          </a:lvl9pPr>
        </a:lstStyle>
        <a:p>
          <a:pPr lvl="0">
            <a:lnSpc>
              <a:spcPct val="100000"/>
            </a:lnSpc>
            <a:spcBef>
              <a:spcPct val="0"/>
            </a:spcBef>
            <a:spcAft>
              <a:spcPct val="35000"/>
            </a:spcAft>
          </a:pPr>
          <a:r>
            <a:rPr lang="en-US"/>
            <a:t>Desire rises in Males (control ?)Roving eyes ‘looking for whom he may devour’</a:t>
          </a:r>
          <a:endParaRPr lang="en-US"/>
        </a:p>
      </dsp:txBody>
      <dsp:txXfrm>
        <a:off x="3161628" y="2211133"/>
        <a:ext cx="1260761" cy="882492"/>
      </dsp:txXfrm>
    </dsp:sp>
    <dsp:sp modelId="{9A52C34D-33FE-4ECF-A2CA-02CD6148E15F}">
      <dsp:nvSpPr>
        <dsp:cNvPr id="11" name="Rectangles 10"/>
        <dsp:cNvSpPr/>
      </dsp:nvSpPr>
      <dsp:spPr bwMode="white">
        <a:xfrm>
          <a:off x="4422389" y="2300292"/>
          <a:ext cx="916957" cy="71326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4290" tIns="34290" rIns="34290" bIns="34290" anchor="ctr"/>
        <a:lstStyle>
          <a:lvl1pPr algn="l">
            <a:defRPr sz="9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a:lnSpc>
              <a:spcPct val="100000"/>
            </a:lnSpc>
            <a:spcBef>
              <a:spcPct val="0"/>
            </a:spcBef>
            <a:spcAft>
              <a:spcPct val="15000"/>
            </a:spcAft>
            <a:buChar char="•"/>
          </a:pPr>
          <a:endParaRPr lang="en-US">
            <a:solidFill>
              <a:schemeClr val="tx1"/>
            </a:solidFill>
          </a:endParaRPr>
        </a:p>
      </dsp:txBody>
      <dsp:txXfrm>
        <a:off x="4422389" y="2300292"/>
        <a:ext cx="916957" cy="713269"/>
      </dsp:txXfrm>
    </dsp:sp>
    <dsp:sp modelId="{C11275EC-95FA-4E83-ADD8-60B760A59F25}">
      <dsp:nvSpPr>
        <dsp:cNvPr id="12" name="Bent-Up Arrow 11"/>
        <dsp:cNvSpPr/>
      </dsp:nvSpPr>
      <dsp:spPr bwMode="white">
        <a:xfrm rot="5400000">
          <a:off x="4433427" y="4199232"/>
          <a:ext cx="748932" cy="852633"/>
        </a:xfrm>
        <a:prstGeom prst="bentUpArrow">
          <a:avLst>
            <a:gd name="adj1" fmla="val 32840"/>
            <a:gd name="adj2" fmla="val 25000"/>
            <a:gd name="adj3" fmla="val 35780"/>
          </a:avLst>
        </a:prstGeom>
      </dsp:spPr>
      <dsp:style>
        <a:lnRef idx="2">
          <a:schemeClr val="lt1"/>
        </a:lnRef>
        <a:fillRef idx="1">
          <a:schemeClr val="accent1">
            <a:tint val="50000"/>
          </a:schemeClr>
        </a:fillRef>
        <a:effectRef idx="0">
          <a:scrgbClr r="0" g="0" b="0"/>
        </a:effectRef>
        <a:fontRef idx="minor"/>
      </dsp:style>
      <dsp:txXfrm rot="5400000">
        <a:off x="4433427" y="4199232"/>
        <a:ext cx="748932" cy="852633"/>
      </dsp:txXfrm>
    </dsp:sp>
    <dsp:sp modelId="{D42E5E43-482B-4B0B-80C5-2AF6105E3E34}">
      <dsp:nvSpPr>
        <dsp:cNvPr id="13" name="Rounded Rectangle 12"/>
        <dsp:cNvSpPr/>
      </dsp:nvSpPr>
      <dsp:spPr bwMode="white">
        <a:xfrm>
          <a:off x="4226311" y="3316700"/>
          <a:ext cx="1260761" cy="882492"/>
        </a:xfrm>
        <a:prstGeom prst="roundRect">
          <a:avLst>
            <a:gd name="adj" fmla="val 16670"/>
          </a:avLst>
        </a:prstGeom>
      </dsp:spPr>
      <dsp:style>
        <a:lnRef idx="2">
          <a:schemeClr val="lt1"/>
        </a:lnRef>
        <a:fillRef idx="1">
          <a:schemeClr val="accent1"/>
        </a:fillRef>
        <a:effectRef idx="0">
          <a:scrgbClr r="0" g="0" b="0"/>
        </a:effectRef>
        <a:fontRef idx="minor">
          <a:schemeClr val="lt1"/>
        </a:fontRef>
      </dsp:style>
      <dsp:txBody>
        <a:bodyPr vert="horz" wrap="square" lIns="34290" tIns="34290" rIns="34290" bIns="34290" anchor="ctr"/>
        <a:lstStyle>
          <a:lvl1pPr algn="ctr">
            <a:defRPr sz="900"/>
          </a:lvl1pPr>
          <a:lvl2pPr marL="57150" indent="-57150" algn="ctr">
            <a:defRPr sz="700"/>
          </a:lvl2pPr>
          <a:lvl3pPr marL="114300" indent="-57150" algn="ctr">
            <a:defRPr sz="700"/>
          </a:lvl3pPr>
          <a:lvl4pPr marL="171450" indent="-57150" algn="ctr">
            <a:defRPr sz="700"/>
          </a:lvl4pPr>
          <a:lvl5pPr marL="228600" indent="-57150" algn="ctr">
            <a:defRPr sz="700"/>
          </a:lvl5pPr>
          <a:lvl6pPr marL="285750" indent="-57150" algn="ctr">
            <a:defRPr sz="700"/>
          </a:lvl6pPr>
          <a:lvl7pPr marL="342900" indent="-57150" algn="ctr">
            <a:defRPr sz="700"/>
          </a:lvl7pPr>
          <a:lvl8pPr marL="400050" indent="-57150" algn="ctr">
            <a:defRPr sz="700"/>
          </a:lvl8pPr>
          <a:lvl9pPr marL="457200" indent="-57150" algn="ctr">
            <a:defRPr sz="700"/>
          </a:lvl9pPr>
        </a:lstStyle>
        <a:p>
          <a:pPr lvl="0">
            <a:lnSpc>
              <a:spcPct val="100000"/>
            </a:lnSpc>
            <a:spcBef>
              <a:spcPct val="0"/>
            </a:spcBef>
            <a:spcAft>
              <a:spcPct val="35000"/>
            </a:spcAft>
          </a:pPr>
          <a:r>
            <a:rPr lang="en-US"/>
            <a:t>Lonely roads  ;  Unaccompanied Females .... </a:t>
          </a:r>
          <a:endParaRPr lang="en-US"/>
        </a:p>
      </dsp:txBody>
      <dsp:txXfrm>
        <a:off x="4226311" y="3316700"/>
        <a:ext cx="1260761" cy="882492"/>
      </dsp:txXfrm>
    </dsp:sp>
    <dsp:sp modelId="{E0946F76-7729-4A51-A480-D378331D072A}">
      <dsp:nvSpPr>
        <dsp:cNvPr id="14" name="Rectangles 13"/>
        <dsp:cNvSpPr/>
      </dsp:nvSpPr>
      <dsp:spPr bwMode="white">
        <a:xfrm>
          <a:off x="5487072" y="3405859"/>
          <a:ext cx="916957" cy="71326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4290" tIns="34290" rIns="34290" bIns="34290" anchor="ctr"/>
        <a:lstStyle>
          <a:lvl1pPr algn="l">
            <a:defRPr sz="9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endParaRPr>
            <a:solidFill>
              <a:schemeClr val="tx1"/>
            </a:solidFill>
          </a:endParaRPr>
        </a:p>
      </dsp:txBody>
      <dsp:txXfrm>
        <a:off x="5487072" y="3405859"/>
        <a:ext cx="916957" cy="713269"/>
      </dsp:txXfrm>
    </dsp:sp>
    <dsp:sp modelId="{F0DD67A9-5E84-4ECA-93BE-4E69C0C7498F}">
      <dsp:nvSpPr>
        <dsp:cNvPr id="15" name="Bent-Up Arrow 14"/>
        <dsp:cNvSpPr/>
      </dsp:nvSpPr>
      <dsp:spPr bwMode="white">
        <a:xfrm rot="5400000">
          <a:off x="5498109" y="5304798"/>
          <a:ext cx="748932" cy="852633"/>
        </a:xfrm>
        <a:prstGeom prst="bentUpArrow">
          <a:avLst>
            <a:gd name="adj1" fmla="val 32840"/>
            <a:gd name="adj2" fmla="val 25000"/>
            <a:gd name="adj3" fmla="val 35780"/>
          </a:avLst>
        </a:prstGeom>
      </dsp:spPr>
      <dsp:style>
        <a:lnRef idx="2">
          <a:schemeClr val="lt1"/>
        </a:lnRef>
        <a:fillRef idx="1">
          <a:schemeClr val="accent1">
            <a:tint val="50000"/>
          </a:schemeClr>
        </a:fillRef>
        <a:effectRef idx="0">
          <a:scrgbClr r="0" g="0" b="0"/>
        </a:effectRef>
        <a:fontRef idx="minor"/>
      </dsp:style>
      <dsp:txXfrm rot="5400000">
        <a:off x="5498109" y="5304798"/>
        <a:ext cx="748932" cy="852633"/>
      </dsp:txXfrm>
    </dsp:sp>
    <dsp:sp modelId="{C87753AD-6F11-4479-958F-E15A03050DDD}">
      <dsp:nvSpPr>
        <dsp:cNvPr id="16" name="Rounded Rectangle 15"/>
        <dsp:cNvSpPr/>
      </dsp:nvSpPr>
      <dsp:spPr bwMode="white">
        <a:xfrm>
          <a:off x="5290993" y="4422267"/>
          <a:ext cx="1260761" cy="882492"/>
        </a:xfrm>
        <a:prstGeom prst="roundRect">
          <a:avLst>
            <a:gd name="adj" fmla="val 16670"/>
          </a:avLst>
        </a:prstGeom>
      </dsp:spPr>
      <dsp:style>
        <a:lnRef idx="2">
          <a:schemeClr val="lt1"/>
        </a:lnRef>
        <a:fillRef idx="1">
          <a:schemeClr val="accent1"/>
        </a:fillRef>
        <a:effectRef idx="0">
          <a:scrgbClr r="0" g="0" b="0"/>
        </a:effectRef>
        <a:fontRef idx="minor">
          <a:schemeClr val="lt1"/>
        </a:fontRef>
      </dsp:style>
      <dsp:txBody>
        <a:bodyPr vert="horz" wrap="square" lIns="34290" tIns="34290" rIns="34290" bIns="34290" anchor="ctr"/>
        <a:lstStyle>
          <a:lvl1pPr algn="ctr">
            <a:defRPr sz="900"/>
          </a:lvl1pPr>
          <a:lvl2pPr marL="57150" indent="-57150" algn="ctr">
            <a:defRPr sz="700"/>
          </a:lvl2pPr>
          <a:lvl3pPr marL="114300" indent="-57150" algn="ctr">
            <a:defRPr sz="700"/>
          </a:lvl3pPr>
          <a:lvl4pPr marL="171450" indent="-57150" algn="ctr">
            <a:defRPr sz="700"/>
          </a:lvl4pPr>
          <a:lvl5pPr marL="228600" indent="-57150" algn="ctr">
            <a:defRPr sz="700"/>
          </a:lvl5pPr>
          <a:lvl6pPr marL="285750" indent="-57150" algn="ctr">
            <a:defRPr sz="700"/>
          </a:lvl6pPr>
          <a:lvl7pPr marL="342900" indent="-57150" algn="ctr">
            <a:defRPr sz="700"/>
          </a:lvl7pPr>
          <a:lvl8pPr marL="400050" indent="-57150" algn="ctr">
            <a:defRPr sz="700"/>
          </a:lvl8pPr>
          <a:lvl9pPr marL="457200" indent="-57150" algn="ctr">
            <a:defRPr sz="700"/>
          </a:lvl9pPr>
        </a:lstStyle>
        <a:p>
          <a:pPr lvl="0">
            <a:lnSpc>
              <a:spcPct val="100000"/>
            </a:lnSpc>
            <a:spcBef>
              <a:spcPct val="0"/>
            </a:spcBef>
            <a:spcAft>
              <a:spcPct val="35000"/>
            </a:spcAft>
          </a:pPr>
          <a:r>
            <a:rPr lang="en-US"/>
            <a:t>RAPE   !</a:t>
          </a:r>
          <a:endParaRPr lang="en-US"/>
        </a:p>
        <a:p>
          <a:pPr lvl="0">
            <a:lnSpc>
              <a:spcPct val="100000"/>
            </a:lnSpc>
            <a:spcBef>
              <a:spcPct val="0"/>
            </a:spcBef>
            <a:spcAft>
              <a:spcPct val="35000"/>
            </a:spcAft>
          </a:pPr>
          <a:r>
            <a:rPr lang="en-US"/>
            <a:t> LIFE RUINED </a:t>
          </a:r>
          <a:endParaRPr lang="en-US"/>
        </a:p>
        <a:p>
          <a:pPr lvl="0">
            <a:lnSpc>
              <a:spcPct val="100000"/>
            </a:lnSpc>
            <a:spcBef>
              <a:spcPct val="0"/>
            </a:spcBef>
            <a:spcAft>
              <a:spcPct val="35000"/>
            </a:spcAft>
          </a:pPr>
          <a:endParaRPr lang="en-US"/>
        </a:p>
      </dsp:txBody>
      <dsp:txXfrm>
        <a:off x="5290993" y="4422267"/>
        <a:ext cx="1260761" cy="882492"/>
      </dsp:txXfrm>
    </dsp:sp>
    <dsp:sp modelId="{5C4BA3D8-9D92-4C22-9090-3DA4D00FC238}">
      <dsp:nvSpPr>
        <dsp:cNvPr id="17" name="Rectangles 16"/>
        <dsp:cNvSpPr/>
      </dsp:nvSpPr>
      <dsp:spPr bwMode="white">
        <a:xfrm>
          <a:off x="6551754" y="4511425"/>
          <a:ext cx="916957" cy="71326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4290" tIns="34290" rIns="34290" bIns="34290" anchor="ctr"/>
        <a:lstStyle>
          <a:lvl1pPr algn="l">
            <a:defRPr sz="9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endParaRPr>
            <a:solidFill>
              <a:schemeClr val="tx1"/>
            </a:solidFill>
          </a:endParaRPr>
        </a:p>
      </dsp:txBody>
      <dsp:txXfrm>
        <a:off x="6551754" y="4511425"/>
        <a:ext cx="916957" cy="713269"/>
      </dsp:txXfrm>
    </dsp:sp>
    <dsp:sp modelId="{E04ADDFB-CB0C-4386-8338-194D5E9466A1}">
      <dsp:nvSpPr>
        <dsp:cNvPr id="18" name="Rounded Rectangle 17"/>
        <dsp:cNvSpPr/>
      </dsp:nvSpPr>
      <dsp:spPr bwMode="white">
        <a:xfrm>
          <a:off x="6355675" y="5527833"/>
          <a:ext cx="1260761" cy="882492"/>
        </a:xfrm>
        <a:prstGeom prst="roundRect">
          <a:avLst>
            <a:gd name="adj" fmla="val 16670"/>
          </a:avLst>
        </a:prstGeom>
      </dsp:spPr>
      <dsp:style>
        <a:lnRef idx="2">
          <a:schemeClr val="lt1"/>
        </a:lnRef>
        <a:fillRef idx="1">
          <a:schemeClr val="accent1"/>
        </a:fillRef>
        <a:effectRef idx="0">
          <a:scrgbClr r="0" g="0" b="0"/>
        </a:effectRef>
        <a:fontRef idx="minor">
          <a:schemeClr val="lt1"/>
        </a:fontRef>
      </dsp:style>
      <dsp:txBody>
        <a:bodyPr vert="horz" wrap="square" lIns="34290" tIns="34290" rIns="34290" bIns="34290" anchor="ctr"/>
        <a:lstStyle>
          <a:lvl1pPr algn="ctr">
            <a:defRPr sz="900"/>
          </a:lvl1pPr>
          <a:lvl2pPr marL="57150" indent="-57150" algn="ctr">
            <a:defRPr sz="700"/>
          </a:lvl2pPr>
          <a:lvl3pPr marL="114300" indent="-57150" algn="ctr">
            <a:defRPr sz="700"/>
          </a:lvl3pPr>
          <a:lvl4pPr marL="171450" indent="-57150" algn="ctr">
            <a:defRPr sz="700"/>
          </a:lvl4pPr>
          <a:lvl5pPr marL="228600" indent="-57150" algn="ctr">
            <a:defRPr sz="700"/>
          </a:lvl5pPr>
          <a:lvl6pPr marL="285750" indent="-57150" algn="ctr">
            <a:defRPr sz="700"/>
          </a:lvl6pPr>
          <a:lvl7pPr marL="342900" indent="-57150" algn="ctr">
            <a:defRPr sz="700"/>
          </a:lvl7pPr>
          <a:lvl8pPr marL="400050" indent="-57150" algn="ctr">
            <a:defRPr sz="700"/>
          </a:lvl8pPr>
          <a:lvl9pPr marL="457200" indent="-57150" algn="ctr">
            <a:defRPr sz="700"/>
          </a:lvl9pPr>
        </a:lstStyle>
        <a:p>
          <a:pPr lvl="0">
            <a:lnSpc>
              <a:spcPct val="100000"/>
            </a:lnSpc>
            <a:spcBef>
              <a:spcPct val="0"/>
            </a:spcBef>
            <a:spcAft>
              <a:spcPct val="35000"/>
            </a:spcAft>
          </a:pPr>
          <a:r>
            <a:rPr lang="en-US"/>
            <a:t>SE</a:t>
          </a:r>
          <a:r>
            <a:rPr lang="en-US"/>
            <a:t>LF ESTEEM;</a:t>
          </a:r>
          <a:endParaRPr lang="en-US"/>
        </a:p>
        <a:p>
          <a:pPr lvl="0">
            <a:lnSpc>
              <a:spcPct val="100000"/>
            </a:lnSpc>
            <a:spcBef>
              <a:spcPct val="0"/>
            </a:spcBef>
            <a:spcAft>
              <a:spcPct val="35000"/>
            </a:spcAft>
          </a:pPr>
          <a:r>
            <a:rPr lang="en-US"/>
            <a:t>SPIRITUAL DEATH;</a:t>
          </a:r>
          <a:endParaRPr lang="en-US"/>
        </a:p>
        <a:p>
          <a:pPr lvl="0">
            <a:lnSpc>
              <a:spcPct val="100000"/>
            </a:lnSpc>
            <a:spcBef>
              <a:spcPct val="0"/>
            </a:spcBef>
            <a:spcAft>
              <a:spcPct val="35000"/>
            </a:spcAft>
          </a:pPr>
          <a:r>
            <a:rPr lang="en-US"/>
            <a:t>SUICIDE  !</a:t>
          </a:r>
          <a:endParaRPr lang="en-US"/>
        </a:p>
      </dsp:txBody>
      <dsp:txXfrm>
        <a:off x="6355675" y="5527833"/>
        <a:ext cx="1260761" cy="882492"/>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BA5D053-226B-42A3-9469-82B6BCCFAE74}"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0D278F-6A15-4679-9A1A-246EC0F73D6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Prof. K. </a:t>
            </a:r>
            <a:r>
              <a:rPr lang="en-US" dirty="0" err="1" smtClean="0"/>
              <a:t>Nagarajan</a:t>
            </a:r>
            <a:r>
              <a:rPr lang="en-US" dirty="0" smtClean="0"/>
              <a:t>, Psychology of  Learning and Human Development.</a:t>
            </a:r>
            <a:endParaRPr lang="en-US" dirty="0"/>
          </a:p>
        </p:txBody>
      </p:sp>
      <p:sp>
        <p:nvSpPr>
          <p:cNvPr id="4" name="Slide Number Placeholder 3"/>
          <p:cNvSpPr>
            <a:spLocks noGrp="1"/>
          </p:cNvSpPr>
          <p:nvPr>
            <p:ph type="sldNum" sz="quarter" idx="10"/>
          </p:nvPr>
        </p:nvSpPr>
        <p:spPr/>
        <p:txBody>
          <a:bodyPr/>
          <a:lstStyle/>
          <a:p>
            <a:fld id="{5D0D278F-6A15-4679-9A1A-246EC0F73D6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0D278F-6A15-4679-9A1A-246EC0F73D6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9156700" cy="6858000"/>
          </a:xfrm>
          <a:prstGeom prst="rect">
            <a:avLst/>
          </a:prstGeom>
          <a:noFill/>
          <a:ln w="9525">
            <a:noFill/>
          </a:ln>
        </p:spPr>
      </p:pic>
      <p:sp>
        <p:nvSpPr>
          <p:cNvPr id="2051" name="Rectangle 3"/>
          <p:cNvSpPr>
            <a:spLocks noGrp="1" noChangeArrowheads="1"/>
          </p:cNvSpPr>
          <p:nvPr>
            <p:ph type="ctrTitle"/>
          </p:nvPr>
        </p:nvSpPr>
        <p:spPr>
          <a:xfrm>
            <a:off x="468313" y="1196975"/>
            <a:ext cx="8207375"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469900" y="2422525"/>
            <a:ext cx="8212138"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74CBEAF9-9E58-4CC8-A6FF-6DD8A58DEEA4}" type="datetimeFigureOut">
              <a:rPr lang="en-US" smtClean="0"/>
            </a:fld>
            <a:endParaRPr lang="en-US"/>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kumimoji="0" lang="en-US"/>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A15C064-DD44-4CAC-873E-2D1F54821676}" type="slidenum">
              <a:rPr kumimoji="0" lang="en-US" smtClean="0"/>
            </a:fld>
            <a:endParaRPr kumimoji="0" 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74CBEAF9-9E58-4CC8-A6FF-6DD8A58DEEA4}" type="datetimeFigureOut">
              <a:rPr lang="en-US" smtClean="0"/>
            </a:fld>
            <a:endParaRPr lang="en-US"/>
          </a:p>
        </p:txBody>
      </p:sp>
      <p:sp>
        <p:nvSpPr>
          <p:cNvPr id="5" name="Footer Placeholder 4"/>
          <p:cNvSpPr>
            <a:spLocks noGrp="1"/>
          </p:cNvSpPr>
          <p:nvPr>
            <p:ph type="ftr" sz="quarter" idx="11"/>
          </p:nvPr>
        </p:nvSpPr>
        <p:spPr/>
        <p:txBody>
          <a:bodyPr/>
          <a:p>
            <a:endParaRPr kumimoji="0" lang="en-US"/>
          </a:p>
        </p:txBody>
      </p:sp>
      <p:sp>
        <p:nvSpPr>
          <p:cNvPr id="6" name="Slide Number Placeholder 5"/>
          <p:cNvSpPr>
            <a:spLocks noGrp="1"/>
          </p:cNvSpPr>
          <p:nvPr>
            <p:ph type="sldNum" sz="quarter" idx="12"/>
          </p:nvPr>
        </p:nvSpPr>
        <p:spPr/>
        <p:txBody>
          <a:bodyPr/>
          <a:p>
            <a:fld id="{CA15C064-DD44-4CAC-873E-2D1F54821676}" type="slidenum">
              <a:rPr kumimoji="0" lang="en-US" smtClean="0"/>
            </a:fld>
            <a:endParaRPr kumimoji="0" 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74CBEAF9-9E58-4CC8-A6FF-6DD8A58DEEA4}" type="datetimeFigureOut">
              <a:rPr lang="en-US" smtClean="0"/>
            </a:fld>
            <a:endParaRPr lang="en-US"/>
          </a:p>
        </p:txBody>
      </p:sp>
      <p:sp>
        <p:nvSpPr>
          <p:cNvPr id="5" name="Footer Placeholder 4"/>
          <p:cNvSpPr>
            <a:spLocks noGrp="1"/>
          </p:cNvSpPr>
          <p:nvPr>
            <p:ph type="ftr" sz="quarter" idx="11"/>
          </p:nvPr>
        </p:nvSpPr>
        <p:spPr/>
        <p:txBody>
          <a:bodyPr/>
          <a:p>
            <a:endParaRPr kumimoji="0" lang="en-US"/>
          </a:p>
        </p:txBody>
      </p:sp>
      <p:sp>
        <p:nvSpPr>
          <p:cNvPr id="6" name="Slide Number Placeholder 5"/>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74CBEAF9-9E58-4CC8-A6FF-6DD8A58DEEA4}" type="datetimeFigureOut">
              <a:rPr lang="en-US" smtClean="0"/>
            </a:fld>
            <a:endParaRPr lang="en-US"/>
          </a:p>
        </p:txBody>
      </p:sp>
      <p:sp>
        <p:nvSpPr>
          <p:cNvPr id="6" name="Footer Placeholder 5"/>
          <p:cNvSpPr>
            <a:spLocks noGrp="1"/>
          </p:cNvSpPr>
          <p:nvPr>
            <p:ph type="ftr" sz="quarter" idx="11"/>
          </p:nvPr>
        </p:nvSpPr>
        <p:spPr/>
        <p:txBody>
          <a:bodyPr/>
          <a:p>
            <a:endParaRPr kumimoji="0" lang="en-US"/>
          </a:p>
        </p:txBody>
      </p:sp>
      <p:sp>
        <p:nvSpPr>
          <p:cNvPr id="7" name="Slide Number Placeholder 6"/>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74CBEAF9-9E58-4CC8-A6FF-6DD8A58DEEA4}" type="datetimeFigureOut">
              <a:rPr lang="en-US" smtClean="0"/>
            </a:fld>
            <a:endParaRPr lang="en-US"/>
          </a:p>
        </p:txBody>
      </p:sp>
      <p:sp>
        <p:nvSpPr>
          <p:cNvPr id="8" name="Footer Placeholder 7"/>
          <p:cNvSpPr>
            <a:spLocks noGrp="1"/>
          </p:cNvSpPr>
          <p:nvPr>
            <p:ph type="ftr" sz="quarter" idx="11"/>
          </p:nvPr>
        </p:nvSpPr>
        <p:spPr/>
        <p:txBody>
          <a:bodyPr/>
          <a:p>
            <a:endParaRPr kumimoji="0" lang="en-US"/>
          </a:p>
        </p:txBody>
      </p:sp>
      <p:sp>
        <p:nvSpPr>
          <p:cNvPr id="9" name="Slide Number Placeholder 8"/>
          <p:cNvSpPr>
            <a:spLocks noGrp="1"/>
          </p:cNvSpPr>
          <p:nvPr>
            <p:ph type="sldNum" sz="quarter" idx="12"/>
          </p:nvPr>
        </p:nvSpPr>
        <p:spPr/>
        <p:txBody>
          <a:bodyPr/>
          <a:p>
            <a:fld id="{CA15C064-DD44-4CAC-873E-2D1F54821676}" type="slidenum">
              <a:rPr kumimoji="0" lang="en-US" smtClean="0"/>
            </a:fld>
            <a:endParaRPr kumimoji="0"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74CBEAF9-9E58-4CC8-A6FF-6DD8A58DEEA4}" type="datetimeFigureOut">
              <a:rPr lang="en-US" smtClean="0"/>
            </a:fld>
            <a:endParaRPr lang="en-US"/>
          </a:p>
        </p:txBody>
      </p:sp>
      <p:sp>
        <p:nvSpPr>
          <p:cNvPr id="4" name="Footer Placeholder 3"/>
          <p:cNvSpPr>
            <a:spLocks noGrp="1"/>
          </p:cNvSpPr>
          <p:nvPr>
            <p:ph type="ftr" sz="quarter" idx="11"/>
          </p:nvPr>
        </p:nvSpPr>
        <p:spPr/>
        <p:txBody>
          <a:bodyPr/>
          <a:p>
            <a:endParaRPr kumimoji="0" lang="en-US"/>
          </a:p>
        </p:txBody>
      </p:sp>
      <p:sp>
        <p:nvSpPr>
          <p:cNvPr id="5" name="Slide Number Placeholder 4"/>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74CBEAF9-9E58-4CC8-A6FF-6DD8A58DEEA4}" type="datetimeFigureOut">
              <a:rPr lang="en-US" smtClean="0"/>
            </a:fld>
            <a:endParaRPr lang="en-US"/>
          </a:p>
        </p:txBody>
      </p:sp>
      <p:sp>
        <p:nvSpPr>
          <p:cNvPr id="3" name="Footer Placeholder 2"/>
          <p:cNvSpPr>
            <a:spLocks noGrp="1"/>
          </p:cNvSpPr>
          <p:nvPr>
            <p:ph type="ftr" sz="quarter" idx="11"/>
          </p:nvPr>
        </p:nvSpPr>
        <p:spPr/>
        <p:txBody>
          <a:bodyPr/>
          <a:p>
            <a:endParaRPr kumimoji="0" lang="en-US"/>
          </a:p>
        </p:txBody>
      </p:sp>
      <p:sp>
        <p:nvSpPr>
          <p:cNvPr id="4" name="Slide Number Placeholder 3"/>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74CBEAF9-9E58-4CC8-A6FF-6DD8A58DEEA4}" type="datetimeFigureOut">
              <a:rPr lang="en-US" smtClean="0"/>
            </a:fld>
            <a:endParaRPr lang="en-US"/>
          </a:p>
        </p:txBody>
      </p:sp>
      <p:sp>
        <p:nvSpPr>
          <p:cNvPr id="6" name="Footer Placeholder 5"/>
          <p:cNvSpPr>
            <a:spLocks noGrp="1"/>
          </p:cNvSpPr>
          <p:nvPr>
            <p:ph type="ftr" sz="quarter" idx="11"/>
          </p:nvPr>
        </p:nvSpPr>
        <p:spPr/>
        <p:txBody>
          <a:bodyPr/>
          <a:p>
            <a:endParaRPr kumimoji="0" lang="en-US" dirty="0"/>
          </a:p>
        </p:txBody>
      </p:sp>
      <p:sp>
        <p:nvSpPr>
          <p:cNvPr id="7" name="Slide Number Placeholder 6"/>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74CBEAF9-9E58-4CC8-A6FF-6DD8A58DEEA4}" type="datetimeFigureOut">
              <a:rPr lang="en-US" smtClean="0"/>
            </a:fld>
            <a:endParaRPr lang="en-US"/>
          </a:p>
        </p:txBody>
      </p:sp>
      <p:sp>
        <p:nvSpPr>
          <p:cNvPr id="6" name="Footer Placeholder 5"/>
          <p:cNvSpPr>
            <a:spLocks noGrp="1"/>
          </p:cNvSpPr>
          <p:nvPr>
            <p:ph type="ftr" sz="quarter" idx="11"/>
          </p:nvPr>
        </p:nvSpPr>
        <p:spPr/>
        <p:txBody>
          <a:bodyPr/>
          <a:p>
            <a:endParaRPr kumimoji="0" lang="en-US"/>
          </a:p>
        </p:txBody>
      </p:sp>
      <p:sp>
        <p:nvSpPr>
          <p:cNvPr id="7" name="Slide Number Placeholder 6"/>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74CBEAF9-9E58-4CC8-A6FF-6DD8A58DEEA4}" type="datetimeFigureOut">
              <a:rPr lang="en-US" smtClean="0"/>
            </a:fld>
            <a:endParaRPr lang="en-US"/>
          </a:p>
        </p:txBody>
      </p:sp>
      <p:sp>
        <p:nvSpPr>
          <p:cNvPr id="5" name="Footer Placeholder 4"/>
          <p:cNvSpPr>
            <a:spLocks noGrp="1"/>
          </p:cNvSpPr>
          <p:nvPr>
            <p:ph type="ftr" sz="quarter" idx="11"/>
          </p:nvPr>
        </p:nvSpPr>
        <p:spPr/>
        <p:txBody>
          <a:bodyPr/>
          <a:p>
            <a:endParaRPr kumimoji="0" lang="en-US"/>
          </a:p>
        </p:txBody>
      </p:sp>
      <p:sp>
        <p:nvSpPr>
          <p:cNvPr id="6" name="Slide Number Placeholder 5"/>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74CBEAF9-9E58-4CC8-A6FF-6DD8A58DEEA4}" type="datetimeFigureOut">
              <a:rPr lang="en-US" smtClean="0"/>
            </a:fld>
            <a:endParaRPr lang="en-US"/>
          </a:p>
        </p:txBody>
      </p:sp>
      <p:sp>
        <p:nvSpPr>
          <p:cNvPr id="5" name="Footer Placeholder 4"/>
          <p:cNvSpPr>
            <a:spLocks noGrp="1"/>
          </p:cNvSpPr>
          <p:nvPr>
            <p:ph type="ftr" sz="quarter" idx="11"/>
          </p:nvPr>
        </p:nvSpPr>
        <p:spPr/>
        <p:txBody>
          <a:bodyPr/>
          <a:p>
            <a:endParaRPr kumimoji="0" lang="en-US"/>
          </a:p>
        </p:txBody>
      </p:sp>
      <p:sp>
        <p:nvSpPr>
          <p:cNvPr id="6" name="Slide Number Placeholder 5"/>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9156700" cy="6858000"/>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algn="l" eaLnBrk="1" latinLnBrk="0" hangingPunct="1"/>
            <a:fld id="{74CBEAF9-9E58-4CC8-A6FF-6DD8A58DEEA4}" type="datetimeFigureOut">
              <a:rPr lang="en-US" smtClean="0"/>
            </a:fld>
            <a:endParaRPr lang="en-US" dirty="0">
              <a:solidFill>
                <a:schemeClr val="accent1">
                  <a:shade val="75000"/>
                </a:schemeClr>
              </a:solidFill>
            </a:endParaRPr>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algn="r" eaLnBrk="1" latinLnBrk="0" hangingPunct="1"/>
            <a:endParaRPr kumimoji="0" lang="en-US" dirty="0">
              <a:solidFill>
                <a:schemeClr val="accent1">
                  <a:shade val="75000"/>
                </a:schemeClr>
              </a:solidFill>
            </a:endParaRPr>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CA15C064-DD44-4CAC-873E-2D1F54821676}" type="slidenum">
              <a:rPr kumimoji="0" lang="en-US" smtClean="0"/>
            </a:fld>
            <a:endParaRPr kumimoji="0" lang="en-US" dirty="0">
              <a:solidFill>
                <a:schemeClr val="accent1">
                  <a:shade val="7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4.emf"/><Relationship Id="rId1" Type="http://schemas.openxmlformats.org/officeDocument/2006/relationships/package" Target="../embeddings/Document1.docx"/></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package" Target="../embeddings/Document2.docx"/></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86800" cy="533400"/>
          </a:xfrm>
        </p:spPr>
        <p:txBody>
          <a:bodyPr>
            <a:normAutofit fontScale="90000"/>
          </a:bodyPr>
          <a:lstStyle/>
          <a:p>
            <a:pPr algn="ctr"/>
            <a:r>
              <a:rPr lang="en-US" sz="3100" b="1" dirty="0" smtClean="0">
                <a:latin typeface="Times New Roman" panose="02020603050405020304" pitchFamily="18" charset="0"/>
                <a:cs typeface="Times New Roman" panose="02020603050405020304" pitchFamily="18" charset="0"/>
              </a:rPr>
              <a:t>CFI -DEVELOPMENTAL  PSYCHOLOGY, STUDENTS’ GUIDANCE &amp; COUNSELLING </a:t>
            </a:r>
            <a:br>
              <a:rPr lang="en-US" sz="3100" b="1" dirty="0" smtClean="0">
                <a:latin typeface="Times New Roman" panose="02020603050405020304" pitchFamily="18" charset="0"/>
                <a:cs typeface="Times New Roman" panose="02020603050405020304" pitchFamily="18" charset="0"/>
              </a:rPr>
            </a:br>
            <a:r>
              <a:rPr lang="en-US" sz="2200" b="1" cap="none" dirty="0" smtClean="0">
                <a:latin typeface="Times New Roman" panose="02020603050405020304" pitchFamily="18" charset="0"/>
                <a:cs typeface="Times New Roman" panose="02020603050405020304" pitchFamily="18" charset="0"/>
              </a:rPr>
              <a:t>b</a:t>
            </a:r>
            <a:r>
              <a:rPr lang="en-US" sz="2200" cap="none" dirty="0" smtClean="0">
                <a:latin typeface="Times New Roman" panose="02020603050405020304" pitchFamily="18" charset="0"/>
                <a:cs typeface="Times New Roman" panose="02020603050405020304" pitchFamily="18" charset="0"/>
              </a:rPr>
              <a:t>y Philomena </a:t>
            </a:r>
            <a:r>
              <a:rPr lang="en-US" sz="2200" cap="none" dirty="0" err="1" smtClean="0">
                <a:latin typeface="Times New Roman" panose="02020603050405020304" pitchFamily="18" charset="0"/>
                <a:cs typeface="Times New Roman" panose="02020603050405020304" pitchFamily="18" charset="0"/>
              </a:rPr>
              <a:t>Kanagaraj</a:t>
            </a:r>
            <a:r>
              <a:rPr lang="en-US" sz="2200" cap="none" dirty="0" smtClean="0">
                <a:latin typeface="Times New Roman" panose="02020603050405020304" pitchFamily="18" charset="0"/>
                <a:cs typeface="Times New Roman" panose="02020603050405020304" pitchFamily="18" charset="0"/>
              </a:rPr>
              <a:t>  Oct 2022</a:t>
            </a:r>
            <a:endParaRPr lang="en-US" sz="2200" cap="none" dirty="0">
              <a:latin typeface="Times New Roman" panose="02020603050405020304" pitchFamily="18" charset="0"/>
              <a:cs typeface="Times New Roman" panose="02020603050405020304" pitchFamily="18" charset="0"/>
            </a:endParaRPr>
          </a:p>
        </p:txBody>
      </p:sp>
      <p:pic>
        <p:nvPicPr>
          <p:cNvPr id="21506" name="Picture 2" descr="DEV PSY"/>
          <p:cNvPicPr>
            <a:picLocks noGrp="1" noChangeAspect="1" noChangeArrowheads="1"/>
          </p:cNvPicPr>
          <p:nvPr>
            <p:ph idx="1"/>
          </p:nvPr>
        </p:nvPicPr>
        <p:blipFill>
          <a:blip r:embed="rId1"/>
          <a:srcRect/>
          <a:stretch>
            <a:fillRect/>
          </a:stretch>
        </p:blipFill>
        <p:spPr bwMode="auto">
          <a:xfrm>
            <a:off x="1571625" y="1426845"/>
            <a:ext cx="6276975" cy="550735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smtClean="0">
                <a:latin typeface="Times New Roman" panose="02020603050405020304" pitchFamily="18" charset="0"/>
                <a:ea typeface="BatangChe" panose="02030609000101010101" pitchFamily="49" charset="-127"/>
                <a:cs typeface="Times New Roman" panose="02020603050405020304" pitchFamily="18" charset="0"/>
              </a:rPr>
              <a:t>PSYCHOLOGY &amp; Counseling </a:t>
            </a:r>
            <a:endParaRPr lang="en-US" sz="2800" dirty="0"/>
          </a:p>
        </p:txBody>
      </p:sp>
      <p:sp>
        <p:nvSpPr>
          <p:cNvPr id="3" name="Content Placeholder 2"/>
          <p:cNvSpPr>
            <a:spLocks noGrp="1"/>
          </p:cNvSpPr>
          <p:nvPr>
            <p:ph idx="1"/>
          </p:nvPr>
        </p:nvSpPr>
        <p:spPr/>
        <p:txBody>
          <a:bodyPr>
            <a:normAutofit/>
          </a:bodyPr>
          <a:lstStyle/>
          <a:p>
            <a:r>
              <a:rPr lang="en-US" sz="2800" dirty="0" smtClean="0">
                <a:latin typeface="Baskerville Old Face" panose="02020602080505020303" charset="0"/>
                <a:cs typeface="Baskerville Old Face" panose="02020602080505020303" charset="0"/>
              </a:rPr>
              <a:t>Psychology : Two Greek words </a:t>
            </a:r>
            <a:r>
              <a:rPr lang="en-US" sz="2800" i="1" dirty="0" smtClean="0">
                <a:latin typeface="Baskerville Old Face" panose="02020602080505020303" charset="0"/>
                <a:cs typeface="Baskerville Old Face" panose="02020602080505020303" charset="0"/>
              </a:rPr>
              <a:t>‘Psyche’ </a:t>
            </a:r>
            <a:r>
              <a:rPr lang="en-US" sz="2800" dirty="0" smtClean="0">
                <a:latin typeface="Baskerville Old Face" panose="02020602080505020303" charset="0"/>
                <a:cs typeface="Baskerville Old Face" panose="02020602080505020303" charset="0"/>
              </a:rPr>
              <a:t>meaning</a:t>
            </a:r>
            <a:r>
              <a:rPr lang="en-US" sz="2800" i="1" dirty="0" smtClean="0">
                <a:latin typeface="Baskerville Old Face" panose="02020602080505020303" charset="0"/>
                <a:cs typeface="Baskerville Old Face" panose="02020602080505020303" charset="0"/>
              </a:rPr>
              <a:t> </a:t>
            </a:r>
            <a:r>
              <a:rPr lang="en-US" sz="2800" dirty="0" smtClean="0">
                <a:latin typeface="Baskerville Old Face" panose="02020602080505020303" charset="0"/>
                <a:cs typeface="Baskerville Old Face" panose="02020602080505020303" charset="0"/>
              </a:rPr>
              <a:t>soul and ‘</a:t>
            </a:r>
            <a:r>
              <a:rPr lang="en-US" sz="2800" i="1" dirty="0" err="1" smtClean="0">
                <a:latin typeface="Baskerville Old Face" panose="02020602080505020303" charset="0"/>
                <a:cs typeface="Baskerville Old Face" panose="02020602080505020303" charset="0"/>
              </a:rPr>
              <a:t>logus</a:t>
            </a:r>
            <a:r>
              <a:rPr lang="en-US" sz="2800" i="1" dirty="0" smtClean="0">
                <a:latin typeface="Baskerville Old Face" panose="02020602080505020303" charset="0"/>
                <a:cs typeface="Baskerville Old Face" panose="02020602080505020303" charset="0"/>
              </a:rPr>
              <a:t>’</a:t>
            </a:r>
            <a:r>
              <a:rPr lang="en-US" sz="2800" dirty="0" smtClean="0">
                <a:latin typeface="Baskerville Old Face" panose="02020602080505020303" charset="0"/>
                <a:cs typeface="Baskerville Old Face" panose="02020602080505020303" charset="0"/>
              </a:rPr>
              <a:t> meaning science or knowledge; Is the Science of the soul.</a:t>
            </a:r>
            <a:endParaRPr lang="en-US" sz="2800" dirty="0" smtClean="0">
              <a:latin typeface="Baskerville Old Face" panose="02020602080505020303" charset="0"/>
              <a:cs typeface="Baskerville Old Face" panose="02020602080505020303" charset="0"/>
            </a:endParaRPr>
          </a:p>
          <a:p>
            <a:r>
              <a:rPr lang="en-US" sz="2800" dirty="0" smtClean="0">
                <a:latin typeface="Baskerville Old Face" panose="02020602080505020303" charset="0"/>
                <a:cs typeface="Baskerville Old Face" panose="02020602080505020303" charset="0"/>
              </a:rPr>
              <a:t>Today Psychology is the Science of </a:t>
            </a:r>
            <a:r>
              <a:rPr lang="en-US" sz="2800" dirty="0" err="1" smtClean="0">
                <a:latin typeface="Baskerville Old Face" panose="02020602080505020303" charset="0"/>
                <a:cs typeface="Baskerville Old Face" panose="02020602080505020303" charset="0"/>
              </a:rPr>
              <a:t>Behaviour</a:t>
            </a:r>
            <a:r>
              <a:rPr lang="en-US" sz="2800" dirty="0" smtClean="0">
                <a:latin typeface="Baskerville Old Face" panose="02020602080505020303" charset="0"/>
                <a:cs typeface="Baskerville Old Face" panose="02020602080505020303" charset="0"/>
              </a:rPr>
              <a:t> </a:t>
            </a:r>
            <a:endParaRPr lang="en-US" sz="2800" dirty="0" smtClean="0">
              <a:latin typeface="Baskerville Old Face" panose="02020602080505020303" charset="0"/>
              <a:cs typeface="Baskerville Old Face" panose="02020602080505020303" charset="0"/>
            </a:endParaRPr>
          </a:p>
          <a:p>
            <a:r>
              <a:rPr lang="en-US" sz="2800" dirty="0" smtClean="0">
                <a:latin typeface="Baskerville Old Face" panose="02020602080505020303" charset="0"/>
                <a:cs typeface="Baskerville Old Face" panose="02020602080505020303" charset="0"/>
              </a:rPr>
              <a:t>Definition of psychology : “a science that systematically studies and attempts to explain observable </a:t>
            </a:r>
            <a:r>
              <a:rPr lang="en-US" sz="2800" dirty="0" err="1" smtClean="0">
                <a:latin typeface="Baskerville Old Face" panose="02020602080505020303" charset="0"/>
                <a:cs typeface="Baskerville Old Face" panose="02020602080505020303" charset="0"/>
              </a:rPr>
              <a:t>behaviour</a:t>
            </a:r>
            <a:r>
              <a:rPr lang="en-US" sz="2800" dirty="0" smtClean="0">
                <a:latin typeface="Baskerville Old Face" panose="02020602080505020303" charset="0"/>
                <a:cs typeface="Baskerville Old Face" panose="02020602080505020303" charset="0"/>
              </a:rPr>
              <a:t> and its relationship to unseen ‘mental’ processes (experiences) that go on inside the organism and to external events in the environment.”</a:t>
            </a:r>
            <a:endParaRPr lang="en-US" sz="2800" dirty="0">
              <a:latin typeface="Baskerville Old Face" panose="02020602080505020303"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8" name="Object 4"/>
          <p:cNvGraphicFramePr>
            <a:graphicFrameLocks noChangeAspect="1"/>
          </p:cNvGraphicFramePr>
          <p:nvPr/>
        </p:nvGraphicFramePr>
        <p:xfrm>
          <a:off x="762000" y="152400"/>
          <a:ext cx="6985635" cy="6116955"/>
        </p:xfrm>
        <a:graphic>
          <a:graphicData uri="http://schemas.openxmlformats.org/presentationml/2006/ole">
            <mc:AlternateContent xmlns:mc="http://schemas.openxmlformats.org/markup-compatibility/2006">
              <mc:Choice xmlns:v="urn:schemas-microsoft-com:vml" Requires="v">
                <p:oleObj spid="_x0000_s1025" name="Document" r:id="rId1" imgW="5944235" imgH="3021330" progId="Word.Document.12">
                  <p:embed/>
                </p:oleObj>
              </mc:Choice>
              <mc:Fallback>
                <p:oleObj name="Document" r:id="rId1" imgW="5944235" imgH="3021330" progId="Word.Document.12">
                  <p:embed/>
                  <p:pic>
                    <p:nvPicPr>
                      <p:cNvPr id="0" name="Picture 1024"/>
                      <p:cNvPicPr>
                        <a:picLocks noChangeAspect="1"/>
                      </p:cNvPicPr>
                      <p:nvPr/>
                    </p:nvPicPr>
                    <p:blipFill>
                      <a:blip r:embed="rId2"/>
                      <a:stretch>
                        <a:fillRect/>
                      </a:stretch>
                    </p:blipFill>
                    <p:spPr>
                      <a:xfrm>
                        <a:off x="762000" y="152400"/>
                        <a:ext cx="6985635" cy="611695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04800" y="228600"/>
            <a:ext cx="8686800" cy="1066800"/>
          </a:xfrm>
        </p:spPr>
        <p:txBody>
          <a:bodyPr>
            <a:normAutofit/>
          </a:bodyPr>
          <a:lstStyle/>
          <a:p>
            <a:pPr algn="ctr"/>
            <a:r>
              <a:rPr lang="en-US" sz="3100" dirty="0" smtClean="0">
                <a:latin typeface="Times New Roman" panose="02020603050405020304" pitchFamily="18" charset="0"/>
                <a:cs typeface="Times New Roman" panose="02020603050405020304" pitchFamily="18" charset="0"/>
              </a:rPr>
              <a:t>STAGES OF SOCIAL DEVELOPMENT </a:t>
            </a:r>
            <a:r>
              <a:rPr lang="en-US" dirty="0" smtClean="0"/>
              <a:t> </a:t>
            </a:r>
            <a:br>
              <a:rPr lang="en-US" dirty="0" smtClean="0"/>
            </a:br>
            <a:r>
              <a:rPr lang="en-US" sz="2700" dirty="0" smtClean="0"/>
              <a:t>E.H. ERIKSON</a:t>
            </a:r>
            <a:endParaRPr lang="en-US" sz="2700" dirty="0"/>
          </a:p>
        </p:txBody>
      </p:sp>
      <p:graphicFrame>
        <p:nvGraphicFramePr>
          <p:cNvPr id="4" name="Content Placeholder 3"/>
          <p:cNvGraphicFramePr>
            <a:graphicFrameLocks noGrp="1"/>
          </p:cNvGraphicFramePr>
          <p:nvPr>
            <p:ph idx="1"/>
          </p:nvPr>
        </p:nvGraphicFramePr>
        <p:xfrm>
          <a:off x="228600" y="1325880"/>
          <a:ext cx="8686800" cy="4389120"/>
        </p:xfrm>
        <a:graphic>
          <a:graphicData uri="http://schemas.openxmlformats.org/drawingml/2006/table">
            <a:tbl>
              <a:tblPr firstRow="1" bandRow="1">
                <a:tableStyleId>{00A15C55-8517-42AA-B614-E9B94910E393}</a:tableStyleId>
              </a:tblPr>
              <a:tblGrid>
                <a:gridCol w="457200"/>
                <a:gridCol w="1600200"/>
                <a:gridCol w="1295400"/>
                <a:gridCol w="1219200"/>
                <a:gridCol w="4114800"/>
              </a:tblGrid>
              <a:tr h="370840">
                <a:tc>
                  <a:txBody>
                    <a:bodyPr/>
                    <a:lstStyle/>
                    <a:p>
                      <a:r>
                        <a:rPr lang="en-US" sz="1600" dirty="0" err="1" smtClean="0"/>
                        <a:t>S.No</a:t>
                      </a:r>
                      <a:endParaRPr lang="en-US" sz="1600" dirty="0" smtClean="0"/>
                    </a:p>
                    <a:p>
                      <a:endParaRPr lang="en-US" sz="1600" dirty="0" smtClean="0"/>
                    </a:p>
                  </a:txBody>
                  <a:tcPr/>
                </a:tc>
                <a:tc>
                  <a:txBody>
                    <a:bodyPr/>
                    <a:lstStyle/>
                    <a:p>
                      <a:r>
                        <a:rPr lang="en-US" sz="1600" dirty="0" smtClean="0"/>
                        <a:t>Stage</a:t>
                      </a:r>
                      <a:endParaRPr lang="en-US" sz="1600" dirty="0"/>
                    </a:p>
                  </a:txBody>
                  <a:tcPr/>
                </a:tc>
                <a:tc>
                  <a:txBody>
                    <a:bodyPr/>
                    <a:lstStyle/>
                    <a:p>
                      <a:r>
                        <a:rPr lang="en-US" sz="1600" dirty="0" smtClean="0"/>
                        <a:t>Basic </a:t>
                      </a:r>
                      <a:r>
                        <a:rPr lang="en-US" sz="1600" baseline="0" dirty="0" smtClean="0"/>
                        <a:t>  Conflict</a:t>
                      </a:r>
                      <a:endParaRPr lang="en-US" sz="1600" dirty="0"/>
                    </a:p>
                  </a:txBody>
                  <a:tcPr/>
                </a:tc>
                <a:tc>
                  <a:txBody>
                    <a:bodyPr/>
                    <a:lstStyle/>
                    <a:p>
                      <a:r>
                        <a:rPr lang="en-US" sz="1600" dirty="0" smtClean="0"/>
                        <a:t>Important Events</a:t>
                      </a:r>
                      <a:endParaRPr lang="en-US" sz="1600" dirty="0"/>
                    </a:p>
                  </a:txBody>
                  <a:tcPr/>
                </a:tc>
                <a:tc>
                  <a:txBody>
                    <a:bodyPr/>
                    <a:lstStyle/>
                    <a:p>
                      <a:r>
                        <a:rPr lang="en-US" sz="1600" dirty="0" smtClean="0"/>
                        <a:t>Outcome </a:t>
                      </a:r>
                      <a:endParaRPr lang="en-US" sz="1600" dirty="0"/>
                    </a:p>
                  </a:txBody>
                  <a:tcPr/>
                </a:tc>
              </a:tr>
              <a:tr h="370840">
                <a:tc>
                  <a:txBody>
                    <a:bodyPr/>
                    <a:lstStyle/>
                    <a:p>
                      <a:r>
                        <a:rPr lang="en-US" sz="1400" dirty="0" smtClean="0"/>
                        <a:t>1.</a:t>
                      </a:r>
                      <a:endParaRPr lang="en-US" sz="1400" dirty="0"/>
                    </a:p>
                  </a:txBody>
                  <a:tcPr/>
                </a:tc>
                <a:tc>
                  <a:txBody>
                    <a:bodyPr/>
                    <a:lstStyle/>
                    <a:p>
                      <a:r>
                        <a:rPr lang="en-US" sz="1400" dirty="0" smtClean="0"/>
                        <a:t>Infancy (birth to </a:t>
                      </a:r>
                      <a:endParaRPr lang="en-US" sz="1400" dirty="0" smtClean="0"/>
                    </a:p>
                    <a:p>
                      <a:r>
                        <a:rPr lang="en-US" sz="1400" dirty="0" smtClean="0"/>
                        <a:t>2 years) </a:t>
                      </a:r>
                      <a:endParaRPr lang="en-US" sz="1400" dirty="0"/>
                    </a:p>
                  </a:txBody>
                  <a:tcPr/>
                </a:tc>
                <a:tc>
                  <a:txBody>
                    <a:bodyPr/>
                    <a:lstStyle/>
                    <a:p>
                      <a:r>
                        <a:rPr lang="en-US" sz="1400" dirty="0" smtClean="0"/>
                        <a:t>Trust   Vs.</a:t>
                      </a:r>
                      <a:r>
                        <a:rPr lang="en-US" sz="1400" baseline="0" dirty="0" smtClean="0"/>
                        <a:t> Mistrust</a:t>
                      </a:r>
                      <a:endParaRPr lang="en-US" sz="1400" dirty="0" smtClean="0"/>
                    </a:p>
                    <a:p>
                      <a:endParaRPr lang="en-US" sz="1400" dirty="0"/>
                    </a:p>
                  </a:txBody>
                  <a:tcPr/>
                </a:tc>
                <a:tc>
                  <a:txBody>
                    <a:bodyPr/>
                    <a:lstStyle/>
                    <a:p>
                      <a:r>
                        <a:rPr lang="en-US" sz="1400" dirty="0" smtClean="0"/>
                        <a:t>Feeding </a:t>
                      </a:r>
                      <a:endParaRPr lang="en-US" sz="1400" dirty="0"/>
                    </a:p>
                  </a:txBody>
                  <a:tcPr/>
                </a:tc>
                <a:tc>
                  <a:txBody>
                    <a:bodyPr/>
                    <a:lstStyle/>
                    <a:p>
                      <a:r>
                        <a:rPr lang="en-US" sz="1400" dirty="0" smtClean="0"/>
                        <a:t>Children develop a sense of trust when caregivers provide reliability, care, and affection.  A lack of this will lead to mistrust. </a:t>
                      </a:r>
                      <a:endParaRPr lang="en-US" sz="1400" dirty="0"/>
                    </a:p>
                  </a:txBody>
                  <a:tcPr/>
                </a:tc>
              </a:tr>
              <a:tr h="370840">
                <a:tc>
                  <a:txBody>
                    <a:bodyPr/>
                    <a:lstStyle/>
                    <a:p>
                      <a:r>
                        <a:rPr lang="en-US" sz="1400" dirty="0" smtClean="0"/>
                        <a:t>2.</a:t>
                      </a:r>
                      <a:endParaRPr lang="en-US" sz="1400" dirty="0"/>
                    </a:p>
                  </a:txBody>
                  <a:tcPr/>
                </a:tc>
                <a:tc>
                  <a:txBody>
                    <a:bodyPr/>
                    <a:lstStyle/>
                    <a:p>
                      <a:r>
                        <a:rPr lang="en-US" sz="1400" dirty="0" smtClean="0"/>
                        <a:t>Early Childhood (2 to 3 years)</a:t>
                      </a:r>
                      <a:endParaRPr lang="en-US" sz="1400" dirty="0"/>
                    </a:p>
                  </a:txBody>
                  <a:tcPr/>
                </a:tc>
                <a:tc>
                  <a:txBody>
                    <a:bodyPr/>
                    <a:lstStyle/>
                    <a:p>
                      <a:r>
                        <a:rPr lang="en-US" sz="1400" dirty="0" smtClean="0"/>
                        <a:t>Autonomy   Vs. Shame and Doubt</a:t>
                      </a:r>
                      <a:endParaRPr lang="en-US" sz="1400" dirty="0"/>
                    </a:p>
                  </a:txBody>
                  <a:tcPr/>
                </a:tc>
                <a:tc>
                  <a:txBody>
                    <a:bodyPr/>
                    <a:lstStyle/>
                    <a:p>
                      <a:r>
                        <a:rPr lang="en-US" sz="1400" dirty="0" smtClean="0"/>
                        <a:t>Toilet Training</a:t>
                      </a:r>
                      <a:endParaRPr lang="en-US" sz="1400" dirty="0"/>
                    </a:p>
                  </a:txBody>
                  <a:tcPr/>
                </a:tc>
                <a:tc>
                  <a:txBody>
                    <a:bodyPr/>
                    <a:lstStyle/>
                    <a:p>
                      <a:r>
                        <a:rPr lang="en-US" sz="1400" dirty="0" smtClean="0"/>
                        <a:t>Children need to develop a personal control over physical skills and a sense of independence.  Success leads to feelings of autonomy, failure results in feeling of shame and doubt. </a:t>
                      </a:r>
                      <a:endParaRPr lang="en-US" sz="1400" dirty="0"/>
                    </a:p>
                  </a:txBody>
                  <a:tcPr/>
                </a:tc>
              </a:tr>
              <a:tr h="370840">
                <a:tc>
                  <a:txBody>
                    <a:bodyPr/>
                    <a:lstStyle/>
                    <a:p>
                      <a:r>
                        <a:rPr lang="en-US" sz="1400" dirty="0" smtClean="0"/>
                        <a:t>3.</a:t>
                      </a:r>
                      <a:endParaRPr lang="en-US" sz="1400" dirty="0"/>
                    </a:p>
                  </a:txBody>
                  <a:tcPr/>
                </a:tc>
                <a:tc>
                  <a:txBody>
                    <a:bodyPr/>
                    <a:lstStyle/>
                    <a:p>
                      <a:r>
                        <a:rPr lang="en-US" sz="1400" dirty="0" smtClean="0"/>
                        <a:t>Pre School </a:t>
                      </a:r>
                      <a:endParaRPr lang="en-US" sz="1400" dirty="0" smtClean="0"/>
                    </a:p>
                    <a:p>
                      <a:r>
                        <a:rPr lang="en-US" sz="1400" dirty="0" smtClean="0"/>
                        <a:t>(3 to 5 years) </a:t>
                      </a:r>
                      <a:endParaRPr lang="en-US" sz="1400" dirty="0"/>
                    </a:p>
                  </a:txBody>
                  <a:tcPr/>
                </a:tc>
                <a:tc>
                  <a:txBody>
                    <a:bodyPr/>
                    <a:lstStyle/>
                    <a:p>
                      <a:r>
                        <a:rPr lang="en-US" sz="1400" dirty="0" smtClean="0"/>
                        <a:t>Initiative  Vs.</a:t>
                      </a:r>
                      <a:endParaRPr lang="en-US" sz="1400" dirty="0" smtClean="0"/>
                    </a:p>
                    <a:p>
                      <a:r>
                        <a:rPr lang="en-US" sz="1400" dirty="0" smtClean="0"/>
                        <a:t>Guilt</a:t>
                      </a:r>
                      <a:endParaRPr lang="en-US" sz="1400" dirty="0"/>
                    </a:p>
                  </a:txBody>
                  <a:tcPr/>
                </a:tc>
                <a:tc>
                  <a:txBody>
                    <a:bodyPr/>
                    <a:lstStyle/>
                    <a:p>
                      <a:r>
                        <a:rPr lang="en-US" sz="1400" dirty="0" smtClean="0"/>
                        <a:t>Exploration</a:t>
                      </a:r>
                      <a:endParaRPr lang="en-US" sz="1400" dirty="0"/>
                    </a:p>
                  </a:txBody>
                  <a:tcPr/>
                </a:tc>
                <a:tc>
                  <a:txBody>
                    <a:bodyPr/>
                    <a:lstStyle/>
                    <a:p>
                      <a:r>
                        <a:rPr lang="en-US" sz="1400" dirty="0" smtClean="0"/>
                        <a:t>Children need to begin asserting control and power over the environment.  Success</a:t>
                      </a:r>
                      <a:r>
                        <a:rPr lang="en-US" sz="1400" baseline="0" dirty="0" smtClean="0"/>
                        <a:t> in this stage leads to a sense of purpose.  Children who try to exert too much power experience disapproval, resulting in a sense of guilt.</a:t>
                      </a:r>
                      <a:endParaRPr lang="en-US" sz="1400" dirty="0"/>
                    </a:p>
                  </a:txBody>
                  <a:tcPr/>
                </a:tc>
              </a:tr>
              <a:tr h="370840">
                <a:tc>
                  <a:txBody>
                    <a:bodyPr/>
                    <a:lstStyle/>
                    <a:p>
                      <a:r>
                        <a:rPr lang="en-US" sz="1400" dirty="0" smtClean="0"/>
                        <a:t>4. </a:t>
                      </a:r>
                      <a:endParaRPr lang="en-US" sz="1400" dirty="0"/>
                    </a:p>
                  </a:txBody>
                  <a:tcPr/>
                </a:tc>
                <a:tc>
                  <a:txBody>
                    <a:bodyPr/>
                    <a:lstStyle/>
                    <a:p>
                      <a:r>
                        <a:rPr lang="en-US" sz="1400" dirty="0" smtClean="0"/>
                        <a:t>School Age (6 to 12 years or puberty)</a:t>
                      </a:r>
                      <a:endParaRPr lang="en-US" sz="1400" dirty="0"/>
                    </a:p>
                  </a:txBody>
                  <a:tcPr/>
                </a:tc>
                <a:tc>
                  <a:txBody>
                    <a:bodyPr/>
                    <a:lstStyle/>
                    <a:p>
                      <a:r>
                        <a:rPr lang="en-US" sz="1400" dirty="0" smtClean="0"/>
                        <a:t>Industry Vs.</a:t>
                      </a:r>
                      <a:endParaRPr lang="en-US" sz="1400" dirty="0" smtClean="0"/>
                    </a:p>
                    <a:p>
                      <a:r>
                        <a:rPr lang="en-US" sz="1400" dirty="0" smtClean="0"/>
                        <a:t>Inferiority</a:t>
                      </a:r>
                      <a:endParaRPr lang="en-US" sz="1400" dirty="0"/>
                    </a:p>
                  </a:txBody>
                  <a:tcPr/>
                </a:tc>
                <a:tc>
                  <a:txBody>
                    <a:bodyPr/>
                    <a:lstStyle/>
                    <a:p>
                      <a:r>
                        <a:rPr lang="en-US" sz="1400" dirty="0" smtClean="0"/>
                        <a:t>School</a:t>
                      </a:r>
                      <a:endParaRPr lang="en-US" sz="1400" dirty="0"/>
                    </a:p>
                  </a:txBody>
                  <a:tcPr/>
                </a:tc>
                <a:tc>
                  <a:txBody>
                    <a:bodyPr/>
                    <a:lstStyle/>
                    <a:p>
                      <a:r>
                        <a:rPr lang="en-US" sz="1400" dirty="0" smtClean="0"/>
                        <a:t>Children</a:t>
                      </a:r>
                      <a:r>
                        <a:rPr lang="en-US" sz="1400" baseline="0" dirty="0" smtClean="0"/>
                        <a:t> need to cope with new social and academic demands.  Success leads to a sense of competence, while failure results in feelings of inferiority.</a:t>
                      </a:r>
                      <a:endParaRPr lang="en-US" sz="1400" baseline="0" dirty="0" smtClean="0"/>
                    </a:p>
                  </a:txBody>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86800" cy="762000"/>
          </a:xfrm>
        </p:spPr>
        <p:txBody>
          <a:bodyPr>
            <a:normAutofit/>
          </a:bodyPr>
          <a:lstStyle/>
          <a:p>
            <a:r>
              <a:rPr lang="en-US" sz="2800" dirty="0" smtClean="0">
                <a:latin typeface="Times New Roman" panose="02020603050405020304" pitchFamily="18" charset="0"/>
                <a:cs typeface="Times New Roman" panose="02020603050405020304" pitchFamily="18" charset="0"/>
              </a:rPr>
              <a:t>STAGES OF SOCIAL DEVELOPMENT … </a:t>
            </a:r>
            <a:r>
              <a:rPr lang="en-US" sz="1600" cap="none" dirty="0" smtClean="0"/>
              <a:t>p/2</a:t>
            </a:r>
            <a:endParaRPr lang="en-US" sz="1600" dirty="0"/>
          </a:p>
        </p:txBody>
      </p:sp>
      <p:graphicFrame>
        <p:nvGraphicFramePr>
          <p:cNvPr id="4" name="Content Placeholder 3"/>
          <p:cNvGraphicFramePr>
            <a:graphicFrameLocks noGrp="1"/>
          </p:cNvGraphicFramePr>
          <p:nvPr>
            <p:ph idx="1"/>
          </p:nvPr>
        </p:nvGraphicFramePr>
        <p:xfrm>
          <a:off x="304800" y="1028700"/>
          <a:ext cx="8686800" cy="6047740"/>
        </p:xfrm>
        <a:graphic>
          <a:graphicData uri="http://schemas.openxmlformats.org/drawingml/2006/table">
            <a:tbl>
              <a:tblPr firstRow="1" bandRow="1">
                <a:tableStyleId>{00A15C55-8517-42AA-B614-E9B94910E393}</a:tableStyleId>
              </a:tblPr>
              <a:tblGrid>
                <a:gridCol w="457200"/>
                <a:gridCol w="1524000"/>
                <a:gridCol w="1295400"/>
                <a:gridCol w="1557020"/>
                <a:gridCol w="3853180"/>
              </a:tblGrid>
              <a:tr h="634365">
                <a:tc>
                  <a:txBody>
                    <a:bodyPr/>
                    <a:lstStyle/>
                    <a:p>
                      <a:r>
                        <a:rPr lang="en-US" sz="1600" dirty="0" err="1" smtClean="0"/>
                        <a:t>S.No</a:t>
                      </a:r>
                      <a:endParaRPr lang="en-US" sz="1600" dirty="0"/>
                    </a:p>
                  </a:txBody>
                  <a:tcPr/>
                </a:tc>
                <a:tc>
                  <a:txBody>
                    <a:bodyPr/>
                    <a:lstStyle/>
                    <a:p>
                      <a:r>
                        <a:rPr lang="en-US" sz="1600" dirty="0" smtClean="0"/>
                        <a:t>Stage</a:t>
                      </a:r>
                      <a:endParaRPr lang="en-US" sz="1600" dirty="0"/>
                    </a:p>
                  </a:txBody>
                  <a:tcPr/>
                </a:tc>
                <a:tc>
                  <a:txBody>
                    <a:bodyPr/>
                    <a:lstStyle/>
                    <a:p>
                      <a:r>
                        <a:rPr lang="en-US" sz="1600" dirty="0" smtClean="0"/>
                        <a:t>Basic Conflict</a:t>
                      </a:r>
                      <a:endParaRPr lang="en-US" sz="1600" dirty="0"/>
                    </a:p>
                  </a:txBody>
                  <a:tcPr/>
                </a:tc>
                <a:tc>
                  <a:txBody>
                    <a:bodyPr/>
                    <a:lstStyle/>
                    <a:p>
                      <a:r>
                        <a:rPr lang="en-US" sz="1600" dirty="0" smtClean="0"/>
                        <a:t>Important</a:t>
                      </a:r>
                      <a:r>
                        <a:rPr lang="en-US" sz="1600" baseline="0" dirty="0" smtClean="0"/>
                        <a:t> Events</a:t>
                      </a:r>
                      <a:endParaRPr lang="en-US" sz="1600" dirty="0"/>
                    </a:p>
                  </a:txBody>
                  <a:tcPr/>
                </a:tc>
                <a:tc>
                  <a:txBody>
                    <a:bodyPr/>
                    <a:lstStyle/>
                    <a:p>
                      <a:r>
                        <a:rPr lang="en-US" sz="1600" dirty="0" smtClean="0"/>
                        <a:t>Outcome</a:t>
                      </a:r>
                      <a:endParaRPr lang="en-US" sz="1600" dirty="0"/>
                    </a:p>
                  </a:txBody>
                  <a:tcPr/>
                </a:tc>
              </a:tr>
              <a:tr h="1435100">
                <a:tc>
                  <a:txBody>
                    <a:bodyPr/>
                    <a:lstStyle/>
                    <a:p>
                      <a:r>
                        <a:rPr lang="en-US" sz="1600" dirty="0" smtClean="0"/>
                        <a:t>5.</a:t>
                      </a:r>
                      <a:endParaRPr lang="en-US" sz="1600" dirty="0"/>
                    </a:p>
                  </a:txBody>
                  <a:tcPr/>
                </a:tc>
                <a:tc>
                  <a:txBody>
                    <a:bodyPr/>
                    <a:lstStyle/>
                    <a:p>
                      <a:r>
                        <a:rPr lang="en-US" sz="1800" dirty="0" smtClean="0">
                          <a:solidFill>
                            <a:srgbClr val="FF0000"/>
                          </a:solidFill>
                        </a:rPr>
                        <a:t>Adolescence (13 to 19 years)</a:t>
                      </a:r>
                      <a:endParaRPr lang="en-US" sz="1800" dirty="0" smtClean="0">
                        <a:solidFill>
                          <a:srgbClr val="FF0000"/>
                        </a:solidFill>
                      </a:endParaRPr>
                    </a:p>
                  </a:txBody>
                  <a:tcPr/>
                </a:tc>
                <a:tc>
                  <a:txBody>
                    <a:bodyPr/>
                    <a:lstStyle/>
                    <a:p>
                      <a:r>
                        <a:rPr lang="en-US" sz="1800" dirty="0" smtClean="0">
                          <a:solidFill>
                            <a:srgbClr val="FF0000"/>
                          </a:solidFill>
                        </a:rPr>
                        <a:t>Identity Vs. Confusion</a:t>
                      </a:r>
                      <a:endParaRPr lang="en-US" sz="1800" dirty="0" smtClean="0">
                        <a:solidFill>
                          <a:srgbClr val="FF0000"/>
                        </a:solidFill>
                      </a:endParaRPr>
                    </a:p>
                  </a:txBody>
                  <a:tcPr/>
                </a:tc>
                <a:tc>
                  <a:txBody>
                    <a:bodyPr/>
                    <a:lstStyle/>
                    <a:p>
                      <a:r>
                        <a:rPr lang="en-US" sz="1800" dirty="0" smtClean="0">
                          <a:solidFill>
                            <a:srgbClr val="FF0000"/>
                          </a:solidFill>
                        </a:rPr>
                        <a:t>Social Relationships</a:t>
                      </a:r>
                      <a:endParaRPr lang="en-US" sz="1800" dirty="0" smtClean="0">
                        <a:solidFill>
                          <a:srgbClr val="FF0000"/>
                        </a:solidFill>
                      </a:endParaRPr>
                    </a:p>
                  </a:txBody>
                  <a:tcPr/>
                </a:tc>
                <a:tc>
                  <a:txBody>
                    <a:bodyPr/>
                    <a:lstStyle/>
                    <a:p>
                      <a:r>
                        <a:rPr lang="en-US" sz="1800" dirty="0" smtClean="0">
                          <a:solidFill>
                            <a:srgbClr val="FF0000"/>
                          </a:solidFill>
                        </a:rPr>
                        <a:t>Teens need to develop a sense of self and personal identity.  Success leads to an ability to stay true to yourself,</a:t>
                      </a:r>
                      <a:r>
                        <a:rPr lang="en-US" sz="1800" baseline="0" dirty="0" smtClean="0">
                          <a:solidFill>
                            <a:srgbClr val="FF0000"/>
                          </a:solidFill>
                        </a:rPr>
                        <a:t> while failure leads to role confusion and a weak sense of self.</a:t>
                      </a:r>
                      <a:endParaRPr lang="en-US" sz="1800" baseline="0" dirty="0" smtClean="0">
                        <a:solidFill>
                          <a:srgbClr val="FF0000"/>
                        </a:solidFill>
                      </a:endParaRPr>
                    </a:p>
                  </a:txBody>
                  <a:tcPr/>
                </a:tc>
              </a:tr>
              <a:tr h="1035050">
                <a:tc>
                  <a:txBody>
                    <a:bodyPr/>
                    <a:lstStyle/>
                    <a:p>
                      <a:r>
                        <a:rPr lang="en-US" sz="1400" dirty="0" smtClean="0"/>
                        <a:t>6.</a:t>
                      </a:r>
                      <a:endParaRPr lang="en-US" sz="1400" dirty="0"/>
                    </a:p>
                  </a:txBody>
                  <a:tcPr/>
                </a:tc>
                <a:tc>
                  <a:txBody>
                    <a:bodyPr/>
                    <a:lstStyle/>
                    <a:p>
                      <a:r>
                        <a:rPr lang="en-US" sz="1800" dirty="0" smtClean="0">
                          <a:solidFill>
                            <a:srgbClr val="FF0000"/>
                          </a:solidFill>
                        </a:rPr>
                        <a:t>Young Adulthood</a:t>
                      </a:r>
                      <a:endParaRPr lang="en-US" sz="1800" dirty="0" smtClean="0">
                        <a:solidFill>
                          <a:srgbClr val="FF0000"/>
                        </a:solidFill>
                      </a:endParaRPr>
                    </a:p>
                    <a:p>
                      <a:r>
                        <a:rPr lang="en-US" sz="1800" dirty="0" smtClean="0">
                          <a:solidFill>
                            <a:srgbClr val="FF0000"/>
                          </a:solidFill>
                        </a:rPr>
                        <a:t>(19 to 40 years)</a:t>
                      </a:r>
                      <a:endParaRPr lang="en-US" sz="1800" dirty="0" smtClean="0">
                        <a:solidFill>
                          <a:srgbClr val="FF0000"/>
                        </a:solidFill>
                      </a:endParaRPr>
                    </a:p>
                  </a:txBody>
                  <a:tcPr/>
                </a:tc>
                <a:tc>
                  <a:txBody>
                    <a:bodyPr/>
                    <a:lstStyle/>
                    <a:p>
                      <a:r>
                        <a:rPr lang="en-US" sz="1800" dirty="0" smtClean="0">
                          <a:solidFill>
                            <a:srgbClr val="FF0000"/>
                          </a:solidFill>
                        </a:rPr>
                        <a:t>Intimacy Vs. Isolation</a:t>
                      </a:r>
                      <a:endParaRPr lang="en-US" sz="1800" dirty="0" smtClean="0">
                        <a:solidFill>
                          <a:srgbClr val="FF0000"/>
                        </a:solidFill>
                      </a:endParaRPr>
                    </a:p>
                  </a:txBody>
                  <a:tcPr/>
                </a:tc>
                <a:tc>
                  <a:txBody>
                    <a:bodyPr/>
                    <a:lstStyle/>
                    <a:p>
                      <a:r>
                        <a:rPr lang="en-US" sz="1800" dirty="0" smtClean="0">
                          <a:solidFill>
                            <a:srgbClr val="FF0000"/>
                          </a:solidFill>
                        </a:rPr>
                        <a:t>Relationships</a:t>
                      </a:r>
                      <a:endParaRPr lang="en-US" sz="1800" dirty="0" smtClean="0">
                        <a:solidFill>
                          <a:srgbClr val="FF0000"/>
                        </a:solidFill>
                      </a:endParaRPr>
                    </a:p>
                  </a:txBody>
                  <a:tcPr/>
                </a:tc>
                <a:tc>
                  <a:txBody>
                    <a:bodyPr/>
                    <a:lstStyle/>
                    <a:p>
                      <a:r>
                        <a:rPr lang="en-US" sz="1800" dirty="0" smtClean="0">
                          <a:solidFill>
                            <a:srgbClr val="FF0000"/>
                          </a:solidFill>
                        </a:rPr>
                        <a:t>Young adults need to form intimate loving relationships with other people. Success leads to strong relationships, while failure results in loneliness and isolation.</a:t>
                      </a:r>
                      <a:endParaRPr lang="en-US" sz="1800" dirty="0" smtClean="0">
                        <a:solidFill>
                          <a:srgbClr val="FF0000"/>
                        </a:solidFill>
                      </a:endParaRPr>
                    </a:p>
                  </a:txBody>
                  <a:tcPr/>
                </a:tc>
              </a:tr>
              <a:tr h="1502410">
                <a:tc>
                  <a:txBody>
                    <a:bodyPr/>
                    <a:lstStyle/>
                    <a:p>
                      <a:r>
                        <a:rPr lang="en-US" sz="1400" dirty="0" smtClean="0"/>
                        <a:t>7.</a:t>
                      </a:r>
                      <a:endParaRPr lang="en-US" sz="1400" dirty="0"/>
                    </a:p>
                  </a:txBody>
                  <a:tcPr/>
                </a:tc>
                <a:tc>
                  <a:txBody>
                    <a:bodyPr/>
                    <a:lstStyle/>
                    <a:p>
                      <a:r>
                        <a:rPr lang="en-US" sz="1400" dirty="0" smtClean="0"/>
                        <a:t>Middle Adulthood (40 to 65 years)</a:t>
                      </a:r>
                      <a:endParaRPr lang="en-US" sz="1400" dirty="0"/>
                    </a:p>
                  </a:txBody>
                  <a:tcPr/>
                </a:tc>
                <a:tc>
                  <a:txBody>
                    <a:bodyPr/>
                    <a:lstStyle/>
                    <a:p>
                      <a:r>
                        <a:rPr lang="en-US" sz="1400" dirty="0" err="1" smtClean="0"/>
                        <a:t>Generativity</a:t>
                      </a:r>
                      <a:r>
                        <a:rPr lang="en-US" sz="1400" dirty="0" smtClean="0"/>
                        <a:t> Vs. Stagnation</a:t>
                      </a:r>
                      <a:endParaRPr lang="en-US" sz="1400" dirty="0"/>
                    </a:p>
                  </a:txBody>
                  <a:tcPr/>
                </a:tc>
                <a:tc>
                  <a:txBody>
                    <a:bodyPr/>
                    <a:lstStyle/>
                    <a:p>
                      <a:r>
                        <a:rPr lang="en-US" sz="1400" dirty="0" smtClean="0"/>
                        <a:t>Work and Parenthood</a:t>
                      </a:r>
                      <a:endParaRPr lang="en-US" sz="1400" dirty="0"/>
                    </a:p>
                  </a:txBody>
                  <a:tcPr/>
                </a:tc>
                <a:tc>
                  <a:txBody>
                    <a:bodyPr/>
                    <a:lstStyle/>
                    <a:p>
                      <a:r>
                        <a:rPr lang="en-US" sz="1400" dirty="0" smtClean="0"/>
                        <a:t>Adults need to create or nurture things that will outlast them, often by having children or creating a positive change that benefits other people.  Success</a:t>
                      </a:r>
                      <a:r>
                        <a:rPr lang="en-US" sz="1400" baseline="0" dirty="0" smtClean="0"/>
                        <a:t> leads to feelings of usefulness and accomplishment, while failure results in shall involvement in the world.</a:t>
                      </a:r>
                      <a:endParaRPr lang="en-US" sz="1400" dirty="0"/>
                    </a:p>
                  </a:txBody>
                  <a:tcPr/>
                </a:tc>
              </a:tr>
              <a:tr h="1034415">
                <a:tc>
                  <a:txBody>
                    <a:bodyPr/>
                    <a:lstStyle/>
                    <a:p>
                      <a:r>
                        <a:rPr lang="en-US" sz="1400" dirty="0" smtClean="0"/>
                        <a:t>8.</a:t>
                      </a:r>
                      <a:endParaRPr lang="en-US" sz="1400" dirty="0"/>
                    </a:p>
                  </a:txBody>
                  <a:tcPr/>
                </a:tc>
                <a:tc>
                  <a:txBody>
                    <a:bodyPr/>
                    <a:lstStyle/>
                    <a:p>
                      <a:r>
                        <a:rPr lang="en-US" sz="1400" dirty="0" smtClean="0"/>
                        <a:t>Maturity  (65 to death)</a:t>
                      </a:r>
                      <a:endParaRPr lang="en-US" sz="1400" dirty="0"/>
                    </a:p>
                  </a:txBody>
                  <a:tcPr/>
                </a:tc>
                <a:tc>
                  <a:txBody>
                    <a:bodyPr/>
                    <a:lstStyle/>
                    <a:p>
                      <a:r>
                        <a:rPr lang="en-US" sz="1400" dirty="0" smtClean="0"/>
                        <a:t>Ego Integrity Vs. Despair</a:t>
                      </a:r>
                      <a:endParaRPr lang="en-US" sz="1400" dirty="0"/>
                    </a:p>
                  </a:txBody>
                  <a:tcPr/>
                </a:tc>
                <a:tc>
                  <a:txBody>
                    <a:bodyPr/>
                    <a:lstStyle/>
                    <a:p>
                      <a:r>
                        <a:rPr lang="en-US" sz="1400" dirty="0" smtClean="0"/>
                        <a:t>Reflection  on Life</a:t>
                      </a:r>
                      <a:endParaRPr lang="en-US" sz="1400" dirty="0"/>
                    </a:p>
                  </a:txBody>
                  <a:tcPr/>
                </a:tc>
                <a:tc>
                  <a:txBody>
                    <a:bodyPr/>
                    <a:lstStyle/>
                    <a:p>
                      <a:r>
                        <a:rPr lang="en-US" sz="1400" dirty="0" smtClean="0"/>
                        <a:t>Older adults need to look back on life and feel a sense of fulfillment.</a:t>
                      </a:r>
                      <a:r>
                        <a:rPr lang="en-US" sz="1400" baseline="0" dirty="0" smtClean="0"/>
                        <a:t>  Success at this stage leads to feelings of wisdom, while failure results in regret, bitterness and despair. </a:t>
                      </a:r>
                      <a:endParaRPr lang="en-US" sz="1400" dirty="0"/>
                    </a:p>
                  </a:txBody>
                  <a:tcPr/>
                </a:tc>
              </a:tr>
              <a:tr h="40640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solidFill>
                  <a:schemeClr val="accent1"/>
                </a:solidFill>
                <a:latin typeface="Times New Roman" panose="02020603050405020304" pitchFamily="18" charset="0"/>
                <a:cs typeface="Times New Roman" panose="02020603050405020304" pitchFamily="18" charset="0"/>
              </a:rPr>
              <a:t>3.0  </a:t>
            </a:r>
            <a:r>
              <a:rPr lang="en-US" sz="2800" b="1" dirty="0" smtClean="0">
                <a:solidFill>
                  <a:schemeClr val="accent1"/>
                </a:solidFill>
                <a:latin typeface="Times New Roman" panose="02020603050405020304" pitchFamily="18" charset="0"/>
                <a:cs typeface="Times New Roman" panose="02020603050405020304" pitchFamily="18" charset="0"/>
              </a:rPr>
              <a:t> ADOLESCENCE</a:t>
            </a:r>
            <a:endParaRPr lang="en-US" sz="28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884555"/>
            <a:ext cx="8229600" cy="5243195"/>
          </a:xfrm>
        </p:spPr>
        <p:txBody>
          <a:bodyPr>
            <a:normAutofit/>
          </a:bodyPr>
          <a:lstStyle/>
          <a:p>
            <a:pPr marL="457200" lvl="1" indent="0">
              <a:buNone/>
            </a:pPr>
            <a:r>
              <a:rPr lang="en-US" sz="2100" b="1" dirty="0" smtClean="0">
                <a:latin typeface="Times New Roman" panose="02020603050405020304" pitchFamily="18" charset="0"/>
                <a:cs typeface="Times New Roman" panose="02020603050405020304" pitchFamily="18" charset="0"/>
              </a:rPr>
              <a:t>Adolescence </a:t>
            </a:r>
            <a:endParaRPr lang="en-US" sz="2100" dirty="0" smtClean="0">
              <a:latin typeface="Times New Roman" panose="02020603050405020304" pitchFamily="18" charset="0"/>
              <a:cs typeface="Times New Roman" panose="02020603050405020304" pitchFamily="18" charset="0"/>
            </a:endParaRPr>
          </a:p>
          <a:p>
            <a:pPr marL="457200" indent="-457200">
              <a:buAutoNum type="arabicPlain"/>
            </a:pPr>
            <a:r>
              <a:rPr lang="en-US" sz="2400" b="1" dirty="0" smtClean="0">
                <a:latin typeface="Times New Roman" panose="02020603050405020304" pitchFamily="18" charset="0"/>
                <a:cs typeface="Times New Roman" panose="02020603050405020304" pitchFamily="18" charset="0"/>
              </a:rPr>
              <a:t>is a ‘Transitional Period’</a:t>
            </a:r>
            <a:r>
              <a:rPr lang="en-US" sz="2400" dirty="0" smtClean="0">
                <a:latin typeface="Times New Roman" panose="02020603050405020304" pitchFamily="18" charset="0"/>
                <a:cs typeface="Times New Roman" panose="02020603050405020304" pitchFamily="18" charset="0"/>
              </a:rPr>
              <a:t>.  Children must put away childish things and they must also learn new patterns of behavior and attitudes.</a:t>
            </a:r>
            <a:endParaRPr lang="en-US" sz="2400" dirty="0" smtClean="0">
              <a:latin typeface="Times New Roman" panose="02020603050405020304" pitchFamily="18" charset="0"/>
              <a:cs typeface="Times New Roman" panose="02020603050405020304" pitchFamily="18" charset="0"/>
            </a:endParaRPr>
          </a:p>
          <a:p>
            <a:pPr marL="457200" indent="-457200">
              <a:buAutoNum type="arabicPlain"/>
            </a:pPr>
            <a:r>
              <a:rPr lang="en-US" sz="2400" b="1" dirty="0" smtClean="0">
                <a:latin typeface="Times New Roman" panose="02020603050405020304" pitchFamily="18" charset="0"/>
                <a:cs typeface="Times New Roman" panose="02020603050405020304" pitchFamily="18" charset="0"/>
              </a:rPr>
              <a:t>Is a ‘Problem Age</a:t>
            </a:r>
            <a:r>
              <a:rPr lang="en-US" sz="2400" dirty="0" smtClean="0">
                <a:latin typeface="Times New Roman" panose="02020603050405020304" pitchFamily="18" charset="0"/>
                <a:cs typeface="Times New Roman" panose="02020603050405020304" pitchFamily="18" charset="0"/>
              </a:rPr>
              <a:t>. They cannot act either as a child or an adult.</a:t>
            </a:r>
            <a:endParaRPr lang="en-US" sz="2400" dirty="0" smtClean="0">
              <a:latin typeface="Times New Roman" panose="02020603050405020304" pitchFamily="18" charset="0"/>
              <a:cs typeface="Times New Roman" panose="02020603050405020304" pitchFamily="18" charset="0"/>
            </a:endParaRPr>
          </a:p>
          <a:p>
            <a:pPr marL="457200" indent="-457200">
              <a:buAutoNum type="arabicPlain"/>
            </a:pPr>
            <a:r>
              <a:rPr lang="en-US" sz="2400" b="1" dirty="0" smtClean="0">
                <a:latin typeface="Times New Roman" panose="02020603050405020304" pitchFamily="18" charset="0"/>
                <a:cs typeface="Times New Roman" panose="02020603050405020304" pitchFamily="18" charset="0"/>
              </a:rPr>
              <a:t>is a ‘Time of Search for Identity,’</a:t>
            </a:r>
            <a:r>
              <a:rPr lang="en-US" sz="2400" dirty="0" smtClean="0">
                <a:latin typeface="Times New Roman" panose="02020603050405020304" pitchFamily="18" charset="0"/>
                <a:cs typeface="Times New Roman" panose="02020603050405020304" pitchFamily="18" charset="0"/>
              </a:rPr>
              <a:t>  crave for identity and not satisfied  to be like their peers .</a:t>
            </a:r>
            <a:endParaRPr lang="en-US" sz="2400" dirty="0" smtClean="0">
              <a:latin typeface="Times New Roman" panose="02020603050405020304" pitchFamily="18" charset="0"/>
              <a:cs typeface="Times New Roman" panose="02020603050405020304" pitchFamily="18" charset="0"/>
            </a:endParaRPr>
          </a:p>
          <a:p>
            <a:pPr marL="457200" indent="-457200">
              <a:buAutoNum type="arabicPlain"/>
            </a:pPr>
            <a:r>
              <a:rPr lang="en-US" sz="2400" b="1" dirty="0" smtClean="0">
                <a:latin typeface="Times New Roman" panose="02020603050405020304" pitchFamily="18" charset="0"/>
                <a:cs typeface="Times New Roman" panose="02020603050405020304" pitchFamily="18" charset="0"/>
              </a:rPr>
              <a:t>Is a ‘time of unrealism’</a:t>
            </a:r>
            <a:r>
              <a:rPr lang="en-US" sz="2400" dirty="0" smtClean="0">
                <a:latin typeface="Times New Roman" panose="02020603050405020304" pitchFamily="18" charset="0"/>
                <a:cs typeface="Times New Roman" panose="02020603050405020304" pitchFamily="18" charset="0"/>
              </a:rPr>
              <a:t>  develop unrealistic aspirations.</a:t>
            </a:r>
            <a:endParaRPr lang="en-US" sz="2400" dirty="0" smtClean="0">
              <a:latin typeface="Times New Roman" panose="02020603050405020304" pitchFamily="18" charset="0"/>
              <a:cs typeface="Times New Roman" panose="02020603050405020304" pitchFamily="18" charset="0"/>
            </a:endParaRPr>
          </a:p>
          <a:p>
            <a:pPr marL="457200" indent="-457200">
              <a:buNone/>
            </a:pPr>
            <a:r>
              <a:rPr lang="en-US" sz="2000" b="1" dirty="0" smtClean="0">
                <a:latin typeface="Times New Roman" panose="02020603050405020304" pitchFamily="18" charset="0"/>
                <a:cs typeface="Times New Roman" panose="02020603050405020304" pitchFamily="18" charset="0"/>
              </a:rPr>
              <a:t>5</a:t>
            </a:r>
            <a:r>
              <a:rPr lang="en-US" sz="2400" b="1" dirty="0" smtClean="0">
                <a:latin typeface="Times New Roman" panose="02020603050405020304" pitchFamily="18" charset="0"/>
                <a:cs typeface="Times New Roman" panose="02020603050405020304" pitchFamily="18" charset="0"/>
              </a:rPr>
              <a:t>	Is the ‘Period of Storm and Stress’ </a:t>
            </a:r>
            <a:r>
              <a:rPr lang="en-US" sz="2400" dirty="0" smtClean="0">
                <a:latin typeface="Times New Roman" panose="02020603050405020304" pitchFamily="18" charset="0"/>
                <a:cs typeface="Times New Roman" panose="02020603050405020304" pitchFamily="18" charset="0"/>
              </a:rPr>
              <a:t>– a time of heightened emotional 	tension.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smtClean="0">
                <a:solidFill>
                  <a:schemeClr val="accent1"/>
                </a:solidFill>
                <a:latin typeface="Times New Roman" panose="02020603050405020304" pitchFamily="18" charset="0"/>
                <a:cs typeface="Times New Roman" panose="02020603050405020304" pitchFamily="18" charset="0"/>
              </a:rPr>
              <a:t>3.0 </a:t>
            </a:r>
            <a:r>
              <a:rPr lang="en-US" sz="2800" b="1" dirty="0" smtClean="0">
                <a:solidFill>
                  <a:schemeClr val="accent1"/>
                </a:solidFill>
                <a:latin typeface="Times New Roman" panose="02020603050405020304" pitchFamily="18" charset="0"/>
                <a:cs typeface="Times New Roman" panose="02020603050405020304" pitchFamily="18" charset="0"/>
              </a:rPr>
              <a:t>ADOLESCENCE </a:t>
            </a:r>
            <a:r>
              <a:rPr lang="en-US" sz="2000" dirty="0" smtClean="0">
                <a:latin typeface="Times New Roman" panose="02020603050405020304" pitchFamily="18" charset="0"/>
                <a:cs typeface="Times New Roman" panose="02020603050405020304" pitchFamily="18" charset="0"/>
              </a:rPr>
              <a:t>(cont’d…p/2)</a:t>
            </a:r>
            <a:endParaRPr lang="en-US" sz="2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59485"/>
            <a:ext cx="8229600" cy="5168265"/>
          </a:xfrm>
        </p:spPr>
        <p:txBody>
          <a:bodyPr>
            <a:noAutofit/>
          </a:bodyPr>
          <a:lstStyle/>
          <a:p>
            <a:pPr marL="514350" indent="-514350">
              <a:buAutoNum type="arabicPlain" startAt="6"/>
            </a:pPr>
            <a:r>
              <a:rPr lang="en-US" sz="2000" b="1" dirty="0" smtClean="0">
                <a:latin typeface="Times New Roman" panose="02020603050405020304" pitchFamily="18" charset="0"/>
                <a:cs typeface="Times New Roman" panose="02020603050405020304" pitchFamily="18" charset="0"/>
              </a:rPr>
              <a:t>Adjustment difficulties with School Discipline</a:t>
            </a:r>
            <a:r>
              <a:rPr lang="en-US" sz="2000" dirty="0" smtClean="0">
                <a:latin typeface="Times New Roman" panose="02020603050405020304" pitchFamily="18" charset="0"/>
                <a:cs typeface="Times New Roman" panose="02020603050405020304" pitchFamily="18" charset="0"/>
              </a:rPr>
              <a:t> : restrictions on adolescents by some Schools – should not talk to opposite sex, have a haircut. </a:t>
            </a:r>
            <a:endParaRPr lang="en-US" sz="2000" dirty="0" smtClean="0">
              <a:latin typeface="Times New Roman" panose="02020603050405020304" pitchFamily="18" charset="0"/>
              <a:cs typeface="Times New Roman" panose="02020603050405020304" pitchFamily="18" charset="0"/>
            </a:endParaRPr>
          </a:p>
          <a:p>
            <a:pPr marL="514350" indent="-514350">
              <a:buAutoNum type="arabicPlain" startAt="6"/>
            </a:pPr>
            <a:r>
              <a:rPr lang="en-US" sz="2000" b="1" dirty="0" smtClean="0">
                <a:latin typeface="Times New Roman" panose="02020603050405020304" pitchFamily="18" charset="0"/>
                <a:cs typeface="Times New Roman" panose="02020603050405020304" pitchFamily="18" charset="0"/>
              </a:rPr>
              <a:t>Financial Problem</a:t>
            </a:r>
            <a:r>
              <a:rPr lang="en-US" sz="2000" dirty="0" smtClean="0">
                <a:latin typeface="Times New Roman" panose="02020603050405020304" pitchFamily="18" charset="0"/>
                <a:cs typeface="Times New Roman" panose="02020603050405020304" pitchFamily="18" charset="0"/>
              </a:rPr>
              <a:t> : pocket money not sufficient. Sometimes they steal parents’ money.</a:t>
            </a:r>
            <a:endParaRPr lang="en-US" sz="2000" dirty="0" smtClean="0">
              <a:latin typeface="Times New Roman" panose="02020603050405020304" pitchFamily="18" charset="0"/>
              <a:cs typeface="Times New Roman" panose="02020603050405020304" pitchFamily="18" charset="0"/>
            </a:endParaRPr>
          </a:p>
          <a:p>
            <a:pPr marL="514350" indent="-514350">
              <a:buAutoNum type="arabicPlain" startAt="8"/>
            </a:pPr>
            <a:r>
              <a:rPr lang="en-US" sz="2000" b="1" dirty="0" smtClean="0">
                <a:latin typeface="Times New Roman" panose="02020603050405020304" pitchFamily="18" charset="0"/>
                <a:cs typeface="Times New Roman" panose="02020603050405020304" pitchFamily="18" charset="0"/>
              </a:rPr>
              <a:t>Conflicts between Parents’ Aspiration and that of the Children</a:t>
            </a:r>
            <a:r>
              <a:rPr lang="en-US" sz="2000" dirty="0" smtClean="0">
                <a:latin typeface="Times New Roman" panose="02020603050405020304" pitchFamily="18" charset="0"/>
                <a:cs typeface="Times New Roman" panose="02020603050405020304" pitchFamily="18" charset="0"/>
              </a:rPr>
              <a:t>.  Due to the conflict some of them go away from home and some commit suicide.</a:t>
            </a:r>
            <a:endParaRPr lang="en-US" sz="2000" dirty="0" smtClean="0">
              <a:latin typeface="Times New Roman" panose="02020603050405020304" pitchFamily="18" charset="0"/>
              <a:cs typeface="Times New Roman" panose="02020603050405020304" pitchFamily="18" charset="0"/>
            </a:endParaRPr>
          </a:p>
          <a:p>
            <a:pPr marL="514350" indent="-514350">
              <a:buAutoNum type="arabicPlain" startAt="8"/>
            </a:pPr>
            <a:r>
              <a:rPr lang="en-US" sz="2000" b="1" dirty="0" smtClean="0">
                <a:latin typeface="Times New Roman" panose="02020603050405020304" pitchFamily="18" charset="0"/>
                <a:cs typeface="Times New Roman" panose="02020603050405020304" pitchFamily="18" charset="0"/>
              </a:rPr>
              <a:t>Problems related to physical appearance </a:t>
            </a:r>
            <a:r>
              <a:rPr lang="en-US" sz="2000" dirty="0" smtClean="0">
                <a:latin typeface="Times New Roman" panose="02020603050405020304" pitchFamily="18" charset="0"/>
                <a:cs typeface="Times New Roman" panose="02020603050405020304" pitchFamily="18" charset="0"/>
              </a:rPr>
              <a:t>: adolescents with the underdeveloped or overdeveloped physique, handicaps, diseases etc. develop various complexes and they feel isolated from the group. </a:t>
            </a:r>
            <a:endParaRPr lang="en-US" sz="2000" dirty="0" smtClean="0">
              <a:latin typeface="Times New Roman" panose="02020603050405020304" pitchFamily="18" charset="0"/>
              <a:cs typeface="Times New Roman" panose="02020603050405020304" pitchFamily="18" charset="0"/>
            </a:endParaRPr>
          </a:p>
          <a:p>
            <a:pPr marL="742950" indent="-742950">
              <a:buAutoNum type="arabicPlain" startAt="10"/>
            </a:pPr>
            <a:r>
              <a:rPr lang="en-US" sz="2000" b="1" dirty="0" smtClean="0">
                <a:latin typeface="Times New Roman" panose="02020603050405020304" pitchFamily="18" charset="0"/>
                <a:cs typeface="Times New Roman" panose="02020603050405020304" pitchFamily="18" charset="0"/>
              </a:rPr>
              <a:t>Heterosexual Adjustment problems </a:t>
            </a:r>
            <a:r>
              <a:rPr lang="en-US" sz="2000" dirty="0" smtClean="0">
                <a:latin typeface="Times New Roman" panose="02020603050405020304" pitchFamily="18" charset="0"/>
                <a:cs typeface="Times New Roman" panose="02020603050405020304" pitchFamily="18" charset="0"/>
              </a:rPr>
              <a:t>: parents and teachers put                   </a:t>
            </a:r>
            <a:endParaRPr lang="en-US" sz="2000" dirty="0" smtClean="0">
              <a:latin typeface="Times New Roman" panose="02020603050405020304" pitchFamily="18" charset="0"/>
              <a:cs typeface="Times New Roman" panose="02020603050405020304" pitchFamily="18" charset="0"/>
            </a:endParaRPr>
          </a:p>
          <a:p>
            <a:pPr marL="742950" indent="-742950">
              <a:buNone/>
            </a:pPr>
            <a:r>
              <a:rPr lang="en-US" sz="2000" dirty="0" smtClean="0">
                <a:latin typeface="Times New Roman" panose="02020603050405020304" pitchFamily="18" charset="0"/>
                <a:cs typeface="Times New Roman" panose="02020603050405020304" pitchFamily="18" charset="0"/>
              </a:rPr>
              <a:t>	restrictions on the youngsters to have friendship with opposite sex, they want to mingle with them. These unsolved motives get aggravated and negative activities follow.  Homosexual......</a:t>
            </a:r>
            <a:endParaRPr lang="en-US" sz="2000" dirty="0" smtClean="0">
              <a:latin typeface="Times New Roman" panose="02020603050405020304" pitchFamily="18" charset="0"/>
              <a:cs typeface="Times New Roman" panose="02020603050405020304" pitchFamily="18" charset="0"/>
            </a:endParaRPr>
          </a:p>
          <a:p>
            <a:pPr>
              <a:buNone/>
            </a:pPr>
            <a:r>
              <a:rPr lang="en-US" sz="2000" b="1" dirty="0" smtClean="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endParaRPr lang="en-US" sz="2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686800" cy="838200"/>
          </a:xfrm>
        </p:spPr>
        <p:txBody>
          <a:bodyPr>
            <a:noAutofit/>
          </a:bodyPr>
          <a:lstStyle/>
          <a:p>
            <a:pPr algn="ctr"/>
            <a:r>
              <a:rPr lang="en-US" sz="1800" b="1" dirty="0" smtClean="0">
                <a:solidFill>
                  <a:schemeClr val="accent1"/>
                </a:solidFill>
                <a:latin typeface="Times New Roman" panose="02020603050405020304" pitchFamily="18" charset="0"/>
                <a:cs typeface="Times New Roman" panose="02020603050405020304" pitchFamily="18" charset="0"/>
              </a:rPr>
              <a:t>3.2</a:t>
            </a:r>
            <a:r>
              <a:rPr lang="en-US" sz="2400" b="1" dirty="0" smtClean="0">
                <a:solidFill>
                  <a:schemeClr val="accent1"/>
                </a:solidFill>
                <a:latin typeface="Times New Roman" panose="02020603050405020304" pitchFamily="18" charset="0"/>
                <a:cs typeface="Times New Roman" panose="02020603050405020304" pitchFamily="18" charset="0"/>
              </a:rPr>
              <a:t>  DEVELOPMENTAL PROBLEMS OF </a:t>
            </a:r>
            <a:br>
              <a:rPr lang="en-US" sz="2400" b="1" dirty="0" smtClean="0">
                <a:solidFill>
                  <a:schemeClr val="accent1"/>
                </a:solidFill>
                <a:latin typeface="Times New Roman" panose="02020603050405020304" pitchFamily="18" charset="0"/>
                <a:cs typeface="Times New Roman" panose="02020603050405020304" pitchFamily="18" charset="0"/>
              </a:rPr>
            </a:br>
            <a:r>
              <a:rPr lang="en-US" sz="2400" b="1" dirty="0" smtClean="0">
                <a:solidFill>
                  <a:schemeClr val="accent1"/>
                </a:solidFill>
                <a:latin typeface="Times New Roman" panose="02020603050405020304" pitchFamily="18" charset="0"/>
                <a:cs typeface="Times New Roman" panose="02020603050405020304" pitchFamily="18" charset="0"/>
              </a:rPr>
              <a:t>ADOLESCENTS IN INDIA </a:t>
            </a:r>
            <a:endParaRPr lang="en-US" sz="24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25000" lnSpcReduction="20000"/>
          </a:bodyPr>
          <a:lstStyle/>
          <a:p>
            <a:pPr marL="514350" indent="-514350">
              <a:buAutoNum type="arabicPlain"/>
            </a:pPr>
            <a:r>
              <a:rPr lang="en-US" sz="8000" b="1" dirty="0" smtClean="0">
                <a:latin typeface="Times New Roman" panose="02020603050405020304" pitchFamily="18" charset="0"/>
                <a:cs typeface="Times New Roman" panose="02020603050405020304" pitchFamily="18" charset="0"/>
              </a:rPr>
              <a:t>Physical changes</a:t>
            </a:r>
            <a:r>
              <a:rPr lang="en-US" sz="8000" dirty="0" smtClean="0">
                <a:latin typeface="Times New Roman" panose="02020603050405020304" pitchFamily="18" charset="0"/>
                <a:cs typeface="Times New Roman" panose="02020603050405020304" pitchFamily="18" charset="0"/>
              </a:rPr>
              <a:t> : lack of scientific knowledge  about sex hygiene and physiology leads to guilty feeling and many other complexities among adolescents.</a:t>
            </a:r>
            <a:endParaRPr lang="en-US" sz="8000" dirty="0" smtClean="0">
              <a:latin typeface="Times New Roman" panose="02020603050405020304" pitchFamily="18" charset="0"/>
              <a:cs typeface="Times New Roman" panose="02020603050405020304" pitchFamily="18" charset="0"/>
            </a:endParaRPr>
          </a:p>
          <a:p>
            <a:pPr marL="514350" indent="-514350">
              <a:buAutoNum type="arabicPlain"/>
            </a:pPr>
            <a:r>
              <a:rPr lang="en-US" sz="8000" b="1" dirty="0" smtClean="0">
                <a:latin typeface="Times New Roman" panose="02020603050405020304" pitchFamily="18" charset="0"/>
                <a:cs typeface="Times New Roman" panose="02020603050405020304" pitchFamily="18" charset="0"/>
              </a:rPr>
              <a:t>Inquisitive Sex :</a:t>
            </a:r>
            <a:r>
              <a:rPr lang="en-US" sz="8000" dirty="0" smtClean="0">
                <a:latin typeface="Times New Roman" panose="02020603050405020304" pitchFamily="18" charset="0"/>
                <a:cs typeface="Times New Roman" panose="02020603050405020304" pitchFamily="18" charset="0"/>
              </a:rPr>
              <a:t> some adolescents resort to socially unacceptable ways to satisfy their curiosity about sex-related matters as parents are mostly shy about revealing or discussing with their children. </a:t>
            </a:r>
            <a:endParaRPr lang="en-US" sz="8000" dirty="0" smtClean="0">
              <a:latin typeface="Times New Roman" panose="02020603050405020304" pitchFamily="18" charset="0"/>
              <a:cs typeface="Times New Roman" panose="02020603050405020304" pitchFamily="18" charset="0"/>
            </a:endParaRPr>
          </a:p>
          <a:p>
            <a:pPr marL="0" indent="0">
              <a:buNone/>
            </a:pPr>
            <a:r>
              <a:rPr lang="en-US" sz="8000" dirty="0" smtClean="0">
                <a:latin typeface="Times New Roman" panose="02020603050405020304" pitchFamily="18" charset="0"/>
                <a:cs typeface="Times New Roman" panose="02020603050405020304" pitchFamily="18" charset="0"/>
              </a:rPr>
              <a:t>	</a:t>
            </a:r>
            <a:r>
              <a:rPr lang="en-US" sz="8000" b="1" dirty="0" smtClean="0">
                <a:latin typeface="Times New Roman" panose="02020603050405020304" pitchFamily="18" charset="0"/>
                <a:cs typeface="Times New Roman" panose="02020603050405020304" pitchFamily="18" charset="0"/>
              </a:rPr>
              <a:t>Media pornography </a:t>
            </a:r>
            <a:r>
              <a:rPr lang="en-US" sz="8000" dirty="0" smtClean="0">
                <a:latin typeface="Times New Roman" panose="02020603050405020304" pitchFamily="18" charset="0"/>
                <a:cs typeface="Times New Roman" panose="02020603050405020304" pitchFamily="18" charset="0"/>
              </a:rPr>
              <a:t>is another way they learn about sex.</a:t>
            </a:r>
            <a:endParaRPr lang="en-US" sz="8000" dirty="0" smtClean="0">
              <a:latin typeface="Times New Roman" panose="02020603050405020304" pitchFamily="18" charset="0"/>
              <a:cs typeface="Times New Roman" panose="02020603050405020304" pitchFamily="18" charset="0"/>
            </a:endParaRPr>
          </a:p>
          <a:p>
            <a:pPr marL="0" indent="0">
              <a:buNone/>
            </a:pPr>
            <a:r>
              <a:rPr lang="en-US" sz="8000" b="1" dirty="0" smtClean="0">
                <a:latin typeface="Times New Roman" panose="02020603050405020304" pitchFamily="18" charset="0"/>
                <a:cs typeface="Times New Roman" panose="02020603050405020304" pitchFamily="18" charset="0"/>
              </a:rPr>
              <a:t>3    	Transitional Conflict </a:t>
            </a:r>
            <a:r>
              <a:rPr lang="en-US" sz="8000" dirty="0" smtClean="0">
                <a:latin typeface="Times New Roman" panose="02020603050405020304" pitchFamily="18" charset="0"/>
                <a:cs typeface="Times New Roman" panose="02020603050405020304" pitchFamily="18" charset="0"/>
              </a:rPr>
              <a:t>: neither a child or an adult. Independent 	views  and opinions like an adult. Sometimes he is treated as a child 	sometimes as an adult by the parents.  This leads to conflict in mind 	about his status. </a:t>
            </a:r>
            <a:endParaRPr lang="en-US" sz="8000" dirty="0" smtClean="0">
              <a:latin typeface="Times New Roman" panose="02020603050405020304" pitchFamily="18" charset="0"/>
              <a:cs typeface="Times New Roman" panose="02020603050405020304" pitchFamily="18" charset="0"/>
            </a:endParaRPr>
          </a:p>
          <a:p>
            <a:pPr marL="0" indent="0">
              <a:lnSpc>
                <a:spcPct val="120000"/>
              </a:lnSpc>
              <a:buNone/>
            </a:pPr>
            <a:r>
              <a:rPr lang="en-US" sz="8000" b="1" dirty="0" smtClean="0">
                <a:latin typeface="Times New Roman" panose="02020603050405020304" pitchFamily="18" charset="0"/>
                <a:cs typeface="Times New Roman" panose="02020603050405020304" pitchFamily="18" charset="0"/>
              </a:rPr>
              <a:t>4	Adjustment problems with Parents</a:t>
            </a:r>
            <a:r>
              <a:rPr lang="en-US" sz="8000" dirty="0" smtClean="0">
                <a:latin typeface="Times New Roman" panose="02020603050405020304" pitchFamily="18" charset="0"/>
                <a:cs typeface="Times New Roman" panose="02020603050405020304" pitchFamily="18" charset="0"/>
              </a:rPr>
              <a:t> : Adolescents want to be 	independent, in their choices and selections  viz. friends, dress, 	recreational interests, study    </a:t>
            </a:r>
            <a:endParaRPr lang="en-US" sz="8000" dirty="0" smtClean="0">
              <a:latin typeface="Times New Roman" panose="02020603050405020304" pitchFamily="18" charset="0"/>
              <a:cs typeface="Times New Roman" panose="02020603050405020304" pitchFamily="18" charset="0"/>
            </a:endParaRPr>
          </a:p>
          <a:p>
            <a:pPr>
              <a:lnSpc>
                <a:spcPct val="120000"/>
              </a:lnSpc>
              <a:buNone/>
            </a:pPr>
            <a:r>
              <a:rPr lang="en-US" sz="8000" b="1" dirty="0" smtClean="0">
                <a:latin typeface="Times New Roman" panose="02020603050405020304" pitchFamily="18" charset="0"/>
                <a:cs typeface="Times New Roman" panose="02020603050405020304" pitchFamily="18" charset="0"/>
              </a:rPr>
              <a:t>5		Adjustment difficulties with Community</a:t>
            </a:r>
            <a:r>
              <a:rPr lang="en-US" sz="8000" dirty="0" smtClean="0">
                <a:latin typeface="Times New Roman" panose="02020603050405020304" pitchFamily="18" charset="0"/>
                <a:cs typeface="Times New Roman" panose="02020603050405020304" pitchFamily="18" charset="0"/>
              </a:rPr>
              <a:t> : want to enjoy with peers.        	They  have to make up their mind whether to stay with peers or go 	with the goal in life. </a:t>
            </a:r>
            <a:endParaRPr lang="en-US" sz="8000" dirty="0" smtClean="0">
              <a:latin typeface="Times New Roman" panose="02020603050405020304" pitchFamily="18" charset="0"/>
              <a:cs typeface="Times New Roman" panose="02020603050405020304" pitchFamily="18" charset="0"/>
            </a:endParaRPr>
          </a:p>
          <a:p>
            <a:pPr algn="r">
              <a:lnSpc>
                <a:spcPct val="120000"/>
              </a:lnSpc>
              <a:buNone/>
            </a:pPr>
            <a:r>
              <a:rPr lang="en-IN" sz="4800" dirty="0" err="1" smtClean="0"/>
              <a:t>Yakaiah</a:t>
            </a:r>
            <a:r>
              <a:rPr lang="en-IN" sz="4800" dirty="0" smtClean="0"/>
              <a:t>, </a:t>
            </a:r>
            <a:r>
              <a:rPr lang="en-IN" sz="4800" i="1" dirty="0" smtClean="0"/>
              <a:t>Psychology of Childhood and Adolescence</a:t>
            </a:r>
            <a:r>
              <a:rPr lang="en-IN" sz="4800" dirty="0" smtClean="0"/>
              <a:t>, pg 10 &amp; 11</a:t>
            </a:r>
            <a:endParaRPr lang="en-US" sz="4800" dirty="0" smtClean="0"/>
          </a:p>
          <a:p>
            <a:endParaRPr lang="en-US" sz="4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smtClean="0">
                <a:solidFill>
                  <a:schemeClr val="accent1"/>
                </a:solidFill>
              </a:rPr>
              <a:t>3.2	</a:t>
            </a:r>
            <a:r>
              <a:rPr lang="en-US" sz="2700" b="1" dirty="0" smtClean="0">
                <a:solidFill>
                  <a:schemeClr val="accent1"/>
                </a:solidFill>
                <a:latin typeface="Times New Roman" panose="02020603050405020304" pitchFamily="18" charset="0"/>
                <a:cs typeface="Times New Roman" panose="02020603050405020304" pitchFamily="18" charset="0"/>
              </a:rPr>
              <a:t>Developmental problems in </a:t>
            </a:r>
            <a:r>
              <a:rPr lang="en-US" sz="2700" b="1" dirty="0" err="1" smtClean="0">
                <a:solidFill>
                  <a:schemeClr val="accent1"/>
                </a:solidFill>
                <a:latin typeface="Times New Roman" panose="02020603050405020304" pitchFamily="18" charset="0"/>
                <a:cs typeface="Times New Roman" panose="02020603050405020304" pitchFamily="18" charset="0"/>
              </a:rPr>
              <a:t>adolscents</a:t>
            </a:r>
            <a:r>
              <a:rPr lang="en-US" sz="2700" b="1" dirty="0" smtClean="0">
                <a:solidFill>
                  <a:schemeClr val="accent1"/>
                </a:solidFill>
                <a:latin typeface="Times New Roman" panose="02020603050405020304" pitchFamily="18" charset="0"/>
                <a:cs typeface="Times New Roman" panose="02020603050405020304" pitchFamily="18" charset="0"/>
              </a:rPr>
              <a:t> </a:t>
            </a:r>
            <a:r>
              <a:rPr lang="en-US" sz="2700" dirty="0" smtClean="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p/2</a:t>
            </a:r>
            <a:endParaRPr lang="en-US" sz="1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897255"/>
            <a:ext cx="8229600" cy="5230495"/>
          </a:xfrm>
        </p:spPr>
        <p:txBody>
          <a:bodyPr>
            <a:normAutofit fontScale="75000" lnSpcReduction="10000"/>
          </a:bodyPr>
          <a:lstStyle/>
          <a:p>
            <a:pPr marL="514350" indent="-514350">
              <a:buAutoNum type="arabicPlain" startAt="6"/>
            </a:pPr>
            <a:r>
              <a:rPr lang="en-US" b="1" dirty="0" smtClean="0"/>
              <a:t>A  hero-worshipper</a:t>
            </a:r>
            <a:endParaRPr lang="en-US" b="1" dirty="0" smtClean="0"/>
          </a:p>
          <a:p>
            <a:pPr marL="514350" indent="-514350">
              <a:buAutoNum type="arabicPlain" startAt="6"/>
            </a:pPr>
            <a:r>
              <a:rPr lang="en-US" b="1" dirty="0" smtClean="0"/>
              <a:t>Sex-consciousness becomes too intense</a:t>
            </a:r>
            <a:r>
              <a:rPr lang="en-US" dirty="0" smtClean="0"/>
              <a:t> – they get interested in the opposite sex.</a:t>
            </a:r>
            <a:endParaRPr lang="en-US" dirty="0" smtClean="0"/>
          </a:p>
          <a:p>
            <a:pPr marL="514350" indent="-514350">
              <a:buAutoNum type="arabicPlain" startAt="8"/>
            </a:pPr>
            <a:r>
              <a:rPr lang="en-US" b="1" dirty="0" smtClean="0"/>
              <a:t>Peer group relationship is too intense</a:t>
            </a:r>
            <a:r>
              <a:rPr lang="en-US" dirty="0" smtClean="0"/>
              <a:t> – they are following  the group norms</a:t>
            </a:r>
            <a:endParaRPr lang="en-US" dirty="0" smtClean="0"/>
          </a:p>
          <a:p>
            <a:pPr marL="514350" indent="-514350">
              <a:buAutoNum type="arabicPlain" startAt="9"/>
            </a:pPr>
            <a:r>
              <a:rPr lang="en-US" b="1" dirty="0" smtClean="0"/>
              <a:t>Is a ‘Period of Day-Dreaming</a:t>
            </a:r>
            <a:r>
              <a:rPr lang="en-US" dirty="0" smtClean="0"/>
              <a:t>.’  Exuberant imagination.</a:t>
            </a:r>
            <a:endParaRPr lang="en-US" dirty="0" smtClean="0"/>
          </a:p>
          <a:p>
            <a:pPr marL="514350" indent="-514350">
              <a:buAutoNum type="arabicPlain" startAt="9"/>
            </a:pPr>
            <a:r>
              <a:rPr lang="en-US" b="1" dirty="0" smtClean="0"/>
              <a:t>Is the period of acquiring</a:t>
            </a:r>
            <a:r>
              <a:rPr lang="en-US" dirty="0" smtClean="0"/>
              <a:t> the attitudes and values which are essential for the effective   participation in society. </a:t>
            </a:r>
            <a:endParaRPr lang="en-US" dirty="0" smtClean="0"/>
          </a:p>
          <a:p>
            <a:pPr marL="514350" indent="-514350">
              <a:buAutoNum type="arabicPlain" startAt="9"/>
            </a:pPr>
            <a:r>
              <a:rPr lang="en-US" b="1" dirty="0" smtClean="0"/>
              <a:t>Is a period where ‘falling in love’</a:t>
            </a:r>
            <a:r>
              <a:rPr lang="en-US" dirty="0" smtClean="0"/>
              <a:t> is prevalent, even  sometimes with the Teacher or  Master.</a:t>
            </a:r>
            <a:endParaRPr lang="en-US" dirty="0" smtClean="0"/>
          </a:p>
          <a:p>
            <a:pPr marL="457200" lvl="1" indent="0">
              <a:buNone/>
            </a:pPr>
            <a:r>
              <a:rPr lang="en-US" dirty="0">
                <a:solidFill>
                  <a:srgbClr val="FF0000"/>
                </a:solidFill>
              </a:rPr>
              <a:t>What is Love ?</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065" y="190500"/>
            <a:ext cx="8039735" cy="582930"/>
          </a:xfrm>
        </p:spPr>
        <p:txBody>
          <a:bodyPr/>
          <a:lstStyle/>
          <a:p>
            <a:r>
              <a:rPr lang="en-US" sz="1800" dirty="0" smtClean="0">
                <a:solidFill>
                  <a:schemeClr val="accent1"/>
                </a:solidFill>
              </a:rPr>
              <a:t>3</a:t>
            </a:r>
            <a:r>
              <a:rPr lang="en-US" sz="1800" b="1" dirty="0" smtClean="0">
                <a:solidFill>
                  <a:schemeClr val="accent1"/>
                </a:solidFill>
              </a:rPr>
              <a:t>.3</a:t>
            </a:r>
            <a:r>
              <a:rPr lang="en-US" b="1" dirty="0" smtClean="0">
                <a:solidFill>
                  <a:schemeClr val="accent1"/>
                </a:solidFill>
              </a:rPr>
              <a:t> F</a:t>
            </a:r>
            <a:r>
              <a:rPr lang="en-US" sz="2800" b="1" dirty="0" smtClean="0">
                <a:solidFill>
                  <a:schemeClr val="accent1"/>
                </a:solidFill>
                <a:latin typeface="Times New Roman" panose="02020603050405020304" pitchFamily="18" charset="0"/>
                <a:cs typeface="Times New Roman" panose="02020603050405020304" pitchFamily="18" charset="0"/>
              </a:rPr>
              <a:t>rustrations </a:t>
            </a:r>
            <a:endParaRPr lang="en-US" sz="28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219200"/>
            <a:ext cx="8686800" cy="5257800"/>
          </a:xfrm>
        </p:spPr>
        <p:txBody>
          <a:bodyPr>
            <a:normAutofit fontScale="32500" lnSpcReduction="20000"/>
          </a:bodyPr>
          <a:lstStyle/>
          <a:p>
            <a:r>
              <a:rPr lang="en-US" dirty="0" smtClean="0"/>
              <a:t>	</a:t>
            </a:r>
            <a:r>
              <a:rPr lang="en-US" sz="6200" b="1" dirty="0" smtClean="0"/>
              <a:t>				 </a:t>
            </a:r>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5500" dirty="0" smtClean="0"/>
          </a:p>
          <a:p>
            <a:r>
              <a:rPr lang="en-US" sz="5500" dirty="0" smtClean="0"/>
              <a:t>‘Frustration refers to failure to satisfy a basic need because of either conditions in the individual or external obstacles’. </a:t>
            </a:r>
            <a:r>
              <a:rPr lang="en-US" sz="4310" b="1" i="1" dirty="0" smtClean="0"/>
              <a:t>Barney and </a:t>
            </a:r>
            <a:r>
              <a:rPr lang="en-US" sz="4310" b="1" i="1" dirty="0" err="1" smtClean="0"/>
              <a:t>Lehner</a:t>
            </a:r>
            <a:r>
              <a:rPr lang="en-US" sz="4310" b="1" i="1" dirty="0" smtClean="0"/>
              <a:t>.</a:t>
            </a:r>
            <a:endParaRPr lang="en-US" sz="4310" b="1" i="1" dirty="0" smtClean="0"/>
          </a:p>
          <a:p>
            <a:r>
              <a:rPr lang="en-US" sz="4310" b="1" i="1" dirty="0" smtClean="0"/>
              <a:t> </a:t>
            </a:r>
            <a:endParaRPr lang="en-US" sz="4310" b="1" i="1" dirty="0" smtClean="0"/>
          </a:p>
          <a:p>
            <a:endParaRPr lang="en-US" sz="4310" b="1" i="1" dirty="0"/>
          </a:p>
        </p:txBody>
      </p:sp>
      <p:graphicFrame>
        <p:nvGraphicFramePr>
          <p:cNvPr id="20483" name="Object 3"/>
          <p:cNvGraphicFramePr>
            <a:graphicFrameLocks noChangeAspect="1"/>
          </p:cNvGraphicFramePr>
          <p:nvPr/>
        </p:nvGraphicFramePr>
        <p:xfrm>
          <a:off x="762000" y="1219199"/>
          <a:ext cx="7391400" cy="3587751"/>
        </p:xfrm>
        <a:graphic>
          <a:graphicData uri="http://schemas.openxmlformats.org/presentationml/2006/ole">
            <mc:AlternateContent xmlns:mc="http://schemas.openxmlformats.org/markup-compatibility/2006">
              <mc:Choice xmlns:v="urn:schemas-microsoft-com:vml" Requires="v">
                <p:oleObj spid="_x0000_s2049" name="Document" r:id="rId1" imgW="5944235" imgH="2755265" progId="Word.Document.12">
                  <p:embed/>
                </p:oleObj>
              </mc:Choice>
              <mc:Fallback>
                <p:oleObj name="Document" r:id="rId1" imgW="5944235" imgH="2755265" progId="Word.Document.12">
                  <p:embed/>
                  <p:pic>
                    <p:nvPicPr>
                      <p:cNvPr id="0" name="Picture 2048"/>
                      <p:cNvPicPr>
                        <a:picLocks noChangeAspect="1"/>
                      </p:cNvPicPr>
                      <p:nvPr/>
                    </p:nvPicPr>
                    <p:blipFill>
                      <a:blip r:embed="rId2"/>
                      <a:stretch>
                        <a:fillRect/>
                      </a:stretch>
                    </p:blipFill>
                    <p:spPr>
                      <a:xfrm>
                        <a:off x="762000" y="1219199"/>
                        <a:ext cx="7391400" cy="3587751"/>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DOES  PROMISCUITY LEAD TO 			  RAPE 	?</a:t>
            </a:r>
            <a:endParaRPr lang="en-US"/>
          </a:p>
        </p:txBody>
      </p:sp>
      <p:sp>
        <p:nvSpPr>
          <p:cNvPr id="3" name="Content Placeholder 2"/>
          <p:cNvSpPr>
            <a:spLocks noGrp="1"/>
          </p:cNvSpPr>
          <p:nvPr>
            <p:ph idx="1"/>
          </p:nvPr>
        </p:nvSpPr>
        <p:spPr/>
        <p:txBody>
          <a:bodyPr/>
          <a:p>
            <a:endParaRPr lang="en-US"/>
          </a:p>
        </p:txBody>
      </p:sp>
      <p:graphicFrame>
        <p:nvGraphicFramePr>
          <p:cNvPr id="4" name="Diagram 3"/>
          <p:cNvGraphicFramePr/>
          <p:nvPr/>
        </p:nvGraphicFramePr>
        <p:xfrm>
          <a:off x="372745" y="377190"/>
          <a:ext cx="8648700" cy="641032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86800" cy="685800"/>
          </a:xfrm>
        </p:spPr>
        <p:txBody>
          <a:bodyPr>
            <a:normAutofit/>
          </a:bodyPr>
          <a:lstStyle/>
          <a:p>
            <a:pPr algn="l"/>
            <a:r>
              <a:rPr lang="en-US" sz="2000" dirty="0" smtClean="0">
                <a:latin typeface="Times New Roman" panose="02020603050405020304" pitchFamily="18" charset="0"/>
                <a:cs typeface="Times New Roman" panose="02020603050405020304" pitchFamily="18" charset="0"/>
              </a:rPr>
              <a:t>    </a:t>
            </a:r>
            <a:r>
              <a:rPr lang="en-US" sz="2700" b="1" dirty="0" smtClean="0">
                <a:solidFill>
                  <a:schemeClr val="accent1"/>
                </a:solidFill>
                <a:latin typeface="Times New Roman" panose="02020603050405020304" pitchFamily="18" charset="0"/>
                <a:cs typeface="Times New Roman" panose="02020603050405020304" pitchFamily="18" charset="0"/>
              </a:rPr>
              <a:t>Causes for Problem </a:t>
            </a:r>
            <a:r>
              <a:rPr lang="en-US" sz="2700" b="1" dirty="0" err="1" smtClean="0">
                <a:solidFill>
                  <a:schemeClr val="accent1"/>
                </a:solidFill>
                <a:latin typeface="Times New Roman" panose="02020603050405020304" pitchFamily="18" charset="0"/>
                <a:cs typeface="Times New Roman" panose="02020603050405020304" pitchFamily="18" charset="0"/>
              </a:rPr>
              <a:t>behaviour</a:t>
            </a:r>
            <a:r>
              <a:rPr lang="en-US" sz="2700" b="1" dirty="0" smtClean="0">
                <a:solidFill>
                  <a:schemeClr val="accent1"/>
                </a:solidFill>
                <a:latin typeface="Times New Roman" panose="02020603050405020304" pitchFamily="18" charset="0"/>
                <a:cs typeface="Times New Roman" panose="02020603050405020304" pitchFamily="18" charset="0"/>
              </a:rPr>
              <a:t> in children/ teens</a:t>
            </a:r>
            <a:endParaRPr lang="en-US" sz="27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143000"/>
            <a:ext cx="8686800" cy="4937125"/>
          </a:xfrm>
        </p:spPr>
        <p:txBody>
          <a:bodyPr>
            <a:normAutofit fontScale="77500" lnSpcReduction="20000"/>
          </a:bodyPr>
          <a:lstStyle/>
          <a:p>
            <a:r>
              <a:rPr lang="en-US" sz="2900" dirty="0" smtClean="0">
                <a:latin typeface="Times New Roman" panose="02020603050405020304" pitchFamily="18" charset="0"/>
                <a:cs typeface="Times New Roman" panose="02020603050405020304" pitchFamily="18" charset="0"/>
              </a:rPr>
              <a:t>‘</a:t>
            </a:r>
            <a:r>
              <a:rPr lang="en-US" sz="2900" u="sng" dirty="0" smtClean="0">
                <a:latin typeface="Times New Roman" panose="02020603050405020304" pitchFamily="18" charset="0"/>
                <a:cs typeface="Times New Roman" panose="02020603050405020304" pitchFamily="18" charset="0"/>
              </a:rPr>
              <a:t>PROBLEM CHILD’, ‘PROBLEM BEHAVIOUR’</a:t>
            </a:r>
            <a:r>
              <a:rPr lang="en-US" sz="2900" dirty="0" smtClean="0">
                <a:latin typeface="Times New Roman" panose="02020603050405020304" pitchFamily="18" charset="0"/>
                <a:cs typeface="Times New Roman" panose="02020603050405020304" pitchFamily="18" charset="0"/>
              </a:rPr>
              <a:t> </a:t>
            </a:r>
            <a:endParaRPr lang="en-US" sz="2900" dirty="0" smtClean="0">
              <a:latin typeface="Times New Roman" panose="02020603050405020304" pitchFamily="18" charset="0"/>
              <a:cs typeface="Times New Roman" panose="02020603050405020304" pitchFamily="18" charset="0"/>
            </a:endParaRPr>
          </a:p>
          <a:p>
            <a:pPr>
              <a:buNone/>
            </a:pPr>
            <a:r>
              <a:rPr lang="en-US" sz="2900" dirty="0" smtClean="0">
                <a:latin typeface="Times New Roman" panose="02020603050405020304" pitchFamily="18" charset="0"/>
                <a:cs typeface="Times New Roman" panose="02020603050405020304" pitchFamily="18" charset="0"/>
              </a:rPr>
              <a:t>	The  anti-social </a:t>
            </a:r>
            <a:r>
              <a:rPr lang="en-US" sz="2900" dirty="0" err="1" smtClean="0">
                <a:latin typeface="Times New Roman" panose="02020603050405020304" pitchFamily="18" charset="0"/>
                <a:cs typeface="Times New Roman" panose="02020603050405020304" pitchFamily="18" charset="0"/>
              </a:rPr>
              <a:t>behaviour</a:t>
            </a:r>
            <a:r>
              <a:rPr lang="en-US" sz="2900" dirty="0" smtClean="0">
                <a:latin typeface="Times New Roman" panose="02020603050405020304" pitchFamily="18" charset="0"/>
                <a:cs typeface="Times New Roman" panose="02020603050405020304" pitchFamily="18" charset="0"/>
              </a:rPr>
              <a:t> of some children  is called ‘problem </a:t>
            </a:r>
            <a:r>
              <a:rPr lang="en-US" sz="2900" dirty="0" err="1" smtClean="0">
                <a:latin typeface="Times New Roman" panose="02020603050405020304" pitchFamily="18" charset="0"/>
                <a:cs typeface="Times New Roman" panose="02020603050405020304" pitchFamily="18" charset="0"/>
              </a:rPr>
              <a:t>behaviour</a:t>
            </a:r>
            <a:r>
              <a:rPr lang="en-US" sz="2900" dirty="0" smtClean="0">
                <a:latin typeface="Times New Roman" panose="02020603050405020304" pitchFamily="18" charset="0"/>
                <a:cs typeface="Times New Roman" panose="02020603050405020304" pitchFamily="18" charset="0"/>
              </a:rPr>
              <a:t>’ and such children are called ‘problem child’. </a:t>
            </a:r>
            <a:endParaRPr lang="en-US" sz="2900" dirty="0" smtClean="0">
              <a:latin typeface="Times New Roman" panose="02020603050405020304" pitchFamily="18" charset="0"/>
              <a:cs typeface="Times New Roman" panose="02020603050405020304" pitchFamily="18" charset="0"/>
            </a:endParaRPr>
          </a:p>
          <a:p>
            <a:pPr>
              <a:buNone/>
            </a:pPr>
            <a:r>
              <a:rPr lang="en-US" sz="2900" dirty="0" smtClean="0">
                <a:latin typeface="Times New Roman" panose="02020603050405020304" pitchFamily="18" charset="0"/>
                <a:cs typeface="Times New Roman" panose="02020603050405020304" pitchFamily="18" charset="0"/>
              </a:rPr>
              <a:t>	Common </a:t>
            </a:r>
            <a:r>
              <a:rPr lang="en-US" sz="2900" dirty="0" err="1" smtClean="0">
                <a:latin typeface="Times New Roman" panose="02020603050405020304" pitchFamily="18" charset="0"/>
                <a:cs typeface="Times New Roman" panose="02020603050405020304" pitchFamily="18" charset="0"/>
              </a:rPr>
              <a:t>behavioural</a:t>
            </a:r>
            <a:r>
              <a:rPr lang="en-US" sz="2900" dirty="0" smtClean="0">
                <a:latin typeface="Times New Roman" panose="02020603050405020304" pitchFamily="18" charset="0"/>
                <a:cs typeface="Times New Roman" panose="02020603050405020304" pitchFamily="18" charset="0"/>
              </a:rPr>
              <a:t> problems are </a:t>
            </a:r>
            <a:r>
              <a:rPr lang="en-US" sz="2900" b="1" dirty="0" smtClean="0">
                <a:latin typeface="Times New Roman" panose="02020603050405020304" pitchFamily="18" charset="0"/>
                <a:cs typeface="Times New Roman" panose="02020603050405020304" pitchFamily="18" charset="0"/>
              </a:rPr>
              <a:t>truancy, lying,  bullying, stealing, destruction of common property, adolescent sexual </a:t>
            </a:r>
            <a:r>
              <a:rPr lang="en-US" sz="2900" b="1" dirty="0" err="1" smtClean="0">
                <a:latin typeface="Times New Roman" panose="02020603050405020304" pitchFamily="18" charset="0"/>
                <a:cs typeface="Times New Roman" panose="02020603050405020304" pitchFamily="18" charset="0"/>
              </a:rPr>
              <a:t>misbehaviour</a:t>
            </a:r>
            <a:r>
              <a:rPr lang="en-US" sz="2900" b="1" dirty="0" smtClean="0">
                <a:latin typeface="Times New Roman" panose="02020603050405020304" pitchFamily="18" charset="0"/>
                <a:cs typeface="Times New Roman" panose="02020603050405020304" pitchFamily="18" charset="0"/>
              </a:rPr>
              <a:t>, disobedience to those in authority, picking up quarrels for flimsy reasons, loud &amp; boisterous, shouting, creating scenes in public places, frequently indulging in mischief</a:t>
            </a:r>
            <a:r>
              <a:rPr lang="en-US" sz="2900" dirty="0" smtClean="0">
                <a:latin typeface="Times New Roman" panose="02020603050405020304" pitchFamily="18" charset="0"/>
                <a:cs typeface="Times New Roman" panose="02020603050405020304" pitchFamily="18" charset="0"/>
              </a:rPr>
              <a:t> etc. </a:t>
            </a:r>
            <a:endParaRPr lang="en-US" sz="2900" dirty="0" smtClean="0">
              <a:latin typeface="Times New Roman" panose="02020603050405020304" pitchFamily="18" charset="0"/>
              <a:cs typeface="Times New Roman" panose="02020603050405020304" pitchFamily="18" charset="0"/>
            </a:endParaRPr>
          </a:p>
          <a:p>
            <a:pPr>
              <a:buNone/>
            </a:pPr>
            <a:endParaRPr lang="en-US" sz="2900" dirty="0" smtClean="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Physical conditions</a:t>
            </a:r>
            <a:endParaRPr lang="en-US" sz="2900" dirty="0" smtClean="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Psychological Factors</a:t>
            </a:r>
            <a:endParaRPr lang="en-US" sz="2900" dirty="0" smtClean="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Broken Home</a:t>
            </a:r>
            <a:endParaRPr lang="en-US" sz="2900" dirty="0" smtClean="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Attitude of Parents</a:t>
            </a:r>
            <a:endParaRPr lang="en-US" sz="2900" dirty="0" smtClean="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Socio-Economic Conditions </a:t>
            </a:r>
            <a:endParaRPr lang="en-US" sz="2900" dirty="0" smtClean="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School Environment</a:t>
            </a:r>
            <a:endParaRPr lang="en-US" sz="2900" dirty="0" smtClean="0">
              <a:latin typeface="Times New Roman" panose="02020603050405020304" pitchFamily="18" charset="0"/>
              <a:cs typeface="Times New Roman" panose="02020603050405020304" pitchFamily="18" charset="0"/>
            </a:endParaRPr>
          </a:p>
          <a:p>
            <a:endParaRPr lang="en-US" dirty="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2000" b="1" dirty="0" smtClean="0">
                <a:solidFill>
                  <a:schemeClr val="accent1"/>
                </a:solidFill>
                <a:latin typeface="Times New Roman" panose="02020603050405020304" pitchFamily="18" charset="0"/>
                <a:cs typeface="Times New Roman" panose="02020603050405020304" pitchFamily="18" charset="0"/>
              </a:rPr>
              <a:t>3.4  </a:t>
            </a:r>
            <a:r>
              <a:rPr lang="en-US" sz="2800" b="1" dirty="0" smtClean="0">
                <a:solidFill>
                  <a:schemeClr val="accent1"/>
                </a:solidFill>
                <a:latin typeface="Times New Roman" panose="02020603050405020304" pitchFamily="18" charset="0"/>
                <a:cs typeface="Times New Roman" panose="02020603050405020304" pitchFamily="18" charset="0"/>
              </a:rPr>
              <a:t>COMMON TYPES OF DEFENCE MECHANISMS</a:t>
            </a:r>
            <a:endParaRPr lang="en-US" sz="28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677545"/>
            <a:ext cx="8686800" cy="5951855"/>
          </a:xfrm>
        </p:spPr>
        <p:txBody>
          <a:bodyPr>
            <a:normAutofit fontScale="25000" lnSpcReduction="20000"/>
          </a:bodyPr>
          <a:lstStyle/>
          <a:p>
            <a:pPr>
              <a:buNone/>
            </a:pPr>
            <a:endParaRPr lang="en-US" dirty="0" smtClean="0"/>
          </a:p>
          <a:p>
            <a:pPr>
              <a:buNone/>
            </a:pPr>
            <a:r>
              <a:rPr lang="en-US" sz="8000" b="1" dirty="0" smtClean="0">
                <a:solidFill>
                  <a:srgbClr val="FF0000"/>
                </a:solidFill>
                <a:latin typeface="Times New Roman" panose="02020603050405020304" pitchFamily="18" charset="0"/>
                <a:cs typeface="Times New Roman" panose="02020603050405020304" pitchFamily="18" charset="0"/>
              </a:rPr>
              <a:t>1   Introversion : M</a:t>
            </a:r>
            <a:r>
              <a:rPr lang="en-US" sz="8000" dirty="0" smtClean="0">
                <a:solidFill>
                  <a:srgbClr val="FF0000"/>
                </a:solidFill>
                <a:latin typeface="Times New Roman" panose="02020603050405020304" pitchFamily="18" charset="0"/>
                <a:cs typeface="Times New Roman" panose="02020603050405020304" pitchFamily="18" charset="0"/>
              </a:rPr>
              <a:t>aladjusted </a:t>
            </a:r>
            <a:r>
              <a:rPr lang="en-US" sz="8000" dirty="0" err="1" smtClean="0">
                <a:solidFill>
                  <a:srgbClr val="FF0000"/>
                </a:solidFill>
                <a:latin typeface="Times New Roman" panose="02020603050405020304" pitchFamily="18" charset="0"/>
                <a:cs typeface="Times New Roman" panose="02020603050405020304" pitchFamily="18" charset="0"/>
              </a:rPr>
              <a:t>behaviour</a:t>
            </a:r>
            <a:r>
              <a:rPr lang="en-US" sz="8000" dirty="0" smtClean="0">
                <a:solidFill>
                  <a:srgbClr val="FF0000"/>
                </a:solidFill>
                <a:latin typeface="Times New Roman" panose="02020603050405020304" pitchFamily="18" charset="0"/>
                <a:cs typeface="Times New Roman" panose="02020603050405020304" pitchFamily="18" charset="0"/>
              </a:rPr>
              <a:t> of withdrawing oneself totally from the social world and remaining aloof. (Sam 20 yrs old)  Severe introversion may lead to antisocial  </a:t>
            </a:r>
            <a:r>
              <a:rPr lang="en-US" sz="8000" dirty="0" err="1" smtClean="0">
                <a:solidFill>
                  <a:srgbClr val="FF0000"/>
                </a:solidFill>
                <a:latin typeface="Times New Roman" panose="02020603050405020304" pitchFamily="18" charset="0"/>
                <a:cs typeface="Times New Roman" panose="02020603050405020304" pitchFamily="18" charset="0"/>
              </a:rPr>
              <a:t>behaviour or lead to depression and suicide attempt.</a:t>
            </a:r>
            <a:endParaRPr lang="en-US" sz="8000" dirty="0" smtClean="0">
              <a:solidFill>
                <a:srgbClr val="FF0000"/>
              </a:solidFill>
              <a:latin typeface="Times New Roman" panose="02020603050405020304" pitchFamily="18" charset="0"/>
              <a:cs typeface="Times New Roman" panose="02020603050405020304" pitchFamily="18" charset="0"/>
            </a:endParaRPr>
          </a:p>
          <a:p>
            <a:pPr>
              <a:buNone/>
            </a:pPr>
            <a:endParaRPr lang="en-US" sz="5600" b="1" dirty="0" smtClean="0">
              <a:latin typeface="Times New Roman" panose="02020603050405020304" pitchFamily="18" charset="0"/>
              <a:cs typeface="Times New Roman" panose="02020603050405020304" pitchFamily="18" charset="0"/>
            </a:endParaRPr>
          </a:p>
          <a:p>
            <a:pPr>
              <a:buNone/>
            </a:pPr>
            <a:r>
              <a:rPr lang="en-US" sz="8000" b="1" dirty="0" smtClean="0">
                <a:latin typeface="Times New Roman" panose="02020603050405020304" pitchFamily="18" charset="0"/>
                <a:cs typeface="Times New Roman" panose="02020603050405020304" pitchFamily="18" charset="0"/>
              </a:rPr>
              <a:t>2   Fantasy : </a:t>
            </a:r>
            <a:r>
              <a:rPr lang="en-US" sz="8000" dirty="0" smtClean="0">
                <a:latin typeface="Times New Roman" panose="02020603050405020304" pitchFamily="18" charset="0"/>
                <a:cs typeface="Times New Roman" panose="02020603050405020304" pitchFamily="18" charset="0"/>
              </a:rPr>
              <a:t>Day-dreaming or fantasy, mind wanders aimlessly among pleasant imagery, gratifying wishes and desires that are ungratified in real life. This dream world is limited by the individual’s imagination. He achieves in his world of fantasy, what he could not achieve in real life. </a:t>
            </a:r>
            <a:endParaRPr lang="en-US" sz="8000" dirty="0" smtClean="0">
              <a:latin typeface="Times New Roman" panose="02020603050405020304" pitchFamily="18" charset="0"/>
              <a:cs typeface="Times New Roman" panose="02020603050405020304" pitchFamily="18" charset="0"/>
            </a:endParaRPr>
          </a:p>
          <a:p>
            <a:pPr>
              <a:buNone/>
            </a:pPr>
            <a:r>
              <a:rPr lang="en-US" sz="8000" dirty="0" smtClean="0">
                <a:latin typeface="Times New Roman" panose="02020603050405020304" pitchFamily="18" charset="0"/>
                <a:cs typeface="Times New Roman" panose="02020603050405020304" pitchFamily="18" charset="0"/>
              </a:rPr>
              <a:t>     Continued fantasy, results in the disorganization of the individual personality. </a:t>
            </a:r>
            <a:endParaRPr lang="en-US" sz="8000" dirty="0" smtClean="0">
              <a:latin typeface="Times New Roman" panose="02020603050405020304" pitchFamily="18" charset="0"/>
              <a:cs typeface="Times New Roman" panose="02020603050405020304" pitchFamily="18" charset="0"/>
            </a:endParaRPr>
          </a:p>
          <a:p>
            <a:endParaRPr lang="en-US" sz="6400" b="1" dirty="0" smtClean="0">
              <a:latin typeface="Times New Roman" panose="02020603050405020304" pitchFamily="18" charset="0"/>
              <a:cs typeface="Times New Roman" panose="02020603050405020304" pitchFamily="18" charset="0"/>
            </a:endParaRPr>
          </a:p>
          <a:p>
            <a:pPr>
              <a:buNone/>
            </a:pPr>
            <a:r>
              <a:rPr lang="en-US" sz="8000" b="1" dirty="0" smtClean="0">
                <a:latin typeface="Times New Roman" panose="02020603050405020304" pitchFamily="18" charset="0"/>
                <a:cs typeface="Times New Roman" panose="02020603050405020304" pitchFamily="18" charset="0"/>
              </a:rPr>
              <a:t>3   Projection : </a:t>
            </a:r>
            <a:r>
              <a:rPr lang="en-US" sz="8000" dirty="0" smtClean="0">
                <a:latin typeface="Times New Roman" panose="02020603050405020304" pitchFamily="18" charset="0"/>
                <a:cs typeface="Times New Roman" panose="02020603050405020304" pitchFamily="18" charset="0"/>
              </a:rPr>
              <a:t>Students are the victims of their parents’ projection of their hopes of higher education and thereby better life. (Ms Sophie) tendency to force on another person,  one’s own unrealized frustrated ambitions.  </a:t>
            </a:r>
            <a:endParaRPr lang="en-US" sz="8000" dirty="0" smtClean="0">
              <a:latin typeface="Times New Roman" panose="02020603050405020304" pitchFamily="18" charset="0"/>
              <a:cs typeface="Times New Roman" panose="02020603050405020304" pitchFamily="18" charset="0"/>
            </a:endParaRPr>
          </a:p>
          <a:p>
            <a:pPr>
              <a:buNone/>
            </a:pPr>
            <a:r>
              <a:rPr lang="en-US" sz="8000" dirty="0" smtClean="0">
                <a:latin typeface="Times New Roman" panose="02020603050405020304" pitchFamily="18" charset="0"/>
                <a:cs typeface="Times New Roman" panose="02020603050405020304" pitchFamily="18" charset="0"/>
              </a:rPr>
              <a:t>     In the mental disorder known as paranoia, the mechanism of projection is used to an extreme degree.</a:t>
            </a:r>
            <a:endParaRPr lang="en-US" sz="8000" dirty="0" smtClean="0">
              <a:latin typeface="Times New Roman" panose="02020603050405020304" pitchFamily="18" charset="0"/>
              <a:cs typeface="Times New Roman" panose="02020603050405020304" pitchFamily="18" charset="0"/>
            </a:endParaRPr>
          </a:p>
          <a:p>
            <a:endParaRPr lang="en-US" sz="5600" dirty="0" smtClean="0">
              <a:latin typeface="Times New Roman" panose="02020603050405020304" pitchFamily="18" charset="0"/>
              <a:cs typeface="Times New Roman" panose="02020603050405020304" pitchFamily="18" charset="0"/>
            </a:endParaRPr>
          </a:p>
          <a:p>
            <a:pPr>
              <a:buNone/>
            </a:pPr>
            <a:r>
              <a:rPr lang="en-US" sz="8000" b="1" dirty="0" smtClean="0">
                <a:latin typeface="Times New Roman" panose="02020603050405020304" pitchFamily="18" charset="0"/>
                <a:cs typeface="Times New Roman" panose="02020603050405020304" pitchFamily="18" charset="0"/>
              </a:rPr>
              <a:t>4   </a:t>
            </a:r>
            <a:r>
              <a:rPr lang="en-US" sz="8000" b="1" dirty="0" err="1" smtClean="0">
                <a:latin typeface="Times New Roman" panose="02020603050405020304" pitchFamily="18" charset="0"/>
                <a:cs typeface="Times New Roman" panose="02020603050405020304" pitchFamily="18" charset="0"/>
              </a:rPr>
              <a:t>Rationalisation</a:t>
            </a:r>
            <a:r>
              <a:rPr lang="en-US" sz="8000" b="1" dirty="0" smtClean="0">
                <a:latin typeface="Times New Roman" panose="02020603050405020304" pitchFamily="18" charset="0"/>
                <a:cs typeface="Times New Roman" panose="02020603050405020304" pitchFamily="18" charset="0"/>
              </a:rPr>
              <a:t>    </a:t>
            </a:r>
            <a:r>
              <a:rPr lang="en-US" sz="8000" dirty="0" smtClean="0">
                <a:latin typeface="Times New Roman" panose="02020603050405020304" pitchFamily="18" charset="0"/>
                <a:cs typeface="Times New Roman" panose="02020603050405020304" pitchFamily="18" charset="0"/>
              </a:rPr>
              <a:t>When a plausible reason or excuse is given, instead of the real reason. It is more often self-deception and not lying to deceive others. E.g. Fox and the Grapes ‘Grapes are sour’. </a:t>
            </a:r>
            <a:endParaRPr lang="en-US" sz="8000" b="1" dirty="0" smtClean="0">
              <a:latin typeface="Times New Roman" panose="02020603050405020304" pitchFamily="18" charset="0"/>
              <a:cs typeface="Times New Roman" panose="02020603050405020304" pitchFamily="18" charset="0"/>
            </a:endParaRPr>
          </a:p>
          <a:p>
            <a:endParaRPr lang="en-US" sz="8000" dirty="0" smtClean="0">
              <a:latin typeface="Times New Roman" panose="02020603050405020304" pitchFamily="18" charset="0"/>
              <a:cs typeface="Times New Roman" panose="02020603050405020304" pitchFamily="18" charset="0"/>
            </a:endParaRPr>
          </a:p>
          <a:p>
            <a:endParaRPr lang="en-US" sz="8000" b="1" dirty="0" smtClean="0">
              <a:latin typeface="Times New Roman" panose="02020603050405020304" pitchFamily="18" charset="0"/>
              <a:cs typeface="Times New Roman" panose="02020603050405020304" pitchFamily="18" charset="0"/>
            </a:endParaRPr>
          </a:p>
          <a:p>
            <a:endParaRPr lang="en-US" sz="5600" b="1" dirty="0" smtClean="0">
              <a:latin typeface="Times New Roman" panose="02020603050405020304" pitchFamily="18" charset="0"/>
              <a:cs typeface="Times New Roman" panose="02020603050405020304" pitchFamily="18" charset="0"/>
            </a:endParaRPr>
          </a:p>
          <a:p>
            <a:endParaRPr lang="en-US" sz="5600" dirty="0" smtClean="0">
              <a:latin typeface="Times New Roman" panose="02020603050405020304" pitchFamily="18" charset="0"/>
              <a:cs typeface="Times New Roman" panose="02020603050405020304" pitchFamily="18" charset="0"/>
            </a:endParaRPr>
          </a:p>
          <a:p>
            <a:pPr>
              <a:buNone/>
            </a:pPr>
            <a:endParaRPr lang="en-US" sz="5600" dirty="0" smtClean="0">
              <a:latin typeface="Times New Roman" panose="02020603050405020304" pitchFamily="18" charset="0"/>
              <a:cs typeface="Times New Roman" panose="02020603050405020304" pitchFamily="18" charset="0"/>
            </a:endParaRPr>
          </a:p>
          <a:p>
            <a:r>
              <a:rPr lang="en-US" sz="5600" dirty="0" smtClean="0">
                <a:latin typeface="Times New Roman" panose="02020603050405020304" pitchFamily="18" charset="0"/>
                <a:cs typeface="Times New Roman" panose="02020603050405020304" pitchFamily="18" charset="0"/>
              </a:rPr>
              <a:t>  </a:t>
            </a:r>
            <a:endParaRPr lang="en-US" sz="5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b="1" dirty="0" smtClean="0">
                <a:solidFill>
                  <a:schemeClr val="accent1"/>
                </a:solidFill>
                <a:latin typeface="Times New Roman" panose="02020603050405020304" pitchFamily="18" charset="0"/>
                <a:cs typeface="Times New Roman" panose="02020603050405020304" pitchFamily="18" charset="0"/>
              </a:rPr>
              <a:t>3.4     </a:t>
            </a:r>
            <a:r>
              <a:rPr lang="en-US" sz="2800" b="1" dirty="0" smtClean="0">
                <a:solidFill>
                  <a:schemeClr val="accent1"/>
                </a:solidFill>
                <a:latin typeface="Times New Roman" panose="02020603050405020304" pitchFamily="18" charset="0"/>
                <a:cs typeface="Times New Roman" panose="02020603050405020304" pitchFamily="18" charset="0"/>
              </a:rPr>
              <a:t> Common types of </a:t>
            </a:r>
            <a:r>
              <a:rPr lang="en-US" sz="2800" b="1" dirty="0" err="1" smtClean="0">
                <a:solidFill>
                  <a:schemeClr val="accent1"/>
                </a:solidFill>
                <a:latin typeface="Times New Roman" panose="02020603050405020304" pitchFamily="18" charset="0"/>
                <a:cs typeface="Times New Roman" panose="02020603050405020304" pitchFamily="18" charset="0"/>
              </a:rPr>
              <a:t>defence</a:t>
            </a:r>
            <a:r>
              <a:rPr lang="en-US" sz="2800" b="1" dirty="0" smtClean="0">
                <a:solidFill>
                  <a:schemeClr val="accent1"/>
                </a:solidFill>
                <a:latin typeface="Times New Roman" panose="02020603050405020304" pitchFamily="18" charset="0"/>
                <a:cs typeface="Times New Roman" panose="02020603050405020304" pitchFamily="18" charset="0"/>
              </a:rPr>
              <a:t> mechanisms</a:t>
            </a:r>
            <a:endParaRPr lang="en-US" sz="28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784860"/>
            <a:ext cx="8686800" cy="5295265"/>
          </a:xfrm>
        </p:spPr>
        <p:txBody>
          <a:bodyPr>
            <a:normAutofit fontScale="25000" lnSpcReduction="20000"/>
          </a:bodyPr>
          <a:lstStyle/>
          <a:p>
            <a:pPr>
              <a:buNone/>
            </a:pPr>
            <a:r>
              <a:rPr lang="en-US" sz="7200" b="1" dirty="0" smtClean="0">
                <a:latin typeface="Times New Roman" panose="02020603050405020304" pitchFamily="18" charset="0"/>
                <a:cs typeface="Times New Roman" panose="02020603050405020304" pitchFamily="18" charset="0"/>
              </a:rPr>
              <a:t>5   </a:t>
            </a:r>
            <a:r>
              <a:rPr lang="en-US" sz="7200" b="1" dirty="0" err="1" smtClean="0">
                <a:latin typeface="Times New Roman" panose="02020603050405020304" pitchFamily="18" charset="0"/>
                <a:cs typeface="Times New Roman" panose="02020603050405020304" pitchFamily="18" charset="0"/>
              </a:rPr>
              <a:t>Compensation</a:t>
            </a:r>
            <a:r>
              <a:rPr lang="en-US" sz="7200" dirty="0" err="1" smtClean="0">
                <a:latin typeface="Times New Roman" panose="02020603050405020304" pitchFamily="18" charset="0"/>
                <a:cs typeface="Times New Roman" panose="02020603050405020304" pitchFamily="18" charset="0"/>
              </a:rPr>
              <a:t>It</a:t>
            </a:r>
            <a:r>
              <a:rPr lang="en-US" sz="7200" dirty="0" smtClean="0">
                <a:latin typeface="Times New Roman" panose="02020603050405020304" pitchFamily="18" charset="0"/>
                <a:cs typeface="Times New Roman" panose="02020603050405020304" pitchFamily="18" charset="0"/>
              </a:rPr>
              <a:t> is a form of behavior of an individual, when he/she makes an attempt to overcome weakness or limitations by drawing attention to his/her strong or </a:t>
            </a:r>
            <a:r>
              <a:rPr lang="en-US" sz="7200" dirty="0" err="1" smtClean="0">
                <a:latin typeface="Times New Roman" panose="02020603050405020304" pitchFamily="18" charset="0"/>
                <a:cs typeface="Times New Roman" panose="02020603050405020304" pitchFamily="18" charset="0"/>
              </a:rPr>
              <a:t>favourable</a:t>
            </a:r>
            <a:r>
              <a:rPr lang="en-US" sz="7200" dirty="0" smtClean="0">
                <a:latin typeface="Times New Roman" panose="02020603050405020304" pitchFamily="18" charset="0"/>
                <a:cs typeface="Times New Roman" panose="02020603050405020304" pitchFamily="18" charset="0"/>
              </a:rPr>
              <a:t> characteristic.  For e.g. a student backward in studies may try to shine in sports or extra curricular activities. </a:t>
            </a:r>
            <a:endParaRPr lang="en-US" sz="7200" dirty="0" smtClean="0">
              <a:latin typeface="Times New Roman" panose="02020603050405020304" pitchFamily="18" charset="0"/>
              <a:cs typeface="Times New Roman" panose="02020603050405020304" pitchFamily="18" charset="0"/>
            </a:endParaRPr>
          </a:p>
          <a:p>
            <a:endParaRPr lang="en-US" sz="7200" b="1" dirty="0" smtClean="0">
              <a:latin typeface="Times New Roman" panose="02020603050405020304" pitchFamily="18" charset="0"/>
              <a:cs typeface="Times New Roman" panose="02020603050405020304" pitchFamily="18" charset="0"/>
            </a:endParaRPr>
          </a:p>
          <a:p>
            <a:pPr>
              <a:buNone/>
            </a:pPr>
            <a:r>
              <a:rPr lang="en-US" sz="7200" b="1" dirty="0" smtClean="0">
                <a:latin typeface="Times New Roman" panose="02020603050405020304" pitchFamily="18" charset="0"/>
                <a:cs typeface="Times New Roman" panose="02020603050405020304" pitchFamily="18" charset="0"/>
              </a:rPr>
              <a:t>6	Identification : </a:t>
            </a:r>
            <a:r>
              <a:rPr lang="en-US" sz="7200" dirty="0" smtClean="0">
                <a:latin typeface="Times New Roman" panose="02020603050405020304" pitchFamily="18" charset="0"/>
                <a:cs typeface="Times New Roman" panose="02020603050405020304" pitchFamily="18" charset="0"/>
              </a:rPr>
              <a:t>The process of enhancing one’s self-worth by identifying themselves with an illustrious person or institution is called identification. For e.g. Basking in the shadow of the Head of the Company, </a:t>
            </a:r>
            <a:r>
              <a:rPr lang="en-US" sz="7200" dirty="0" err="1" smtClean="0">
                <a:latin typeface="Times New Roman" panose="02020603050405020304" pitchFamily="18" charset="0"/>
                <a:cs typeface="Times New Roman" panose="02020603050405020304" pitchFamily="18" charset="0"/>
              </a:rPr>
              <a:t>Organisation</a:t>
            </a:r>
            <a:r>
              <a:rPr lang="en-US" sz="7200" dirty="0" smtClean="0">
                <a:latin typeface="Times New Roman" panose="02020603050405020304" pitchFamily="18" charset="0"/>
                <a:cs typeface="Times New Roman" panose="02020603050405020304" pitchFamily="18" charset="0"/>
              </a:rPr>
              <a:t>.</a:t>
            </a:r>
            <a:endParaRPr lang="en-US" sz="7200" dirty="0" smtClean="0">
              <a:latin typeface="Times New Roman" panose="02020603050405020304" pitchFamily="18" charset="0"/>
              <a:cs typeface="Times New Roman" panose="02020603050405020304" pitchFamily="18" charset="0"/>
            </a:endParaRPr>
          </a:p>
          <a:p>
            <a:pPr>
              <a:buNone/>
            </a:pPr>
            <a:endParaRPr lang="en-US" sz="7200" b="1" dirty="0" smtClean="0">
              <a:latin typeface="Times New Roman" panose="02020603050405020304" pitchFamily="18" charset="0"/>
              <a:cs typeface="Times New Roman" panose="02020603050405020304" pitchFamily="18" charset="0"/>
            </a:endParaRPr>
          </a:p>
          <a:p>
            <a:pPr>
              <a:buNone/>
            </a:pPr>
            <a:r>
              <a:rPr lang="en-US" sz="7200" b="1" dirty="0" smtClean="0">
                <a:latin typeface="Times New Roman" panose="02020603050405020304" pitchFamily="18" charset="0"/>
                <a:cs typeface="Times New Roman" panose="02020603050405020304" pitchFamily="18" charset="0"/>
              </a:rPr>
              <a:t>7</a:t>
            </a:r>
            <a:r>
              <a:rPr lang="en-US" sz="7200" b="1" dirty="0" smtClean="0">
                <a:solidFill>
                  <a:srgbClr val="FF0000"/>
                </a:solidFill>
                <a:latin typeface="Times New Roman" panose="02020603050405020304" pitchFamily="18" charset="0"/>
                <a:cs typeface="Times New Roman" panose="02020603050405020304" pitchFamily="18" charset="0"/>
              </a:rPr>
              <a:t>	Regression : </a:t>
            </a:r>
            <a:r>
              <a:rPr lang="en-US" sz="7200" dirty="0" smtClean="0">
                <a:solidFill>
                  <a:srgbClr val="FF0000"/>
                </a:solidFill>
                <a:latin typeface="Times New Roman" panose="02020603050405020304" pitchFamily="18" charset="0"/>
                <a:cs typeface="Times New Roman" panose="02020603050405020304" pitchFamily="18" charset="0"/>
              </a:rPr>
              <a:t>the individual retreats to or adapts infantile or primitive forms of behavior. Throwing </a:t>
            </a:r>
            <a:r>
              <a:rPr lang="en-US" sz="7200" dirty="0" err="1" smtClean="0">
                <a:solidFill>
                  <a:srgbClr val="FF0000"/>
                </a:solidFill>
                <a:latin typeface="Times New Roman" panose="02020603050405020304" pitchFamily="18" charset="0"/>
                <a:cs typeface="Times New Roman" panose="02020603050405020304" pitchFamily="18" charset="0"/>
              </a:rPr>
              <a:t>trantrums</a:t>
            </a:r>
            <a:r>
              <a:rPr lang="en-US" sz="7200" dirty="0" smtClean="0">
                <a:solidFill>
                  <a:srgbClr val="FF0000"/>
                </a:solidFill>
                <a:latin typeface="Times New Roman" panose="02020603050405020304" pitchFamily="18" charset="0"/>
                <a:cs typeface="Times New Roman" panose="02020603050405020304" pitchFamily="18" charset="0"/>
              </a:rPr>
              <a:t>, creating a scene, threatening to leave home, refusing to speak, are common childish (regressive) devices used by adults. </a:t>
            </a:r>
            <a:endParaRPr lang="en-US" sz="7200" dirty="0" smtClean="0">
              <a:solidFill>
                <a:srgbClr val="FF0000"/>
              </a:solidFill>
              <a:latin typeface="Times New Roman" panose="02020603050405020304" pitchFamily="18" charset="0"/>
              <a:cs typeface="Times New Roman" panose="02020603050405020304" pitchFamily="18" charset="0"/>
            </a:endParaRPr>
          </a:p>
          <a:p>
            <a:pPr>
              <a:buNone/>
            </a:pPr>
            <a:r>
              <a:rPr lang="en-US" sz="7200" dirty="0" smtClean="0">
                <a:solidFill>
                  <a:srgbClr val="FF0000"/>
                </a:solidFill>
                <a:latin typeface="Times New Roman" panose="02020603050405020304" pitchFamily="18" charset="0"/>
                <a:cs typeface="Times New Roman" panose="02020603050405020304" pitchFamily="18" charset="0"/>
              </a:rPr>
              <a:t>	Extreme form of regressive behavior is typical in some mental disorders such as Schizophrenia. Thus manifesting child behavior of unwillingness to eat, bathe or dress himself or herself. </a:t>
            </a:r>
            <a:endParaRPr lang="en-US" sz="7200" dirty="0" smtClean="0">
              <a:solidFill>
                <a:srgbClr val="FF0000"/>
              </a:solidFill>
              <a:latin typeface="Times New Roman" panose="02020603050405020304" pitchFamily="18" charset="0"/>
              <a:cs typeface="Times New Roman" panose="02020603050405020304" pitchFamily="18" charset="0"/>
            </a:endParaRPr>
          </a:p>
          <a:p>
            <a:pPr>
              <a:buNone/>
            </a:pPr>
            <a:endParaRPr lang="en-US" sz="7200" dirty="0" smtClean="0">
              <a:latin typeface="Times New Roman" panose="02020603050405020304" pitchFamily="18" charset="0"/>
              <a:cs typeface="Times New Roman" panose="02020603050405020304" pitchFamily="18" charset="0"/>
            </a:endParaRPr>
          </a:p>
          <a:p>
            <a:pPr>
              <a:buNone/>
            </a:pPr>
            <a:r>
              <a:rPr lang="en-US" sz="7200" b="1" dirty="0" smtClean="0">
                <a:latin typeface="Times New Roman" panose="02020603050405020304" pitchFamily="18" charset="0"/>
                <a:cs typeface="Times New Roman" panose="02020603050405020304" pitchFamily="18" charset="0"/>
              </a:rPr>
              <a:t>8	Displacement : </a:t>
            </a:r>
            <a:r>
              <a:rPr lang="en-US" sz="7200" dirty="0" smtClean="0">
                <a:latin typeface="Times New Roman" panose="02020603050405020304" pitchFamily="18" charset="0"/>
                <a:cs typeface="Times New Roman" panose="02020603050405020304" pitchFamily="18" charset="0"/>
              </a:rPr>
              <a:t>A particular motive or emotion (or frustration) is turned to another unsuspecting object, totally unconnected. For e.g. boss shouts at man; man shouts at wife; wife shouts at child; child kicks the dog; dog bites a passerby and so on and so forth.</a:t>
            </a:r>
            <a:endParaRPr lang="en-US" sz="7200" dirty="0" smtClean="0">
              <a:latin typeface="Times New Roman" panose="02020603050405020304" pitchFamily="18" charset="0"/>
              <a:cs typeface="Times New Roman" panose="02020603050405020304" pitchFamily="18" charset="0"/>
            </a:endParaRPr>
          </a:p>
          <a:p>
            <a:endParaRPr lang="en-US" b="1" dirty="0" smtClean="0"/>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smtClean="0">
                <a:solidFill>
                  <a:schemeClr val="accent1"/>
                </a:solidFill>
              </a:rPr>
              <a:t>3.4	C</a:t>
            </a:r>
            <a:r>
              <a:rPr lang="en-US" sz="2700" b="1" dirty="0" smtClean="0">
                <a:solidFill>
                  <a:schemeClr val="accent1"/>
                </a:solidFill>
                <a:latin typeface="Times New Roman" panose="02020603050405020304" pitchFamily="18" charset="0"/>
                <a:cs typeface="Times New Roman" panose="02020603050405020304" pitchFamily="18" charset="0"/>
              </a:rPr>
              <a:t>ommon types of  Defense Mechanisms</a:t>
            </a:r>
            <a:endParaRPr lang="en-US" sz="27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25000" lnSpcReduction="20000"/>
          </a:bodyPr>
          <a:lstStyle/>
          <a:p>
            <a:pPr marL="514350" indent="-514350">
              <a:buAutoNum type="arabicPlain" startAt="9"/>
            </a:pPr>
            <a:r>
              <a:rPr lang="en-US" sz="6400" b="1" dirty="0" smtClean="0"/>
              <a:t>Sublimation : </a:t>
            </a:r>
            <a:r>
              <a:rPr lang="en-US" sz="6400" dirty="0" smtClean="0"/>
              <a:t>when a person’s urges or impulses could not be gratified and to assuage the frustration, he might engage himself in substitute activities , which are socially valued and acceptable.  </a:t>
            </a:r>
            <a:endParaRPr lang="en-US" sz="6400" dirty="0" smtClean="0"/>
          </a:p>
          <a:p>
            <a:pPr>
              <a:buNone/>
            </a:pPr>
            <a:r>
              <a:rPr lang="en-US" sz="6400" dirty="0" smtClean="0"/>
              <a:t>	    </a:t>
            </a:r>
            <a:r>
              <a:rPr lang="en-US" sz="6400" dirty="0" err="1" smtClean="0"/>
              <a:t>Allport</a:t>
            </a:r>
            <a:r>
              <a:rPr lang="en-US" sz="6400" dirty="0" smtClean="0"/>
              <a:t> says, </a:t>
            </a:r>
            <a:r>
              <a:rPr lang="en-US" sz="6400" i="1" dirty="0" smtClean="0"/>
              <a:t>‘Sublimation is a device by which antisocial impulses are made     </a:t>
            </a:r>
            <a:endParaRPr lang="en-US" sz="6400" i="1" dirty="0" smtClean="0"/>
          </a:p>
          <a:p>
            <a:pPr>
              <a:buNone/>
            </a:pPr>
            <a:r>
              <a:rPr lang="en-US" sz="6400" i="1" dirty="0" smtClean="0"/>
              <a:t>          socially acceptable’</a:t>
            </a:r>
            <a:r>
              <a:rPr lang="en-US" sz="6400" dirty="0" smtClean="0"/>
              <a:t>. </a:t>
            </a:r>
            <a:endParaRPr lang="en-US" sz="6400" dirty="0" smtClean="0"/>
          </a:p>
          <a:p>
            <a:pPr marL="514350" indent="-514350">
              <a:buAutoNum type="arabicPlain" startAt="10"/>
            </a:pPr>
            <a:endParaRPr lang="en-US" sz="8000" b="1" dirty="0" smtClean="0"/>
          </a:p>
          <a:p>
            <a:pPr marL="514350" indent="-514350">
              <a:buAutoNum type="arabicPlain" startAt="10"/>
            </a:pPr>
            <a:r>
              <a:rPr lang="en-US" sz="8000" b="1" dirty="0" smtClean="0">
                <a:solidFill>
                  <a:srgbClr val="FF0000"/>
                </a:solidFill>
              </a:rPr>
              <a:t>Withdrawal : </a:t>
            </a:r>
            <a:r>
              <a:rPr lang="en-US" sz="8000" dirty="0" smtClean="0">
                <a:solidFill>
                  <a:srgbClr val="FF0000"/>
                </a:solidFill>
              </a:rPr>
              <a:t>Withdrawing from a situation that causes frustration or failure – makes  himself by running away from the difficult scene.</a:t>
            </a:r>
            <a:r>
              <a:rPr lang="en-US" sz="8000" b="1" dirty="0" smtClean="0">
                <a:solidFill>
                  <a:srgbClr val="FF0000"/>
                </a:solidFill>
              </a:rPr>
              <a:t>  </a:t>
            </a:r>
            <a:endParaRPr lang="en-US" sz="8000" b="1" dirty="0" smtClean="0">
              <a:solidFill>
                <a:srgbClr val="FF0000"/>
              </a:solidFill>
            </a:endParaRPr>
          </a:p>
          <a:p>
            <a:pPr marL="514350" indent="-514350">
              <a:buAutoNum type="arabicPlain" startAt="11"/>
            </a:pPr>
            <a:endParaRPr lang="en-US" sz="8000" b="1" dirty="0" smtClean="0">
              <a:solidFill>
                <a:srgbClr val="FF0000"/>
              </a:solidFill>
            </a:endParaRPr>
          </a:p>
          <a:p>
            <a:pPr marL="514350" indent="-514350">
              <a:buAutoNum type="arabicPlain" startAt="11"/>
            </a:pPr>
            <a:r>
              <a:rPr lang="en-US" sz="6400" b="1" dirty="0" smtClean="0"/>
              <a:t>Selective Forgetting :</a:t>
            </a:r>
            <a:endParaRPr lang="en-US" sz="6400" dirty="0" smtClean="0"/>
          </a:p>
          <a:p>
            <a:pPr>
              <a:buNone/>
            </a:pPr>
            <a:endParaRPr lang="en-US" sz="6400" b="1" dirty="0" smtClean="0"/>
          </a:p>
          <a:p>
            <a:pPr marL="514350" indent="-514350">
              <a:buNone/>
            </a:pPr>
            <a:r>
              <a:rPr lang="en-US" sz="6400" b="1" dirty="0" smtClean="0"/>
              <a:t> 	Suppression : </a:t>
            </a:r>
            <a:r>
              <a:rPr lang="en-US" sz="6400" dirty="0" smtClean="0"/>
              <a:t>Intentional and forcible avoidance of painful tendencies and    </a:t>
            </a:r>
            <a:endParaRPr lang="en-US" sz="6400" dirty="0" smtClean="0"/>
          </a:p>
          <a:p>
            <a:pPr marL="514350" indent="-514350">
              <a:buNone/>
            </a:pPr>
            <a:r>
              <a:rPr lang="en-US" sz="6400" dirty="0" smtClean="0"/>
              <a:t>	distressing circumstances &amp; memories from consciousness.</a:t>
            </a:r>
            <a:r>
              <a:rPr lang="en-US" sz="6400" b="1" dirty="0" smtClean="0"/>
              <a:t> </a:t>
            </a:r>
            <a:endParaRPr lang="en-US" sz="6400" dirty="0" smtClean="0"/>
          </a:p>
          <a:p>
            <a:pPr>
              <a:buNone/>
            </a:pPr>
            <a:r>
              <a:rPr lang="en-US" sz="6400" b="1" dirty="0" smtClean="0"/>
              <a:t>	   </a:t>
            </a:r>
            <a:endParaRPr lang="en-US" sz="6400" b="1" dirty="0" smtClean="0">
              <a:solidFill>
                <a:srgbClr val="FF0000"/>
              </a:solidFill>
            </a:endParaRPr>
          </a:p>
          <a:p>
            <a:pPr>
              <a:buNone/>
            </a:pPr>
            <a:r>
              <a:rPr lang="en-US" sz="6400" b="1" dirty="0" smtClean="0">
                <a:solidFill>
                  <a:srgbClr val="FF0000"/>
                </a:solidFill>
              </a:rPr>
              <a:t>	    Repression :  </a:t>
            </a:r>
            <a:r>
              <a:rPr lang="en-US" sz="6400" dirty="0" smtClean="0">
                <a:solidFill>
                  <a:srgbClr val="FF0000"/>
                </a:solidFill>
              </a:rPr>
              <a:t>Removal of all mental conflict is repression.  Painful    </a:t>
            </a:r>
            <a:endParaRPr lang="en-US" sz="6400" dirty="0" smtClean="0">
              <a:solidFill>
                <a:srgbClr val="FF0000"/>
              </a:solidFill>
            </a:endParaRPr>
          </a:p>
          <a:p>
            <a:pPr>
              <a:buNone/>
            </a:pPr>
            <a:r>
              <a:rPr lang="en-US" sz="6400" dirty="0" smtClean="0">
                <a:solidFill>
                  <a:srgbClr val="FF0000"/>
                </a:solidFill>
              </a:rPr>
              <a:t>          tendencies, distressing experiences, memories etc. are pushed into the   </a:t>
            </a:r>
            <a:endParaRPr lang="en-US" sz="6400" dirty="0" smtClean="0">
              <a:solidFill>
                <a:srgbClr val="FF0000"/>
              </a:solidFill>
            </a:endParaRPr>
          </a:p>
          <a:p>
            <a:pPr>
              <a:buNone/>
            </a:pPr>
            <a:r>
              <a:rPr lang="en-US" sz="6400" dirty="0" smtClean="0">
                <a:solidFill>
                  <a:srgbClr val="FF0000"/>
                </a:solidFill>
              </a:rPr>
              <a:t>          unconscious mind and not allowed to re-enter the conscious mind again.  </a:t>
            </a:r>
            <a:endParaRPr lang="en-US" sz="6400" dirty="0" smtClean="0">
              <a:solidFill>
                <a:srgbClr val="FF0000"/>
              </a:solidFill>
            </a:endParaRPr>
          </a:p>
          <a:p>
            <a:pPr>
              <a:buNone/>
            </a:pPr>
            <a:r>
              <a:rPr lang="en-US" sz="6400" dirty="0" smtClean="0">
                <a:solidFill>
                  <a:srgbClr val="FF0000"/>
                </a:solidFill>
              </a:rPr>
              <a:t>	    This has the effect of complete forgetfulness. This is harmful for mental health and           </a:t>
            </a:r>
            <a:endParaRPr lang="en-US" sz="6400" dirty="0" smtClean="0">
              <a:solidFill>
                <a:srgbClr val="FF0000"/>
              </a:solidFill>
            </a:endParaRPr>
          </a:p>
          <a:p>
            <a:pPr>
              <a:buNone/>
            </a:pPr>
            <a:r>
              <a:rPr lang="en-US" sz="6400" dirty="0" smtClean="0">
                <a:solidFill>
                  <a:srgbClr val="FF0000"/>
                </a:solidFill>
              </a:rPr>
              <a:t>          leads to the disorganization or personality. </a:t>
            </a:r>
            <a:endParaRPr lang="en-US" sz="6400" dirty="0" smtClean="0">
              <a:solidFill>
                <a:srgbClr val="FF0000"/>
              </a:solidFill>
            </a:endParaRPr>
          </a:p>
          <a:p>
            <a:endParaRPr lang="en-US" sz="6400" dirty="0" smtClean="0">
              <a:solidFill>
                <a:srgbClr val="FF000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5440"/>
            <a:ext cx="8229600" cy="841375"/>
          </a:xfrm>
        </p:spPr>
        <p:txBody>
          <a:bodyPr>
            <a:noAutofit/>
          </a:bodyPr>
          <a:lstStyle/>
          <a:p>
            <a:pPr algn="ctr"/>
            <a:br>
              <a:rPr lang="en-US" sz="1600" b="1" dirty="0" smtClean="0">
                <a:latin typeface="Times New Roman" panose="02020603050405020304" pitchFamily="18" charset="0"/>
                <a:cs typeface="Times New Roman" panose="02020603050405020304" pitchFamily="18" charset="0"/>
              </a:rPr>
            </a:br>
            <a:r>
              <a:rPr lang="en-US" sz="1600" b="1" dirty="0" smtClean="0">
                <a:solidFill>
                  <a:schemeClr val="accent1"/>
                </a:solidFill>
                <a:latin typeface="Times New Roman" panose="02020603050405020304" pitchFamily="18" charset="0"/>
                <a:cs typeface="Times New Roman" panose="02020603050405020304" pitchFamily="18" charset="0"/>
              </a:rPr>
              <a:t>4.0</a:t>
            </a:r>
            <a:r>
              <a:rPr lang="en-US" sz="1600" b="1" dirty="0" smtClean="0">
                <a:latin typeface="Times New Roman" panose="02020603050405020304" pitchFamily="18" charset="0"/>
                <a:cs typeface="Times New Roman" panose="02020603050405020304" pitchFamily="18" charset="0"/>
              </a:rPr>
              <a:t>	</a:t>
            </a:r>
            <a:r>
              <a:rPr lang="en-US" sz="2400" b="1" dirty="0" smtClean="0">
                <a:solidFill>
                  <a:schemeClr val="accent1"/>
                </a:solidFill>
                <a:latin typeface="Times New Roman" panose="02020603050405020304" pitchFamily="18" charset="0"/>
                <a:cs typeface="Times New Roman" panose="02020603050405020304" pitchFamily="18" charset="0"/>
              </a:rPr>
              <a:t>HOW TO RESOLVE ISSUES WITH CHILDREN, ADOLESCENTS  (</a:t>
            </a:r>
            <a:r>
              <a:rPr lang="en-US" sz="1600" b="1" cap="none" dirty="0" smtClean="0">
                <a:solidFill>
                  <a:schemeClr val="accent1"/>
                </a:solidFill>
                <a:latin typeface="Times New Roman" panose="02020603050405020304" pitchFamily="18" charset="0"/>
                <a:cs typeface="Times New Roman" panose="02020603050405020304" pitchFamily="18" charset="0"/>
              </a:rPr>
              <a:t>brain-storming</a:t>
            </a:r>
            <a:r>
              <a:rPr lang="en-US" sz="2400" b="1" dirty="0" smtClean="0">
                <a:solidFill>
                  <a:schemeClr val="accent1"/>
                </a:solidFill>
                <a:latin typeface="Times New Roman" panose="02020603050405020304" pitchFamily="18" charset="0"/>
                <a:cs typeface="Times New Roman" panose="02020603050405020304" pitchFamily="18" charset="0"/>
              </a:rPr>
              <a:t>)</a:t>
            </a:r>
            <a:br>
              <a:rPr lang="en-US" sz="2400" b="1" dirty="0" smtClean="0">
                <a:solidFill>
                  <a:schemeClr val="accent1"/>
                </a:solidFill>
                <a:latin typeface="Times New Roman" panose="02020603050405020304" pitchFamily="18" charset="0"/>
                <a:cs typeface="Times New Roman" panose="02020603050405020304" pitchFamily="18" charset="0"/>
              </a:rPr>
            </a:br>
            <a:endParaRPr lang="en-US" sz="24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74750"/>
            <a:ext cx="8229600" cy="5546725"/>
          </a:xfrm>
        </p:spPr>
        <p:txBody>
          <a:bodyPr/>
          <a:lstStyle/>
          <a:p>
            <a:r>
              <a:rPr lang="en-US" sz="2400" b="1" dirty="0" smtClean="0">
                <a:solidFill>
                  <a:schemeClr val="accent1"/>
                </a:solidFill>
                <a:latin typeface="Baskerville Old Face" panose="02020602080505020303" charset="0"/>
                <a:cs typeface="Baskerville Old Face" panose="02020602080505020303" charset="0"/>
              </a:rPr>
              <a:t>4.1	Quality Time with children, adolescents :  very 			important; </a:t>
            </a:r>
            <a:endParaRPr lang="en-US" sz="2400" b="1" dirty="0" smtClean="0">
              <a:solidFill>
                <a:schemeClr val="accent1"/>
              </a:solidFill>
              <a:latin typeface="Baskerville Old Face" panose="02020602080505020303" charset="0"/>
              <a:cs typeface="Baskerville Old Face" panose="02020602080505020303" charset="0"/>
            </a:endParaRPr>
          </a:p>
          <a:p>
            <a:r>
              <a:rPr lang="en-US" sz="2400" b="1" dirty="0" smtClean="0">
                <a:solidFill>
                  <a:schemeClr val="accent1"/>
                </a:solidFill>
                <a:latin typeface="Baskerville Old Face" panose="02020602080505020303" charset="0"/>
                <a:cs typeface="Baskerville Old Face" panose="02020602080505020303" charset="0"/>
              </a:rPr>
              <a:t>4.2	Inculcate good habits in them ;</a:t>
            </a:r>
            <a:endParaRPr lang="en-US" sz="2400" b="1" dirty="0" smtClean="0">
              <a:solidFill>
                <a:schemeClr val="accent1"/>
              </a:solidFill>
              <a:latin typeface="Baskerville Old Face" panose="02020602080505020303" charset="0"/>
              <a:cs typeface="Baskerville Old Face" panose="02020602080505020303" charset="0"/>
            </a:endParaRPr>
          </a:p>
          <a:p>
            <a:r>
              <a:rPr lang="en-US" sz="2400" b="1" dirty="0">
                <a:solidFill>
                  <a:schemeClr val="accent1"/>
                </a:solidFill>
                <a:latin typeface="Baskerville Old Face" panose="02020602080505020303" charset="0"/>
                <a:cs typeface="Baskerville Old Face" panose="02020602080505020303" charset="0"/>
              </a:rPr>
              <a:t>4.3	Listening to them; </a:t>
            </a:r>
            <a:endParaRPr lang="en-US" sz="2400" b="1" dirty="0">
              <a:solidFill>
                <a:schemeClr val="accent1"/>
              </a:solidFill>
              <a:latin typeface="Baskerville Old Face" panose="02020602080505020303" charset="0"/>
              <a:cs typeface="Baskerville Old Face" panose="02020602080505020303" charset="0"/>
            </a:endParaRPr>
          </a:p>
          <a:p>
            <a:r>
              <a:rPr lang="en-US" sz="2400" b="1" dirty="0">
                <a:solidFill>
                  <a:schemeClr val="accent1"/>
                </a:solidFill>
                <a:latin typeface="Baskerville Old Face" panose="02020602080505020303" charset="0"/>
                <a:cs typeface="Baskerville Old Face" panose="02020602080505020303" charset="0"/>
              </a:rPr>
              <a:t>4.4	A friendly chat ;</a:t>
            </a:r>
            <a:endParaRPr lang="en-US" sz="2400" b="1" dirty="0">
              <a:solidFill>
                <a:schemeClr val="accent1"/>
              </a:solidFill>
              <a:latin typeface="Baskerville Old Face" panose="02020602080505020303" charset="0"/>
              <a:cs typeface="Baskerville Old Face" panose="02020602080505020303" charset="0"/>
            </a:endParaRPr>
          </a:p>
          <a:p>
            <a:r>
              <a:rPr lang="en-US" sz="2400" b="1" dirty="0">
                <a:solidFill>
                  <a:schemeClr val="accent1"/>
                </a:solidFill>
                <a:latin typeface="Baskerville Old Face" panose="02020602080505020303" charset="0"/>
                <a:cs typeface="Baskerville Old Face" panose="02020602080505020303" charset="0"/>
              </a:rPr>
              <a:t>4.5	Encouraging them ; say “I’m proud of you”</a:t>
            </a:r>
            <a:endParaRPr lang="en-US" sz="2400" b="1" dirty="0">
              <a:solidFill>
                <a:schemeClr val="accent1"/>
              </a:solidFill>
              <a:latin typeface="Baskerville Old Face" panose="02020602080505020303" charset="0"/>
              <a:cs typeface="Baskerville Old Face" panose="02020602080505020303" charset="0"/>
            </a:endParaRPr>
          </a:p>
          <a:p>
            <a:r>
              <a:rPr lang="en-US" sz="2400" b="1" dirty="0">
                <a:solidFill>
                  <a:schemeClr val="accent1"/>
                </a:solidFill>
                <a:latin typeface="Baskerville Old Face" panose="02020602080505020303" charset="0"/>
                <a:cs typeface="Baskerville Old Face" panose="02020602080505020303" charset="0"/>
              </a:rPr>
              <a:t>4.6	Invite your son’s or daughter’s friends to your home to spend an evening</a:t>
            </a:r>
            <a:endParaRPr lang="en-US" sz="2400" b="1" dirty="0">
              <a:solidFill>
                <a:schemeClr val="accent1"/>
              </a:solidFill>
              <a:latin typeface="Baskerville Old Face" panose="02020602080505020303" charset="0"/>
              <a:cs typeface="Baskerville Old Face" panose="02020602080505020303" charset="0"/>
            </a:endParaRPr>
          </a:p>
          <a:p>
            <a:r>
              <a:rPr lang="en-US" sz="2400" b="1" dirty="0">
                <a:solidFill>
                  <a:schemeClr val="accent1"/>
                </a:solidFill>
                <a:latin typeface="Baskerville Old Face" panose="02020602080505020303" charset="0"/>
                <a:cs typeface="Baskerville Old Face" panose="02020602080505020303" charset="0"/>
              </a:rPr>
              <a:t>4.7	Play games together</a:t>
            </a:r>
            <a:endParaRPr lang="en-US" sz="2400" b="1" dirty="0">
              <a:solidFill>
                <a:schemeClr val="accent1"/>
              </a:solidFill>
              <a:latin typeface="Baskerville Old Face" panose="02020602080505020303" charset="0"/>
              <a:cs typeface="Baskerville Old Face" panose="02020602080505020303" charset="0"/>
            </a:endParaRPr>
          </a:p>
          <a:p>
            <a:r>
              <a:rPr lang="en-US" sz="2400" b="1" dirty="0">
                <a:solidFill>
                  <a:schemeClr val="accent1"/>
                </a:solidFill>
                <a:latin typeface="Baskerville Old Face" panose="02020602080505020303" charset="0"/>
                <a:cs typeface="Baskerville Old Face" panose="02020602080505020303" charset="0"/>
              </a:rPr>
              <a:t>4.8	Learn a new skill with them or teach them one !</a:t>
            </a:r>
            <a:endParaRPr lang="en-US" sz="2400" b="1" dirty="0">
              <a:solidFill>
                <a:schemeClr val="accent1"/>
              </a:solidFill>
              <a:latin typeface="Baskerville Old Face" panose="02020602080505020303" charset="0"/>
              <a:cs typeface="Baskerville Old Face" panose="02020602080505020303" charset="0"/>
            </a:endParaRPr>
          </a:p>
          <a:p>
            <a:r>
              <a:rPr lang="en-US" sz="2400" b="1" dirty="0">
                <a:solidFill>
                  <a:schemeClr val="accent1"/>
                </a:solidFill>
                <a:latin typeface="Baskerville Old Face" panose="02020602080505020303" charset="0"/>
                <a:cs typeface="Baskerville Old Face" panose="02020602080505020303" charset="0"/>
              </a:rPr>
              <a:t>4.9	Spend a special time of praying for leaders, 	teachers, for friends,  for family members.....</a:t>
            </a:r>
            <a:endParaRPr lang="en-US" sz="2400" b="1" dirty="0">
              <a:solidFill>
                <a:schemeClr val="accent1"/>
              </a:solidFill>
              <a:latin typeface="Baskerville Old Face" panose="02020602080505020303"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solidFill>
                  <a:schemeClr val="accent1"/>
                </a:solidFill>
                <a:latin typeface="Times New Roman" panose="02020603050405020304" pitchFamily="18" charset="0"/>
                <a:cs typeface="Times New Roman" panose="02020603050405020304" pitchFamily="18" charset="0"/>
                <a:sym typeface="+mn-ea"/>
              </a:rPr>
              <a:t>7.0   A C</a:t>
            </a:r>
            <a:r>
              <a:rPr lang="en-US" b="1" dirty="0" err="1" smtClean="0">
                <a:solidFill>
                  <a:schemeClr val="accent1"/>
                </a:solidFill>
                <a:latin typeface="Times New Roman" panose="02020603050405020304" pitchFamily="18" charset="0"/>
                <a:cs typeface="Times New Roman" panose="02020603050405020304" pitchFamily="18" charset="0"/>
                <a:sym typeface="+mn-ea"/>
              </a:rPr>
              <a:t>ounsellor’s</a:t>
            </a:r>
            <a:r>
              <a:rPr lang="en-US" b="1" dirty="0" smtClean="0">
                <a:solidFill>
                  <a:schemeClr val="accent1"/>
                </a:solidFill>
                <a:latin typeface="Times New Roman" panose="02020603050405020304" pitchFamily="18" charset="0"/>
                <a:cs typeface="Times New Roman" panose="02020603050405020304" pitchFamily="18" charset="0"/>
                <a:sym typeface="+mn-ea"/>
              </a:rPr>
              <a:t> role </a:t>
            </a:r>
            <a:br>
              <a:rPr lang="en-US" b="1" dirty="0" smtClean="0">
                <a:solidFill>
                  <a:schemeClr val="accent1"/>
                </a:solidFill>
                <a:latin typeface="Times New Roman" panose="02020603050405020304" pitchFamily="18" charset="0"/>
                <a:cs typeface="Times New Roman" panose="02020603050405020304" pitchFamily="18" charset="0"/>
              </a:rPr>
            </a:br>
            <a:endParaRPr lang="en-US"/>
          </a:p>
        </p:txBody>
      </p:sp>
      <p:sp>
        <p:nvSpPr>
          <p:cNvPr id="3" name="Content Placeholder 2"/>
          <p:cNvSpPr>
            <a:spLocks noGrp="1"/>
          </p:cNvSpPr>
          <p:nvPr>
            <p:ph idx="1"/>
          </p:nvPr>
        </p:nvSpPr>
        <p:spPr/>
        <p:txBody>
          <a:bodyPr/>
          <a:p>
            <a:r>
              <a:rPr lang="en-US" dirty="0" smtClean="0">
                <a:latin typeface="Times New Roman" panose="02020603050405020304" pitchFamily="18" charset="0"/>
                <a:cs typeface="Times New Roman" panose="02020603050405020304" pitchFamily="18" charset="0"/>
                <a:sym typeface="+mn-ea"/>
              </a:rPr>
              <a:t>Extreme Care in handling sensitive situation among children or adolescents has to be taken.</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sym typeface="+mn-ea"/>
              </a:rPr>
              <a:t>There is a ‘hidden agenda’ – there is a real case behind the actual incident/event.</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sym typeface="+mn-ea"/>
              </a:rPr>
              <a:t>The wisdom and God-given discernment  of the </a:t>
            </a:r>
            <a:r>
              <a:rPr lang="en-US" dirty="0" err="1" smtClean="0">
                <a:latin typeface="Times New Roman" panose="02020603050405020304" pitchFamily="18" charset="0"/>
                <a:cs typeface="Times New Roman" panose="02020603050405020304" pitchFamily="18" charset="0"/>
                <a:sym typeface="+mn-ea"/>
              </a:rPr>
              <a:t>Counsellor</a:t>
            </a:r>
            <a:r>
              <a:rPr lang="en-US" dirty="0" smtClean="0">
                <a:latin typeface="Times New Roman" panose="02020603050405020304" pitchFamily="18" charset="0"/>
                <a:cs typeface="Times New Roman" panose="02020603050405020304" pitchFamily="18" charset="0"/>
                <a:sym typeface="+mn-ea"/>
              </a:rPr>
              <a:t>.</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sym typeface="+mn-ea"/>
              </a:rPr>
              <a:t>To build a Trust with the child.</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sym typeface="+mn-ea"/>
              </a:rPr>
              <a:t>Confidentiality in the </a:t>
            </a:r>
            <a:r>
              <a:rPr lang="en-US" dirty="0" err="1" smtClean="0">
                <a:latin typeface="Times New Roman" panose="02020603050405020304" pitchFamily="18" charset="0"/>
                <a:cs typeface="Times New Roman" panose="02020603050405020304" pitchFamily="18" charset="0"/>
                <a:sym typeface="+mn-ea"/>
              </a:rPr>
              <a:t>counselling</a:t>
            </a:r>
            <a:r>
              <a:rPr lang="en-US" dirty="0" smtClean="0">
                <a:latin typeface="Times New Roman" panose="02020603050405020304" pitchFamily="18" charset="0"/>
                <a:cs typeface="Times New Roman" panose="02020603050405020304" pitchFamily="18" charset="0"/>
                <a:sym typeface="+mn-ea"/>
              </a:rPr>
              <a:t>.</a:t>
            </a:r>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solidFill>
                  <a:schemeClr val="accent1"/>
                </a:solidFill>
                <a:latin typeface="Baskerville Old Face" panose="02020602080505020303" charset="0"/>
                <a:cs typeface="Baskerville Old Face" panose="02020602080505020303" charset="0"/>
                <a:sym typeface="+mn-ea"/>
              </a:rPr>
              <a:t>GOAL OF  COUNSELLING </a:t>
            </a:r>
            <a:br>
              <a:rPr lang="en-US" b="1" dirty="0" smtClean="0">
                <a:solidFill>
                  <a:schemeClr val="accent1"/>
                </a:solidFill>
                <a:latin typeface="Baskerville Old Face" panose="02020602080505020303" charset="0"/>
                <a:cs typeface="Baskerville Old Face" panose="02020602080505020303" charset="0"/>
              </a:rPr>
            </a:br>
            <a:endParaRPr lang="en-US"/>
          </a:p>
        </p:txBody>
      </p:sp>
      <p:sp>
        <p:nvSpPr>
          <p:cNvPr id="3" name="Content Placeholder 2"/>
          <p:cNvSpPr>
            <a:spLocks noGrp="1"/>
          </p:cNvSpPr>
          <p:nvPr>
            <p:ph idx="1"/>
          </p:nvPr>
        </p:nvSpPr>
        <p:spPr/>
        <p:txBody>
          <a:bodyPr/>
          <a:p>
            <a:r>
              <a:rPr lang="en-US" dirty="0" smtClean="0">
                <a:latin typeface="Times New Roman" panose="02020603050405020304" pitchFamily="18" charset="0"/>
                <a:cs typeface="Times New Roman" panose="02020603050405020304" pitchFamily="18" charset="0"/>
                <a:sym typeface="+mn-ea"/>
              </a:rPr>
              <a:t>The </a:t>
            </a:r>
            <a:r>
              <a:rPr lang="en-US" dirty="0" err="1" smtClean="0">
                <a:latin typeface="Times New Roman" panose="02020603050405020304" pitchFamily="18" charset="0"/>
                <a:cs typeface="Times New Roman" panose="02020603050405020304" pitchFamily="18" charset="0"/>
                <a:sym typeface="+mn-ea"/>
              </a:rPr>
              <a:t>counsellee</a:t>
            </a:r>
            <a:r>
              <a:rPr lang="en-US" dirty="0" smtClean="0">
                <a:latin typeface="Times New Roman" panose="02020603050405020304" pitchFamily="18" charset="0"/>
                <a:cs typeface="Times New Roman" panose="02020603050405020304" pitchFamily="18" charset="0"/>
                <a:sym typeface="+mn-ea"/>
              </a:rPr>
              <a:t> should become not only normal (emotionally and physically) but also try to live a holy, spiritually, healthy life and, begin to love God. </a:t>
            </a:r>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sym typeface="+mn-ea"/>
              </a:rPr>
              <a:t>A lot of empathy, understanding and support has to be extended by the </a:t>
            </a:r>
            <a:r>
              <a:rPr lang="en-US" dirty="0" err="1" smtClean="0">
                <a:latin typeface="Times New Roman" panose="02020603050405020304" pitchFamily="18" charset="0"/>
                <a:cs typeface="Times New Roman" panose="02020603050405020304" pitchFamily="18" charset="0"/>
                <a:sym typeface="+mn-ea"/>
              </a:rPr>
              <a:t>Counsellor</a:t>
            </a:r>
            <a:r>
              <a:rPr lang="en-US" dirty="0" smtClean="0">
                <a:latin typeface="Times New Roman" panose="02020603050405020304" pitchFamily="18" charset="0"/>
                <a:cs typeface="Times New Roman" panose="02020603050405020304" pitchFamily="18" charset="0"/>
                <a:sym typeface="+mn-ea"/>
              </a:rPr>
              <a:t>, to the suffering </a:t>
            </a:r>
            <a:r>
              <a:rPr lang="en-US" dirty="0" err="1" smtClean="0">
                <a:latin typeface="Times New Roman" panose="02020603050405020304" pitchFamily="18" charset="0"/>
                <a:cs typeface="Times New Roman" panose="02020603050405020304" pitchFamily="18" charset="0"/>
                <a:sym typeface="+mn-ea"/>
              </a:rPr>
              <a:t>counsellee</a:t>
            </a:r>
            <a:r>
              <a:rPr lang="en-US" dirty="0" smtClean="0">
                <a:latin typeface="Times New Roman" panose="02020603050405020304" pitchFamily="18" charset="0"/>
                <a:cs typeface="Times New Roman" panose="02020603050405020304" pitchFamily="18" charset="0"/>
                <a:sym typeface="+mn-ea"/>
              </a:rPr>
              <a:t>, with a lot of prayer. </a:t>
            </a:r>
            <a:endParaRPr lang="en-US" dirty="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i="1" dirty="0" smtClean="0">
                <a:solidFill>
                  <a:schemeClr val="accent1"/>
                </a:solidFill>
                <a:latin typeface="Times New Roman" panose="02020603050405020304" pitchFamily="18" charset="0"/>
                <a:cs typeface="Times New Roman" panose="02020603050405020304" pitchFamily="18" charset="0"/>
              </a:rPr>
              <a:t>Thank you !</a:t>
            </a:r>
            <a:endParaRPr lang="en-US" i="1" dirty="0" smtClean="0">
              <a:solidFill>
                <a:schemeClr val="accent1"/>
              </a:solidFill>
              <a:latin typeface="Times New Roman" panose="02020603050405020304" pitchFamily="18" charset="0"/>
              <a:cs typeface="Times New Roman" panose="02020603050405020304" pitchFamily="18" charset="0"/>
            </a:endParaRPr>
          </a:p>
        </p:txBody>
      </p:sp>
      <p:pic>
        <p:nvPicPr>
          <p:cNvPr id="71682" name="Picture 2"/>
          <p:cNvPicPr>
            <a:picLocks noGrp="1" noChangeAspect="1" noChangeArrowheads="1"/>
          </p:cNvPicPr>
          <p:nvPr>
            <p:ph idx="1"/>
          </p:nvPr>
        </p:nvPicPr>
        <p:blipFill>
          <a:blip r:embed="rId1"/>
          <a:srcRect/>
          <a:stretch>
            <a:fillRect/>
          </a:stretch>
        </p:blipFill>
        <p:spPr bwMode="auto">
          <a:xfrm>
            <a:off x="2600581" y="1295400"/>
            <a:ext cx="4095238" cy="39623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686800" cy="1066800"/>
          </a:xfrm>
        </p:spPr>
        <p:txBody>
          <a:bodyPr>
            <a:normAutofit/>
          </a:bodyPr>
          <a:lstStyle/>
          <a:p>
            <a:pPr algn="l"/>
            <a:r>
              <a:rPr lang="en-US" sz="2400" b="1" dirty="0" smtClean="0">
                <a:solidFill>
                  <a:schemeClr val="accent1"/>
                </a:solidFill>
                <a:latin typeface="Times New Roman" panose="02020603050405020304" pitchFamily="18" charset="0"/>
                <a:cs typeface="Times New Roman" panose="02020603050405020304" pitchFamily="18" charset="0"/>
              </a:rPr>
              <a:t>9.0           STUDENTS’  UNREST AND ITS CAUSES</a:t>
            </a:r>
            <a:br>
              <a:rPr lang="en-US" sz="2400" b="1" dirty="0" smtClean="0">
                <a:solidFill>
                  <a:schemeClr val="accent1"/>
                </a:solidFill>
                <a:latin typeface="Times New Roman" panose="02020603050405020304" pitchFamily="18" charset="0"/>
                <a:cs typeface="Times New Roman" panose="02020603050405020304" pitchFamily="18" charset="0"/>
              </a:rPr>
            </a:br>
            <a:r>
              <a:rPr lang="en-US" sz="2400" b="1" dirty="0" smtClean="0">
                <a:solidFill>
                  <a:schemeClr val="accent1"/>
                </a:solidFill>
                <a:latin typeface="Times New Roman" panose="02020603050405020304" pitchFamily="18" charset="0"/>
                <a:cs typeface="Times New Roman" panose="02020603050405020304" pitchFamily="18" charset="0"/>
              </a:rPr>
              <a:t>	    </a:t>
            </a:r>
            <a:r>
              <a:rPr lang="en-US" sz="1300" b="1" dirty="0" smtClean="0">
                <a:solidFill>
                  <a:schemeClr val="accent1"/>
                </a:solidFill>
                <a:latin typeface="Times New Roman" panose="02020603050405020304" pitchFamily="18" charset="0"/>
                <a:cs typeface="Times New Roman" panose="02020603050405020304" pitchFamily="18" charset="0"/>
              </a:rPr>
              <a:t>Prof K. </a:t>
            </a:r>
            <a:r>
              <a:rPr lang="en-US" sz="1300" b="1" dirty="0" err="1" smtClean="0">
                <a:solidFill>
                  <a:schemeClr val="accent1"/>
                </a:solidFill>
                <a:latin typeface="Times New Roman" panose="02020603050405020304" pitchFamily="18" charset="0"/>
                <a:cs typeface="Times New Roman" panose="02020603050405020304" pitchFamily="18" charset="0"/>
              </a:rPr>
              <a:t>Nagarajan</a:t>
            </a:r>
            <a:r>
              <a:rPr lang="en-US" sz="1300" b="1" dirty="0" smtClean="0">
                <a:solidFill>
                  <a:schemeClr val="accent1"/>
                </a:solidFill>
                <a:latin typeface="Times New Roman" panose="02020603050405020304" pitchFamily="18" charset="0"/>
                <a:cs typeface="Times New Roman" panose="02020603050405020304" pitchFamily="18" charset="0"/>
              </a:rPr>
              <a:t>    </a:t>
            </a:r>
            <a:r>
              <a:rPr lang="en-US" sz="1300" b="1" cap="none" dirty="0" smtClean="0">
                <a:solidFill>
                  <a:schemeClr val="accent1"/>
                </a:solidFill>
                <a:latin typeface="Times New Roman" panose="02020603050405020304" pitchFamily="18" charset="0"/>
                <a:cs typeface="Times New Roman" panose="02020603050405020304" pitchFamily="18" charset="0"/>
              </a:rPr>
              <a:t> in</a:t>
            </a:r>
            <a:r>
              <a:rPr lang="en-US" sz="1300" b="1" dirty="0" smtClean="0">
                <a:solidFill>
                  <a:schemeClr val="accent1"/>
                </a:solidFill>
                <a:latin typeface="Times New Roman" panose="02020603050405020304" pitchFamily="18" charset="0"/>
                <a:cs typeface="Times New Roman" panose="02020603050405020304" pitchFamily="18" charset="0"/>
              </a:rPr>
              <a:t>   </a:t>
            </a:r>
            <a:r>
              <a:rPr lang="en-US" sz="1300" b="1" i="1" dirty="0" smtClean="0">
                <a:solidFill>
                  <a:schemeClr val="accent1"/>
                </a:solidFill>
                <a:latin typeface="Times New Roman" panose="02020603050405020304" pitchFamily="18" charset="0"/>
                <a:cs typeface="Times New Roman" panose="02020603050405020304" pitchFamily="18" charset="0"/>
              </a:rPr>
              <a:t>Psychology of Learning and Human Development</a:t>
            </a:r>
            <a:endParaRPr lang="en-US" sz="1300" b="1" i="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219200"/>
            <a:ext cx="8686800" cy="5181600"/>
          </a:xfrm>
        </p:spPr>
        <p:txBody>
          <a:bodyPr>
            <a:noAutofit/>
          </a:bodyPr>
          <a:lstStyle/>
          <a:p>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686800" cy="762000"/>
          </a:xfrm>
        </p:spPr>
        <p:txBody>
          <a:bodyPr>
            <a:noAutofit/>
          </a:bodyPr>
          <a:lstStyle/>
          <a:p>
            <a:pPr algn="ctr"/>
            <a:r>
              <a:rPr lang="en-US" sz="2400" b="1" dirty="0" smtClean="0">
                <a:solidFill>
                  <a:schemeClr val="accent1"/>
                </a:solidFill>
                <a:latin typeface="Times New Roman" panose="02020603050405020304" pitchFamily="18" charset="0"/>
                <a:cs typeface="Times New Roman" panose="02020603050405020304" pitchFamily="18" charset="0"/>
              </a:rPr>
              <a:t>9.0	STUDENTS’  UNREST AND ITS CAUSES </a:t>
            </a:r>
            <a:r>
              <a:rPr lang="en-US" sz="1800" b="1" dirty="0" smtClean="0">
                <a:solidFill>
                  <a:schemeClr val="accent1"/>
                </a:solidFill>
                <a:latin typeface="Times New Roman" panose="02020603050405020304" pitchFamily="18" charset="0"/>
                <a:cs typeface="Times New Roman" panose="02020603050405020304" pitchFamily="18" charset="0"/>
              </a:rPr>
              <a:t>(cont’d.....</a:t>
            </a:r>
            <a:r>
              <a:rPr lang="en-US" sz="1800" b="1" i="1" dirty="0" smtClean="0">
                <a:solidFill>
                  <a:schemeClr val="accent1"/>
                </a:solidFill>
                <a:latin typeface="Times New Roman" panose="02020603050405020304" pitchFamily="18" charset="0"/>
                <a:cs typeface="Times New Roman" panose="02020603050405020304" pitchFamily="18" charset="0"/>
                <a:sym typeface="+mn-ea"/>
              </a:rPr>
              <a:t>  </a:t>
            </a:r>
            <a:r>
              <a:rPr lang="en-US" sz="1800" b="1" dirty="0" smtClean="0">
                <a:solidFill>
                  <a:schemeClr val="accent1"/>
                </a:solidFill>
                <a:latin typeface="Times New Roman" panose="02020603050405020304" pitchFamily="18" charset="0"/>
                <a:cs typeface="Times New Roman" panose="02020603050405020304" pitchFamily="18" charset="0"/>
                <a:sym typeface="+mn-ea"/>
              </a:rPr>
              <a:t>p/2)</a:t>
            </a:r>
            <a:br>
              <a:rPr lang="en-US" sz="1800" b="1" dirty="0" smtClean="0">
                <a:solidFill>
                  <a:schemeClr val="accent1"/>
                </a:solidFill>
                <a:latin typeface="Times New Roman" panose="02020603050405020304" pitchFamily="18" charset="0"/>
                <a:cs typeface="Times New Roman" panose="02020603050405020304" pitchFamily="18" charset="0"/>
              </a:rPr>
            </a:br>
            <a:r>
              <a:rPr lang="en-US" sz="1400" b="1" dirty="0" smtClean="0">
                <a:solidFill>
                  <a:schemeClr val="accent1"/>
                </a:solidFill>
                <a:latin typeface="Times New Roman" panose="02020603050405020304" pitchFamily="18" charset="0"/>
                <a:cs typeface="Times New Roman" panose="02020603050405020304" pitchFamily="18" charset="0"/>
              </a:rPr>
              <a:t>Prof K. </a:t>
            </a:r>
            <a:r>
              <a:rPr lang="en-US" sz="1400" b="1" dirty="0" err="1" smtClean="0">
                <a:solidFill>
                  <a:schemeClr val="accent1"/>
                </a:solidFill>
                <a:latin typeface="Times New Roman" panose="02020603050405020304" pitchFamily="18" charset="0"/>
                <a:cs typeface="Times New Roman" panose="02020603050405020304" pitchFamily="18" charset="0"/>
              </a:rPr>
              <a:t>Nagarajan</a:t>
            </a:r>
            <a:r>
              <a:rPr lang="en-US" sz="1400" b="1" dirty="0" smtClean="0">
                <a:solidFill>
                  <a:schemeClr val="accent1"/>
                </a:solidFill>
                <a:latin typeface="Times New Roman" panose="02020603050405020304" pitchFamily="18" charset="0"/>
                <a:cs typeface="Times New Roman" panose="02020603050405020304" pitchFamily="18" charset="0"/>
              </a:rPr>
              <a:t>    </a:t>
            </a:r>
            <a:r>
              <a:rPr lang="en-US" sz="1400" b="1" cap="none" dirty="0" smtClean="0">
                <a:solidFill>
                  <a:schemeClr val="accent1"/>
                </a:solidFill>
                <a:latin typeface="Times New Roman" panose="02020603050405020304" pitchFamily="18" charset="0"/>
                <a:cs typeface="Times New Roman" panose="02020603050405020304" pitchFamily="18" charset="0"/>
              </a:rPr>
              <a:t> in</a:t>
            </a:r>
            <a:r>
              <a:rPr lang="en-US" sz="1400" b="1" dirty="0" smtClean="0">
                <a:solidFill>
                  <a:schemeClr val="accent1"/>
                </a:solidFill>
                <a:latin typeface="Times New Roman" panose="02020603050405020304" pitchFamily="18" charset="0"/>
                <a:cs typeface="Times New Roman" panose="02020603050405020304" pitchFamily="18" charset="0"/>
              </a:rPr>
              <a:t>   </a:t>
            </a:r>
            <a:r>
              <a:rPr lang="en-US" sz="1400" b="1" i="1" dirty="0" smtClean="0">
                <a:solidFill>
                  <a:schemeClr val="accent1"/>
                </a:solidFill>
                <a:latin typeface="Times New Roman" panose="02020603050405020304" pitchFamily="18" charset="0"/>
                <a:cs typeface="Times New Roman" panose="02020603050405020304" pitchFamily="18" charset="0"/>
              </a:rPr>
              <a:t>Psychology of Learning and Human Development       </a:t>
            </a:r>
            <a:endParaRPr lang="en-US" sz="1400" b="1" i="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219200"/>
            <a:ext cx="8686800" cy="4860925"/>
          </a:xfrm>
        </p:spPr>
        <p:txBody>
          <a:bodyPr>
            <a:noAutofit/>
          </a:bodyPr>
          <a:lstStyle/>
          <a:p>
            <a:pPr>
              <a:buNone/>
            </a:pPr>
            <a:r>
              <a:rPr lang="en-US" sz="2000" dirty="0" smtClean="0">
                <a:latin typeface="Times New Roman" panose="02020603050405020304" pitchFamily="18" charset="0"/>
                <a:cs typeface="Times New Roman" panose="02020603050405020304" pitchFamily="18" charset="0"/>
              </a:rPr>
              <a:t>	</a:t>
            </a:r>
            <a:endParaRPr lang="en-US" sz="2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6855"/>
            <a:ext cx="8229600" cy="937895"/>
          </a:xfrm>
        </p:spPr>
        <p:txBody>
          <a:bodyPr>
            <a:noAutofit/>
          </a:bodyPr>
          <a:lstStyle/>
          <a:p>
            <a:r>
              <a:rPr lang="en-US" sz="2400" b="1" dirty="0" smtClean="0">
                <a:solidFill>
                  <a:schemeClr val="accent1"/>
                </a:solidFill>
                <a:latin typeface="Times New Roman" panose="02020603050405020304" pitchFamily="18" charset="0"/>
                <a:cs typeface="Times New Roman" panose="02020603050405020304" pitchFamily="18" charset="0"/>
              </a:rPr>
              <a:t>10.0   CAUSES OF LEARNING DISABILITIES</a:t>
            </a:r>
            <a:br>
              <a:rPr lang="en-US" sz="2400" b="1" dirty="0" smtClean="0">
                <a:solidFill>
                  <a:schemeClr val="accent1"/>
                </a:solidFill>
                <a:latin typeface="Times New Roman" panose="02020603050405020304" pitchFamily="18" charset="0"/>
                <a:cs typeface="Times New Roman" panose="02020603050405020304" pitchFamily="18" charset="0"/>
              </a:rPr>
            </a:br>
            <a:endParaRPr lang="en-US" sz="24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smtClean="0">
                <a:latin typeface="Times New Roman" panose="02020603050405020304" pitchFamily="18" charset="0"/>
                <a:cs typeface="Times New Roman" panose="02020603050405020304" pitchFamily="18" charset="0"/>
              </a:rPr>
              <a:t>Heredity</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Problem during pregnancy and birth</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Accidents after birth</a:t>
            </a:r>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82613"/>
          </a:xfrm>
        </p:spPr>
        <p:txBody>
          <a:bodyPr>
            <a:normAutofit/>
          </a:bodyPr>
          <a:lstStyle/>
          <a:p>
            <a:r>
              <a:rPr lang="en-US" sz="2400" b="1" dirty="0" smtClean="0">
                <a:solidFill>
                  <a:schemeClr val="accent1"/>
                </a:solidFill>
                <a:latin typeface="Times New Roman" panose="02020603050405020304" pitchFamily="18" charset="0"/>
                <a:cs typeface="Times New Roman" panose="02020603050405020304" pitchFamily="18" charset="0"/>
              </a:rPr>
              <a:t>10.1	Learning disabilities</a:t>
            </a:r>
            <a:endParaRPr lang="en-US" sz="24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019810"/>
            <a:ext cx="8686800" cy="5060315"/>
          </a:xfrm>
        </p:spPr>
        <p:txBody>
          <a:bodyPr>
            <a:normAutofit lnSpcReduction="10000"/>
          </a:bodyPr>
          <a:lstStyle/>
          <a:p>
            <a:r>
              <a:rPr lang="en-US" sz="2600" dirty="0" smtClean="0">
                <a:latin typeface="Times New Roman" panose="02020603050405020304" pitchFamily="18" charset="0"/>
                <a:cs typeface="Times New Roman" panose="02020603050405020304" pitchFamily="18" charset="0"/>
              </a:rPr>
              <a:t>Is a </a:t>
            </a:r>
            <a:r>
              <a:rPr lang="en-US" sz="2600" dirty="0" err="1" smtClean="0">
                <a:latin typeface="Times New Roman" panose="02020603050405020304" pitchFamily="18" charset="0"/>
                <a:cs typeface="Times New Roman" panose="02020603050405020304" pitchFamily="18" charset="0"/>
              </a:rPr>
              <a:t>neuro-behavioural</a:t>
            </a:r>
            <a:r>
              <a:rPr lang="en-US" sz="2600" dirty="0" smtClean="0">
                <a:latin typeface="Times New Roman" panose="02020603050405020304" pitchFamily="18" charset="0"/>
                <a:cs typeface="Times New Roman" panose="02020603050405020304" pitchFamily="18" charset="0"/>
              </a:rPr>
              <a:t> disorder – a specific development disorder like disability in reading, writing and numerical computations.</a:t>
            </a:r>
            <a:endParaRPr lang="en-US" sz="2600" dirty="0" smtClean="0">
              <a:latin typeface="Times New Roman" panose="02020603050405020304" pitchFamily="18" charset="0"/>
              <a:cs typeface="Times New Roman" panose="02020603050405020304" pitchFamily="18" charset="0"/>
            </a:endParaRPr>
          </a:p>
          <a:p>
            <a:endParaRPr lang="en-US" sz="2600" dirty="0" smtClean="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8950"/>
            <a:ext cx="8229600" cy="724535"/>
          </a:xfrm>
        </p:spPr>
        <p:txBody>
          <a:bodyPr>
            <a:noAutofit/>
          </a:bodyPr>
          <a:lstStyle/>
          <a:p>
            <a:r>
              <a:rPr lang="en-US" sz="2400" b="1" dirty="0" smtClean="0">
                <a:solidFill>
                  <a:schemeClr val="accent1"/>
                </a:solidFill>
                <a:latin typeface="Times New Roman" panose="02020603050405020304" pitchFamily="18" charset="0"/>
                <a:cs typeface="Times New Roman" panose="02020603050405020304" pitchFamily="18" charset="0"/>
              </a:rPr>
              <a:t>10.2	Intervention Techniques for learning disabilities </a:t>
            </a:r>
            <a:br>
              <a:rPr lang="en-US" sz="2400" b="1" dirty="0" smtClean="0">
                <a:solidFill>
                  <a:schemeClr val="accent1"/>
                </a:solidFill>
                <a:latin typeface="Times New Roman" panose="02020603050405020304" pitchFamily="18" charset="0"/>
                <a:cs typeface="Times New Roman" panose="02020603050405020304" pitchFamily="18" charset="0"/>
              </a:rPr>
            </a:br>
            <a:endParaRPr lang="en-US" sz="24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Rectangle 2"/>
          <p:cNvSpPr/>
          <p:nvPr/>
        </p:nvSpPr>
        <p:spPr>
          <a:xfrm>
            <a:off x="457200" y="1066800"/>
            <a:ext cx="7391400" cy="460375"/>
          </a:xfrm>
          <a:prstGeom prst="rect">
            <a:avLst/>
          </a:prstGeom>
        </p:spPr>
        <p:txBody>
          <a:bodyPr wrap="square">
            <a:spAutoFit/>
          </a:bodyPr>
          <a:lstStyle/>
          <a:p>
            <a:pPr>
              <a:buNone/>
            </a:pPr>
            <a:r>
              <a:rPr lang="en-US" sz="2400" dirty="0" smtClean="0"/>
              <a:t>-</a:t>
            </a:r>
            <a:endParaRPr lang="en-US" sz="24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i="1" dirty="0" smtClean="0">
                <a:solidFill>
                  <a:schemeClr val="accent1"/>
                </a:solidFill>
                <a:latin typeface="Times New Roman" panose="02020603050405020304" pitchFamily="18" charset="0"/>
                <a:cs typeface="Times New Roman" panose="02020603050405020304" pitchFamily="18" charset="0"/>
              </a:rPr>
              <a:t>Thank you !</a:t>
            </a:r>
            <a:endParaRPr lang="en-US" i="1" dirty="0" smtClean="0">
              <a:solidFill>
                <a:schemeClr val="accent1"/>
              </a:solidFill>
              <a:latin typeface="Times New Roman" panose="02020603050405020304" pitchFamily="18" charset="0"/>
              <a:cs typeface="Times New Roman" panose="02020603050405020304" pitchFamily="18" charset="0"/>
            </a:endParaRPr>
          </a:p>
        </p:txBody>
      </p:sp>
      <p:pic>
        <p:nvPicPr>
          <p:cNvPr id="71682" name="Picture 2"/>
          <p:cNvPicPr>
            <a:picLocks noGrp="1" noChangeAspect="1" noChangeArrowheads="1"/>
          </p:cNvPicPr>
          <p:nvPr>
            <p:ph idx="1"/>
          </p:nvPr>
        </p:nvPicPr>
        <p:blipFill>
          <a:blip r:embed="rId1"/>
          <a:srcRect/>
          <a:stretch>
            <a:fillRect/>
          </a:stretch>
        </p:blipFill>
        <p:spPr bwMode="auto">
          <a:xfrm>
            <a:off x="2600581" y="1295400"/>
            <a:ext cx="4095238" cy="39623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Trek</Template>
  <TotalTime>0</TotalTime>
  <Words>11696</Words>
  <Application>WPS Presentation</Application>
  <PresentationFormat>On-screen Show (4:3)</PresentationFormat>
  <Paragraphs>301</Paragraphs>
  <Slides>25</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25</vt:i4>
      </vt:variant>
    </vt:vector>
  </HeadingPairs>
  <TitlesOfParts>
    <vt:vector size="37" baseType="lpstr">
      <vt:lpstr>Arial</vt:lpstr>
      <vt:lpstr>SimSun</vt:lpstr>
      <vt:lpstr>Wingdings</vt:lpstr>
      <vt:lpstr>Times New Roman</vt:lpstr>
      <vt:lpstr>BatangChe</vt:lpstr>
      <vt:lpstr>Baskerville Old Face</vt:lpstr>
      <vt:lpstr>Microsoft YaHei</vt:lpstr>
      <vt:lpstr>Arial Unicode MS</vt:lpstr>
      <vt:lpstr>Calibri</vt:lpstr>
      <vt:lpstr>Blue Waves</vt:lpstr>
      <vt:lpstr>Word.Document.12</vt:lpstr>
      <vt:lpstr>Word.Document.12</vt:lpstr>
      <vt:lpstr>CFI -DEVELOPMENTAL  PSYCHOLOGY, STUDENTS’ GUIDANCE &amp; COUNSELLING  by Philomena Kanagaraj  Oct 2022</vt:lpstr>
      <vt:lpstr>PSYCHOLOGY &amp; Counseling </vt:lpstr>
      <vt:lpstr>PowerPoint 演示文稿</vt:lpstr>
      <vt:lpstr>STAGES OF SOCIAL DEVELOPMENT   E.H. ERIKSON</vt:lpstr>
      <vt:lpstr>STAGES OF SOCIAL DEVELOPMENT … p/2</vt:lpstr>
      <vt:lpstr>3.0   ADOLESCENCE</vt:lpstr>
      <vt:lpstr>3.0 ADOLESCENCE (cont’d…p/2)</vt:lpstr>
      <vt:lpstr>3.2  DEVELOPMENTAL PROBLEMS OF  ADOLESCENTS IN INDIA </vt:lpstr>
      <vt:lpstr>3.2	Developmental problems in adolscents … p/2</vt:lpstr>
      <vt:lpstr>3.3 Frustrations </vt:lpstr>
      <vt:lpstr>	DOES  PROMISCUITY LEAD TO 			  RAPE 	?</vt:lpstr>
      <vt:lpstr>    Causes for Problem behaviour in children/ teens</vt:lpstr>
      <vt:lpstr>3.4  COMMON TYPES OF DEFENCE MECHANISMS</vt:lpstr>
      <vt:lpstr>3.4      Common types of defence mechanisms</vt:lpstr>
      <vt:lpstr>3.4	Common types of  Defense Mechanisms</vt:lpstr>
      <vt:lpstr> 4.0	HOW TO RESOLVE ISSUES WITH CHILDREN, ADOLESCENTS  (brain-storming) </vt:lpstr>
      <vt:lpstr>7.0   A Counsellor’s role  </vt:lpstr>
      <vt:lpstr>GOAL OF  COUNSELLING  </vt:lpstr>
      <vt:lpstr>Thank you !</vt:lpstr>
      <vt:lpstr>9.0           STUDENTS’  UNREST AND ITS CAUSES 	    Prof K. Nagarajan     in   Psychology of Learning and Human Development</vt:lpstr>
      <vt:lpstr>9.0	STUDENTS’  UNREST AND ITS CAUSES (cont’d.....  p/2) Prof K. Nagarajan     in   Psychology of Learning and Human Development       </vt:lpstr>
      <vt:lpstr>10.0   CAUSES OF LEARNING DISABILITIES </vt:lpstr>
      <vt:lpstr>10.1	Learning disabilities</vt:lpstr>
      <vt:lpstr>10.2	Intervention Techniques for learning disabilities  </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DEVELOPMENTAL PSYCHOLOGY by   philomena    kanagaraj</dc:title>
  <dc:creator>india</dc:creator>
  <cp:lastModifiedBy>philo kanagaraj</cp:lastModifiedBy>
  <cp:revision>130</cp:revision>
  <dcterms:created xsi:type="dcterms:W3CDTF">2017-05-28T14:55:00Z</dcterms:created>
  <dcterms:modified xsi:type="dcterms:W3CDTF">2024-07-22T07:21:16Z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9482C412E1E04346B642E4BBBC7427CB</vt:lpwstr>
  </property>
  <property fmtid="{D5CDD505-2E9C-101B-9397-08002B2CF9AE}" pid="3" name="KSOProductBuildVer">
    <vt:lpwstr>1033-12.2.0.17153</vt:lpwstr>
  </property>
</Properties>
</file>