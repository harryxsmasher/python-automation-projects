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8" r:id="rId2"/>
    <p:sldId id="257" r:id="rId3"/>
    <p:sldId id="263" r:id="rId4"/>
    <p:sldId id="271" r:id="rId5"/>
    <p:sldId id="269" r:id="rId6"/>
    <p:sldId id="270" r:id="rId7"/>
    <p:sldId id="272" r:id="rId8"/>
    <p:sldId id="274" r:id="rId9"/>
    <p:sldId id="273" r:id="rId10"/>
    <p:sldId id="265" r:id="rId11"/>
    <p:sldId id="268"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9525" y="-3175"/>
            <a:ext cx="9153525" cy="6861175"/>
          </a:xfrm>
          <a:prstGeom prst="rect">
            <a:avLst/>
          </a:prstGeom>
          <a:noFill/>
          <a:ln w="9525">
            <a:noFill/>
          </a:ln>
        </p:spPr>
      </p:pic>
      <p:sp>
        <p:nvSpPr>
          <p:cNvPr id="2051" name="Rectangle 3"/>
          <p:cNvSpPr>
            <a:spLocks noGrp="1" noChangeArrowheads="1"/>
          </p:cNvSpPr>
          <p:nvPr>
            <p:ph type="ctrTitle"/>
          </p:nvPr>
        </p:nvSpPr>
        <p:spPr>
          <a:xfrm>
            <a:off x="1547813" y="1125538"/>
            <a:ext cx="6908800" cy="1082675"/>
          </a:xfrm>
        </p:spPr>
        <p:txBody>
          <a:bodyPr/>
          <a:lstStyle>
            <a:lvl1pPr algn="r">
              <a:defRPr/>
            </a:lvl1pPr>
          </a:lstStyle>
          <a:p>
            <a:pPr lvl="0"/>
            <a:r>
              <a:rPr lang="en-US" altLang="zh-CN" noProof="0" smtClean="0"/>
              <a:t>Click to edit Master title style</a:t>
            </a:r>
          </a:p>
        </p:txBody>
      </p:sp>
      <p:sp>
        <p:nvSpPr>
          <p:cNvPr id="2052" name="Rectangle 4"/>
          <p:cNvSpPr>
            <a:spLocks noGrp="1" noChangeArrowheads="1"/>
          </p:cNvSpPr>
          <p:nvPr>
            <p:ph type="subTitle" idx="1"/>
          </p:nvPr>
        </p:nvSpPr>
        <p:spPr>
          <a:xfrm>
            <a:off x="1547813" y="2351088"/>
            <a:ext cx="6913562" cy="1752600"/>
          </a:xfrm>
        </p:spPr>
        <p:txBody>
          <a:bodyPr/>
          <a:lstStyle>
            <a:lvl1pPr marL="0" indent="0" algn="r">
              <a:buFontTx/>
              <a:buNone/>
              <a:defRPr>
                <a:solidFill>
                  <a:schemeClr val="bg1"/>
                </a:solidFill>
              </a:defRPr>
            </a:lvl1pPr>
          </a:lstStyle>
          <a:p>
            <a:pPr lvl="0"/>
            <a:r>
              <a:rPr lang="en-US" altLang="zh-CN" noProof="0" smtClean="0"/>
              <a:t>Click to edit Master subtitle style</a:t>
            </a:r>
          </a:p>
        </p:txBody>
      </p:sp>
      <p:sp>
        <p:nvSpPr>
          <p:cNvPr id="9" name="Rectangle 5"/>
          <p:cNvSpPr>
            <a:spLocks noGrp="1" noChangeArrowheads="1"/>
          </p:cNvSpPr>
          <p:nvPr>
            <p:ph type="dt" sz="half" idx="2"/>
          </p:nvPr>
        </p:nvSpPr>
        <p:spPr bwMode="auto">
          <a:xfrm>
            <a:off x="457200" y="6245225"/>
            <a:ext cx="2133600" cy="47625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4A43F2E9-7247-4C3D-A60E-43EA3DD80EE6}" type="datetimeFigureOut">
              <a:rPr lang="en-US" smtClean="0"/>
              <a:pPr/>
              <a:t>8/30/2024</a:t>
            </a:fld>
            <a:endParaRPr lang="en-US"/>
          </a:p>
        </p:txBody>
      </p:sp>
      <p:sp>
        <p:nvSpPr>
          <p:cNvPr id="10" name="Rectangle 6"/>
          <p:cNvSpPr>
            <a:spLocks noGrp="1" noChangeArrowheads="1"/>
          </p:cNvSpPr>
          <p:nvPr>
            <p:ph type="ftr" sz="quarter" idx="3"/>
          </p:nvPr>
        </p:nvSpPr>
        <p:spPr bwMode="auto">
          <a:xfrm>
            <a:off x="3124200" y="6245225"/>
            <a:ext cx="2895600" cy="47625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6553200" y="6245225"/>
            <a:ext cx="2133600" cy="476250"/>
          </a:xfrm>
          <a:prstGeom prst="rect">
            <a:avLst/>
          </a:prstGeom>
          <a:noFill/>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71D3E1C-CACA-41C4-B823-08CF77A93CAF}" type="slidenum">
              <a:rPr lang="en-US" smtClean="0"/>
              <a:pPr/>
              <a:t>‹#›</a:t>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43F2E9-7247-4C3D-A60E-43EA3DD80EE6}" type="datetimeFigureOut">
              <a:rPr lang="en-US" smtClean="0"/>
              <a:pPr/>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A43F2E9-7247-4C3D-A60E-43EA3DD80EE6}" type="datetimeFigureOut">
              <a:rPr lang="en-US" smtClean="0"/>
              <a:pPr/>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17475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174750"/>
            <a:ext cx="4038600" cy="4953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A43F2E9-7247-4C3D-A60E-43EA3DD80EE6}" type="datetimeFigureOut">
              <a:rPr lang="en-US" smtClean="0"/>
              <a:pPr/>
              <a:t>8/30/2024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A43F2E9-7247-4C3D-A60E-43EA3DD80EE6}" type="datetimeFigureOut">
              <a:rPr lang="en-US" smtClean="0"/>
              <a:pPr/>
              <a:t>8/30/2024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A43F2E9-7247-4C3D-A60E-43EA3DD80EE6}" type="datetimeFigureOut">
              <a:rPr lang="en-US" smtClean="0"/>
              <a:pPr/>
              <a:t>8/30/2024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43F2E9-7247-4C3D-A60E-43EA3DD80EE6}" type="datetimeFigureOut">
              <a:rPr lang="en-US" smtClean="0"/>
              <a:pPr/>
              <a:t>8/30/2024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43F2E9-7247-4C3D-A60E-43EA3DD80EE6}" type="datetimeFigureOut">
              <a:rPr lang="en-US" smtClean="0"/>
              <a:pPr/>
              <a:t>8/30/2024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3887788" y="987425"/>
            <a:ext cx="462915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A43F2E9-7247-4C3D-A60E-43EA3DD80EE6}" type="datetimeFigureOut">
              <a:rPr lang="en-US" smtClean="0"/>
              <a:pPr/>
              <a:t>8/30/2024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43F2E9-7247-4C3D-A60E-43EA3DD80EE6}" type="datetimeFigureOut">
              <a:rPr lang="en-US" smtClean="0"/>
              <a:pPr/>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90500"/>
            <a:ext cx="20574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90500"/>
            <a:ext cx="6019800" cy="59372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A43F2E9-7247-4C3D-A60E-43EA3DD80EE6}" type="datetimeFigureOut">
              <a:rPr lang="en-US" smtClean="0"/>
              <a:pPr/>
              <a:t>8/30/2024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71D3E1C-CACA-41C4-B823-08CF77A93CAF}" type="slidenum">
              <a:rPr lang="en-US" smtClean="0"/>
              <a:pPr/>
              <a:t>‹#›</a:t>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6"/>
          <p:cNvPicPr>
            <a:picLocks noChangeAspect="1"/>
          </p:cNvPicPr>
          <p:nvPr/>
        </p:nvPicPr>
        <p:blipFill>
          <a:blip r:embed="rId13"/>
          <a:stretch>
            <a:fillRect/>
          </a:stretch>
        </p:blipFill>
        <p:spPr>
          <a:xfrm>
            <a:off x="0" y="0"/>
            <a:ext cx="9148763" cy="6861175"/>
          </a:xfrm>
          <a:prstGeom prst="rect">
            <a:avLst/>
          </a:prstGeom>
          <a:noFill/>
          <a:ln w="9525">
            <a:noFill/>
          </a:ln>
        </p:spPr>
      </p:pic>
      <p:sp>
        <p:nvSpPr>
          <p:cNvPr id="1027" name="Rectangle 3"/>
          <p:cNvSpPr>
            <a:spLocks noGrp="1"/>
          </p:cNvSpPr>
          <p:nvPr>
            <p:ph type="title"/>
          </p:nvPr>
        </p:nvSpPr>
        <p:spPr>
          <a:xfrm>
            <a:off x="457200" y="190500"/>
            <a:ext cx="8229600" cy="582613"/>
          </a:xfrm>
          <a:prstGeom prst="rect">
            <a:avLst/>
          </a:prstGeom>
          <a:noFill/>
          <a:ln w="9525">
            <a:noFill/>
          </a:ln>
        </p:spPr>
        <p:txBody>
          <a:bodyPr anchor="ctr" anchorCtr="0"/>
          <a:lstStyle/>
          <a:p>
            <a:pPr lvl="0"/>
            <a:r>
              <a:rPr lang="en-US" altLang="zh-CN" dirty="0"/>
              <a:t>Click to edit Master title style</a:t>
            </a:r>
          </a:p>
        </p:txBody>
      </p:sp>
      <p:sp>
        <p:nvSpPr>
          <p:cNvPr id="1028" name="Rectangle 4"/>
          <p:cNvSpPr>
            <a:spLocks noGrp="1"/>
          </p:cNvSpPr>
          <p:nvPr>
            <p:ph type="body" idx="1"/>
          </p:nvPr>
        </p:nvSpPr>
        <p:spPr>
          <a:xfrm>
            <a:off x="457200" y="1174750"/>
            <a:ext cx="8229600" cy="4953000"/>
          </a:xfrm>
          <a:prstGeom prst="rect">
            <a:avLst/>
          </a:prstGeom>
          <a:noFill/>
          <a:ln w="9525">
            <a:noFill/>
          </a:ln>
        </p:spPr>
        <p:txBody>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1029" name="Rectangle 5"/>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4A43F2E9-7247-4C3D-A60E-43EA3DD80EE6}" type="datetimeFigureOut">
              <a:rPr lang="en-US" smtClean="0"/>
              <a:pPr/>
              <a:t>8/30/2024</a:t>
            </a:fld>
            <a:endParaRPr lang="en-US"/>
          </a:p>
        </p:txBody>
      </p:sp>
      <p:sp>
        <p:nvSpPr>
          <p:cNvPr id="1030" name="Rectangle 6"/>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671D3E1C-CACA-41C4-B823-08CF77A93CA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bg1"/>
          </a:solidFill>
          <a:latin typeface="+mj-lt"/>
          <a:ea typeface="+mj-ea"/>
          <a:cs typeface="+mj-cs"/>
        </a:defRPr>
      </a:lvl1pPr>
      <a:lvl2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bg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auto">
          <a:xfrm>
            <a:off x="838200" y="304800"/>
            <a:ext cx="7315200" cy="800219"/>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800"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Communication and Communication Styles </a:t>
            </a:r>
            <a:endParaRPr kumimoji="0" lang="en-US" sz="2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3" name="Title 1"/>
          <p:cNvSpPr>
            <a:spLocks noGrp="1"/>
          </p:cNvSpPr>
          <p:nvPr/>
        </p:nvSpPr>
        <p:spPr>
          <a:xfrm>
            <a:off x="304800" y="1143000"/>
            <a:ext cx="8229600" cy="304800"/>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dirty="0" smtClean="0">
                <a:latin typeface="Times New Roman" panose="02020603050405020304" pitchFamily="18" charset="0"/>
                <a:cs typeface="Times New Roman" panose="02020603050405020304" pitchFamily="18" charset="0"/>
              </a:rPr>
              <a:t>Communication is a two-way process.</a:t>
            </a:r>
            <a:br>
              <a:rPr lang="en-US" sz="2400" dirty="0" smtClean="0">
                <a:latin typeface="Times New Roman" panose="02020603050405020304" pitchFamily="18" charset="0"/>
                <a:cs typeface="Times New Roman" panose="02020603050405020304" pitchFamily="18" charset="0"/>
              </a:rPr>
            </a:br>
            <a:r>
              <a:rPr lang="en-US" sz="2400" dirty="0" smtClean="0">
                <a:latin typeface="Times New Roman" panose="02020603050405020304" pitchFamily="18" charset="0"/>
                <a:cs typeface="Times New Roman" panose="02020603050405020304" pitchFamily="18" charset="0"/>
              </a:rPr>
              <a:t>                                                                    </a:t>
            </a:r>
            <a:endParaRPr lang="en-US" sz="2400" dirty="0">
              <a:latin typeface="Times New Roman" panose="02020603050405020304" pitchFamily="18" charset="0"/>
              <a:cs typeface="Times New Roman" panose="02020603050405020304" pitchFamily="18" charset="0"/>
            </a:endParaRPr>
          </a:p>
        </p:txBody>
      </p:sp>
      <p:sp>
        <p:nvSpPr>
          <p:cNvPr id="4" name="Content Placeholder 2"/>
          <p:cNvSpPr>
            <a:spLocks noGrp="1"/>
          </p:cNvSpPr>
          <p:nvPr/>
        </p:nvSpPr>
        <p:spPr>
          <a:xfrm>
            <a:off x="457200" y="1600200"/>
            <a:ext cx="8229600" cy="4525963"/>
          </a:xfrm>
          <a:prstGeom prst="rect">
            <a:avLst/>
          </a:prstGeom>
        </p:spPr>
        <p:txBody>
          <a:bodyPr vert="horz" lIns="91440" tIns="45720" rIns="91440" bIns="45720" rtlCol="0">
            <a:normAutofit fontScale="3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endParaRPr lang="en-IN" dirty="0" smtClean="0"/>
          </a:p>
          <a:p>
            <a:pPr>
              <a:buNone/>
            </a:pPr>
            <a:r>
              <a:rPr lang="en-IN" dirty="0" smtClean="0"/>
              <a:t>		</a:t>
            </a:r>
          </a:p>
          <a:p>
            <a:pPr>
              <a:buNone/>
            </a:pPr>
            <a:endParaRPr lang="en-IN" dirty="0" smtClean="0"/>
          </a:p>
          <a:p>
            <a:pPr>
              <a:buNone/>
            </a:pPr>
            <a:r>
              <a:rPr lang="en-IN" sz="2900" b="1" dirty="0" smtClean="0">
                <a:latin typeface="Times New Roman" panose="02020603050405020304" pitchFamily="18" charset="0"/>
                <a:cs typeface="Times New Roman" panose="02020603050405020304" pitchFamily="18" charset="0"/>
              </a:rPr>
              <a:t>			   	      </a:t>
            </a:r>
          </a:p>
          <a:p>
            <a:pPr>
              <a:buNone/>
            </a:pPr>
            <a:r>
              <a:rPr lang="en-IN" sz="2900" b="1" dirty="0" smtClean="0">
                <a:latin typeface="Times New Roman" panose="02020603050405020304" pitchFamily="18" charset="0"/>
                <a:cs typeface="Times New Roman" panose="02020603050405020304" pitchFamily="18" charset="0"/>
              </a:rPr>
              <a:t>			                          </a:t>
            </a:r>
            <a:r>
              <a:rPr lang="en-IN" sz="5500" b="1" dirty="0" smtClean="0">
                <a:latin typeface="Times New Roman" panose="02020603050405020304" pitchFamily="18" charset="0"/>
                <a:cs typeface="Times New Roman" panose="02020603050405020304" pitchFamily="18" charset="0"/>
              </a:rPr>
              <a:t>TRANSMISSION OF  MESSAGE</a:t>
            </a:r>
            <a:endParaRPr lang="en-US" sz="5500" b="1" dirty="0" smtClean="0">
              <a:latin typeface="Times New Roman" panose="02020603050405020304" pitchFamily="18" charset="0"/>
              <a:cs typeface="Times New Roman" panose="02020603050405020304" pitchFamily="18" charset="0"/>
            </a:endParaRPr>
          </a:p>
          <a:p>
            <a:pPr>
              <a:buNone/>
            </a:pPr>
            <a:endParaRPr lang="en-IN" sz="5500" b="1" dirty="0" smtClean="0">
              <a:latin typeface="Times New Roman" panose="02020603050405020304" pitchFamily="18" charset="0"/>
              <a:cs typeface="Times New Roman" panose="02020603050405020304" pitchFamily="18" charset="0"/>
            </a:endParaRPr>
          </a:p>
          <a:p>
            <a:pPr>
              <a:buNone/>
            </a:pPr>
            <a:r>
              <a:rPr lang="en-IN" sz="4300" b="1" dirty="0" smtClean="0">
                <a:latin typeface="Times New Roman" panose="02020603050405020304" pitchFamily="18" charset="0"/>
                <a:cs typeface="Times New Roman" panose="02020603050405020304" pitchFamily="18" charset="0"/>
              </a:rPr>
              <a:t>SENDER        }  						           { </a:t>
            </a:r>
          </a:p>
          <a:p>
            <a:pPr>
              <a:buNone/>
            </a:pPr>
            <a:r>
              <a:rPr lang="en-IN" sz="4300" b="1" dirty="0" smtClean="0">
                <a:latin typeface="Times New Roman" panose="02020603050405020304" pitchFamily="18" charset="0"/>
                <a:cs typeface="Times New Roman" panose="02020603050405020304" pitchFamily="18" charset="0"/>
              </a:rPr>
              <a:t>     or   	    }	                                    MEDIA   CHANNEL 	  	           {   RECEIVER          </a:t>
            </a:r>
          </a:p>
          <a:p>
            <a:pPr>
              <a:buNone/>
            </a:pPr>
            <a:r>
              <a:rPr lang="en-IN" sz="4300" b="1" dirty="0" smtClean="0">
                <a:latin typeface="Times New Roman" panose="02020603050405020304" pitchFamily="18" charset="0"/>
                <a:cs typeface="Times New Roman" panose="02020603050405020304" pitchFamily="18" charset="0"/>
              </a:rPr>
              <a:t>		    }					         	           {  </a:t>
            </a:r>
          </a:p>
          <a:p>
            <a:pPr>
              <a:buNone/>
            </a:pPr>
            <a:r>
              <a:rPr lang="en-IN" sz="4300" b="1" dirty="0" smtClean="0">
                <a:latin typeface="Times New Roman" panose="02020603050405020304" pitchFamily="18" charset="0"/>
                <a:cs typeface="Times New Roman" panose="02020603050405020304" pitchFamily="18" charset="0"/>
              </a:rPr>
              <a:t>COMMUNI-  }						           {</a:t>
            </a:r>
          </a:p>
          <a:p>
            <a:pPr>
              <a:buNone/>
            </a:pPr>
            <a:r>
              <a:rPr lang="en-IN" sz="4300" b="1" dirty="0" smtClean="0">
                <a:latin typeface="Times New Roman" panose="02020603050405020304" pitchFamily="18" charset="0"/>
                <a:cs typeface="Times New Roman" panose="02020603050405020304" pitchFamily="18" charset="0"/>
              </a:rPr>
              <a:t>CATOR}	    }						</a:t>
            </a:r>
          </a:p>
          <a:p>
            <a:pPr>
              <a:buNone/>
            </a:pPr>
            <a:r>
              <a:rPr lang="en-IN" sz="4300" b="1" dirty="0" smtClean="0">
                <a:latin typeface="Times New Roman" panose="02020603050405020304" pitchFamily="18" charset="0"/>
                <a:cs typeface="Times New Roman" panose="02020603050405020304" pitchFamily="18" charset="0"/>
              </a:rPr>
              <a:t>	</a:t>
            </a:r>
          </a:p>
          <a:p>
            <a:pPr>
              <a:buNone/>
            </a:pPr>
            <a:endParaRPr lang="en-IN" sz="4300" b="1" dirty="0" smtClean="0">
              <a:latin typeface="Times New Roman" panose="02020603050405020304" pitchFamily="18" charset="0"/>
              <a:cs typeface="Times New Roman" panose="02020603050405020304" pitchFamily="18" charset="0"/>
            </a:endParaRPr>
          </a:p>
          <a:p>
            <a:pPr>
              <a:buNone/>
            </a:pPr>
            <a:endParaRPr lang="en-IN" sz="4300" b="1" dirty="0" smtClean="0">
              <a:latin typeface="Times New Roman" panose="02020603050405020304" pitchFamily="18" charset="0"/>
              <a:cs typeface="Times New Roman" panose="02020603050405020304" pitchFamily="18" charset="0"/>
            </a:endParaRPr>
          </a:p>
          <a:p>
            <a:pPr>
              <a:buNone/>
            </a:pPr>
            <a:r>
              <a:rPr lang="en-IN" sz="4300" b="1" dirty="0" smtClean="0">
                <a:latin typeface="Times New Roman" panose="02020603050405020304" pitchFamily="18" charset="0"/>
                <a:cs typeface="Times New Roman" panose="02020603050405020304" pitchFamily="18" charset="0"/>
              </a:rPr>
              <a:t>					FEED BACK</a:t>
            </a:r>
            <a:endParaRPr lang="en-US" sz="4300" b="1" dirty="0" smtClean="0">
              <a:latin typeface="Times New Roman" panose="02020603050405020304" pitchFamily="18" charset="0"/>
              <a:cs typeface="Times New Roman" panose="02020603050405020304" pitchFamily="18" charset="0"/>
            </a:endParaRPr>
          </a:p>
          <a:p>
            <a:pPr>
              <a:buNone/>
            </a:pPr>
            <a:endParaRPr lang="en-IN" sz="4300" b="1" dirty="0" smtClean="0">
              <a:latin typeface="Times New Roman" panose="02020603050405020304" pitchFamily="18" charset="0"/>
              <a:cs typeface="Times New Roman" panose="02020603050405020304" pitchFamily="18" charset="0"/>
            </a:endParaRPr>
          </a:p>
          <a:p>
            <a:pPr>
              <a:buNone/>
            </a:pPr>
            <a:r>
              <a:rPr lang="en-IN" sz="4300" b="1" dirty="0" smtClean="0">
                <a:latin typeface="Times New Roman" panose="02020603050405020304" pitchFamily="18" charset="0"/>
                <a:cs typeface="Times New Roman" panose="02020603050405020304" pitchFamily="18" charset="0"/>
              </a:rPr>
              <a:t>			</a:t>
            </a:r>
            <a:endParaRPr lang="en-US" sz="4300" dirty="0" smtClean="0">
              <a:latin typeface="Times New Roman" panose="02020603050405020304" pitchFamily="18" charset="0"/>
              <a:cs typeface="Times New Roman" panose="02020603050405020304" pitchFamily="18" charset="0"/>
            </a:endParaRPr>
          </a:p>
          <a:p>
            <a:endParaRPr lang="en-US" sz="1900" b="1" dirty="0" smtClean="0">
              <a:latin typeface="Times New Roman" panose="02020603050405020304" pitchFamily="18" charset="0"/>
              <a:cs typeface="Times New Roman" panose="02020603050405020304" pitchFamily="18" charset="0"/>
            </a:endParaRPr>
          </a:p>
          <a:p>
            <a:pPr>
              <a:buNone/>
            </a:pPr>
            <a:r>
              <a:rPr lang="en-IN" sz="1900" b="1" dirty="0" smtClean="0">
                <a:latin typeface="Times New Roman" panose="02020603050405020304" pitchFamily="18" charset="0"/>
                <a:cs typeface="Times New Roman" panose="02020603050405020304" pitchFamily="18" charset="0"/>
              </a:rPr>
              <a:t>      </a:t>
            </a:r>
            <a:endParaRPr lang="en-US" sz="1900" b="1" dirty="0" smtClean="0">
              <a:latin typeface="Times New Roman" panose="02020603050405020304" pitchFamily="18" charset="0"/>
              <a:cs typeface="Times New Roman" panose="02020603050405020304" pitchFamily="18" charset="0"/>
            </a:endParaRPr>
          </a:p>
          <a:p>
            <a:endParaRPr lang="en-US" dirty="0"/>
          </a:p>
        </p:txBody>
      </p:sp>
      <p:sp>
        <p:nvSpPr>
          <p:cNvPr id="5" name="Arc 4"/>
          <p:cNvSpPr/>
          <p:nvPr/>
        </p:nvSpPr>
        <p:spPr>
          <a:xfrm>
            <a:off x="2057400" y="1600200"/>
            <a:ext cx="5105400" cy="3048000"/>
          </a:xfrm>
          <a:prstGeom prst="arc">
            <a:avLst>
              <a:gd name="adj1" fmla="val 220561"/>
              <a:gd name="adj2" fmla="val 21463262"/>
            </a:avLst>
          </a:pr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cxnSp>
        <p:nvCxnSpPr>
          <p:cNvPr id="6" name="Straight Connector 5"/>
          <p:cNvCxnSpPr/>
          <p:nvPr/>
        </p:nvCxnSpPr>
        <p:spPr>
          <a:xfrm>
            <a:off x="2514600" y="3124200"/>
            <a:ext cx="1371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6096000" y="3048000"/>
            <a:ext cx="914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15363" name="Rectangle 3"/>
          <p:cNvSpPr>
            <a:spLocks noChangeArrowheads="1"/>
          </p:cNvSpPr>
          <p:nvPr/>
        </p:nvSpPr>
        <p:spPr bwMode="auto">
          <a:xfrm>
            <a:off x="0" y="5097900"/>
            <a:ext cx="9144000" cy="1107996"/>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571500" algn="l" defTabSz="914400" rtl="0" eaLnBrk="1" fontAlgn="base" latinLnBrk="0" hangingPunct="1">
              <a:lnSpc>
                <a:spcPct val="100000"/>
              </a:lnSpc>
              <a:spcBef>
                <a:spcPct val="0"/>
              </a:spcBef>
              <a:spcAft>
                <a:spcPct val="0"/>
              </a:spcAft>
              <a:buClrTx/>
              <a:buSzTx/>
              <a:buFontTx/>
              <a:buNone/>
              <a:tabLst>
                <a:tab pos="914400" algn="l"/>
              </a:tabLst>
            </a:pPr>
            <a:r>
              <a:rPr kumimoji="0" lang="en-US" b="1"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Communication is therefore a two-way Process:</a:t>
            </a: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571500" algn="l" defTabSz="914400" rtl="0" eaLnBrk="0" fontAlgn="base" latinLnBrk="0" hangingPunct="0">
              <a:lnSpc>
                <a:spcPct val="100000"/>
              </a:lnSpc>
              <a:spcBef>
                <a:spcPct val="0"/>
              </a:spcBef>
              <a:spcAft>
                <a:spcPct val="0"/>
              </a:spcAft>
              <a:buClrTx/>
              <a:buSzTx/>
              <a:buFontTx/>
              <a:buNone/>
              <a:tabLst>
                <a:tab pos="914400" algn="l"/>
              </a:tabLst>
            </a:pP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 is a Process (a Transaction) wherein messages between a </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Sender </a:t>
            </a:r>
          </a:p>
          <a:p>
            <a:pPr marL="0" marR="0" lvl="0" indent="571500" algn="l" defTabSz="914400" rtl="0" eaLnBrk="0" fontAlgn="base" latinLnBrk="0" hangingPunct="0">
              <a:lnSpc>
                <a:spcPct val="100000"/>
              </a:lnSpc>
              <a:spcBef>
                <a:spcPct val="0"/>
              </a:spcBef>
              <a:spcAft>
                <a:spcPct val="0"/>
              </a:spcAft>
              <a:buClrTx/>
              <a:buSzTx/>
              <a:buFontTx/>
              <a:buNone/>
              <a:tabLst>
                <a:tab pos="914400" algn="l"/>
              </a:tabLst>
            </a:pP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and  a  </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Receiver  </a:t>
            </a: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are transmitted through a </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media </a:t>
            </a: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with a </a:t>
            </a:r>
            <a:r>
              <a:rPr kumimoji="0" lang="en-US" b="0" i="1"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Feed-back</a:t>
            </a:r>
            <a:r>
              <a:rPr kumimoji="0" lang="en-US"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kumimoji="0" lang="en-US" sz="1400" b="0" i="0" u="none" strike="noStrike" cap="none" normalizeH="0" baseline="0" dirty="0"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Dr. George </a:t>
            </a:r>
            <a:r>
              <a:rPr kumimoji="0" lang="en-US" sz="1400" b="0" i="0" u="none" strike="noStrike" cap="none" normalizeH="0" baseline="0" dirty="0" err="1" smtClean="0">
                <a:ln>
                  <a:noFill/>
                </a:ln>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Ninan</a:t>
            </a:r>
            <a:endParaRPr kumimoji="0" 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571500" algn="l" defTabSz="914400" rtl="0" eaLnBrk="0" fontAlgn="base" latinLnBrk="0" hangingPunct="0">
              <a:lnSpc>
                <a:spcPct val="100000"/>
              </a:lnSpc>
              <a:spcBef>
                <a:spcPct val="0"/>
              </a:spcBef>
              <a:spcAft>
                <a:spcPct val="0"/>
              </a:spcAft>
              <a:buClrTx/>
              <a:buSzTx/>
              <a:buFontTx/>
              <a:buNone/>
              <a:tabLst>
                <a:tab pos="914400" algn="l"/>
              </a:tabLst>
            </a:pPr>
            <a:r>
              <a:rPr kumimoji="0" lang="en-US" sz="1200" b="0" i="0" u="none" strike="noStrike" cap="none" normalizeH="0" baseline="0" dirty="0" smtClean="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ChangeArrowheads="1"/>
          </p:cNvSpPr>
          <p:nvPr/>
        </p:nvSpPr>
        <p:spPr bwMode="auto">
          <a:xfrm>
            <a:off x="0" y="0"/>
            <a:ext cx="9144000" cy="45720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3" name="Title 1"/>
          <p:cNvSpPr>
            <a:spLocks noGrp="1"/>
          </p:cNvSpPr>
          <p:nvPr/>
        </p:nvSpPr>
        <p:spPr>
          <a:xfrm>
            <a:off x="457200" y="274638"/>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400" dirty="0" smtClean="0">
                <a:latin typeface="Times New Roman" panose="02020603050405020304" pitchFamily="18" charset="0"/>
                <a:cs typeface="Times New Roman" panose="02020603050405020304" pitchFamily="18" charset="0"/>
              </a:rPr>
              <a:t>BARRIERS</a:t>
            </a:r>
            <a:r>
              <a:rPr lang="en-US" sz="2400" dirty="0" smtClean="0"/>
              <a:t> TO COMMUNICATION</a:t>
            </a:r>
            <a:endParaRPr lang="en-US" sz="2400" dirty="0"/>
          </a:p>
        </p:txBody>
      </p:sp>
      <p:sp>
        <p:nvSpPr>
          <p:cNvPr id="4" name="Content Placeholder 2"/>
          <p:cNvSpPr>
            <a:spLocks noGrp="1"/>
          </p:cNvSpPr>
          <p:nvPr/>
        </p:nvSpPr>
        <p:spPr>
          <a:xfrm>
            <a:off x="457200" y="1143000"/>
            <a:ext cx="8458200" cy="5334000"/>
          </a:xfrm>
          <a:prstGeom prst="rect">
            <a:avLst/>
          </a:prstGeom>
        </p:spPr>
        <p:txBody>
          <a:bodyPr vert="horz" lIns="91440" tIns="45720" rIns="91440" bIns="45720" rtlCol="0">
            <a:normAutofit fontScale="47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None/>
            </a:pPr>
            <a:r>
              <a:rPr lang="en-IN" b="1" dirty="0" smtClean="0"/>
              <a:t> </a:t>
            </a:r>
            <a:endParaRPr lang="en-US" dirty="0" smtClean="0"/>
          </a:p>
          <a:p>
            <a:pPr>
              <a:buNone/>
            </a:pPr>
            <a:r>
              <a:rPr lang="en-IN" b="1" dirty="0" smtClean="0"/>
              <a:t>	    </a:t>
            </a:r>
            <a:r>
              <a:rPr lang="en-IN" dirty="0" smtClean="0"/>
              <a:t>Noise</a:t>
            </a:r>
            <a:r>
              <a:rPr lang="en-IN" b="1" dirty="0" smtClean="0"/>
              <a:t>  		     Transmission of Message</a:t>
            </a:r>
            <a:r>
              <a:rPr lang="en-IN" dirty="0" smtClean="0"/>
              <a:t> 			Noise</a:t>
            </a:r>
            <a:endParaRPr lang="en-US" dirty="0" smtClean="0"/>
          </a:p>
          <a:p>
            <a:pPr>
              <a:buNone/>
            </a:pPr>
            <a:r>
              <a:rPr lang="en-IN" b="1" dirty="0" smtClean="0"/>
              <a:t> 			</a:t>
            </a:r>
            <a:endParaRPr lang="en-US" dirty="0" smtClean="0"/>
          </a:p>
          <a:p>
            <a:pPr>
              <a:buNone/>
            </a:pPr>
            <a:r>
              <a:rPr lang="en-IN" b="1" dirty="0" smtClean="0"/>
              <a:t>				           Language / 	     </a:t>
            </a:r>
            <a:endParaRPr lang="en-US" dirty="0" smtClean="0"/>
          </a:p>
          <a:p>
            <a:pPr>
              <a:buNone/>
            </a:pPr>
            <a:r>
              <a:rPr lang="en-IN" b="1" dirty="0" smtClean="0"/>
              <a:t>				           Attitudes / 	</a:t>
            </a:r>
            <a:endParaRPr lang="en-US" dirty="0" smtClean="0"/>
          </a:p>
          <a:p>
            <a:pPr lvl="7">
              <a:buNone/>
            </a:pPr>
            <a:r>
              <a:rPr lang="en-IN" b="1" dirty="0" smtClean="0"/>
              <a:t>    </a:t>
            </a:r>
            <a:r>
              <a:rPr lang="en-IN" sz="3300" b="1" dirty="0" smtClean="0"/>
              <a:t>Childhood </a:t>
            </a:r>
          </a:p>
          <a:p>
            <a:pPr lvl="7">
              <a:buNone/>
            </a:pPr>
            <a:r>
              <a:rPr lang="en-IN" sz="3300" b="1" dirty="0" smtClean="0"/>
              <a:t>   Upbringing /</a:t>
            </a:r>
            <a:endParaRPr lang="en-US" sz="3300" dirty="0" smtClean="0"/>
          </a:p>
          <a:p>
            <a:pPr>
              <a:buNone/>
            </a:pPr>
            <a:r>
              <a:rPr lang="en-IN" b="1" dirty="0" smtClean="0"/>
              <a:t>SENDER   }    CHANNEL/ 	            Knowledge /	     	CHANNEL/            { RECEIVER </a:t>
            </a:r>
            <a:endParaRPr lang="en-US" b="1" dirty="0" smtClean="0"/>
          </a:p>
          <a:p>
            <a:pPr>
              <a:buNone/>
            </a:pPr>
            <a:r>
              <a:rPr lang="en-US" b="1" dirty="0" smtClean="0"/>
              <a:t>or	  </a:t>
            </a:r>
            <a:r>
              <a:rPr lang="en-IN" b="1" dirty="0" smtClean="0"/>
              <a:t>         }   or MEDIA	            Culture /		 or MEDIA             {	or</a:t>
            </a:r>
            <a:endParaRPr lang="en-US" dirty="0" smtClean="0"/>
          </a:p>
          <a:p>
            <a:pPr>
              <a:buNone/>
            </a:pPr>
            <a:r>
              <a:rPr lang="en-IN" b="1" dirty="0" smtClean="0"/>
              <a:t>SPEAKER	}		            Prejudices / 	       	     	              {LISTENER</a:t>
            </a:r>
            <a:endParaRPr lang="en-US" dirty="0" smtClean="0"/>
          </a:p>
          <a:p>
            <a:pPr>
              <a:buNone/>
            </a:pPr>
            <a:r>
              <a:rPr lang="en-IN" b="1" dirty="0" smtClean="0"/>
              <a:t>				            Perceptions / 	</a:t>
            </a:r>
            <a:endParaRPr lang="en-US" dirty="0" smtClean="0"/>
          </a:p>
          <a:p>
            <a:pPr>
              <a:buNone/>
            </a:pPr>
            <a:r>
              <a:rPr lang="en-IN" b="1" dirty="0" smtClean="0"/>
              <a:t>				            Memories 	</a:t>
            </a:r>
            <a:endParaRPr lang="en-US" dirty="0" smtClean="0"/>
          </a:p>
          <a:p>
            <a:pPr>
              <a:buNone/>
            </a:pPr>
            <a:r>
              <a:rPr lang="en-IN" b="1" dirty="0" smtClean="0"/>
              <a:t>						</a:t>
            </a:r>
            <a:endParaRPr lang="en-US" dirty="0" smtClean="0"/>
          </a:p>
          <a:p>
            <a:pPr>
              <a:buNone/>
            </a:pPr>
            <a:r>
              <a:rPr lang="en-IN" b="1" dirty="0" smtClean="0"/>
              <a:t>			</a:t>
            </a:r>
            <a:r>
              <a:rPr lang="en-US" b="1" dirty="0" smtClean="0"/>
              <a:t>       </a:t>
            </a:r>
            <a:r>
              <a:rPr lang="en-IN" b="1" dirty="0" smtClean="0"/>
              <a:t>						             					FEEDBACK 	</a:t>
            </a:r>
            <a:endParaRPr lang="en-US" dirty="0" smtClean="0"/>
          </a:p>
          <a:p>
            <a:pPr>
              <a:buNone/>
            </a:pPr>
            <a:r>
              <a:rPr lang="en-IN" dirty="0" smtClean="0"/>
              <a:t>	Noise 		Barrier		    </a:t>
            </a:r>
            <a:r>
              <a:rPr lang="en-IN" dirty="0" err="1" smtClean="0"/>
              <a:t>Barrier</a:t>
            </a:r>
            <a:r>
              <a:rPr lang="en-IN" dirty="0" smtClean="0"/>
              <a:t> 			Noise</a:t>
            </a:r>
            <a:endParaRPr lang="en-US" dirty="0" smtClean="0"/>
          </a:p>
          <a:p>
            <a:pPr>
              <a:buNone/>
            </a:pPr>
            <a:r>
              <a:rPr lang="en-IN" dirty="0" smtClean="0"/>
              <a:t> </a:t>
            </a:r>
            <a:endParaRPr lang="en-US" dirty="0" smtClean="0"/>
          </a:p>
          <a:p>
            <a:endParaRPr lang="en-US" dirty="0" smtClean="0"/>
          </a:p>
          <a:p>
            <a:endParaRPr lang="en-US" dirty="0"/>
          </a:p>
        </p:txBody>
      </p:sp>
      <p:sp>
        <p:nvSpPr>
          <p:cNvPr id="5" name="Arc 4"/>
          <p:cNvSpPr/>
          <p:nvPr/>
        </p:nvSpPr>
        <p:spPr>
          <a:xfrm>
            <a:off x="1600200" y="1371600"/>
            <a:ext cx="5943600" cy="4038600"/>
          </a:xfrm>
          <a:prstGeom prst="arc">
            <a:avLst>
              <a:gd name="adj1" fmla="val 5390137"/>
              <a:gd name="adj2" fmla="val 5251736"/>
            </a:avLst>
          </a:prstGeom>
        </p:spPr>
        <p:style>
          <a:lnRef idx="1">
            <a:schemeClr val="accent1"/>
          </a:lnRef>
          <a:fillRef idx="0">
            <a:schemeClr val="accent1"/>
          </a:fillRef>
          <a:effectRef idx="0">
            <a:schemeClr val="accent1"/>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6" name="Up-Down Arrow 5"/>
          <p:cNvSpPr/>
          <p:nvPr/>
        </p:nvSpPr>
        <p:spPr>
          <a:xfrm>
            <a:off x="3581400" y="1676400"/>
            <a:ext cx="76200" cy="34290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Up-Down Arrow 6"/>
          <p:cNvSpPr/>
          <p:nvPr/>
        </p:nvSpPr>
        <p:spPr>
          <a:xfrm>
            <a:off x="5562600" y="1752600"/>
            <a:ext cx="45719" cy="3352800"/>
          </a:xfrm>
          <a:prstGeom prst="up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8" name="Straight Arrow Connector 7"/>
          <p:cNvCxnSpPr/>
          <p:nvPr/>
        </p:nvCxnSpPr>
        <p:spPr>
          <a:xfrm rot="10800000">
            <a:off x="1524000" y="1676400"/>
            <a:ext cx="20574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10800000" flipV="1">
            <a:off x="1219200" y="3962400"/>
            <a:ext cx="2362200" cy="1295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638800" y="4038600"/>
            <a:ext cx="2514600" cy="1447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V="1">
            <a:off x="1447800" y="2667000"/>
            <a:ext cx="21336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1447800" y="3657600"/>
            <a:ext cx="19812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10800000">
            <a:off x="5562600" y="2667000"/>
            <a:ext cx="22860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5638800" y="1600200"/>
            <a:ext cx="2133600" cy="990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flipV="1">
            <a:off x="5638800" y="3581400"/>
            <a:ext cx="2057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8600"/>
            <a:ext cx="7772400" cy="838200"/>
          </a:xfrm>
        </p:spPr>
        <p:txBody>
          <a:bodyPr>
            <a:normAutofit/>
          </a:bodyPr>
          <a:lstStyle/>
          <a:p>
            <a:r>
              <a:rPr lang="en-US" sz="3200" dirty="0" smtClean="0">
                <a:solidFill>
                  <a:schemeClr val="tx1"/>
                </a:solidFill>
                <a:latin typeface="Times New Roman" panose="02020603050405020304" pitchFamily="18" charset="0"/>
                <a:cs typeface="Times New Roman" panose="02020603050405020304" pitchFamily="18" charset="0"/>
              </a:rPr>
              <a:t>BARRIERS TO COMMUNICATION</a:t>
            </a:r>
            <a:r>
              <a:rPr lang="en-US" dirty="0" smtClean="0">
                <a:solidFill>
                  <a:schemeClr val="tx1"/>
                </a:solidFill>
              </a:rPr>
              <a:t> </a:t>
            </a:r>
            <a:endParaRPr lang="en-US" dirty="0">
              <a:solidFill>
                <a:schemeClr val="tx1"/>
              </a:solidFill>
            </a:endParaRPr>
          </a:p>
        </p:txBody>
      </p:sp>
      <p:sp>
        <p:nvSpPr>
          <p:cNvPr id="3" name="Subtitle 2"/>
          <p:cNvSpPr>
            <a:spLocks noGrp="1"/>
          </p:cNvSpPr>
          <p:nvPr>
            <p:ph type="subTitle" idx="1"/>
          </p:nvPr>
        </p:nvSpPr>
        <p:spPr>
          <a:xfrm>
            <a:off x="609600" y="914400"/>
            <a:ext cx="8077200" cy="4724400"/>
          </a:xfrm>
        </p:spPr>
        <p:txBody>
          <a:bodyPr>
            <a:normAutofit/>
          </a:bodyPr>
          <a:lstStyle/>
          <a:p>
            <a:pPr algn="l"/>
            <a:r>
              <a:rPr lang="en-IN" sz="3000" b="1" dirty="0" smtClean="0">
                <a:solidFill>
                  <a:schemeClr val="accent1">
                    <a:lumMod val="50000"/>
                  </a:schemeClr>
                </a:solidFill>
                <a:latin typeface="Times New Roman" panose="02020603050405020304" pitchFamily="18" charset="0"/>
                <a:cs typeface="Times New Roman" panose="02020603050405020304" pitchFamily="18" charset="0"/>
              </a:rPr>
              <a:t>In </a:t>
            </a:r>
            <a:r>
              <a:rPr lang="en-IN" sz="3000" b="1" dirty="0" smtClean="0">
                <a:solidFill>
                  <a:schemeClr val="accent1">
                    <a:lumMod val="50000"/>
                  </a:schemeClr>
                </a:solidFill>
                <a:latin typeface="Times New Roman" panose="02020603050405020304" pitchFamily="18" charset="0"/>
                <a:cs typeface="Times New Roman" panose="02020603050405020304" pitchFamily="18" charset="0"/>
              </a:rPr>
              <a:t>a family situation, the husband or wife has to therefore cut through these </a:t>
            </a:r>
            <a:r>
              <a:rPr lang="en-IN" sz="3000" b="1" i="1" dirty="0" smtClean="0">
                <a:solidFill>
                  <a:schemeClr val="accent1">
                    <a:lumMod val="50000"/>
                  </a:schemeClr>
                </a:solidFill>
                <a:latin typeface="Times New Roman" panose="02020603050405020304" pitchFamily="18" charset="0"/>
                <a:cs typeface="Times New Roman" panose="02020603050405020304" pitchFamily="18" charset="0"/>
              </a:rPr>
              <a:t>barriers </a:t>
            </a:r>
            <a:r>
              <a:rPr lang="en-IN" sz="3000" b="1" dirty="0" smtClean="0">
                <a:solidFill>
                  <a:schemeClr val="accent1">
                    <a:lumMod val="50000"/>
                  </a:schemeClr>
                </a:solidFill>
                <a:latin typeface="Times New Roman" panose="02020603050405020304" pitchFamily="18" charset="0"/>
                <a:cs typeface="Times New Roman" panose="02020603050405020304" pitchFamily="18" charset="0"/>
              </a:rPr>
              <a:t>in communication in </a:t>
            </a:r>
            <a:r>
              <a:rPr lang="en-IN" sz="3000" b="1" dirty="0">
                <a:solidFill>
                  <a:schemeClr val="accent1">
                    <a:lumMod val="50000"/>
                  </a:schemeClr>
                </a:solidFill>
                <a:latin typeface="Times New Roman" panose="02020603050405020304" pitchFamily="18" charset="0"/>
                <a:cs typeface="Times New Roman" panose="02020603050405020304" pitchFamily="18" charset="0"/>
              </a:rPr>
              <a:t>every situation, especially in conflict situations. </a:t>
            </a:r>
            <a:endParaRPr lang="en-IN" sz="3000" b="1" dirty="0" smtClean="0">
              <a:solidFill>
                <a:schemeClr val="accent1">
                  <a:lumMod val="50000"/>
                </a:schemeClr>
              </a:solidFill>
              <a:latin typeface="Times New Roman" panose="02020603050405020304" pitchFamily="18" charset="0"/>
              <a:cs typeface="Times New Roman" panose="02020603050405020304" pitchFamily="18" charset="0"/>
            </a:endParaRPr>
          </a:p>
          <a:p>
            <a:pPr algn="l"/>
            <a:r>
              <a:rPr lang="en-IN" sz="3000" b="1" dirty="0" smtClean="0">
                <a:solidFill>
                  <a:schemeClr val="accent1">
                    <a:lumMod val="50000"/>
                  </a:schemeClr>
                </a:solidFill>
                <a:latin typeface="Times New Roman" panose="02020603050405020304" pitchFamily="18" charset="0"/>
                <a:cs typeface="Times New Roman" panose="02020603050405020304" pitchFamily="18" charset="0"/>
              </a:rPr>
              <a:t>In </a:t>
            </a:r>
            <a:r>
              <a:rPr lang="en-IN" sz="3000" b="1" dirty="0">
                <a:solidFill>
                  <a:schemeClr val="accent1">
                    <a:lumMod val="50000"/>
                  </a:schemeClr>
                </a:solidFill>
                <a:latin typeface="Times New Roman" panose="02020603050405020304" pitchFamily="18" charset="0"/>
                <a:cs typeface="Times New Roman" panose="02020603050405020304" pitchFamily="18" charset="0"/>
              </a:rPr>
              <a:t>a marriage, many a time the actual message gets lost and, misunderstandings crop up and multiply between the couple. </a:t>
            </a:r>
            <a:endParaRPr lang="en-IN" sz="3000" b="1" dirty="0" smtClean="0">
              <a:solidFill>
                <a:schemeClr val="accent1">
                  <a:lumMod val="50000"/>
                </a:schemeClr>
              </a:solidFill>
              <a:latin typeface="Times New Roman" panose="02020603050405020304" pitchFamily="18" charset="0"/>
              <a:cs typeface="Times New Roman" panose="02020603050405020304" pitchFamily="18" charset="0"/>
            </a:endParaRPr>
          </a:p>
          <a:p>
            <a:pPr algn="l"/>
            <a:r>
              <a:rPr lang="en-IN" sz="2200" b="1" dirty="0" smtClean="0">
                <a:solidFill>
                  <a:schemeClr val="accent1">
                    <a:lumMod val="50000"/>
                  </a:schemeClr>
                </a:solidFill>
                <a:latin typeface="Times New Roman" panose="02020603050405020304" pitchFamily="18" charset="0"/>
                <a:cs typeface="Times New Roman" panose="02020603050405020304" pitchFamily="18" charset="0"/>
              </a:rPr>
              <a:t>‘The </a:t>
            </a:r>
            <a:r>
              <a:rPr lang="en-IN" sz="2200" b="1" dirty="0">
                <a:solidFill>
                  <a:schemeClr val="accent1">
                    <a:lumMod val="50000"/>
                  </a:schemeClr>
                </a:solidFill>
                <a:latin typeface="Times New Roman" panose="02020603050405020304" pitchFamily="18" charset="0"/>
                <a:cs typeface="Times New Roman" panose="02020603050405020304" pitchFamily="18" charset="0"/>
              </a:rPr>
              <a:t>biggest communication problem is we do not listen to </a:t>
            </a:r>
            <a:r>
              <a:rPr lang="en-IN" sz="2200" b="1" dirty="0" smtClean="0">
                <a:solidFill>
                  <a:schemeClr val="accent1">
                    <a:lumMod val="50000"/>
                  </a:schemeClr>
                </a:solidFill>
                <a:latin typeface="Times New Roman" panose="02020603050405020304" pitchFamily="18" charset="0"/>
                <a:cs typeface="Times New Roman" panose="02020603050405020304" pitchFamily="18" charset="0"/>
              </a:rPr>
              <a:t>  </a:t>
            </a:r>
          </a:p>
          <a:p>
            <a:pPr algn="l"/>
            <a:r>
              <a:rPr lang="en-IN" sz="2200" b="1" dirty="0" smtClean="0">
                <a:solidFill>
                  <a:schemeClr val="accent1">
                    <a:lumMod val="50000"/>
                  </a:schemeClr>
                </a:solidFill>
                <a:latin typeface="Times New Roman" panose="02020603050405020304" pitchFamily="18" charset="0"/>
                <a:cs typeface="Times New Roman" panose="02020603050405020304" pitchFamily="18" charset="0"/>
              </a:rPr>
              <a:t>understand</a:t>
            </a:r>
            <a:r>
              <a:rPr lang="en-IN" sz="2200" b="1" dirty="0">
                <a:solidFill>
                  <a:schemeClr val="accent1">
                    <a:lumMod val="50000"/>
                  </a:schemeClr>
                </a:solidFill>
                <a:latin typeface="Times New Roman" panose="02020603050405020304" pitchFamily="18" charset="0"/>
                <a:cs typeface="Times New Roman" panose="02020603050405020304" pitchFamily="18" charset="0"/>
              </a:rPr>
              <a:t>. </a:t>
            </a:r>
            <a:r>
              <a:rPr lang="en-IN" sz="2200" b="1" dirty="0" smtClean="0">
                <a:solidFill>
                  <a:schemeClr val="accent1">
                    <a:lumMod val="50000"/>
                  </a:schemeClr>
                </a:solidFill>
                <a:latin typeface="Times New Roman" panose="02020603050405020304" pitchFamily="18" charset="0"/>
                <a:cs typeface="Times New Roman" panose="02020603050405020304" pitchFamily="18" charset="0"/>
              </a:rPr>
              <a:t>We </a:t>
            </a:r>
            <a:r>
              <a:rPr lang="en-IN" sz="2200" b="1" dirty="0">
                <a:solidFill>
                  <a:schemeClr val="accent1">
                    <a:lumMod val="50000"/>
                  </a:schemeClr>
                </a:solidFill>
                <a:latin typeface="Times New Roman" panose="02020603050405020304" pitchFamily="18" charset="0"/>
                <a:cs typeface="Times New Roman" panose="02020603050405020304" pitchFamily="18" charset="0"/>
              </a:rPr>
              <a:t>listen to reply</a:t>
            </a:r>
            <a:r>
              <a:rPr lang="en-IN" sz="2200" b="1" dirty="0" smtClean="0">
                <a:solidFill>
                  <a:schemeClr val="accent1">
                    <a:lumMod val="50000"/>
                  </a:schemeClr>
                </a:solidFill>
                <a:latin typeface="Times New Roman" panose="02020603050405020304" pitchFamily="18" charset="0"/>
                <a:cs typeface="Times New Roman" panose="02020603050405020304" pitchFamily="18" charset="0"/>
              </a:rPr>
              <a:t>.’ </a:t>
            </a:r>
            <a:r>
              <a:rPr lang="en-IN" sz="2200" b="1" dirty="0" err="1" smtClean="0">
                <a:solidFill>
                  <a:schemeClr val="accent1">
                    <a:lumMod val="50000"/>
                  </a:schemeClr>
                </a:solidFill>
                <a:latin typeface="Times New Roman" panose="02020603050405020304" pitchFamily="18" charset="0"/>
                <a:cs typeface="Times New Roman" panose="02020603050405020304" pitchFamily="18" charset="0"/>
              </a:rPr>
              <a:t>Whatsapp</a:t>
            </a:r>
            <a:r>
              <a:rPr lang="en-IN" sz="2200" dirty="0" smtClean="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7030A0"/>
                </a:solidFill>
                <a:sym typeface="+mn-ea"/>
              </a:rPr>
              <a:t>  Communication   </a:t>
            </a:r>
            <a:r>
              <a:rPr lang="en-US" b="1" dirty="0" smtClean="0">
                <a:solidFill>
                  <a:srgbClr val="7030A0"/>
                </a:solidFill>
              </a:rPr>
              <a:t>Styles</a:t>
            </a:r>
            <a:endParaRPr lang="en-US" b="1" dirty="0">
              <a:solidFill>
                <a:srgbClr val="7030A0"/>
              </a:solidFill>
            </a:endParaRPr>
          </a:p>
        </p:txBody>
      </p:sp>
      <p:sp>
        <p:nvSpPr>
          <p:cNvPr id="3" name="Content Placeholder 2"/>
          <p:cNvSpPr>
            <a:spLocks noGrp="1"/>
          </p:cNvSpPr>
          <p:nvPr>
            <p:ph idx="1"/>
          </p:nvPr>
        </p:nvSpPr>
        <p:spPr/>
        <p:txBody>
          <a:bodyPr/>
          <a:lstStyle/>
          <a:p>
            <a:r>
              <a:rPr lang="en-US" dirty="0">
                <a:sym typeface="+mn-ea"/>
              </a:rPr>
              <a:t>Violent communication  </a:t>
            </a:r>
            <a:endParaRPr lang="en-US" dirty="0"/>
          </a:p>
          <a:p>
            <a:r>
              <a:rPr lang="en-US" dirty="0">
                <a:sym typeface="+mn-ea"/>
              </a:rPr>
              <a:t>Non-Verbal / Verbal  Communication </a:t>
            </a:r>
            <a:endParaRPr lang="en-US" dirty="0"/>
          </a:p>
          <a:p>
            <a:r>
              <a:rPr lang="en-US" dirty="0">
                <a:sym typeface="+mn-ea"/>
              </a:rPr>
              <a:t>Para-phrasing a sentence Cultivating </a:t>
            </a:r>
            <a:endParaRPr lang="en-US" dirty="0"/>
          </a:p>
          <a:p>
            <a:r>
              <a:rPr lang="en-US" dirty="0">
                <a:sym typeface="+mn-ea"/>
              </a:rPr>
              <a:t>Non-Violent Communication </a:t>
            </a:r>
            <a:endParaRPr lang="en-US" dirty="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Pro 17:27</a:t>
            </a:r>
            <a:endParaRPr lang="en-US" dirty="0"/>
          </a:p>
        </p:txBody>
      </p:sp>
      <p:sp>
        <p:nvSpPr>
          <p:cNvPr id="3" name="Content Placeholder 2"/>
          <p:cNvSpPr>
            <a:spLocks noGrp="1"/>
          </p:cNvSpPr>
          <p:nvPr>
            <p:ph idx="1"/>
          </p:nvPr>
        </p:nvSpPr>
        <p:spPr/>
        <p:txBody>
          <a:bodyPr/>
          <a:lstStyle/>
          <a:p>
            <a:r>
              <a:rPr lang="en-US" b="1" i="1" dirty="0" smtClean="0">
                <a:solidFill>
                  <a:schemeClr val="accent1">
                    <a:lumMod val="50000"/>
                  </a:schemeClr>
                </a:solidFill>
                <a:sym typeface="+mn-ea"/>
              </a:rPr>
              <a:t>‘A man (or woman ) of knowledge uses words with restraint, and a man of understanding is even-tempered’ Pro 17:27</a:t>
            </a:r>
            <a:endParaRPr lang="en-US" b="1" i="1" dirty="0" smtClean="0">
              <a:solidFill>
                <a:schemeClr val="accent1">
                  <a:lumMod val="50000"/>
                </a:schemeClr>
              </a:solidFill>
            </a:endParaRPr>
          </a:p>
          <a:p>
            <a:r>
              <a:rPr lang="en-US" b="1" i="1" dirty="0" smtClean="0">
                <a:solidFill>
                  <a:schemeClr val="accent5">
                    <a:lumMod val="75000"/>
                  </a:schemeClr>
                </a:solidFill>
                <a:sym typeface="+mn-ea"/>
              </a:rPr>
              <a:t>{Especially in </a:t>
            </a:r>
            <a:r>
              <a:rPr lang="en-US" b="1" i="1" dirty="0" err="1" smtClean="0">
                <a:solidFill>
                  <a:schemeClr val="accent5">
                    <a:lumMod val="75000"/>
                  </a:schemeClr>
                </a:solidFill>
                <a:sym typeface="+mn-ea"/>
              </a:rPr>
              <a:t>counselling</a:t>
            </a:r>
            <a:r>
              <a:rPr lang="en-US" b="1" i="1" dirty="0" smtClean="0">
                <a:solidFill>
                  <a:schemeClr val="accent5">
                    <a:lumMod val="75000"/>
                  </a:schemeClr>
                </a:solidFill>
                <a:sym typeface="+mn-ea"/>
              </a:rPr>
              <a:t> }</a:t>
            </a:r>
            <a:endParaRPr lang="en-US" b="1" i="1" dirty="0">
              <a:solidFill>
                <a:schemeClr val="accent5">
                  <a:lumMod val="75000"/>
                </a:schemeClr>
              </a:solidFill>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solidFill>
                  <a:srgbClr val="7030A0"/>
                </a:solidFill>
                <a:sym typeface="+mn-ea"/>
              </a:rPr>
              <a:t>CONFLICT RESOLUTION </a:t>
            </a:r>
            <a:r>
              <a:rPr lang="en-US" dirty="0">
                <a:sym typeface="+mn-ea"/>
              </a:rPr>
              <a:t/>
            </a:r>
            <a:br>
              <a:rPr lang="en-US" dirty="0">
                <a:sym typeface="+mn-ea"/>
              </a:rPr>
            </a:br>
            <a:r>
              <a:rPr lang="en-US" sz="2220" dirty="0">
                <a:sym typeface="+mn-ea"/>
              </a:rPr>
              <a:t>according to Neil T. Anderson</a:t>
            </a:r>
            <a:endParaRPr lang="en-US" sz="2220" dirty="0"/>
          </a:p>
        </p:txBody>
      </p:sp>
      <p:sp>
        <p:nvSpPr>
          <p:cNvPr id="3" name="Content Placeholder 2"/>
          <p:cNvSpPr>
            <a:spLocks noGrp="1"/>
          </p:cNvSpPr>
          <p:nvPr>
            <p:ph idx="1"/>
          </p:nvPr>
        </p:nvSpPr>
        <p:spPr/>
        <p:txBody>
          <a:bodyPr>
            <a:normAutofit fontScale="55000" lnSpcReduction="20000"/>
          </a:bodyPr>
          <a:lstStyle/>
          <a:p>
            <a:r>
              <a:rPr lang="en-US" sz="4500" dirty="0" smtClean="0">
                <a:sym typeface="+mn-ea"/>
              </a:rPr>
              <a:t>When </a:t>
            </a:r>
            <a:r>
              <a:rPr lang="en-US" sz="4500" dirty="0">
                <a:sym typeface="+mn-ea"/>
              </a:rPr>
              <a:t>the objective between the couples in conflict, is, to win the argument, then the communication turns into an argument by one of the couple, without caring about the damage to the other; the end result here becomes disastrous. Separation or divorce, soon follow. </a:t>
            </a:r>
            <a:endParaRPr lang="en-US" sz="4500" dirty="0" smtClean="0">
              <a:sym typeface="+mn-ea"/>
            </a:endParaRPr>
          </a:p>
          <a:p>
            <a:r>
              <a:rPr lang="en-US" sz="4500" b="1" i="1" dirty="0" smtClean="0">
                <a:solidFill>
                  <a:schemeClr val="accent1">
                    <a:lumMod val="50000"/>
                  </a:schemeClr>
                </a:solidFill>
                <a:sym typeface="+mn-ea"/>
              </a:rPr>
              <a:t>Those </a:t>
            </a:r>
            <a:r>
              <a:rPr lang="en-US" sz="4500" b="1" i="1" dirty="0">
                <a:solidFill>
                  <a:schemeClr val="accent1">
                    <a:lumMod val="50000"/>
                  </a:schemeClr>
                </a:solidFill>
                <a:sym typeface="+mn-ea"/>
              </a:rPr>
              <a:t>who have a high regard for relationships, seek to resolve conflicts, when they believe something can be accomplished by confrontation</a:t>
            </a:r>
            <a:r>
              <a:rPr lang="en-US" b="1" i="1" dirty="0">
                <a:solidFill>
                  <a:schemeClr val="accent1">
                    <a:lumMod val="50000"/>
                  </a:schemeClr>
                </a:solidFill>
                <a:sym typeface="+mn-ea"/>
              </a:rPr>
              <a:t>.  </a:t>
            </a:r>
            <a:endParaRPr lang="en-US" b="1" i="1" dirty="0">
              <a:solidFill>
                <a:schemeClr val="accent1">
                  <a:lumMod val="50000"/>
                </a:schemeClr>
              </a:solidFill>
            </a:endParaRPr>
          </a:p>
          <a:p>
            <a:r>
              <a:rPr lang="en-US" sz="4000" b="1" i="1" dirty="0">
                <a:solidFill>
                  <a:schemeClr val="accent1">
                    <a:lumMod val="50000"/>
                  </a:schemeClr>
                </a:solidFill>
                <a:sym typeface="+mn-ea"/>
              </a:rPr>
              <a:t>Care should be taken however, that such confrontation should not be aggressive or with violent communication, or heated arguments. </a:t>
            </a:r>
            <a:endParaRPr lang="en-US" sz="4000" b="1" i="1" dirty="0">
              <a:solidFill>
                <a:schemeClr val="accent1">
                  <a:lumMod val="50000"/>
                </a:schemeClr>
              </a:solidFill>
            </a:endParaRPr>
          </a:p>
          <a:p>
            <a:r>
              <a:rPr lang="en-US" sz="4000" b="1" i="1" dirty="0">
                <a:solidFill>
                  <a:schemeClr val="accent1">
                    <a:lumMod val="50000"/>
                  </a:schemeClr>
                </a:solidFill>
                <a:sym typeface="+mn-ea"/>
              </a:rPr>
              <a:t>Confrontation must be done calmly and assertively with the spouse, in order to resolve the conflict and strengthen the relationship with the spouse. </a:t>
            </a:r>
            <a:endParaRPr lang="en-US" sz="4000" b="1" i="1" dirty="0">
              <a:solidFill>
                <a:schemeClr val="accent1">
                  <a:lumMod val="50000"/>
                </a:schemeClr>
              </a:solidFill>
            </a:endParaRPr>
          </a:p>
          <a:p>
            <a:endParaRPr lang="en-US"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7030A0"/>
                </a:solidFill>
              </a:rPr>
              <a:t>TRUST &amp; FIDELITY</a:t>
            </a:r>
          </a:p>
        </p:txBody>
      </p:sp>
      <p:sp>
        <p:nvSpPr>
          <p:cNvPr id="3" name="Content Placeholder 2"/>
          <p:cNvSpPr>
            <a:spLocks noGrp="1"/>
          </p:cNvSpPr>
          <p:nvPr>
            <p:ph idx="1"/>
          </p:nvPr>
        </p:nvSpPr>
        <p:spPr>
          <a:xfrm>
            <a:off x="457200" y="1217295"/>
            <a:ext cx="8229600" cy="5211445"/>
          </a:xfrm>
        </p:spPr>
        <p:txBody>
          <a:bodyPr>
            <a:normAutofit fontScale="25000" lnSpcReduction="20000"/>
          </a:bodyPr>
          <a:lstStyle/>
          <a:p>
            <a:r>
              <a:rPr lang="en-US" sz="9600" dirty="0">
                <a:sym typeface="+mn-ea"/>
              </a:rPr>
              <a:t>In Matt.5:27-30  Jesus says even if you as much look  with lust in your eyes, you have committed (the action) adultery. </a:t>
            </a:r>
            <a:endParaRPr lang="en-US" sz="9600" dirty="0" smtClean="0">
              <a:sym typeface="+mn-ea"/>
            </a:endParaRPr>
          </a:p>
          <a:p>
            <a:r>
              <a:rPr lang="en-US" sz="9600" b="1" i="1" dirty="0" smtClean="0">
                <a:solidFill>
                  <a:schemeClr val="accent1">
                    <a:lumMod val="50000"/>
                  </a:schemeClr>
                </a:solidFill>
                <a:sym typeface="+mn-ea"/>
              </a:rPr>
              <a:t>Adultery </a:t>
            </a:r>
            <a:r>
              <a:rPr lang="en-US" sz="9600" b="1" i="1" dirty="0">
                <a:solidFill>
                  <a:schemeClr val="accent1">
                    <a:lumMod val="50000"/>
                  </a:schemeClr>
                </a:solidFill>
                <a:sym typeface="+mn-ea"/>
              </a:rPr>
              <a:t>addressed by Jesus – first the thought, then the look then the action, follows. ‘The danger of uncontrolled thoughts is that what you continue to think about, under the right provocation, you will one day do. </a:t>
            </a:r>
            <a:r>
              <a:rPr lang="en-US" sz="6400" dirty="0">
                <a:solidFill>
                  <a:schemeClr val="accent1">
                    <a:lumMod val="50000"/>
                  </a:schemeClr>
                </a:solidFill>
                <a:sym typeface="+mn-ea"/>
              </a:rPr>
              <a:t>{Hocking David}</a:t>
            </a:r>
            <a:endParaRPr lang="en-US" sz="6400" dirty="0">
              <a:solidFill>
                <a:schemeClr val="accent1">
                  <a:lumMod val="50000"/>
                </a:schemeClr>
              </a:solidFill>
            </a:endParaRPr>
          </a:p>
          <a:p>
            <a:r>
              <a:rPr lang="en-US" sz="9600" b="1" i="1" dirty="0">
                <a:solidFill>
                  <a:schemeClr val="accent1">
                    <a:lumMod val="50000"/>
                  </a:schemeClr>
                </a:solidFill>
                <a:sym typeface="+mn-ea"/>
              </a:rPr>
              <a:t>’For a man it is a physical impulse and ‘his desire is aroused’. For a woman it more intensely personal -- based on feelings, romantic talk &amp; situation etc. For a man -- it is physical act, after which the feelings follow, as he opens up his feelings to the woman.  For a woman it is the feelings (romance) first must be aroused enough to have sexual desire to enjoy the physical act.</a:t>
            </a:r>
            <a:endParaRPr lang="en-US" sz="9600" b="1" i="1" dirty="0">
              <a:solidFill>
                <a:schemeClr val="accent1">
                  <a:lumMod val="50000"/>
                </a:schemeClr>
              </a:solidFill>
            </a:endParaRPr>
          </a:p>
          <a:p>
            <a:r>
              <a:rPr lang="en-US" sz="5600" dirty="0">
                <a:sym typeface="+mn-ea"/>
              </a:rPr>
              <a:t> [ Hocking David and Solid Rock Radio, ‘Marriage and Family’, copyright © 1992 by Solid Rock Radio </a:t>
            </a:r>
            <a:r>
              <a:rPr lang="en-US" sz="5600" dirty="0" err="1">
                <a:sym typeface="+mn-ea"/>
              </a:rPr>
              <a:t>P.O.Box</a:t>
            </a:r>
            <a:r>
              <a:rPr lang="en-US" sz="5600" dirty="0">
                <a:sym typeface="+mn-ea"/>
              </a:rPr>
              <a:t> 2800, Orange, Published by Walk Thru The Bible Ministries, Atlanta, Georgia}</a:t>
            </a:r>
            <a:endParaRPr lang="en-US" sz="5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FINANCIAL COMPATABILITY</a:t>
            </a:r>
          </a:p>
        </p:txBody>
      </p:sp>
      <p:sp>
        <p:nvSpPr>
          <p:cNvPr id="3" name="Content Placeholder 2"/>
          <p:cNvSpPr>
            <a:spLocks noGrp="1"/>
          </p:cNvSpPr>
          <p:nvPr>
            <p:ph idx="1"/>
          </p:nvPr>
        </p:nvSpPr>
        <p:spPr/>
        <p:txBody>
          <a:bodyPr/>
          <a:lstStyle/>
          <a:p>
            <a:r>
              <a:rPr lang="en-US">
                <a:sym typeface="+mn-ea"/>
              </a:rPr>
              <a:t>When the role of the ‘the man’ the bread-winner, gets threatened due to his wife too taking up a job, </a:t>
            </a:r>
            <a:endParaRPr lang="en-US"/>
          </a:p>
          <a:p>
            <a:r>
              <a:rPr lang="en-US">
                <a:sym typeface="+mn-ea"/>
              </a:rPr>
              <a:t>the conflict in the marriage begins; </a:t>
            </a:r>
            <a:endParaRPr lang="en-US"/>
          </a:p>
          <a:p>
            <a:r>
              <a:rPr lang="en-US">
                <a:sym typeface="+mn-ea"/>
              </a:rPr>
              <a:t>he becomes jealous about his wife’s earning capacity, ability, intelligence  and her interaction with others (colleagues -- men) in the office/workplace.</a:t>
            </a:r>
            <a:endParaRPr lang="en-US"/>
          </a:p>
          <a:p>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sym typeface="+mn-ea"/>
              </a:rPr>
              <a:t>Juggling your time </a:t>
            </a:r>
            <a:r>
              <a:rPr lang="en-US"/>
              <a:t/>
            </a:r>
            <a:br>
              <a:rPr lang="en-US"/>
            </a:br>
            <a:endParaRPr lang="en-US"/>
          </a:p>
        </p:txBody>
      </p:sp>
      <p:sp>
        <p:nvSpPr>
          <p:cNvPr id="3" name="Content Placeholder 2"/>
          <p:cNvSpPr>
            <a:spLocks noGrp="1"/>
          </p:cNvSpPr>
          <p:nvPr>
            <p:ph idx="1"/>
          </p:nvPr>
        </p:nvSpPr>
        <p:spPr>
          <a:xfrm>
            <a:off x="457200" y="1024255"/>
            <a:ext cx="8229600" cy="5382895"/>
          </a:xfrm>
        </p:spPr>
        <p:txBody>
          <a:bodyPr>
            <a:normAutofit fontScale="90000" lnSpcReduction="10000"/>
          </a:bodyPr>
          <a:lstStyle/>
          <a:p>
            <a:r>
              <a:rPr lang="en-US" dirty="0" smtClean="0">
                <a:sym typeface="+mn-ea"/>
              </a:rPr>
              <a:t>A </a:t>
            </a:r>
            <a:r>
              <a:rPr lang="en-US" dirty="0">
                <a:sym typeface="+mn-ea"/>
              </a:rPr>
              <a:t>model wife, mother , </a:t>
            </a:r>
            <a:r>
              <a:rPr lang="en-US" dirty="0" smtClean="0">
                <a:sym typeface="+mn-ea"/>
              </a:rPr>
              <a:t>daughter in law  and </a:t>
            </a:r>
            <a:r>
              <a:rPr lang="en-US" dirty="0">
                <a:sym typeface="+mn-ea"/>
              </a:rPr>
              <a:t>working woman</a:t>
            </a:r>
            <a:endParaRPr lang="en-US" dirty="0"/>
          </a:p>
          <a:p>
            <a:r>
              <a:rPr lang="en-US" dirty="0">
                <a:sym typeface="+mn-ea"/>
              </a:rPr>
              <a:t>sharing time with children and with </a:t>
            </a:r>
            <a:r>
              <a:rPr lang="en-US" dirty="0" smtClean="0">
                <a:sym typeface="+mn-ea"/>
              </a:rPr>
              <a:t>in-laws</a:t>
            </a:r>
            <a:endParaRPr lang="en-US" dirty="0"/>
          </a:p>
          <a:p>
            <a:r>
              <a:rPr lang="en-US" dirty="0">
                <a:sym typeface="+mn-ea"/>
              </a:rPr>
              <a:t>talk to children explain to them</a:t>
            </a:r>
            <a:endParaRPr lang="en-US" dirty="0"/>
          </a:p>
          <a:p>
            <a:r>
              <a:rPr lang="en-US" dirty="0">
                <a:sym typeface="+mn-ea"/>
              </a:rPr>
              <a:t>give them small chores to do</a:t>
            </a:r>
            <a:endParaRPr lang="en-US" dirty="0"/>
          </a:p>
          <a:p>
            <a:r>
              <a:rPr lang="en-US" dirty="0">
                <a:sym typeface="+mn-ea"/>
              </a:rPr>
              <a:t>Tell them you love them and appreciate them </a:t>
            </a:r>
            <a:endParaRPr lang="en-US" dirty="0"/>
          </a:p>
          <a:p>
            <a:r>
              <a:rPr lang="en-US" dirty="0">
                <a:sym typeface="+mn-ea"/>
              </a:rPr>
              <a:t>Quality time </a:t>
            </a:r>
            <a:endParaRPr lang="en-US" dirty="0"/>
          </a:p>
          <a:p>
            <a:r>
              <a:rPr lang="en-US" dirty="0">
                <a:sym typeface="+mn-ea"/>
              </a:rPr>
              <a:t>with family</a:t>
            </a:r>
            <a:endParaRPr lang="en-US" dirty="0"/>
          </a:p>
          <a:p>
            <a:r>
              <a:rPr lang="en-US" dirty="0">
                <a:sym typeface="+mn-ea"/>
              </a:rPr>
              <a:t>with husband</a:t>
            </a:r>
            <a:endParaRPr lang="en-US" dirty="0"/>
          </a:p>
          <a:p>
            <a:r>
              <a:rPr lang="en-US" dirty="0">
                <a:sym typeface="+mn-ea"/>
              </a:rPr>
              <a:t>family prayer </a:t>
            </a:r>
            <a:endParaRPr lang="en-US" dirty="0"/>
          </a:p>
          <a:p>
            <a:r>
              <a:rPr lang="en-US" dirty="0">
                <a:sym typeface="+mn-ea"/>
              </a:rPr>
              <a:t>‘Marriage Altar’ every night </a:t>
            </a:r>
            <a:endParaRPr lang="en-US" dirty="0"/>
          </a:p>
          <a:p>
            <a:endParaRPr lang="en-US" dirty="0"/>
          </a:p>
          <a:p>
            <a:endParaRPr lang="en-US" dirty="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scene3d>
              <a:camera prst="orthographicFront"/>
              <a:lightRig rig="threePt" dir="t"/>
            </a:scene3d>
          </a:bodyPr>
          <a:lstStyle/>
          <a:p>
            <a:r>
              <a:rPr lang="en-US" i="1" noProof="0" dirty="0" smtClean="0">
                <a:solidFill>
                  <a:schemeClr val="accent1"/>
                </a:solidFill>
                <a:effectLst>
                  <a:outerShdw blurRad="38100" dist="25400" dir="5400000" algn="ctr" rotWithShape="0">
                    <a:srgbClr val="6E747A">
                      <a:alpha val="43000"/>
                    </a:srgbClr>
                  </a:outerShdw>
                </a:effectLst>
                <a:uLnTx/>
                <a:uFillTx/>
                <a:latin typeface="Baskerville Old Face" panose="02020602080505020303" charset="0"/>
                <a:cs typeface="Baskerville Old Face" panose="02020602080505020303" charset="0"/>
                <a:sym typeface="+mn-ea"/>
              </a:rPr>
              <a:t/>
            </a:r>
            <a:br>
              <a:rPr lang="en-US" i="1" noProof="0" dirty="0" smtClean="0">
                <a:solidFill>
                  <a:schemeClr val="accent1"/>
                </a:solidFill>
                <a:effectLst>
                  <a:outerShdw blurRad="38100" dist="25400" dir="5400000" algn="ctr" rotWithShape="0">
                    <a:srgbClr val="6E747A">
                      <a:alpha val="43000"/>
                    </a:srgbClr>
                  </a:outerShdw>
                </a:effectLst>
                <a:uLnTx/>
                <a:uFillTx/>
                <a:latin typeface="Baskerville Old Face" panose="02020602080505020303" charset="0"/>
                <a:cs typeface="Baskerville Old Face" panose="02020602080505020303" charset="0"/>
                <a:sym typeface="+mn-ea"/>
              </a:rPr>
            </a:br>
            <a:r>
              <a:rPr lang="en-US" i="1" noProof="0" dirty="0" smtClean="0">
                <a:solidFill>
                  <a:schemeClr val="accent1"/>
                </a:solidFill>
                <a:effectLst>
                  <a:outerShdw blurRad="38100" dist="25400" dir="5400000" algn="ctr" rotWithShape="0">
                    <a:srgbClr val="6E747A">
                      <a:alpha val="43000"/>
                    </a:srgbClr>
                  </a:outerShdw>
                </a:effectLst>
                <a:uLnTx/>
                <a:uFillTx/>
                <a:latin typeface="Baskerville Old Face" panose="02020602080505020303" charset="0"/>
                <a:cs typeface="Baskerville Old Face" panose="02020602080505020303" charset="0"/>
                <a:sym typeface="+mn-ea"/>
              </a:rPr>
              <a:t>LOCKDOWN    TIMES !</a:t>
            </a:r>
            <a:r>
              <a:rPr kumimoji="0" lang="en-US" b="0" i="1"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Baskerville Old Face" panose="02020602080505020303" charset="0"/>
                <a:ea typeface="+mj-ea"/>
                <a:cs typeface="Baskerville Old Face" panose="02020602080505020303" charset="0"/>
              </a:rPr>
              <a:t/>
            </a:r>
            <a:br>
              <a:rPr kumimoji="0" lang="en-US" b="0" i="1"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Baskerville Old Face" panose="02020602080505020303" charset="0"/>
                <a:ea typeface="+mj-ea"/>
                <a:cs typeface="Baskerville Old Face" panose="02020602080505020303" charset="0"/>
              </a:rPr>
            </a:br>
            <a:endParaRPr kumimoji="0" lang="en-US" b="0" i="1" u="none" strike="noStrike" kern="1200" cap="none" spc="0" normalizeH="0" baseline="0" noProof="0" dirty="0">
              <a:solidFill>
                <a:schemeClr val="accent1"/>
              </a:solidFill>
              <a:effectLst>
                <a:outerShdw blurRad="38100" dist="25400" dir="5400000" algn="ctr" rotWithShape="0">
                  <a:srgbClr val="6E747A">
                    <a:alpha val="43000"/>
                  </a:srgbClr>
                </a:outerShdw>
              </a:effectLst>
              <a:uLnTx/>
              <a:uFillTx/>
              <a:latin typeface="Baskerville Old Face" panose="02020602080505020303" charset="0"/>
              <a:ea typeface="+mj-ea"/>
              <a:cs typeface="Baskerville Old Face" panose="02020602080505020303" charset="0"/>
            </a:endParaRPr>
          </a:p>
        </p:txBody>
      </p:sp>
      <p:sp>
        <p:nvSpPr>
          <p:cNvPr id="3" name="Content Placeholder 2"/>
          <p:cNvSpPr>
            <a:spLocks noGrp="1"/>
          </p:cNvSpPr>
          <p:nvPr>
            <p:ph sz="half" idx="1"/>
          </p:nvPr>
        </p:nvSpPr>
        <p:spPr/>
        <p:txBody>
          <a:bodyPr/>
          <a:lstStyle/>
          <a:p>
            <a:pPr marL="0" indent="0" algn="ctr">
              <a:buNone/>
            </a:pPr>
            <a:r>
              <a:rPr lang="en-US" b="1" noProof="0" dirty="0" smtClean="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uLnTx/>
                <a:uFillTx/>
                <a:latin typeface="+mj-lt"/>
                <a:ea typeface="+mj-ea"/>
                <a:cs typeface="+mj-cs"/>
                <a:sym typeface="+mn-ea"/>
              </a:rPr>
              <a:t> </a:t>
            </a:r>
            <a:br>
              <a:rPr lang="en-US" b="1" noProof="0" dirty="0" smtClean="0">
                <a:ln w="6350">
                  <a:solidFill>
                    <a:schemeClr val="accent1">
                      <a:shade val="43000"/>
                    </a:schemeClr>
                  </a:solidFill>
                </a:ln>
                <a:solidFill>
                  <a:schemeClr val="accent1">
                    <a:tint val="83000"/>
                    <a:satMod val="150000"/>
                  </a:schemeClr>
                </a:solidFill>
                <a:effectLst>
                  <a:outerShdw blurRad="26000" dist="26000" dir="14500000" algn="tl" rotWithShape="0">
                    <a:srgbClr val="000000">
                      <a:alpha val="40000"/>
                    </a:srgbClr>
                  </a:outerShdw>
                </a:effectLst>
                <a:uLnTx/>
                <a:uFillTx/>
                <a:latin typeface="+mj-lt"/>
                <a:ea typeface="+mj-ea"/>
                <a:cs typeface="+mj-cs"/>
                <a:sym typeface="+mn-ea"/>
              </a:rPr>
            </a:br>
            <a:endParaRPr lang="en-US" i="1">
              <a:latin typeface="Baskerville Old Face" panose="02020602080505020303" charset="0"/>
              <a:cs typeface="Baskerville Old Face" panose="02020602080505020303" charset="0"/>
            </a:endParaRPr>
          </a:p>
        </p:txBody>
      </p:sp>
      <p:pic>
        <p:nvPicPr>
          <p:cNvPr id="12292" name="Picture 2" descr="C:\Users\india\Desktop\COVID19 CRISIS COUNSELLING  (2)\IMG-20200428-WA0004.jpg"/>
          <p:cNvPicPr>
            <a:picLocks noGrp="1" noChangeAspect="1"/>
          </p:cNvPicPr>
          <p:nvPr>
            <p:ph sz="half" idx="2"/>
          </p:nvPr>
        </p:nvPicPr>
        <p:blipFill>
          <a:blip r:embed="rId2"/>
          <a:stretch>
            <a:fillRect/>
          </a:stretch>
        </p:blipFill>
        <p:spPr>
          <a:xfrm>
            <a:off x="533400" y="1133475"/>
            <a:ext cx="8169275" cy="5724525"/>
          </a:xfrm>
          <a:prstGeom prst="rect">
            <a:avLst/>
          </a:prstGeom>
          <a:noFill/>
          <a:ln w="9525">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half" idx="1"/>
          </p:nvPr>
        </p:nvSpPr>
        <p:spPr/>
        <p:txBody>
          <a:bodyPr/>
          <a:lstStyle/>
          <a:p>
            <a:endParaRPr lang="en-US"/>
          </a:p>
          <a:p>
            <a:endParaRPr lang="en-US"/>
          </a:p>
          <a:p>
            <a:endParaRPr lang="en-US"/>
          </a:p>
          <a:p>
            <a:endParaRPr lang="en-US"/>
          </a:p>
          <a:p>
            <a:r>
              <a:rPr lang="en-US"/>
              <a:t>Thank you</a:t>
            </a:r>
          </a:p>
        </p:txBody>
      </p:sp>
      <p:sp>
        <p:nvSpPr>
          <p:cNvPr id="4" name="Content Placeholder 3"/>
          <p:cNvSpPr>
            <a:spLocks noGrp="1"/>
          </p:cNvSpPr>
          <p:nvPr>
            <p:ph sz="half" idx="2"/>
          </p:nvPr>
        </p:nvSpPr>
        <p:spPr/>
        <p:txBody>
          <a:bodyPr/>
          <a:lstStyle/>
          <a:p>
            <a:endParaRPr lang="en-US"/>
          </a:p>
          <a:p>
            <a:endParaRPr lang="en-US"/>
          </a:p>
          <a:p>
            <a:endParaRPr lang="en-US"/>
          </a:p>
          <a:p>
            <a:endParaRPr lang="en-US"/>
          </a:p>
          <a:p>
            <a:r>
              <a:rPr lang="en-US"/>
              <a:t>thank you</a:t>
            </a:r>
          </a:p>
        </p:txBody>
      </p:sp>
    </p:spTree>
  </p:cSld>
  <p:clrMapOvr>
    <a:masterClrMapping/>
  </p:clrMapOvr>
</p:sld>
</file>

<file path=ppt/theme/theme1.xml><?xml version="1.0" encoding="utf-8"?>
<a:theme xmlns:a="http://schemas.openxmlformats.org/drawingml/2006/main" name="Data Pie Charts">
  <a:themeElements>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fontScheme name="Data Pie Chart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Data Pie Chart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ata Pie Chart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ata Pie Chart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ata Pie Chart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ata Pie Chart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ata Pie Chart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ata Pie Chart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ata Pie Chart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ata Pie Chart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ata Pie Chart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ata Pie Chart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ata Pie Chart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ata Pie Charts 13">
        <a:dk1>
          <a:srgbClr val="000000"/>
        </a:dk1>
        <a:lt1>
          <a:srgbClr val="FFFFFF"/>
        </a:lt1>
        <a:dk2>
          <a:srgbClr val="000000"/>
        </a:dk2>
        <a:lt2>
          <a:srgbClr val="969696"/>
        </a:lt2>
        <a:accent1>
          <a:srgbClr val="009900"/>
        </a:accent1>
        <a:accent2>
          <a:srgbClr val="99CC00"/>
        </a:accent2>
        <a:accent3>
          <a:srgbClr val="FFFFFF"/>
        </a:accent3>
        <a:accent4>
          <a:srgbClr val="000000"/>
        </a:accent4>
        <a:accent5>
          <a:srgbClr val="AACAAA"/>
        </a:accent5>
        <a:accent6>
          <a:srgbClr val="8AB900"/>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613</Words>
  <Application>WPS Presentation</Application>
  <PresentationFormat>On-screen Show (4:3)</PresentationFormat>
  <Paragraphs>93</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Data Pie Charts</vt:lpstr>
      <vt:lpstr>Slide 1</vt:lpstr>
      <vt:lpstr>Slide 2</vt:lpstr>
      <vt:lpstr>BARRIERS TO COMMUNICATION </vt:lpstr>
      <vt:lpstr>  Communication   Styles</vt:lpstr>
      <vt:lpstr>  Pro 17:27</vt:lpstr>
      <vt:lpstr>CONFLICT RESOLUTION  according to Neil T. Anderson</vt:lpstr>
      <vt:lpstr>TRUST &amp; FIDELITY</vt:lpstr>
      <vt:lpstr>FINANCIAL COMPATABILITY</vt:lpstr>
      <vt:lpstr>Juggling your time  </vt:lpstr>
      <vt:lpstr> LOCKDOWN    TIMES ! </vt:lpstr>
      <vt:lpstr>Slide 11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india</dc:creator>
  <cp:lastModifiedBy>Admin</cp:lastModifiedBy>
  <cp:revision>29</cp:revision>
  <dcterms:created xsi:type="dcterms:W3CDTF">2017-10-15T14:19:00Z</dcterms:created>
  <dcterms:modified xsi:type="dcterms:W3CDTF">2024-08-30T12:05:24Z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42328DF44E7A4D46B95B06E2200F13E6</vt:lpwstr>
  </property>
  <property fmtid="{D5CDD505-2E9C-101B-9397-08002B2CF9AE}" pid="3" name="KSOProductBuildVer">
    <vt:lpwstr>1033-11.2.0.11306</vt:lpwstr>
  </property>
</Properties>
</file>