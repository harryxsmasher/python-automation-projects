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7" r:id="rId5"/>
    <p:sldId id="268" r:id="rId6"/>
    <p:sldId id="270" r:id="rId7"/>
    <p:sldId id="273" r:id="rId8"/>
    <p:sldId id="282" r:id="rId9"/>
    <p:sldId id="272" r:id="rId10"/>
    <p:sldId id="276" r:id="rId11"/>
    <p:sldId id="283" r:id="rId12"/>
    <p:sldId id="326" r:id="rId13"/>
    <p:sldId id="290" r:id="rId14"/>
    <p:sldId id="274" r:id="rId15"/>
    <p:sldId id="285" r:id="rId16"/>
    <p:sldId id="294" r:id="rId17"/>
    <p:sldId id="291" r:id="rId18"/>
    <p:sldId id="299" r:id="rId19"/>
    <p:sldId id="300" r:id="rId20"/>
    <p:sldId id="289" r:id="rId21"/>
    <p:sldId id="284" r:id="rId22"/>
    <p:sldId id="287" r:id="rId23"/>
    <p:sldId id="303" r:id="rId24"/>
    <p:sldId id="353" r:id="rId25"/>
    <p:sldId id="286" r:id="rId26"/>
    <p:sldId id="370" r:id="rId27"/>
    <p:sldId id="292" r:id="rId28"/>
    <p:sldId id="327" r:id="rId29"/>
    <p:sldId id="306" r:id="rId30"/>
    <p:sldId id="307" r:id="rId31"/>
    <p:sldId id="309" r:id="rId32"/>
    <p:sldId id="319" r:id="rId33"/>
    <p:sldId id="316" r:id="rId34"/>
    <p:sldId id="320" r:id="rId35"/>
    <p:sldId id="323" r:id="rId36"/>
    <p:sldId id="321" r:id="rId37"/>
    <p:sldId id="324" r:id="rId38"/>
    <p:sldId id="322" r:id="rId39"/>
    <p:sldId id="325" r:id="rId40"/>
    <p:sldId id="317"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99"/>
    <a:srgbClr val="FFFFCC"/>
    <a:srgbClr val="FFCCFF"/>
    <a:srgbClr val="99FF99"/>
    <a:srgbClr val="CCFF99"/>
    <a:srgbClr val="FF0000"/>
    <a:srgbClr val="A5002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8" autoAdjust="0"/>
    <p:restoredTop sz="94660"/>
  </p:normalViewPr>
  <p:slideViewPr>
    <p:cSldViewPr snapToGrid="0">
      <p:cViewPr varScale="1">
        <p:scale>
          <a:sx n="113" d="100"/>
          <a:sy n="113" d="100"/>
        </p:scale>
        <p:origin x="14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9F47A3A-4871-4FCF-A95E-2CE3790A19C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9F47A3A-4871-4FCF-A95E-2CE3790A19C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9F47A3A-4871-4FCF-A95E-2CE3790A19C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09F47A3A-4871-4FCF-A95E-2CE3790A19C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09F47A3A-4871-4FCF-A95E-2CE3790A19CC}"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9F47A3A-4871-4FCF-A95E-2CE3790A19CC}"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F47A3A-4871-4FCF-A95E-2CE3790A19CC}"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9F47A3A-4871-4FCF-A95E-2CE3790A19C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9F47A3A-4871-4FCF-A95E-2CE3790A19CC}"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9F47A3A-4871-4FCF-A95E-2CE3790A19C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09F47A3A-4871-4FCF-A95E-2CE3790A19CC}"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30CA15-F697-43DD-8FA2-0D1D55B2C7A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F47A3A-4871-4FCF-A95E-2CE3790A19CC}" type="datetimeFigureOut">
              <a:rPr lang="en-US" smtClean="0"/>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30CA15-F697-43DD-8FA2-0D1D55B2C7A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microsoft.com/office/2007/relationships/hdphoto" Target="../media/image17.wdp"/><Relationship Id="rId1" Type="http://schemas.openxmlformats.org/officeDocument/2006/relationships/image" Target="../media/image16.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1.png"/><Relationship Id="rId1" Type="http://schemas.openxmlformats.org/officeDocument/2006/relationships/image" Target="../media/image20.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ctrTitle"/>
          </p:nvPr>
        </p:nvSpPr>
        <p:spPr>
          <a:xfrm>
            <a:off x="1143000" y="2832323"/>
            <a:ext cx="6858000" cy="2992748"/>
          </a:xfrm>
        </p:spPr>
        <p:txBody>
          <a:bodyPr>
            <a:prstTxWarp prst="textStop">
              <a:avLst/>
            </a:prstTxWarp>
            <a:normAutofit fontScale="90000"/>
          </a:bodyPr>
          <a:lstStyle/>
          <a:p>
            <a:r>
              <a:rPr lang="en-US" b="1" dirty="0" smtClean="0">
                <a:solidFill>
                  <a:srgbClr val="FFCCFF"/>
                </a:solidFill>
                <a:effectLst>
                  <a:glow rad="101600">
                    <a:schemeClr val="tx1">
                      <a:alpha val="60000"/>
                    </a:schemeClr>
                  </a:glow>
                </a:effectLst>
                <a:latin typeface="Algerian" panose="04020705040A02060702" pitchFamily="82" charset="0"/>
              </a:rPr>
              <a:t>COUNSELING TEENS </a:t>
            </a:r>
            <a:br>
              <a:rPr lang="en-US" b="1" dirty="0" smtClean="0">
                <a:solidFill>
                  <a:srgbClr val="FFCCFF"/>
                </a:solidFill>
                <a:effectLst>
                  <a:glow rad="101600">
                    <a:schemeClr val="tx1">
                      <a:alpha val="60000"/>
                    </a:schemeClr>
                  </a:glow>
                </a:effectLst>
                <a:latin typeface="Algerian" panose="04020705040A02060702" pitchFamily="82" charset="0"/>
              </a:rPr>
            </a:br>
            <a:r>
              <a:rPr lang="en-US" b="1" dirty="0" smtClean="0">
                <a:solidFill>
                  <a:srgbClr val="FFCCFF"/>
                </a:solidFill>
                <a:effectLst>
                  <a:glow rad="101600">
                    <a:schemeClr val="tx1">
                      <a:alpha val="60000"/>
                    </a:schemeClr>
                  </a:glow>
                </a:effectLst>
                <a:latin typeface="Algerian" panose="04020705040A02060702" pitchFamily="82" charset="0"/>
              </a:rPr>
              <a:t>பதின்ம வயதினருக்கு ஆலோசனை</a:t>
            </a:r>
            <a:endParaRPr lang="en-US" b="1" dirty="0">
              <a:solidFill>
                <a:srgbClr val="FFCCFF"/>
              </a:solidFill>
              <a:effectLst>
                <a:glow rad="101600">
                  <a:schemeClr val="tx1">
                    <a:alpha val="60000"/>
                  </a:schemeClr>
                </a:glow>
              </a:effectLst>
              <a:latin typeface="Algerian" panose="04020705040A02060702" pitchFamily="82" charset="0"/>
            </a:endParaRPr>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TextBox 1"/>
          <p:cNvSpPr txBox="1"/>
          <p:nvPr/>
        </p:nvSpPr>
        <p:spPr>
          <a:xfrm flipH="1">
            <a:off x="221225" y="418482"/>
            <a:ext cx="8819535" cy="6394058"/>
          </a:xfrm>
          <a:prstGeom prst="rect">
            <a:avLst/>
          </a:prstGeom>
          <a:noFill/>
        </p:spPr>
        <p:txBody>
          <a:bodyPr wrap="square" rtlCol="0">
            <a:spAutoFit/>
          </a:bodyPr>
          <a:lstStyle/>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TRADITIONALISTS –BORN BEFORE 1946</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BABY BOOMERS – 1947 – 1964</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GEN X – 1965 – </a:t>
            </a:r>
            <a:r>
              <a:rPr lang="en-US" sz="3600" b="1" dirty="0" smtClean="0">
                <a:solidFill>
                  <a:srgbClr val="000099"/>
                </a:solidFill>
                <a:effectLst>
                  <a:glow rad="101600">
                    <a:schemeClr val="bg1">
                      <a:alpha val="60000"/>
                    </a:schemeClr>
                  </a:glow>
                </a:effectLst>
                <a:latin typeface="Clarendon BT" panose="02040704040505020204" pitchFamily="18" charset="0"/>
              </a:rPr>
              <a:t>1980</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GEN Y - Millennials – </a:t>
            </a:r>
            <a:r>
              <a:rPr lang="en-US" sz="3600" b="1" dirty="0" smtClean="0">
                <a:solidFill>
                  <a:srgbClr val="000099"/>
                </a:solidFill>
                <a:effectLst>
                  <a:glow rad="101600">
                    <a:schemeClr val="bg1">
                      <a:alpha val="60000"/>
                    </a:schemeClr>
                  </a:glow>
                </a:effectLst>
                <a:latin typeface="Clarendon BT" panose="02040704040505020204" pitchFamily="18" charset="0"/>
              </a:rPr>
              <a:t>1981 </a:t>
            </a:r>
            <a:r>
              <a:rPr lang="en-US" sz="3600" b="1" dirty="0">
                <a:solidFill>
                  <a:srgbClr val="000099"/>
                </a:solidFill>
                <a:effectLst>
                  <a:glow rad="101600">
                    <a:schemeClr val="bg1">
                      <a:alpha val="60000"/>
                    </a:schemeClr>
                  </a:glow>
                </a:effectLst>
                <a:latin typeface="Clarendon BT" panose="02040704040505020204" pitchFamily="18" charset="0"/>
              </a:rPr>
              <a:t>– </a:t>
            </a:r>
            <a:r>
              <a:rPr lang="en-US" sz="3600" b="1" dirty="0" smtClean="0">
                <a:solidFill>
                  <a:srgbClr val="000099"/>
                </a:solidFill>
                <a:effectLst>
                  <a:glow rad="101600">
                    <a:schemeClr val="bg1">
                      <a:alpha val="60000"/>
                    </a:schemeClr>
                  </a:glow>
                </a:effectLst>
                <a:latin typeface="Clarendon BT" panose="02040704040505020204" pitchFamily="18" charset="0"/>
              </a:rPr>
              <a:t>1996</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GEN Z – </a:t>
            </a:r>
            <a:r>
              <a:rPr lang="en-US" sz="3600" b="1" dirty="0" smtClean="0">
                <a:solidFill>
                  <a:srgbClr val="000099"/>
                </a:solidFill>
                <a:effectLst>
                  <a:glow rad="101600">
                    <a:schemeClr val="bg1">
                      <a:alpha val="60000"/>
                    </a:schemeClr>
                  </a:glow>
                </a:effectLst>
                <a:latin typeface="Clarendon BT" panose="02040704040505020204" pitchFamily="18" charset="0"/>
              </a:rPr>
              <a:t>1997 </a:t>
            </a:r>
            <a:r>
              <a:rPr lang="en-US" sz="3600" b="1" dirty="0">
                <a:solidFill>
                  <a:srgbClr val="000099"/>
                </a:solidFill>
                <a:effectLst>
                  <a:glow rad="101600">
                    <a:schemeClr val="bg1">
                      <a:alpha val="60000"/>
                    </a:schemeClr>
                  </a:glow>
                </a:effectLst>
                <a:latin typeface="Clarendon BT" panose="02040704040505020204" pitchFamily="18" charset="0"/>
              </a:rPr>
              <a:t>– 2012</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r>
              <a:rPr lang="en-US" sz="3600" b="1" dirty="0">
                <a:solidFill>
                  <a:srgbClr val="000099"/>
                </a:solidFill>
                <a:effectLst>
                  <a:glow rad="101600">
                    <a:schemeClr val="bg1">
                      <a:alpha val="60000"/>
                    </a:schemeClr>
                  </a:glow>
                </a:effectLst>
                <a:latin typeface="Clarendon BT" panose="02040704040505020204" pitchFamily="18" charset="0"/>
              </a:rPr>
              <a:t>GEN </a:t>
            </a:r>
            <a:r>
              <a:rPr lang="el-GR" sz="3600" b="1" dirty="0">
                <a:solidFill>
                  <a:srgbClr val="000099"/>
                </a:solidFill>
                <a:effectLst>
                  <a:glow rad="101600">
                    <a:schemeClr val="bg1">
                      <a:alpha val="60000"/>
                    </a:schemeClr>
                  </a:glow>
                </a:effectLst>
                <a:latin typeface="Clarendon BT" panose="02040704040505020204" pitchFamily="18" charset="0"/>
              </a:rPr>
              <a:t>α</a:t>
            </a:r>
            <a:r>
              <a:rPr lang="en-US" sz="3600" b="1" dirty="0">
                <a:solidFill>
                  <a:srgbClr val="000099"/>
                </a:solidFill>
                <a:effectLst>
                  <a:glow rad="101600">
                    <a:schemeClr val="bg1">
                      <a:alpha val="60000"/>
                    </a:schemeClr>
                  </a:glow>
                </a:effectLst>
                <a:latin typeface="Clarendon BT" panose="02040704040505020204" pitchFamily="18" charset="0"/>
              </a:rPr>
              <a:t> – BORN AFTER 2012</a:t>
            </a:r>
            <a:endParaRPr lang="en-US" sz="3600" b="1" dirty="0">
              <a:solidFill>
                <a:srgbClr val="000099"/>
              </a:solidFill>
              <a:effectLst>
                <a:glow rad="101600">
                  <a:schemeClr val="bg1">
                    <a:alpha val="60000"/>
                  </a:schemeClr>
                </a:glow>
              </a:effectLst>
              <a:latin typeface="Clarendon BT" panose="02040704040505020204" pitchFamily="18" charset="0"/>
            </a:endParaRPr>
          </a:p>
          <a:p>
            <a:pPr>
              <a:lnSpc>
                <a:spcPct val="150000"/>
              </a:lnSpc>
            </a:pPr>
            <a:endParaRPr lang="en-US" sz="2100" b="1" dirty="0">
              <a:latin typeface="Clarendon BT" panose="020407040405050202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1"/>
            <a:ext cx="9144000" cy="6961238"/>
          </a:xfrm>
          <a:prstGeom prst="rect">
            <a:avLst/>
          </a:prstGeom>
        </p:spPr>
      </p:pic>
      <p:sp>
        <p:nvSpPr>
          <p:cNvPr id="2" name="Title 1"/>
          <p:cNvSpPr>
            <a:spLocks noGrp="1"/>
          </p:cNvSpPr>
          <p:nvPr>
            <p:ph type="title"/>
          </p:nvPr>
        </p:nvSpPr>
        <p:spPr/>
        <p:txBody>
          <a:bodyPr>
            <a:normAutofit/>
          </a:bodyPr>
          <a:lstStyle/>
          <a:p>
            <a:pPr algn="ctr"/>
            <a:r>
              <a:rPr lang="en-US" sz="2700" b="1" dirty="0">
                <a:solidFill>
                  <a:srgbClr val="FFFF00"/>
                </a:solidFill>
                <a:effectLst>
                  <a:glow rad="101600">
                    <a:schemeClr val="tx1">
                      <a:alpha val="60000"/>
                    </a:schemeClr>
                  </a:glow>
                </a:effectLst>
                <a:latin typeface="Bell Gothic Std Black" panose="020B0706020202040204" pitchFamily="34" charset="0"/>
              </a:rPr>
              <a:t>LIFE STYLE OF AN INDIAN TEEN</a:t>
            </a:r>
            <a:br>
              <a:rPr lang="en-US" sz="2700" b="1" dirty="0">
                <a:solidFill>
                  <a:srgbClr val="FFFF00"/>
                </a:solidFill>
                <a:effectLst>
                  <a:glow rad="101600">
                    <a:schemeClr val="tx1">
                      <a:alpha val="60000"/>
                    </a:schemeClr>
                  </a:glow>
                </a:effectLst>
                <a:latin typeface="Bell Gothic Std Black" panose="020B0706020202040204" pitchFamily="34" charset="0"/>
              </a:rPr>
            </a:br>
            <a:r>
              <a:rPr lang="en-US" sz="2700" b="1" dirty="0">
                <a:solidFill>
                  <a:srgbClr val="FFFF00"/>
                </a:solidFill>
                <a:effectLst>
                  <a:glow rad="101600">
                    <a:schemeClr val="tx1">
                      <a:alpha val="60000"/>
                    </a:schemeClr>
                  </a:glow>
                </a:effectLst>
                <a:latin typeface="Bell Gothic Std Black" panose="020B0706020202040204" pitchFamily="34" charset="0"/>
              </a:rPr>
              <a:t>A day in my 11th grade life goes like this</a:t>
            </a:r>
            <a:endParaRPr lang="en-US" sz="2700" b="1" dirty="0">
              <a:solidFill>
                <a:srgbClr val="FFFF00"/>
              </a:solidFill>
              <a:effectLst>
                <a:glow rad="101600">
                  <a:schemeClr val="tx1">
                    <a:alpha val="60000"/>
                  </a:schemeClr>
                </a:glow>
              </a:effectLst>
              <a:latin typeface="Bell Gothic Std Black" panose="020B0706020202040204" pitchFamily="34" charset="0"/>
            </a:endParaRPr>
          </a:p>
        </p:txBody>
      </p:sp>
      <p:sp>
        <p:nvSpPr>
          <p:cNvPr id="3" name="Rectangle 2"/>
          <p:cNvSpPr/>
          <p:nvPr/>
        </p:nvSpPr>
        <p:spPr>
          <a:xfrm>
            <a:off x="162232" y="1437421"/>
            <a:ext cx="8967020" cy="5262979"/>
          </a:xfrm>
          <a:prstGeom prst="rect">
            <a:avLst/>
          </a:prstGeom>
        </p:spPr>
        <p:txBody>
          <a:bodyPr wrap="square">
            <a:spAutoFit/>
          </a:bodyPr>
          <a:lstStyle/>
          <a:p>
            <a:r>
              <a:rPr lang="en-US" sz="2400" b="1" dirty="0">
                <a:solidFill>
                  <a:schemeClr val="bg1"/>
                </a:solidFill>
                <a:effectLst>
                  <a:glow rad="101600">
                    <a:schemeClr val="tx1">
                      <a:alpha val="60000"/>
                    </a:schemeClr>
                  </a:glow>
                </a:effectLst>
                <a:latin typeface="Agency FB" panose="020B0503020202020204" pitchFamily="34" charset="0"/>
              </a:rPr>
              <a:t>5:55 am : Alarm goes off.</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6:00 am: Dad yells and I Wake up .</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6:30 am : I get ready and go downstairs</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6:45 am : school bus arrives.</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8:00 am : I reach school hoping that nothing bad happens and I haven’t failed any of my tests</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8:00 to 9:00 am : test.</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9:30 am to 4:30 pm: classes. (with 3 breaks in between).</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(often classes may go on till 6:30 pm or God forbid 7:30 pm)</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I reach home at 6 pm if </a:t>
            </a:r>
            <a:r>
              <a:rPr lang="en-US" sz="2400" b="1" dirty="0" err="1">
                <a:solidFill>
                  <a:schemeClr val="bg1"/>
                </a:solidFill>
                <a:effectLst>
                  <a:glow rad="101600">
                    <a:schemeClr val="tx1">
                      <a:alpha val="60000"/>
                    </a:schemeClr>
                  </a:glow>
                </a:effectLst>
                <a:latin typeface="Agency FB" panose="020B0503020202020204" pitchFamily="34" charset="0"/>
              </a:rPr>
              <a:t>i</a:t>
            </a:r>
            <a:r>
              <a:rPr lang="en-US" sz="2400" b="1" dirty="0">
                <a:solidFill>
                  <a:schemeClr val="bg1"/>
                </a:solidFill>
                <a:effectLst>
                  <a:glow rad="101600">
                    <a:schemeClr val="tx1">
                      <a:alpha val="60000"/>
                    </a:schemeClr>
                  </a:glow>
                </a:effectLst>
                <a:latin typeface="Agency FB" panose="020B0503020202020204" pitchFamily="34" charset="0"/>
              </a:rPr>
              <a:t> have classes till 4:30.</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I freshen up, eat and start studying at 8:00 pm for the next test.</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But if I feel too tired I might take breaks and use my gadgets.</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Nowadays I typically go to bed between 11 pm to 1 am.</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I still find it pretty hard to wake up in the morning though</a:t>
            </a:r>
            <a:r>
              <a:rPr lang="en-US" sz="2400" b="1" dirty="0">
                <a:latin typeface="Agency FB" panose="020B0503020202020204" pitchFamily="34" charset="0"/>
              </a:rPr>
              <a:t>.</a:t>
            </a:r>
            <a:endParaRPr lang="en-US" sz="2400" b="1" dirty="0">
              <a:latin typeface="Agency FB" panose="020B0503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a:xfrm>
            <a:off x="628650" y="2214410"/>
            <a:ext cx="7910666" cy="2340654"/>
          </a:xfrm>
        </p:spPr>
        <p:txBody>
          <a:bodyPr>
            <a:prstTxWarp prst="textTriangle">
              <a:avLst/>
            </a:prstTxWarp>
            <a:noAutofit/>
          </a:bodyPr>
          <a:lstStyle/>
          <a:p>
            <a:pPr algn="ctr"/>
            <a:r>
              <a:rPr lang="en-US" sz="3600" b="1" dirty="0">
                <a:solidFill>
                  <a:srgbClr val="FFC000"/>
                </a:solidFill>
                <a:effectLst>
                  <a:glow rad="101600">
                    <a:schemeClr val="tx1">
                      <a:alpha val="60000"/>
                    </a:schemeClr>
                  </a:glow>
                </a:effectLst>
                <a:latin typeface="Sylfaen" panose="010A0502050306030303" pitchFamily="18" charset="0"/>
              </a:rPr>
              <a:t>COMMON COMPLAINTS OF </a:t>
            </a:r>
            <a:br>
              <a:rPr lang="en-US" sz="3600" b="1" dirty="0">
                <a:solidFill>
                  <a:srgbClr val="FFC000"/>
                </a:solidFill>
                <a:effectLst>
                  <a:glow rad="101600">
                    <a:schemeClr val="tx1">
                      <a:alpha val="60000"/>
                    </a:schemeClr>
                  </a:glow>
                </a:effectLst>
                <a:latin typeface="Sylfaen" panose="010A0502050306030303" pitchFamily="18" charset="0"/>
              </a:rPr>
            </a:br>
            <a:r>
              <a:rPr lang="en-US" sz="3600" b="1" dirty="0">
                <a:solidFill>
                  <a:srgbClr val="FFC000"/>
                </a:solidFill>
                <a:effectLst>
                  <a:glow rad="101600">
                    <a:schemeClr val="tx1">
                      <a:alpha val="60000"/>
                    </a:schemeClr>
                  </a:glow>
                </a:effectLst>
                <a:latin typeface="Sylfaen" panose="010A0502050306030303" pitchFamily="18" charset="0"/>
              </a:rPr>
              <a:t> </a:t>
            </a:r>
            <a:r>
              <a:rPr lang="en-US" sz="3600" b="1" dirty="0" smtClean="0">
                <a:solidFill>
                  <a:srgbClr val="FFC000"/>
                </a:solidFill>
                <a:effectLst>
                  <a:glow rad="101600">
                    <a:schemeClr val="tx1">
                      <a:alpha val="60000"/>
                    </a:schemeClr>
                  </a:glow>
                </a:effectLst>
                <a:latin typeface="Sylfaen" panose="010A0502050306030303" pitchFamily="18" charset="0"/>
              </a:rPr>
              <a:t>TEENS</a:t>
            </a:r>
            <a:br>
              <a:rPr lang="en-US" sz="3600" b="1" dirty="0" smtClean="0">
                <a:solidFill>
                  <a:srgbClr val="FFC000"/>
                </a:solidFill>
                <a:effectLst>
                  <a:glow rad="101600">
                    <a:schemeClr val="tx1">
                      <a:alpha val="60000"/>
                    </a:schemeClr>
                  </a:glow>
                </a:effectLst>
                <a:latin typeface="Sylfaen" panose="010A0502050306030303" pitchFamily="18" charset="0"/>
              </a:rPr>
            </a:br>
            <a:r>
              <a:rPr lang="en-US" sz="3600" b="1" dirty="0">
                <a:solidFill>
                  <a:srgbClr val="FFC000"/>
                </a:solidFill>
                <a:effectLst>
                  <a:glow rad="101600">
                    <a:schemeClr val="tx1">
                      <a:alpha val="60000"/>
                    </a:schemeClr>
                  </a:glow>
                </a:effectLst>
                <a:latin typeface="Sylfaen" panose="010A0502050306030303" pitchFamily="18" charset="0"/>
              </a:rPr>
              <a:t>பொதுவான புகார்கள்</a:t>
            </a:r>
            <a:endParaRPr lang="en-US" sz="3600" b="1" dirty="0">
              <a:solidFill>
                <a:srgbClr val="FFC000"/>
              </a:solidFill>
              <a:effectLst>
                <a:glow rad="101600">
                  <a:schemeClr val="tx1">
                    <a:alpha val="60000"/>
                  </a:schemeClr>
                </a:glow>
              </a:effectLst>
              <a:latin typeface="Sylfaen" panose="010A0502050306030303"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793" y="1"/>
            <a:ext cx="9144793" cy="6902236"/>
          </a:xfrm>
          <a:prstGeom prst="rect">
            <a:avLst/>
          </a:prstGeom>
        </p:spPr>
      </p:pic>
      <p:sp>
        <p:nvSpPr>
          <p:cNvPr id="2" name="Rectangle 1"/>
          <p:cNvSpPr/>
          <p:nvPr/>
        </p:nvSpPr>
        <p:spPr>
          <a:xfrm>
            <a:off x="110613" y="123937"/>
            <a:ext cx="8915400" cy="6739255"/>
          </a:xfrm>
          <a:prstGeom prst="rect">
            <a:avLst/>
          </a:prstGeom>
        </p:spPr>
        <p:txBody>
          <a:bodyPr wrap="square">
            <a:spAutoFit/>
          </a:bodyPr>
          <a:lstStyle/>
          <a:p>
            <a:r>
              <a:rPr lang="en-US" b="1" dirty="0">
                <a:solidFill>
                  <a:schemeClr val="bg1"/>
                </a:solidFill>
                <a:effectLst>
                  <a:glow rad="101600">
                    <a:schemeClr val="tx1">
                      <a:alpha val="60000"/>
                    </a:schemeClr>
                  </a:glow>
                </a:effectLst>
                <a:latin typeface="Agency FB" panose="020B0503020202020204" pitchFamily="34" charset="0"/>
              </a:rPr>
              <a:t>1</a:t>
            </a:r>
            <a:r>
              <a:rPr lang="en-US" sz="2400" b="1" dirty="0">
                <a:latin typeface="Agency FB" panose="020B0503020202020204" pitchFamily="34" charset="0"/>
              </a:rPr>
              <a:t>. </a:t>
            </a:r>
            <a:r>
              <a:rPr lang="en-US" sz="2400" b="1" dirty="0">
                <a:solidFill>
                  <a:schemeClr val="bg1"/>
                </a:solidFill>
                <a:effectLst>
                  <a:glow rad="101600">
                    <a:schemeClr val="tx1">
                      <a:alpha val="60000"/>
                    </a:schemeClr>
                  </a:glow>
                </a:effectLst>
                <a:latin typeface="Agency FB" panose="020B0503020202020204" pitchFamily="34" charset="0"/>
              </a:rPr>
              <a:t>Please stop telling relatives about my future. Stop telling them that I don't do housework. Stop telling them that I don't know how to cook. Please STOP</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rgbClr val="FFFF00"/>
                </a:solidFill>
                <a:effectLst>
                  <a:glow rad="101600">
                    <a:schemeClr val="tx1">
                      <a:alpha val="60000"/>
                    </a:schemeClr>
                  </a:glow>
                </a:effectLst>
                <a:latin typeface="Agency FB" panose="020B0503020202020204" pitchFamily="34" charset="0"/>
              </a:rPr>
              <a:t>2. I don't want to go to family function. I don't like that. I want some time being alone and being with only me. Please don't force me.</a:t>
            </a:r>
            <a:endParaRPr lang="en-US" sz="2400" b="1" dirty="0">
              <a:solidFill>
                <a:srgbClr val="FFFF00"/>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3. If I'm calling a guy for hours or talking to a guy at night it doesn't mean I am in love with him we are just friends stop talking doubt.</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rgbClr val="FFFF00"/>
                </a:solidFill>
                <a:effectLst>
                  <a:glow rad="101600">
                    <a:schemeClr val="tx1">
                      <a:alpha val="60000"/>
                    </a:schemeClr>
                  </a:glow>
                </a:effectLst>
                <a:latin typeface="Agency FB" panose="020B0503020202020204" pitchFamily="34" charset="0"/>
              </a:rPr>
              <a:t>4. Stop comparing my marks with other. They go tuition. Or maybe they are more smart than me please stop complaining about my marks.</a:t>
            </a:r>
            <a:endParaRPr lang="en-US" sz="2400" b="1" dirty="0">
              <a:solidFill>
                <a:srgbClr val="FFFF00"/>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5. If I have exam next week and I'm still on phone maybe I'm using it for a good purpose or something I need a break from study. STOP saying that I don't study.</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rgbClr val="FFFF00"/>
                </a:solidFill>
                <a:effectLst>
                  <a:glow rad="101600">
                    <a:schemeClr val="tx1">
                      <a:alpha val="60000"/>
                    </a:schemeClr>
                  </a:glow>
                </a:effectLst>
                <a:latin typeface="Agency FB" panose="020B0503020202020204" pitchFamily="34" charset="0"/>
              </a:rPr>
              <a:t>6. Stop comparing me with my siblings or with my cousin OK it is good if they are smarter than me but please if I'm not like them stop forcing me to be like ‘</a:t>
            </a:r>
            <a:r>
              <a:rPr lang="en-US" sz="2400" b="1" dirty="0" err="1">
                <a:solidFill>
                  <a:srgbClr val="FFFF00"/>
                </a:solidFill>
                <a:effectLst>
                  <a:glow rad="101600">
                    <a:schemeClr val="tx1">
                      <a:alpha val="60000"/>
                    </a:schemeClr>
                  </a:glow>
                </a:effectLst>
                <a:latin typeface="Agency FB" panose="020B0503020202020204" pitchFamily="34" charset="0"/>
              </a:rPr>
              <a:t>em</a:t>
            </a:r>
            <a:endParaRPr lang="en-US" sz="2400" b="1" dirty="0">
              <a:solidFill>
                <a:srgbClr val="FFFF00"/>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7. If I don't share my school talks with you it doesn't mean that I'm not comfortable with you there are some things which I don't want to share.</a:t>
            </a:r>
            <a:endParaRPr lang="en-US" sz="2400" b="1" dirty="0">
              <a:solidFill>
                <a:schemeClr val="bg1"/>
              </a:solidFill>
              <a:effectLst>
                <a:glow rad="101600">
                  <a:schemeClr val="tx1">
                    <a:alpha val="60000"/>
                  </a:schemeClr>
                </a:glow>
              </a:effectLst>
              <a:latin typeface="Agency FB" panose="020B0503020202020204" pitchFamily="34" charset="0"/>
            </a:endParaRPr>
          </a:p>
          <a:p>
            <a:r>
              <a:rPr lang="en-US" sz="2400" b="1" dirty="0">
                <a:solidFill>
                  <a:srgbClr val="FFFF00"/>
                </a:solidFill>
                <a:effectLst>
                  <a:glow rad="101600">
                    <a:schemeClr val="tx1">
                      <a:alpha val="60000"/>
                    </a:schemeClr>
                  </a:glow>
                </a:effectLst>
                <a:latin typeface="Agency FB" panose="020B0503020202020204" pitchFamily="34" charset="0"/>
              </a:rPr>
              <a:t>8. If I don't tell you everything it doesn't mean that I have a boyfriend or something like I have failed in an exam or I do something wrong.</a:t>
            </a:r>
            <a:endParaRPr lang="en-US" sz="2400" b="1" dirty="0">
              <a:solidFill>
                <a:srgbClr val="FFFF00"/>
              </a:solidFill>
              <a:effectLst>
                <a:glow rad="101600">
                  <a:schemeClr val="tx1">
                    <a:alpha val="60000"/>
                  </a:schemeClr>
                </a:glow>
              </a:effectLst>
              <a:latin typeface="Agency FB" panose="020B0503020202020204" pitchFamily="34" charset="0"/>
            </a:endParaRPr>
          </a:p>
          <a:p>
            <a:r>
              <a:rPr lang="en-US" sz="2400" b="1" dirty="0">
                <a:solidFill>
                  <a:schemeClr val="bg1"/>
                </a:solidFill>
                <a:effectLst>
                  <a:glow rad="101600">
                    <a:schemeClr val="tx1">
                      <a:alpha val="60000"/>
                    </a:schemeClr>
                  </a:glow>
                </a:effectLst>
                <a:latin typeface="Agency FB" panose="020B0503020202020204" pitchFamily="34" charset="0"/>
              </a:rPr>
              <a:t>9. If I want to go out with my guy friends it doesn't mean that I'll come with a baby in my belly</a:t>
            </a:r>
            <a:endParaRPr lang="en-US" sz="2400" b="1" dirty="0">
              <a:solidFill>
                <a:schemeClr val="bg1"/>
              </a:solidFill>
              <a:effectLst>
                <a:glow rad="101600">
                  <a:schemeClr val="tx1">
                    <a:alpha val="60000"/>
                  </a:schemeClr>
                </a:glow>
              </a:effectLst>
              <a:latin typeface="Agency FB" panose="020B0503020202020204"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397" y="0"/>
            <a:ext cx="9144793" cy="6858000"/>
          </a:xfrm>
          <a:prstGeom prst="rect">
            <a:avLst/>
          </a:prstGeom>
        </p:spPr>
      </p:pic>
      <p:sp>
        <p:nvSpPr>
          <p:cNvPr id="2" name="Title 1"/>
          <p:cNvSpPr>
            <a:spLocks noGrp="1"/>
          </p:cNvSpPr>
          <p:nvPr>
            <p:ph type="title"/>
          </p:nvPr>
        </p:nvSpPr>
        <p:spPr/>
        <p:txBody>
          <a:bodyPr>
            <a:normAutofit/>
          </a:bodyPr>
          <a:lstStyle/>
          <a:p>
            <a:pPr algn="ctr"/>
            <a:r>
              <a:rPr lang="en-US" sz="2700" b="1" dirty="0">
                <a:solidFill>
                  <a:srgbClr val="FFC000"/>
                </a:solidFill>
                <a:effectLst>
                  <a:glow rad="101600">
                    <a:schemeClr val="tx1">
                      <a:alpha val="60000"/>
                    </a:schemeClr>
                  </a:glow>
                </a:effectLst>
                <a:latin typeface="Bodoni Bd BT" panose="02070803080706020303" pitchFamily="18" charset="0"/>
              </a:rPr>
              <a:t>FAMILY BACKGROUND</a:t>
            </a:r>
            <a:endParaRPr lang="en-US" sz="2700" b="1" dirty="0">
              <a:solidFill>
                <a:srgbClr val="FFC000"/>
              </a:solidFill>
              <a:effectLst>
                <a:glow rad="101600">
                  <a:schemeClr val="tx1">
                    <a:alpha val="60000"/>
                  </a:schemeClr>
                </a:glow>
              </a:effectLst>
              <a:latin typeface="Bodoni Bd BT" panose="02070803080706020303" pitchFamily="18" charset="0"/>
            </a:endParaRPr>
          </a:p>
        </p:txBody>
      </p:sp>
      <p:sp>
        <p:nvSpPr>
          <p:cNvPr id="3" name="Rectangle 2"/>
          <p:cNvSpPr/>
          <p:nvPr/>
        </p:nvSpPr>
        <p:spPr>
          <a:xfrm>
            <a:off x="253365" y="1556385"/>
            <a:ext cx="8760460" cy="5262245"/>
          </a:xfrm>
          <a:prstGeom prst="rect">
            <a:avLst/>
          </a:prstGeom>
        </p:spPr>
        <p:txBody>
          <a:bodyPr wrap="square">
            <a:spAutoFit/>
          </a:bodyPr>
          <a:lstStyle/>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1.   Family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history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குடும்ப வரலாறு</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2.   FAMILY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CONFLICT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குடும்ப மோதல்</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3.  Abuse – psychological, verbal,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mental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துஷ்பிரயோகம</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4.  Witnessing  family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violence   </a:t>
            </a:r>
            <a:r>
              <a:rPr lang="en-US" sz="2400" b="1" i="1" dirty="0" smtClean="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குடும்ப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வன்முறை</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5.   Appreciation  of  wrongful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deeds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தவறான </a:t>
            </a:r>
            <a:r>
              <a:rPr lang="en-US" sz="2400" b="1" i="1" dirty="0" smtClean="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பாராட.டுதல்</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6.   Discrimination  among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children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பாகுபாடு</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7.</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  </a:t>
            </a:r>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TV , SOCIAL MEDIA</a:t>
            </a:r>
            <a:endPar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8.  No  intimacy   </a:t>
            </a:r>
            <a:r>
              <a:rPr lang="en-US" sz="2400" b="1" i="1" dirty="0" smtClean="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நெருக்கமின்மை</a:t>
            </a:r>
            <a:endParaRPr lang="en-US" sz="2400" b="1" i="1" dirty="0" smtClean="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9</a:t>
            </a:r>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  No  fear  of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God</a:t>
            </a:r>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கடவுள் பயமின்மை</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10</a:t>
            </a:r>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  No  teaching  of   values</a:t>
            </a:r>
            <a:endPar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11.  Fulfilling  their  own  desire</a:t>
            </a:r>
            <a:endPar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endParaRPr>
          </a:p>
          <a:p>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12. Parents’ </a:t>
            </a:r>
            <a:r>
              <a:rPr lang="en-US" sz="24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abuse</a:t>
            </a:r>
            <a:r>
              <a:rPr lang="en-US" sz="24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  </a:t>
            </a:r>
            <a:r>
              <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rPr>
              <a:t>பெற்றோரின் துஷ்பிரயோகம்</a:t>
            </a:r>
            <a:endParaRPr lang="en-US" sz="2400" b="1" i="1" dirty="0">
              <a:solidFill>
                <a:srgbClr val="FFFF99"/>
              </a:solidFill>
              <a:effectLst>
                <a:glow rad="101600">
                  <a:schemeClr val="tx1">
                    <a:alpha val="60000"/>
                  </a:schemeClr>
                </a:glow>
              </a:effectLst>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7999"/>
          </a:xfrm>
          <a:prstGeom prst="rect">
            <a:avLst/>
          </a:prstGeom>
        </p:spPr>
      </p:pic>
      <p:sp>
        <p:nvSpPr>
          <p:cNvPr id="2" name="Title 1"/>
          <p:cNvSpPr>
            <a:spLocks noGrp="1"/>
          </p:cNvSpPr>
          <p:nvPr>
            <p:ph type="title"/>
          </p:nvPr>
        </p:nvSpPr>
        <p:spPr>
          <a:xfrm>
            <a:off x="592667" y="1625602"/>
            <a:ext cx="7922683" cy="3666066"/>
          </a:xfrm>
        </p:spPr>
        <p:txBody>
          <a:bodyPr>
            <a:prstTxWarp prst="textTriangle">
              <a:avLst/>
            </a:prstTxWarp>
            <a:normAutofit/>
          </a:bodyPr>
          <a:lstStyle/>
          <a:p>
            <a:pPr algn="ctr"/>
            <a:r>
              <a:rPr lang="en-US" b="1" dirty="0" smtClean="0">
                <a:solidFill>
                  <a:srgbClr val="99FF99"/>
                </a:solidFill>
                <a:effectLst>
                  <a:glow rad="101600">
                    <a:schemeClr val="tx1">
                      <a:alpha val="60000"/>
                    </a:schemeClr>
                  </a:glow>
                </a:effectLst>
                <a:latin typeface="Algerian" panose="04020705040A02060702" pitchFamily="82" charset="0"/>
              </a:rPr>
              <a:t>SYNDROME IN TEENS</a:t>
            </a:r>
            <a:br>
              <a:rPr lang="en-US" b="1" dirty="0" smtClean="0">
                <a:solidFill>
                  <a:srgbClr val="99FF99"/>
                </a:solidFill>
                <a:effectLst>
                  <a:glow rad="101600">
                    <a:schemeClr val="tx1">
                      <a:alpha val="60000"/>
                    </a:schemeClr>
                  </a:glow>
                </a:effectLst>
                <a:latin typeface="Algerian" panose="04020705040A02060702" pitchFamily="82" charset="0"/>
              </a:rPr>
            </a:br>
            <a:br>
              <a:rPr lang="en-US" b="1" dirty="0">
                <a:solidFill>
                  <a:srgbClr val="99FF99"/>
                </a:solidFill>
                <a:effectLst>
                  <a:glow rad="101600">
                    <a:schemeClr val="tx1">
                      <a:alpha val="60000"/>
                    </a:schemeClr>
                  </a:glow>
                </a:effectLst>
                <a:latin typeface="Algerian" panose="04020705040A02060702" pitchFamily="82" charset="0"/>
              </a:rPr>
            </a:br>
            <a:r>
              <a:rPr lang="en-US" b="1" dirty="0" smtClean="0">
                <a:solidFill>
                  <a:srgbClr val="99FF99"/>
                </a:solidFill>
                <a:effectLst>
                  <a:glow rad="101600">
                    <a:schemeClr val="tx1">
                      <a:alpha val="60000"/>
                    </a:schemeClr>
                  </a:glow>
                </a:effectLst>
                <a:latin typeface="Algerian" panose="04020705040A02060702" pitchFamily="82" charset="0"/>
              </a:rPr>
              <a:t>  </a:t>
            </a:r>
            <a:r>
              <a:rPr lang="en-US" b="1" dirty="0" smtClean="0">
                <a:solidFill>
                  <a:srgbClr val="99FF99"/>
                </a:solidFill>
                <a:effectLst>
                  <a:glow rad="101600">
                    <a:schemeClr val="tx1">
                      <a:alpha val="60000"/>
                    </a:schemeClr>
                  </a:glow>
                </a:effectLst>
                <a:latin typeface="Algerian" panose="04020705040A02060702" pitchFamily="82" charset="0"/>
              </a:rPr>
              <a:t>பதின்ம வயதின</a:t>
            </a:r>
            <a:r>
              <a:rPr lang="en-US" b="1" dirty="0">
                <a:solidFill>
                  <a:srgbClr val="99FF99"/>
                </a:solidFill>
                <a:effectLst>
                  <a:glow rad="101600">
                    <a:schemeClr val="tx1">
                      <a:alpha val="60000"/>
                    </a:schemeClr>
                  </a:glow>
                </a:effectLst>
                <a:latin typeface="Algerian" panose="04020705040A02060702" pitchFamily="82" charset="0"/>
              </a:rPr>
              <a:t>ரின்</a:t>
            </a:r>
            <a:r>
              <a:rPr lang="en-US" b="1" dirty="0" smtClean="0">
                <a:solidFill>
                  <a:srgbClr val="99FF99"/>
                </a:solidFill>
                <a:effectLst>
                  <a:glow rad="101600">
                    <a:schemeClr val="tx1">
                      <a:alpha val="60000"/>
                    </a:schemeClr>
                  </a:glow>
                </a:effectLst>
                <a:latin typeface="Algerian" panose="04020705040A02060702" pitchFamily="82" charset="0"/>
              </a:rPr>
              <a:t> நோய்குறிகள்</a:t>
            </a:r>
            <a:endParaRPr lang="en-US" b="1" dirty="0">
              <a:solidFill>
                <a:srgbClr val="99FF99"/>
              </a:solidFill>
              <a:effectLst>
                <a:glow rad="101600">
                  <a:schemeClr val="tx1">
                    <a:alpha val="60000"/>
                  </a:schemeClr>
                </a:glow>
              </a:effectLst>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lgn="ctr"/>
            <a:r>
              <a:rPr lang="en-US" b="1" dirty="0" smtClean="0">
                <a:solidFill>
                  <a:schemeClr val="bg1"/>
                </a:solidFill>
                <a:effectLst>
                  <a:glow rad="101600">
                    <a:schemeClr val="tx1">
                      <a:alpha val="60000"/>
                    </a:schemeClr>
                  </a:glow>
                </a:effectLst>
                <a:latin typeface="GungsuhChe" panose="02030609000101010101" pitchFamily="49" charset="-127"/>
                <a:ea typeface="GungsuhChe" panose="02030609000101010101" pitchFamily="49" charset="-127"/>
              </a:rPr>
              <a:t>POISONOUS SYNDROMES</a:t>
            </a:r>
            <a:endParaRPr lang="en-US" b="1" dirty="0">
              <a:solidFill>
                <a:schemeClr val="bg1"/>
              </a:solidFill>
              <a:effectLst>
                <a:glow rad="101600">
                  <a:schemeClr val="tx1">
                    <a:alpha val="60000"/>
                  </a:schemeClr>
                </a:glow>
              </a:effectLst>
              <a:latin typeface="GungsuhChe" panose="02030609000101010101" pitchFamily="49" charset="-127"/>
              <a:ea typeface="GungsuhChe" panose="02030609000101010101" pitchFamily="49" charset="-127"/>
            </a:endParaRPr>
          </a:p>
        </p:txBody>
      </p:sp>
      <p:sp>
        <p:nvSpPr>
          <p:cNvPr id="3" name="TextBox 2"/>
          <p:cNvSpPr txBox="1"/>
          <p:nvPr/>
        </p:nvSpPr>
        <p:spPr>
          <a:xfrm>
            <a:off x="181610" y="1886585"/>
            <a:ext cx="8750300" cy="3046095"/>
          </a:xfrm>
          <a:prstGeom prst="rect">
            <a:avLst/>
          </a:prstGeom>
          <a:noFill/>
        </p:spPr>
        <p:txBody>
          <a:bodyPr wrap="square" rtlCol="0">
            <a:spAutoFit/>
          </a:bodyPr>
          <a:lstStyle/>
          <a:p>
            <a:pPr marL="557530" indent="-557530">
              <a:lnSpc>
                <a:spcPct val="200000"/>
              </a:lnSpc>
              <a:buAutoNum type="arabicPeriod"/>
            </a:pPr>
            <a:r>
              <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PEER </a:t>
            </a:r>
            <a:r>
              <a:rPr lang="en-US" sz="3200" b="1" dirty="0" smtClean="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GROUP  </a:t>
            </a:r>
            <a:r>
              <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நட்பு வட்டம்</a:t>
            </a:r>
            <a:endPar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a:p>
            <a:pPr marL="557530" indent="-557530">
              <a:lnSpc>
                <a:spcPct val="200000"/>
              </a:lnSpc>
              <a:buAutoNum type="arabicPeriod"/>
            </a:pPr>
            <a:r>
              <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BOYFRIEND-GIRL FRIEND SYNDROME</a:t>
            </a:r>
            <a:endPar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a:p>
            <a:pPr marL="557530" indent="-557530">
              <a:lnSpc>
                <a:spcPct val="200000"/>
              </a:lnSpc>
              <a:buAutoNum type="arabicPeriod"/>
            </a:pPr>
            <a:r>
              <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GADGETS</a:t>
            </a:r>
            <a:endPar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635" y="0"/>
            <a:ext cx="8872220" cy="6654165"/>
          </a:xfrm>
          <a:prstGeom prst="rect">
            <a:avLst/>
          </a:prstGeom>
        </p:spPr>
      </p:pic>
      <p:sp>
        <p:nvSpPr>
          <p:cNvPr id="2" name="Title 1"/>
          <p:cNvSpPr>
            <a:spLocks noGrp="1"/>
          </p:cNvSpPr>
          <p:nvPr>
            <p:ph type="title"/>
          </p:nvPr>
        </p:nvSpPr>
        <p:spPr/>
        <p:txBody>
          <a:bodyPr>
            <a:normAutofit/>
          </a:bodyPr>
          <a:lstStyle/>
          <a:p>
            <a:pPr algn="ctr"/>
            <a:r>
              <a:rPr lang="en-US" sz="3600" b="1" dirty="0">
                <a:solidFill>
                  <a:srgbClr val="FFFF00"/>
                </a:solidFill>
                <a:effectLst>
                  <a:glow rad="101600">
                    <a:schemeClr val="tx1">
                      <a:alpha val="60000"/>
                    </a:schemeClr>
                  </a:glow>
                </a:effectLst>
                <a:latin typeface="Bell Gothic Std Black" panose="020B0706020202040204" pitchFamily="34" charset="0"/>
              </a:rPr>
              <a:t>AGONY OF TEENS</a:t>
            </a:r>
            <a:endParaRPr lang="en-US" sz="3600" b="1" dirty="0">
              <a:solidFill>
                <a:srgbClr val="FFFF00"/>
              </a:solidFill>
              <a:effectLst>
                <a:glow rad="101600">
                  <a:schemeClr val="tx1">
                    <a:alpha val="60000"/>
                  </a:schemeClr>
                </a:glow>
              </a:effectLst>
              <a:latin typeface="Bell Gothic Std Black" panose="020B0706020202040204" pitchFamily="34" charset="0"/>
            </a:endParaRPr>
          </a:p>
        </p:txBody>
      </p:sp>
      <p:sp>
        <p:nvSpPr>
          <p:cNvPr id="3" name="TextBox 2"/>
          <p:cNvSpPr txBox="1"/>
          <p:nvPr/>
        </p:nvSpPr>
        <p:spPr>
          <a:xfrm>
            <a:off x="628650" y="2147570"/>
            <a:ext cx="6814185" cy="4797425"/>
          </a:xfrm>
          <a:prstGeom prst="rect">
            <a:avLst/>
          </a:prstGeom>
          <a:noFill/>
        </p:spPr>
        <p:txBody>
          <a:bodyPr wrap="square" rtlCol="0">
            <a:spAutoFit/>
          </a:bodyPr>
          <a:lstStyle/>
          <a:p>
            <a:pPr>
              <a:lnSpc>
                <a:spcPct val="170000"/>
              </a:lnSpc>
            </a:pPr>
            <a:r>
              <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I CAN’T</a:t>
            </a:r>
            <a:endPar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70000"/>
              </a:lnSpc>
            </a:pPr>
            <a:r>
              <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NO LOVE FROM PARENTS</a:t>
            </a:r>
            <a:endPar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70000"/>
              </a:lnSpc>
            </a:pPr>
            <a:r>
              <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--CONFIDE SECRETS</a:t>
            </a:r>
            <a:endPar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70000"/>
              </a:lnSpc>
            </a:pPr>
            <a:r>
              <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REMEDY FOR MY SIN</a:t>
            </a:r>
            <a:endParaRPr lang="en-US" sz="3600"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70000"/>
              </a:lnSpc>
            </a:pPr>
            <a:endParaRPr lang="en-US" sz="3600" dirty="0">
              <a:latin typeface="Baskerville Old Face" panose="02020602080505020303" charset="0"/>
              <a:ea typeface="Roboto" panose="02000000000000000000" pitchFamily="2"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a:xfrm>
            <a:off x="628650" y="2494322"/>
            <a:ext cx="7886700" cy="1847235"/>
          </a:xfrm>
        </p:spPr>
        <p:txBody>
          <a:bodyPr>
            <a:prstTxWarp prst="textStop">
              <a:avLst/>
            </a:prstTxWarp>
            <a:normAutofit/>
          </a:bodyPr>
          <a:lstStyle/>
          <a:p>
            <a:pPr algn="ctr"/>
            <a:r>
              <a:rPr lang="en-US" sz="2700" spc="225" dirty="0" smtClean="0">
                <a:ln>
                  <a:solidFill>
                    <a:srgbClr val="CCFF99"/>
                  </a:solidFill>
                </a:ln>
                <a:solidFill>
                  <a:srgbClr val="FF0000"/>
                </a:solidFill>
                <a:effectLst>
                  <a:glow rad="101600">
                    <a:schemeClr val="tx1">
                      <a:alpha val="60000"/>
                    </a:schemeClr>
                  </a:glow>
                </a:effectLst>
                <a:latin typeface="Algerian" panose="04020705040A02060702" pitchFamily="82" charset="0"/>
                <a:cs typeface="Aharoni" panose="02010803020104030203" pitchFamily="2" charset="-79"/>
              </a:rPr>
              <a:t>Loneliness</a:t>
            </a:r>
            <a:endParaRPr lang="en-US" sz="2700" spc="225" dirty="0">
              <a:ln>
                <a:solidFill>
                  <a:srgbClr val="CCFF99"/>
                </a:solidFill>
              </a:ln>
              <a:solidFill>
                <a:srgbClr val="FF0000"/>
              </a:solidFill>
              <a:effectLst>
                <a:glow rad="101600">
                  <a:schemeClr val="tx1">
                    <a:alpha val="60000"/>
                  </a:schemeClr>
                </a:glow>
              </a:effectLst>
              <a:latin typeface="Algerian" panose="04020705040A02060702" pitchFamily="82" charset="0"/>
              <a:cs typeface="Aharoni" panose="02010803020104030203" pitchFamily="2" charset="-79"/>
            </a:endParaRPr>
          </a:p>
        </p:txBody>
      </p:sp>
      <p:sp>
        <p:nvSpPr>
          <p:cNvPr id="4" name="Rectangle 3"/>
          <p:cNvSpPr/>
          <p:nvPr/>
        </p:nvSpPr>
        <p:spPr>
          <a:xfrm>
            <a:off x="1871133" y="4988470"/>
            <a:ext cx="5511800" cy="830997"/>
          </a:xfrm>
          <a:prstGeom prst="rect">
            <a:avLst/>
          </a:prstGeom>
        </p:spPr>
        <p:txBody>
          <a:bodyPr wrap="square">
            <a:spAutoFit/>
          </a:bodyPr>
          <a:lstStyle/>
          <a:p>
            <a:pPr algn="ctr"/>
            <a:r>
              <a:rPr lang="en-US" sz="4800" dirty="0" smtClean="0">
                <a:ln>
                  <a:solidFill>
                    <a:srgbClr val="FFFF00"/>
                  </a:solidFill>
                </a:ln>
                <a:solidFill>
                  <a:srgbClr val="FF0000"/>
                </a:solidFill>
                <a:effectLst>
                  <a:glow rad="101600">
                    <a:schemeClr val="tx1">
                      <a:alpha val="60000"/>
                    </a:schemeClr>
                  </a:glow>
                </a:effectLst>
              </a:rPr>
              <a:t>தனிமை</a:t>
            </a:r>
            <a:r>
              <a:rPr lang="en-US" sz="4800" dirty="0">
                <a:ln>
                  <a:solidFill>
                    <a:srgbClr val="FFFF00"/>
                  </a:solidFill>
                </a:ln>
                <a:solidFill>
                  <a:srgbClr val="FF0000"/>
                </a:solidFill>
                <a:effectLst>
                  <a:glow rad="101600">
                    <a:schemeClr val="tx1">
                      <a:alpha val="60000"/>
                    </a:schemeClr>
                  </a:glow>
                </a:effectLst>
              </a:rPr>
              <a:t>த்துவம்</a:t>
            </a:r>
            <a:endParaRPr lang="en-IN" sz="4800" dirty="0">
              <a:ln>
                <a:solidFill>
                  <a:srgbClr val="FFFF00"/>
                </a:solidFill>
              </a:ln>
              <a:solidFill>
                <a:srgbClr val="FF0000"/>
              </a:solidFill>
              <a:effectLst>
                <a:glow rad="101600">
                  <a:schemeClr val="tx1">
                    <a:alpha val="60000"/>
                  </a:schemeClr>
                </a:glow>
              </a:effectLst>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397" y="-186242"/>
            <a:ext cx="9144793" cy="7230483"/>
          </a:xfrm>
          <a:prstGeom prst="rect">
            <a:avLst/>
          </a:prstGeom>
        </p:spPr>
      </p:pic>
      <p:sp>
        <p:nvSpPr>
          <p:cNvPr id="2" name="Title 1"/>
          <p:cNvSpPr>
            <a:spLocks noGrp="1"/>
          </p:cNvSpPr>
          <p:nvPr>
            <p:ph type="title"/>
          </p:nvPr>
        </p:nvSpPr>
        <p:spPr>
          <a:xfrm>
            <a:off x="628650" y="2438416"/>
            <a:ext cx="7886700" cy="2029354"/>
          </a:xfrm>
        </p:spPr>
        <p:txBody>
          <a:bodyPr>
            <a:normAutofit fontScale="90000"/>
          </a:bodyPr>
          <a:lstStyle/>
          <a:p>
            <a:pPr algn="ctr"/>
            <a:r>
              <a:rPr lang="en-IN" b="1" dirty="0" smtClean="0">
                <a:solidFill>
                  <a:srgbClr val="FFCCFF"/>
                </a:solidFill>
                <a:effectLst>
                  <a:glow rad="101600">
                    <a:schemeClr val="tx1">
                      <a:alpha val="60000"/>
                    </a:schemeClr>
                  </a:glow>
                </a:effectLst>
                <a:latin typeface="Georgia" panose="02040502050405020303" pitchFamily="18" charset="0"/>
              </a:rPr>
              <a:t>CHARACTERS OF LONELINESS</a:t>
            </a:r>
            <a:br>
              <a:rPr lang="en-IN" b="1" dirty="0" smtClean="0">
                <a:solidFill>
                  <a:srgbClr val="FFCCFF"/>
                </a:solidFill>
                <a:effectLst>
                  <a:glow rad="101600">
                    <a:schemeClr val="tx1">
                      <a:alpha val="60000"/>
                    </a:schemeClr>
                  </a:glow>
                </a:effectLst>
                <a:latin typeface="Georgia" panose="02040502050405020303" pitchFamily="18" charset="0"/>
              </a:rPr>
            </a:br>
            <a:br>
              <a:rPr lang="en-IN" b="1" dirty="0" smtClean="0">
                <a:solidFill>
                  <a:srgbClr val="FFCCFF"/>
                </a:solidFill>
                <a:effectLst>
                  <a:glow rad="101600">
                    <a:schemeClr val="tx1">
                      <a:alpha val="60000"/>
                    </a:schemeClr>
                  </a:glow>
                </a:effectLst>
                <a:latin typeface="Georgia" panose="02040502050405020303" pitchFamily="18" charset="0"/>
              </a:rPr>
            </a:br>
            <a:r>
              <a:rPr lang="en-US" b="1" dirty="0">
                <a:solidFill>
                  <a:srgbClr val="FFCCFF"/>
                </a:solidFill>
                <a:effectLst>
                  <a:glow rad="101600">
                    <a:schemeClr val="tx1">
                      <a:alpha val="60000"/>
                    </a:schemeClr>
                  </a:glow>
                </a:effectLst>
                <a:latin typeface="Georgia" panose="02040502050405020303" pitchFamily="18" charset="0"/>
              </a:rPr>
              <a:t>தனிமையின் </a:t>
            </a:r>
            <a:r>
              <a:rPr lang="en-US" b="1" dirty="0" smtClean="0">
                <a:solidFill>
                  <a:srgbClr val="FFCCFF"/>
                </a:solidFill>
                <a:effectLst>
                  <a:glow rad="101600">
                    <a:schemeClr val="tx1">
                      <a:alpha val="60000"/>
                    </a:schemeClr>
                  </a:glow>
                </a:effectLst>
                <a:latin typeface="Georgia" panose="02040502050405020303" pitchFamily="18" charset="0"/>
              </a:rPr>
              <a:t>தன்மைகள்</a:t>
            </a:r>
            <a:endParaRPr lang="en-IN" b="1" dirty="0">
              <a:solidFill>
                <a:srgbClr val="FFCCFF"/>
              </a:solidFill>
              <a:effectLst>
                <a:glow rad="101600">
                  <a:schemeClr val="tx1">
                    <a:alpha val="60000"/>
                  </a:schemeClr>
                </a:glow>
              </a:effectLst>
              <a:latin typeface="Georgia" panose="020405020504050203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fontScale="90000"/>
          </a:bodyPr>
          <a:lstStyle/>
          <a:p>
            <a:r>
              <a:rPr lang="en-US" sz="3200" b="1" dirty="0" smtClean="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t>LONELINESS – BODY </a:t>
            </a:r>
            <a:r>
              <a:rPr lang="en-US" sz="3200" b="1" dirty="0" smtClean="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t>LANGUAGE</a:t>
            </a:r>
            <a:br>
              <a:rPr lang="en-US" sz="3200" b="1" dirty="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br>
            <a:r>
              <a:rPr lang="en-US" sz="3200" b="1" dirty="0" smtClean="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t>தனிமைத்துவம் </a:t>
            </a:r>
            <a:r>
              <a:rPr lang="en-US" sz="3200" b="1" dirty="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t>- உடல் மொழி</a:t>
            </a:r>
            <a:br>
              <a:rPr lang="en-US" sz="3200" b="1" dirty="0">
                <a:solidFill>
                  <a:srgbClr val="FFC000"/>
                </a:solidFill>
                <a:effectLst>
                  <a:glow rad="101600">
                    <a:schemeClr val="tx1">
                      <a:alpha val="60000"/>
                    </a:schemeClr>
                  </a:glow>
                </a:effectLst>
                <a:latin typeface="Aharoni" panose="02010803020104030203" pitchFamily="2" charset="-79"/>
                <a:cs typeface="Aharoni" panose="02010803020104030203" pitchFamily="2" charset="-79"/>
              </a:rPr>
            </a:br>
            <a:endParaRPr lang="en-US" sz="3200" b="1" dirty="0">
              <a:solidFill>
                <a:srgbClr val="FFC000"/>
              </a:solidFill>
              <a:effectLst>
                <a:glow rad="101600">
                  <a:schemeClr val="tx1">
                    <a:alpha val="60000"/>
                  </a:schemeClr>
                </a:glow>
              </a:effectLst>
              <a:latin typeface="Aharoni" panose="02010803020104030203" pitchFamily="2" charset="-79"/>
              <a:cs typeface="Aharoni" panose="02010803020104030203" pitchFamily="2" charset="-79"/>
            </a:endParaRPr>
          </a:p>
        </p:txBody>
      </p:sp>
      <p:sp>
        <p:nvSpPr>
          <p:cNvPr id="3" name="TextBox 2"/>
          <p:cNvSpPr txBox="1"/>
          <p:nvPr/>
        </p:nvSpPr>
        <p:spPr>
          <a:xfrm>
            <a:off x="4208780" y="1104900"/>
            <a:ext cx="5092700" cy="6292850"/>
          </a:xfrm>
          <a:prstGeom prst="rect">
            <a:avLst/>
          </a:prstGeom>
          <a:noFill/>
        </p:spPr>
        <p:txBody>
          <a:bodyPr wrap="square" rtlCol="0">
            <a:spAutoFit/>
          </a:bodyPr>
          <a:lstStyle/>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TIRED – SLEEPY EYE</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HESITATION TO SHARE</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HALLUCINATION</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SPECIAL ATTRACTION TOWARDS OPPOSITE SEX</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TRY TO HIDE FACTS</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TOO MUCH NEGATIVE THINKING</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NO CONFIDENCE IN OTHERS</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marL="342900" indent="-342900">
              <a:lnSpc>
                <a:spcPct val="140000"/>
              </a:lnSpc>
              <a:buFont typeface="Wingdings" panose="05000000000000000000" pitchFamily="2" charset="2"/>
              <a:buChar char="Ø"/>
            </a:pPr>
            <a:r>
              <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rPr>
              <a:t>BLAME GAME</a:t>
            </a: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a:p>
            <a:pPr>
              <a:lnSpc>
                <a:spcPct val="140000"/>
              </a:lnSpc>
            </a:pPr>
            <a:endParaRPr lang="en-US" sz="2400" b="1" dirty="0">
              <a:solidFill>
                <a:srgbClr val="FFFFFF"/>
              </a:solidFill>
              <a:effectLst>
                <a:glow rad="101600">
                  <a:schemeClr val="tx1">
                    <a:alpha val="60000"/>
                  </a:schemeClr>
                </a:glow>
              </a:effectLst>
              <a:highlight>
                <a:srgbClr val="FFFF00"/>
              </a:highlight>
              <a:latin typeface="Clarendon BT" panose="0204070404050502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397" y="-162232"/>
            <a:ext cx="9144793" cy="7226709"/>
          </a:xfrm>
          <a:prstGeom prst="rect">
            <a:avLst/>
          </a:prstGeom>
        </p:spPr>
      </p:pic>
      <p:sp>
        <p:nvSpPr>
          <p:cNvPr id="2" name="Title 1"/>
          <p:cNvSpPr>
            <a:spLocks noGrp="1"/>
          </p:cNvSpPr>
          <p:nvPr>
            <p:ph type="title"/>
          </p:nvPr>
        </p:nvSpPr>
        <p:spPr/>
        <p:txBody>
          <a:bodyPr>
            <a:normAutofit/>
          </a:bodyPr>
          <a:lstStyle/>
          <a:p>
            <a:pPr algn="ctr"/>
            <a:r>
              <a:rPr lang="en-US" sz="2700" b="1" dirty="0">
                <a:solidFill>
                  <a:srgbClr val="FFFF00"/>
                </a:solidFill>
                <a:effectLst>
                  <a:glow rad="101600">
                    <a:schemeClr val="tx1">
                      <a:alpha val="60000"/>
                    </a:schemeClr>
                  </a:glow>
                </a:effectLst>
                <a:latin typeface="Bell Gothic Std Black" panose="020B0706020202040204" pitchFamily="34" charset="0"/>
              </a:rPr>
              <a:t>1. KILLER </a:t>
            </a:r>
            <a:r>
              <a:rPr lang="en-US" sz="2700" b="1" dirty="0" smtClean="0">
                <a:solidFill>
                  <a:srgbClr val="FFFF00"/>
                </a:solidFill>
                <a:effectLst>
                  <a:glow rad="101600">
                    <a:schemeClr val="tx1">
                      <a:alpha val="60000"/>
                    </a:schemeClr>
                  </a:glow>
                </a:effectLst>
                <a:latin typeface="Bell Gothic Std Black" panose="020B0706020202040204" pitchFamily="34" charset="0"/>
              </a:rPr>
              <a:t>ATTITUDE</a:t>
            </a:r>
            <a:r>
              <a:rPr lang="en-US" sz="2700" b="1" dirty="0">
                <a:solidFill>
                  <a:srgbClr val="FFFF00"/>
                </a:solidFill>
                <a:effectLst>
                  <a:glow rad="101600">
                    <a:schemeClr val="tx1">
                      <a:alpha val="60000"/>
                    </a:schemeClr>
                  </a:glow>
                </a:effectLst>
                <a:latin typeface="Bell Gothic Std Black" panose="020B0706020202040204" pitchFamily="34" charset="0"/>
              </a:rPr>
              <a:t>   </a:t>
            </a:r>
            <a:r>
              <a:rPr lang="en-US" sz="2000" b="1" dirty="0">
                <a:solidFill>
                  <a:srgbClr val="FFFF00"/>
                </a:solidFill>
                <a:effectLst>
                  <a:glow rad="101600">
                    <a:schemeClr val="tx1">
                      <a:alpha val="60000"/>
                    </a:schemeClr>
                  </a:glow>
                </a:effectLst>
                <a:latin typeface="Bell Gothic Std Black" panose="020B0706020202040204" pitchFamily="34" charset="0"/>
              </a:rPr>
              <a:t>கொலையாளி மனப்பான்மை</a:t>
            </a:r>
            <a:endParaRPr lang="en-US" sz="2000" b="1" dirty="0">
              <a:solidFill>
                <a:srgbClr val="FFFF00"/>
              </a:solidFill>
              <a:effectLst>
                <a:glow rad="101600">
                  <a:schemeClr val="tx1">
                    <a:alpha val="60000"/>
                  </a:schemeClr>
                </a:glow>
              </a:effectLst>
              <a:latin typeface="Bell Gothic Std Black" panose="020B0706020202040204" pitchFamily="34" charset="0"/>
            </a:endParaRPr>
          </a:p>
        </p:txBody>
      </p:sp>
      <p:sp>
        <p:nvSpPr>
          <p:cNvPr id="3" name="TextBox 2"/>
          <p:cNvSpPr txBox="1"/>
          <p:nvPr/>
        </p:nvSpPr>
        <p:spPr>
          <a:xfrm>
            <a:off x="206375" y="1690370"/>
            <a:ext cx="8623935" cy="6004560"/>
          </a:xfrm>
          <a:prstGeom prst="rect">
            <a:avLst/>
          </a:prstGeom>
          <a:noFill/>
        </p:spPr>
        <p:txBody>
          <a:bodyPr wrap="square" rtlCol="0">
            <a:spAutoFit/>
          </a:bodyPr>
          <a:lstStyle/>
          <a:p>
            <a:pPr algn="ctr"/>
            <a:r>
              <a:rPr lang="en-US" sz="4000" i="1" dirty="0">
                <a:solidFill>
                  <a:srgbClr val="FFFF99"/>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LONELINESS -- NO ATTACHMENT</a:t>
            </a:r>
            <a:endParaRPr lang="en-US" sz="4000" i="1" dirty="0">
              <a:solidFill>
                <a:srgbClr val="FFFF99"/>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20000"/>
              </a:lnSpc>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1. PARENTS</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SELFISHNESS</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2. PARENTS</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COMPARISON WITH </a:t>
            </a: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SIBLINGS</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3. NON-ACCEPTANCE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OF </a:t>
            </a: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PEER</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4. NO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FREEDOM – EDUCATION, RELIGION, CHOOSING ACCORDING TO SELF DESIRE.</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5. PARENTS</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a:t>
            </a: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SIBLING’S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SEX ABUSE</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6. LOST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VIRGINITY</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7. SELF SEXUAL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SATISFACTION</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indent="0">
              <a:lnSpc>
                <a:spcPct val="120000"/>
              </a:lnSpc>
              <a:buNone/>
            </a:pPr>
            <a:r>
              <a:rPr lang="en-US" sz="2800" i="1" dirty="0" smtClean="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8. VALENTINE’S </a:t>
            </a:r>
            <a:r>
              <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DAY </a:t>
            </a:r>
            <a:endParaRPr lang="en-US" sz="2800"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marL="257175" indent="-257175">
              <a:buAutoNum type="arabicPeriod"/>
            </a:pPr>
            <a:endParaRPr lang="en-US" sz="2100" dirty="0">
              <a:latin typeface="Roboto" panose="02000000000000000000" pitchFamily="2" charset="0"/>
              <a:ea typeface="Roboto" panose="02000000000000000000" pitchFamily="2" charset="0"/>
            </a:endParaRPr>
          </a:p>
          <a:p>
            <a:pPr marL="257175" indent="-257175">
              <a:buAutoNum type="arabicPeriod"/>
            </a:pPr>
            <a:endParaRPr lang="en-US" sz="2100" dirty="0">
              <a:latin typeface="Roboto" panose="02000000000000000000" pitchFamily="2" charset="0"/>
              <a:ea typeface="Roboto" panose="02000000000000000000" pitchFamily="2"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397" y="0"/>
            <a:ext cx="9144793" cy="6857999"/>
          </a:xfrm>
          <a:prstGeom prst="rect">
            <a:avLst/>
          </a:prstGeom>
        </p:spPr>
      </p:pic>
      <p:sp>
        <p:nvSpPr>
          <p:cNvPr id="3" name="TextBox 2"/>
          <p:cNvSpPr txBox="1"/>
          <p:nvPr/>
        </p:nvSpPr>
        <p:spPr>
          <a:xfrm>
            <a:off x="234950" y="2198370"/>
            <a:ext cx="8909685" cy="4615815"/>
          </a:xfrm>
          <a:prstGeom prst="rect">
            <a:avLst/>
          </a:prstGeom>
          <a:gradFill>
            <a:gsLst>
              <a:gs pos="0">
                <a:srgbClr val="FECF40"/>
              </a:gs>
              <a:gs pos="100000">
                <a:srgbClr val="846C21"/>
              </a:gs>
            </a:gsLst>
            <a:lin scaled="0"/>
          </a:gradFill>
        </p:spPr>
        <p:txBody>
          <a:bodyPr wrap="square" rtlCol="0">
            <a:spAutoFit/>
          </a:bodyPr>
          <a:lstStyle/>
          <a:p>
            <a:pPr marL="342900" indent="-342900">
              <a:lnSpc>
                <a:spcPct val="150000"/>
              </a:lnSpc>
              <a:buFont typeface="Wingdings" panose="05000000000000000000" pitchFamily="2" charset="2"/>
              <a:buChar char="§"/>
            </a:pPr>
            <a:r>
              <a:rPr lang="en-US" sz="2800" b="1" dirty="0">
                <a:solidFill>
                  <a:schemeClr val="bg1"/>
                </a:solidFill>
                <a:effectLst>
                  <a:glow rad="101600">
                    <a:schemeClr val="tx1">
                      <a:alpha val="60000"/>
                    </a:schemeClr>
                  </a:glow>
                </a:effectLst>
                <a:latin typeface="Bright DEMO" pitchFamily="50" charset="0"/>
                <a:ea typeface="Roboto" panose="02000000000000000000" pitchFamily="2" charset="0"/>
              </a:rPr>
              <a:t>NEGATIVE THOUGHTS</a:t>
            </a:r>
            <a:endParaRPr lang="en-US" sz="2800" b="1" dirty="0">
              <a:solidFill>
                <a:schemeClr val="bg1"/>
              </a:solidFill>
              <a:effectLst>
                <a:glow rad="101600">
                  <a:schemeClr val="tx1">
                    <a:alpha val="60000"/>
                  </a:schemeClr>
                </a:glow>
              </a:effectLst>
              <a:latin typeface="Bright DEMO" pitchFamily="50" charset="0"/>
              <a:ea typeface="Roboto" panose="02000000000000000000" pitchFamily="2" charset="0"/>
            </a:endParaRPr>
          </a:p>
          <a:p>
            <a:pPr marL="342900" indent="-342900">
              <a:lnSpc>
                <a:spcPct val="150000"/>
              </a:lnSpc>
              <a:buFont typeface="Wingdings" panose="05000000000000000000" pitchFamily="2" charset="2"/>
              <a:buChar char="§"/>
            </a:pPr>
            <a:r>
              <a:rPr lang="en-US" sz="2800" b="1" dirty="0">
                <a:solidFill>
                  <a:schemeClr val="bg1"/>
                </a:solidFill>
                <a:effectLst>
                  <a:glow rad="101600">
                    <a:schemeClr val="tx1">
                      <a:alpha val="60000"/>
                    </a:schemeClr>
                  </a:glow>
                </a:effectLst>
                <a:latin typeface="Bright DEMO" pitchFamily="50" charset="0"/>
                <a:ea typeface="Roboto" panose="02000000000000000000" pitchFamily="2" charset="0"/>
              </a:rPr>
              <a:t>BLAME GAME IN PEAK</a:t>
            </a:r>
            <a:endParaRPr lang="en-US" sz="2800" b="1" dirty="0">
              <a:solidFill>
                <a:schemeClr val="bg1"/>
              </a:solidFill>
              <a:effectLst>
                <a:glow rad="101600">
                  <a:schemeClr val="tx1">
                    <a:alpha val="60000"/>
                  </a:schemeClr>
                </a:glow>
              </a:effectLst>
              <a:latin typeface="Bright DEMO" pitchFamily="50" charset="0"/>
              <a:ea typeface="Roboto" panose="02000000000000000000" pitchFamily="2" charset="0"/>
            </a:endParaRPr>
          </a:p>
          <a:p>
            <a:pPr marL="342900" indent="-342900">
              <a:lnSpc>
                <a:spcPct val="150000"/>
              </a:lnSpc>
              <a:buFont typeface="Wingdings" panose="05000000000000000000" pitchFamily="2" charset="2"/>
              <a:buChar char="§"/>
            </a:pPr>
            <a:r>
              <a:rPr lang="en-US" sz="2800" b="1" dirty="0">
                <a:solidFill>
                  <a:schemeClr val="bg1"/>
                </a:solidFill>
                <a:effectLst>
                  <a:glow rad="101600">
                    <a:schemeClr val="tx1">
                      <a:alpha val="60000"/>
                    </a:schemeClr>
                  </a:glow>
                </a:effectLst>
                <a:latin typeface="Bright DEMO" pitchFamily="50" charset="0"/>
                <a:ea typeface="Roboto" panose="02000000000000000000" pitchFamily="2" charset="0"/>
              </a:rPr>
              <a:t>PARENTS ARE ENEMIES</a:t>
            </a:r>
            <a:endParaRPr lang="en-US" sz="2800" b="1" dirty="0">
              <a:solidFill>
                <a:schemeClr val="bg1"/>
              </a:solidFill>
              <a:effectLst>
                <a:glow rad="101600">
                  <a:schemeClr val="tx1">
                    <a:alpha val="60000"/>
                  </a:schemeClr>
                </a:glow>
              </a:effectLst>
              <a:latin typeface="Bright DEMO" pitchFamily="50" charset="0"/>
              <a:ea typeface="Roboto" panose="02000000000000000000" pitchFamily="2" charset="0"/>
            </a:endParaRPr>
          </a:p>
          <a:p>
            <a:pPr marL="342900" indent="-342900">
              <a:lnSpc>
                <a:spcPct val="150000"/>
              </a:lnSpc>
              <a:buFont typeface="Wingdings" panose="05000000000000000000" pitchFamily="2" charset="2"/>
              <a:buChar char="§"/>
            </a:pPr>
            <a:r>
              <a:rPr lang="en-US" sz="2800" b="1" dirty="0">
                <a:solidFill>
                  <a:schemeClr val="bg1"/>
                </a:solidFill>
                <a:effectLst>
                  <a:glow rad="101600">
                    <a:schemeClr val="tx1">
                      <a:alpha val="60000"/>
                    </a:schemeClr>
                  </a:glow>
                </a:effectLst>
                <a:latin typeface="Bright DEMO" pitchFamily="50" charset="0"/>
                <a:ea typeface="Roboto" panose="02000000000000000000" pitchFamily="2" charset="0"/>
              </a:rPr>
              <a:t>DIFFICULTY IN MAINTAING FRIENDSHIP</a:t>
            </a:r>
            <a:endParaRPr lang="en-US" sz="2800" b="1" dirty="0">
              <a:solidFill>
                <a:schemeClr val="bg1"/>
              </a:solidFill>
              <a:effectLst>
                <a:glow rad="101600">
                  <a:schemeClr val="tx1">
                    <a:alpha val="60000"/>
                  </a:schemeClr>
                </a:glow>
              </a:effectLst>
              <a:latin typeface="Bright DEMO" pitchFamily="50" charset="0"/>
              <a:ea typeface="Roboto" panose="02000000000000000000" pitchFamily="2" charset="0"/>
            </a:endParaRPr>
          </a:p>
          <a:p>
            <a:pPr marL="342900" indent="-342900">
              <a:lnSpc>
                <a:spcPct val="150000"/>
              </a:lnSpc>
              <a:buFont typeface="Wingdings" panose="05000000000000000000" pitchFamily="2" charset="2"/>
              <a:buChar char="§"/>
            </a:pPr>
            <a:r>
              <a:rPr lang="en-US" sz="2800" b="1" dirty="0">
                <a:solidFill>
                  <a:schemeClr val="bg1"/>
                </a:solidFill>
                <a:effectLst>
                  <a:glow rad="101600">
                    <a:schemeClr val="tx1">
                      <a:alpha val="60000"/>
                    </a:schemeClr>
                  </a:glow>
                </a:effectLst>
                <a:latin typeface="Bright DEMO" pitchFamily="50" charset="0"/>
                <a:ea typeface="Roboto" panose="02000000000000000000" pitchFamily="2" charset="0"/>
              </a:rPr>
              <a:t>THEY WILL NOT ENJOY AND BE HAPPY AND THEY DON’T ALLOW OTHRS TO BE HAPPY</a:t>
            </a:r>
            <a:endParaRPr lang="en-US" sz="2800" b="1" dirty="0">
              <a:solidFill>
                <a:schemeClr val="bg1"/>
              </a:solidFill>
              <a:effectLst>
                <a:glow rad="101600">
                  <a:schemeClr val="tx1">
                    <a:alpha val="60000"/>
                  </a:schemeClr>
                </a:glow>
              </a:effectLst>
              <a:latin typeface="Bright DEMO" pitchFamily="50" charset="0"/>
              <a:ea typeface="Roboto" panose="02000000000000000000" pitchFamily="2" charset="0"/>
            </a:endParaRPr>
          </a:p>
        </p:txBody>
      </p:sp>
      <p:sp>
        <p:nvSpPr>
          <p:cNvPr id="5" name="TextBox 4"/>
          <p:cNvSpPr txBox="1"/>
          <p:nvPr/>
        </p:nvSpPr>
        <p:spPr>
          <a:xfrm>
            <a:off x="2861720" y="1613724"/>
            <a:ext cx="3486150" cy="584775"/>
          </a:xfrm>
          <a:prstGeom prst="rect">
            <a:avLst/>
          </a:prstGeom>
          <a:noFill/>
        </p:spPr>
        <p:txBody>
          <a:bodyPr wrap="square" rtlCol="0">
            <a:spAutoFit/>
          </a:bodyPr>
          <a:lstStyle/>
          <a:p>
            <a:pPr algn="ctr"/>
            <a:r>
              <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RESULT</a:t>
            </a:r>
            <a:endParaRPr lang="en-US" sz="32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p:txBody>
      </p:sp>
      <p:sp>
        <p:nvSpPr>
          <p:cNvPr id="2" name="Title 1"/>
          <p:cNvSpPr>
            <a:spLocks noGrp="1"/>
          </p:cNvSpPr>
          <p:nvPr>
            <p:ph type="title"/>
          </p:nvPr>
        </p:nvSpPr>
        <p:spPr/>
        <p:txBody>
          <a:bodyPr>
            <a:normAutofit/>
          </a:bodyPr>
          <a:lstStyle/>
          <a:p>
            <a:pPr algn="ctr"/>
            <a:r>
              <a:rPr lang="en-US" sz="3200" b="1" dirty="0" smtClean="0">
                <a:solidFill>
                  <a:schemeClr val="bg1"/>
                </a:solidFill>
                <a:effectLst>
                  <a:glow rad="101600">
                    <a:schemeClr val="tx1">
                      <a:alpha val="60000"/>
                    </a:schemeClr>
                  </a:glow>
                </a:effectLst>
                <a:latin typeface="Bell Gothic Std Black"/>
              </a:rPr>
              <a:t>2.  </a:t>
            </a:r>
            <a:r>
              <a:rPr lang="en-US" sz="3200" b="1" dirty="0" smtClean="0">
                <a:solidFill>
                  <a:srgbClr val="FFFFFF"/>
                </a:solidFill>
                <a:effectLst>
                  <a:glow rad="101600">
                    <a:schemeClr val="tx1">
                      <a:alpha val="60000"/>
                    </a:schemeClr>
                  </a:glow>
                </a:effectLst>
                <a:latin typeface="Bell Gothic Std Black"/>
              </a:rPr>
              <a:t>LOW SELF-CONFIDENCE</a:t>
            </a:r>
            <a:r>
              <a:rPr lang="en-US" sz="3200" b="1" dirty="0">
                <a:solidFill>
                  <a:srgbClr val="FFFFFF"/>
                </a:solidFill>
                <a:effectLst>
                  <a:glow rad="101600">
                    <a:schemeClr val="tx1">
                      <a:alpha val="60000"/>
                    </a:schemeClr>
                  </a:glow>
                </a:effectLst>
                <a:latin typeface="Bell Gothic Std Black"/>
              </a:rPr>
              <a:t> - குறைந்த தன்னம்பிக்கை</a:t>
            </a:r>
            <a:endParaRPr lang="en-US" sz="3200" b="1" dirty="0">
              <a:solidFill>
                <a:srgbClr val="FFFFFF"/>
              </a:solidFill>
              <a:effectLst>
                <a:glow rad="101600">
                  <a:schemeClr val="tx1">
                    <a:alpha val="60000"/>
                  </a:schemeClr>
                </a:glow>
              </a:effectLst>
              <a:latin typeface="Bell Gothic Std Black"/>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a:xfrm>
            <a:off x="628650" y="717550"/>
            <a:ext cx="7886700" cy="2016125"/>
          </a:xfrm>
        </p:spPr>
        <p:txBody>
          <a:bodyPr>
            <a:prstTxWarp prst="textCanUp">
              <a:avLst/>
            </a:prstTxWarp>
          </a:bodyPr>
          <a:lstStyle/>
          <a:p>
            <a:pPr algn="ctr"/>
            <a:r>
              <a:rPr lang="en-US" b="1" dirty="0" smtClean="0">
                <a:solidFill>
                  <a:srgbClr val="FFFF99"/>
                </a:solidFill>
                <a:effectLst>
                  <a:glow rad="101600">
                    <a:schemeClr val="tx1">
                      <a:alpha val="60000"/>
                    </a:schemeClr>
                  </a:glow>
                </a:effectLst>
                <a:latin typeface="Bell Gothic Std Black"/>
              </a:rPr>
              <a:t>3.DEPRESSION</a:t>
            </a:r>
            <a:endParaRPr lang="en-US" b="1" dirty="0">
              <a:solidFill>
                <a:srgbClr val="FFFF99"/>
              </a:solidFill>
              <a:effectLst>
                <a:glow rad="101600">
                  <a:schemeClr val="tx1">
                    <a:alpha val="60000"/>
                  </a:schemeClr>
                </a:glow>
              </a:effectLst>
              <a:latin typeface="Bell Gothic Std Black"/>
            </a:endParaRPr>
          </a:p>
        </p:txBody>
      </p:sp>
      <p:sp>
        <p:nvSpPr>
          <p:cNvPr id="4" name="Rectangle 3"/>
          <p:cNvSpPr/>
          <p:nvPr/>
        </p:nvSpPr>
        <p:spPr>
          <a:xfrm>
            <a:off x="1020445" y="2847975"/>
            <a:ext cx="7374890" cy="645160"/>
          </a:xfrm>
          <a:prstGeom prst="rect">
            <a:avLst/>
          </a:prstGeom>
        </p:spPr>
        <p:txBody>
          <a:bodyPr wrap="square">
            <a:spAutoFit/>
          </a:bodyPr>
          <a:lstStyle/>
          <a:p>
            <a:pPr algn="ctr"/>
            <a:r>
              <a:rPr lang="en-US" sz="3600" b="1" dirty="0" smtClean="0">
                <a:solidFill>
                  <a:srgbClr val="FFFF99"/>
                </a:solidFill>
                <a:effectLst>
                  <a:glow rad="101600">
                    <a:schemeClr val="tx1">
                      <a:alpha val="60000"/>
                    </a:schemeClr>
                  </a:glow>
                </a:effectLst>
              </a:rPr>
              <a:t>மனச்சோர்வு</a:t>
            </a:r>
            <a:endParaRPr lang="en-IN" sz="3600" b="1" dirty="0">
              <a:solidFill>
                <a:srgbClr val="FFFF99"/>
              </a:solidFill>
              <a:effectLst>
                <a:glow rad="101600">
                  <a:schemeClr val="tx1">
                    <a:alpha val="60000"/>
                  </a:schemeClr>
                </a:glow>
              </a:effectLs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7999"/>
          </a:xfrm>
          <a:prstGeom prst="rect">
            <a:avLst/>
          </a:prstGeom>
        </p:spPr>
      </p:pic>
      <p:sp>
        <p:nvSpPr>
          <p:cNvPr id="2" name="Title 1"/>
          <p:cNvSpPr>
            <a:spLocks noGrp="1"/>
          </p:cNvSpPr>
          <p:nvPr>
            <p:ph type="title"/>
          </p:nvPr>
        </p:nvSpPr>
        <p:spPr/>
        <p:txBody>
          <a:bodyPr/>
          <a:lstStyle/>
          <a:p>
            <a:pPr algn="ctr"/>
            <a:r>
              <a:rPr lang="en-IN" b="1" dirty="0" smtClean="0">
                <a:solidFill>
                  <a:srgbClr val="FFFF00"/>
                </a:solidFill>
                <a:effectLst>
                  <a:glow rad="101600">
                    <a:schemeClr val="tx1">
                      <a:alpha val="60000"/>
                    </a:schemeClr>
                  </a:glow>
                </a:effectLst>
                <a:latin typeface="Rosewood Std Regular" panose="00000500000000000000" pitchFamily="50" charset="0"/>
              </a:rPr>
              <a:t>D</a:t>
            </a:r>
            <a:r>
              <a:rPr lang="en-US" b="1" dirty="0" err="1" smtClean="0">
                <a:solidFill>
                  <a:srgbClr val="FFFF00"/>
                </a:solidFill>
                <a:effectLst>
                  <a:glow rad="101600">
                    <a:schemeClr val="tx1">
                      <a:alpha val="60000"/>
                    </a:schemeClr>
                  </a:glow>
                </a:effectLst>
                <a:latin typeface="Rosewood Std Regular" panose="00000500000000000000" pitchFamily="50" charset="0"/>
              </a:rPr>
              <a:t>epression</a:t>
            </a:r>
            <a:endParaRPr lang="en-US" dirty="0">
              <a:solidFill>
                <a:srgbClr val="FFFF00"/>
              </a:solidFill>
              <a:effectLst>
                <a:glow rad="101600">
                  <a:schemeClr val="tx1">
                    <a:alpha val="60000"/>
                  </a:schemeClr>
                </a:glow>
              </a:effectLst>
            </a:endParaRPr>
          </a:p>
        </p:txBody>
      </p:sp>
      <p:sp>
        <p:nvSpPr>
          <p:cNvPr id="5" name="Rectangle 4"/>
          <p:cNvSpPr/>
          <p:nvPr/>
        </p:nvSpPr>
        <p:spPr>
          <a:xfrm>
            <a:off x="128905" y="1522095"/>
            <a:ext cx="8867775" cy="3969385"/>
          </a:xfrm>
          <a:prstGeom prst="rect">
            <a:avLst/>
          </a:prstGeom>
        </p:spPr>
        <p:txBody>
          <a:bodyPr wrap="square">
            <a:spAutoFit/>
          </a:bodyPr>
          <a:lstStyle/>
          <a:p>
            <a:pPr algn="just">
              <a:lnSpc>
                <a:spcPct val="150000"/>
              </a:lnSpc>
            </a:pPr>
            <a:r>
              <a:rPr lang="en-US" sz="2800" b="1" dirty="0">
                <a:solidFill>
                  <a:schemeClr val="bg1"/>
                </a:solidFill>
                <a:effectLst>
                  <a:glow rad="101600">
                    <a:schemeClr val="tx1">
                      <a:alpha val="60000"/>
                    </a:schemeClr>
                  </a:glow>
                </a:effectLst>
                <a:latin typeface="Baskerville Old Face" panose="02020602080505020303" charset="0"/>
                <a:ea typeface="Times New Roman" panose="02020603050405020304" pitchFamily="18" charset="0"/>
                <a:cs typeface="Baskerville Old Face" panose="02020602080505020303" charset="0"/>
              </a:rPr>
              <a:t>Depression is a state of low mood and aversion to activity that can affect a person's thoughts, behavior, feelings and physical well-being. </a:t>
            </a:r>
            <a:endParaRPr lang="en-US" sz="2800" b="1" dirty="0">
              <a:solidFill>
                <a:schemeClr val="bg1"/>
              </a:solidFill>
              <a:effectLst>
                <a:glow rad="101600">
                  <a:schemeClr val="tx1">
                    <a:alpha val="60000"/>
                  </a:schemeClr>
                </a:glow>
              </a:effectLst>
              <a:latin typeface="Baskerville Old Face" panose="02020602080505020303" charset="0"/>
              <a:ea typeface="Times New Roman" panose="02020603050405020304" pitchFamily="18" charset="0"/>
              <a:cs typeface="Baskerville Old Face" panose="02020602080505020303" charset="0"/>
            </a:endParaRPr>
          </a:p>
          <a:p>
            <a:pPr algn="just">
              <a:lnSpc>
                <a:spcPct val="150000"/>
              </a:lnSpc>
            </a:pPr>
            <a:endParaRPr lang="en-US" sz="2800" b="1" dirty="0">
              <a:solidFill>
                <a:schemeClr val="bg1"/>
              </a:solidFill>
              <a:effectLst>
                <a:glow rad="101600">
                  <a:schemeClr val="tx1">
                    <a:alpha val="60000"/>
                  </a:schemeClr>
                </a:glow>
              </a:effectLst>
              <a:latin typeface="Baskerville Old Face" panose="02020602080505020303" charset="0"/>
              <a:ea typeface="Times New Roman" panose="02020603050405020304" pitchFamily="18" charset="0"/>
              <a:cs typeface="Baskerville Old Face" panose="02020602080505020303" charset="0"/>
            </a:endParaRPr>
          </a:p>
          <a:p>
            <a:pPr algn="just">
              <a:lnSpc>
                <a:spcPct val="150000"/>
              </a:lnSpc>
            </a:pPr>
            <a:r>
              <a:rPr lang="en-US" sz="2800" b="1" dirty="0">
                <a:solidFill>
                  <a:schemeClr val="bg1"/>
                </a:solidFill>
                <a:effectLst>
                  <a:glow rad="101600">
                    <a:schemeClr val="tx1">
                      <a:alpha val="60000"/>
                    </a:schemeClr>
                  </a:glow>
                </a:effectLst>
                <a:latin typeface="Baskerville Old Face" panose="02020602080505020303" charset="0"/>
                <a:ea typeface="Times New Roman" panose="02020603050405020304" pitchFamily="18" charset="0"/>
                <a:cs typeface="Baskerville Old Face" panose="02020602080505020303" charset="0"/>
              </a:rPr>
              <a:t>It may include feelings of sadness, anxiety, emptiness, hopelessness, worthlessness, guilt, irritability, or restlessness.</a:t>
            </a:r>
            <a:endParaRPr lang="en-US" sz="28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585788"/>
            <a:ext cx="9144000" cy="8029575"/>
          </a:xfrm>
          <a:prstGeom prst="rect">
            <a:avLst/>
          </a:prstGeom>
        </p:spPr>
      </p:pic>
      <p:sp>
        <p:nvSpPr>
          <p:cNvPr id="2" name="Rectangle 1"/>
          <p:cNvSpPr/>
          <p:nvPr/>
        </p:nvSpPr>
        <p:spPr>
          <a:xfrm>
            <a:off x="1176867" y="736601"/>
            <a:ext cx="6883399" cy="5071532"/>
          </a:xfrm>
          <a:prstGeom prst="rect">
            <a:avLst/>
          </a:prstGeom>
        </p:spPr>
        <p:txBody>
          <a:bodyPr wrap="square">
            <a:prstTxWarp prst="textDeflateInflate">
              <a:avLst/>
            </a:prstTxWarp>
            <a:spAutoFit/>
          </a:bodyPr>
          <a:lstStyle/>
          <a:p>
            <a:pPr algn="ctr"/>
            <a:r>
              <a:rPr lang="en-US" sz="2700" b="1" spc="225" dirty="0">
                <a:solidFill>
                  <a:srgbClr val="FFFF00"/>
                </a:solidFill>
                <a:effectLst>
                  <a:glow rad="101600">
                    <a:schemeClr val="tx1">
                      <a:alpha val="60000"/>
                    </a:schemeClr>
                  </a:glow>
                </a:effectLst>
                <a:latin typeface="Monotype Corsiva" panose="03010101010201010101" pitchFamily="66" charset="0"/>
              </a:rPr>
              <a:t>Teenage Depression</a:t>
            </a:r>
            <a:endParaRPr lang="en-US" sz="2700" b="1" spc="225" dirty="0">
              <a:solidFill>
                <a:srgbClr val="FFFF00"/>
              </a:solidFill>
              <a:effectLst>
                <a:glow rad="101600">
                  <a:schemeClr val="tx1">
                    <a:alpha val="60000"/>
                  </a:schemeClr>
                </a:glow>
              </a:effectLst>
              <a:latin typeface="Monotype Corsiva" panose="03010101010201010101" pitchFamily="66" charset="0"/>
            </a:endParaRPr>
          </a:p>
          <a:p>
            <a:pPr algn="ctr"/>
            <a:r>
              <a:rPr lang="en-US" sz="2700" b="1" spc="225" dirty="0">
                <a:solidFill>
                  <a:srgbClr val="FFFF00"/>
                </a:solidFill>
                <a:effectLst>
                  <a:glow rad="101600">
                    <a:schemeClr val="tx1">
                      <a:alpha val="60000"/>
                    </a:schemeClr>
                  </a:glow>
                </a:effectLst>
                <a:latin typeface="Sylfaen" panose="010A0502050306030303" pitchFamily="18" charset="0"/>
              </a:rPr>
              <a:t>Some Basic </a:t>
            </a:r>
            <a:r>
              <a:rPr lang="en-US" sz="2700" b="1" spc="225" dirty="0" smtClean="0">
                <a:solidFill>
                  <a:srgbClr val="FFFF00"/>
                </a:solidFill>
                <a:effectLst>
                  <a:glow rad="101600">
                    <a:schemeClr val="tx1">
                      <a:alpha val="60000"/>
                    </a:schemeClr>
                  </a:glow>
                </a:effectLst>
                <a:latin typeface="Sylfaen" panose="010A0502050306030303" pitchFamily="18" charset="0"/>
              </a:rPr>
              <a:t>Facts</a:t>
            </a:r>
            <a:endParaRPr lang="en-US" sz="2700" b="1" spc="225" dirty="0" smtClean="0">
              <a:solidFill>
                <a:srgbClr val="FFFF00"/>
              </a:solidFill>
              <a:effectLst>
                <a:glow rad="101600">
                  <a:schemeClr val="tx1">
                    <a:alpha val="60000"/>
                  </a:schemeClr>
                </a:glow>
              </a:effectLst>
              <a:latin typeface="Sylfaen" panose="010A0502050306030303" pitchFamily="18" charset="0"/>
            </a:endParaRPr>
          </a:p>
          <a:p>
            <a:pPr algn="ctr"/>
            <a:r>
              <a:rPr lang="en-US" sz="2700" b="1" spc="225" dirty="0" smtClean="0">
                <a:solidFill>
                  <a:srgbClr val="FFFF00"/>
                </a:solidFill>
                <a:effectLst>
                  <a:glow rad="101600">
                    <a:schemeClr val="tx1">
                      <a:alpha val="60000"/>
                    </a:schemeClr>
                  </a:glow>
                </a:effectLst>
                <a:latin typeface="Sylfaen" panose="010A0502050306030303" pitchFamily="18" charset="0"/>
              </a:rPr>
              <a:t>பதின்ம வயதினர் </a:t>
            </a:r>
            <a:r>
              <a:rPr lang="en-US" sz="2700" b="1" spc="225" dirty="0">
                <a:solidFill>
                  <a:srgbClr val="FFFF00"/>
                </a:solidFill>
                <a:effectLst>
                  <a:glow rad="101600">
                    <a:schemeClr val="tx1">
                      <a:alpha val="60000"/>
                    </a:schemeClr>
                  </a:glow>
                </a:effectLst>
                <a:latin typeface="Sylfaen" panose="010A0502050306030303" pitchFamily="18" charset="0"/>
              </a:rPr>
              <a:t>மனச்சோர்வு</a:t>
            </a:r>
            <a:endParaRPr lang="en-US" sz="2700" b="1" spc="225" dirty="0">
              <a:solidFill>
                <a:srgbClr val="FFFF00"/>
              </a:solidFill>
              <a:effectLst>
                <a:glow rad="101600">
                  <a:schemeClr val="tx1">
                    <a:alpha val="60000"/>
                  </a:schemeClr>
                </a:glow>
              </a:effectLst>
              <a:latin typeface="Sylfaen" panose="010A0502050306030303" pitchFamily="18" charset="0"/>
            </a:endParaRPr>
          </a:p>
          <a:p>
            <a:pPr algn="ctr"/>
            <a:r>
              <a:rPr lang="en-US" sz="2700" b="1" spc="225" dirty="0">
                <a:solidFill>
                  <a:srgbClr val="FFFF00"/>
                </a:solidFill>
                <a:effectLst>
                  <a:glow rad="101600">
                    <a:schemeClr val="tx1">
                      <a:alpha val="60000"/>
                    </a:schemeClr>
                  </a:glow>
                </a:effectLst>
                <a:latin typeface="Sylfaen" panose="010A0502050306030303" pitchFamily="18" charset="0"/>
              </a:rPr>
              <a:t>சில அடிப்படை உண்மைகள்</a:t>
            </a:r>
            <a:endParaRPr lang="en-US" sz="2700" b="1" spc="225" dirty="0">
              <a:solidFill>
                <a:srgbClr val="FFFF00"/>
              </a:solidFill>
              <a:effectLst>
                <a:glow rad="101600">
                  <a:schemeClr val="tx1">
                    <a:alpha val="60000"/>
                  </a:schemeClr>
                </a:glow>
              </a:effectLst>
              <a:latin typeface="Sylfaen" panose="010A0502050306030303" pitchFamily="18" charset="0"/>
            </a:endParaRPr>
          </a:p>
        </p:txBody>
      </p:sp>
      <p:sp>
        <p:nvSpPr>
          <p:cNvPr id="3" name="Rectangle 2"/>
          <p:cNvSpPr/>
          <p:nvPr/>
        </p:nvSpPr>
        <p:spPr>
          <a:xfrm>
            <a:off x="1" y="1141161"/>
            <a:ext cx="9144000" cy="658385"/>
          </a:xfrm>
          <a:prstGeom prst="rect">
            <a:avLst/>
          </a:prstGeom>
        </p:spPr>
        <p:txBody>
          <a:bodyPr wrap="square">
            <a:spAutoFit/>
          </a:bodyPr>
          <a:lstStyle/>
          <a:p>
            <a:pPr algn="just">
              <a:lnSpc>
                <a:spcPct val="150000"/>
              </a:lnSpc>
            </a:pPr>
            <a:r>
              <a:rPr lang="en-US" sz="2800" b="1" dirty="0" smtClean="0">
                <a:solidFill>
                  <a:schemeClr val="bg1"/>
                </a:solidFill>
                <a:effectLst>
                  <a:glow rad="101600">
                    <a:schemeClr val="tx1">
                      <a:alpha val="60000"/>
                    </a:schemeClr>
                  </a:glow>
                </a:effectLst>
                <a:latin typeface="Gisha" panose="020B0502040204020203" pitchFamily="34" charset="-79"/>
                <a:cs typeface="Gisha" panose="020B0502040204020203" pitchFamily="34" charset="-79"/>
              </a:rPr>
              <a:t>.</a:t>
            </a:r>
            <a:endParaRPr lang="en-US" sz="2800" b="1" dirty="0">
              <a:solidFill>
                <a:schemeClr val="bg1"/>
              </a:solidFill>
              <a:effectLst>
                <a:glow rad="101600">
                  <a:schemeClr val="tx1">
                    <a:alpha val="60000"/>
                  </a:schemeClr>
                </a:glow>
              </a:effectLst>
              <a:latin typeface="Gisha" panose="020B0502040204020203" pitchFamily="34" charset="-79"/>
              <a:cs typeface="Gisha" panose="020B0502040204020203" pitchFamily="34" charset="-79"/>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785813" y="-585788"/>
            <a:ext cx="10715625" cy="8029575"/>
          </a:xfrm>
          <a:prstGeom prst="rect">
            <a:avLst/>
          </a:prstGeom>
        </p:spPr>
      </p:pic>
      <p:sp>
        <p:nvSpPr>
          <p:cNvPr id="2" name="Rectangle 1"/>
          <p:cNvSpPr/>
          <p:nvPr/>
        </p:nvSpPr>
        <p:spPr>
          <a:xfrm>
            <a:off x="162233" y="790861"/>
            <a:ext cx="8790038" cy="4961890"/>
          </a:xfrm>
          <a:prstGeom prst="rect">
            <a:avLst/>
          </a:prstGeom>
        </p:spPr>
        <p:txBody>
          <a:bodyPr wrap="square">
            <a:spAutoFit/>
          </a:bodyPr>
          <a:lstStyle/>
          <a:p>
            <a:pPr marL="457200" indent="-457200" algn="just">
              <a:lnSpc>
                <a:spcPct val="110000"/>
              </a:lnSpc>
              <a:buFont typeface="Wingdings" panose="05000000000000000000" pitchFamily="2" charset="2"/>
              <a:buChar char="Ø"/>
            </a:pPr>
            <a:r>
              <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Young people aren't able to verbalize or express their feelings. </a:t>
            </a:r>
            <a:r>
              <a:rPr lang="en-US" sz="3200" b="1" i="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rPr>
              <a:t>They </a:t>
            </a:r>
            <a:r>
              <a:rPr lang="en-US" sz="3200" b="1" i="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may "hint".</a:t>
            </a:r>
            <a:r>
              <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 </a:t>
            </a:r>
            <a:endPar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a:p>
            <a:pPr indent="0" algn="just">
              <a:lnSpc>
                <a:spcPct val="110000"/>
              </a:lnSpc>
              <a:buFont typeface="Wingdings" panose="05000000000000000000" pitchFamily="2" charset="2"/>
              <a:buNone/>
            </a:pPr>
            <a:endParaRPr lang="en-US" sz="3200" b="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a:p>
            <a:pPr marL="457200" indent="-457200" algn="just">
              <a:lnSpc>
                <a:spcPct val="110000"/>
              </a:lnSpc>
              <a:buFont typeface="Wingdings" panose="05000000000000000000" pitchFamily="2" charset="2"/>
              <a:buChar char="Ø"/>
            </a:pPr>
            <a:r>
              <a:rPr lang="en-US" sz="3200" b="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rPr>
              <a:t>The </a:t>
            </a:r>
            <a:r>
              <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words they choose </a:t>
            </a:r>
            <a:r>
              <a:rPr lang="en-US" sz="3200" b="1" i="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won't </a:t>
            </a:r>
            <a:r>
              <a:rPr lang="en-US" sz="3200" b="1" i="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rPr>
              <a:t>accurately convey </a:t>
            </a:r>
            <a:r>
              <a:rPr lang="en-US" sz="3200" b="1" i="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their sense of urgency and despair.</a:t>
            </a:r>
            <a:endParaRPr lang="en-US" sz="3200" b="1" i="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a:p>
            <a:pPr indent="0" algn="just">
              <a:lnSpc>
                <a:spcPct val="110000"/>
              </a:lnSpc>
              <a:buFont typeface="Wingdings" panose="05000000000000000000" pitchFamily="2" charset="2"/>
              <a:buNone/>
            </a:pPr>
            <a:endParaRPr lang="en-US" sz="3200" b="1" i="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a:p>
            <a:pPr marL="457200" indent="-457200" algn="just">
              <a:lnSpc>
                <a:spcPct val="110000"/>
              </a:lnSpc>
              <a:buFont typeface="Wingdings" panose="05000000000000000000" pitchFamily="2" charset="2"/>
              <a:buChar char="Ø"/>
            </a:pPr>
            <a:r>
              <a:rPr lang="en-US" sz="3200" b="1" dirty="0" smtClean="0">
                <a:solidFill>
                  <a:schemeClr val="bg1"/>
                </a:solidFill>
                <a:effectLst>
                  <a:glow rad="101600">
                    <a:schemeClr val="tx1">
                      <a:alpha val="60000"/>
                    </a:schemeClr>
                  </a:glow>
                </a:effectLst>
                <a:latin typeface="Baskerville Old Face" panose="02020602080505020303" charset="0"/>
                <a:cs typeface="Baskerville Old Face" panose="02020602080505020303" charset="0"/>
              </a:rPr>
              <a:t>The Roots of eating </a:t>
            </a:r>
            <a:r>
              <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rPr>
              <a:t>disorders, lie in depression.  They are, once again, under that umbrella of chemical imbalance. </a:t>
            </a:r>
            <a:endParaRPr lang="en-US" sz="3200" b="1" dirty="0">
              <a:solidFill>
                <a:schemeClr val="bg1"/>
              </a:solidFill>
              <a:effectLst>
                <a:glow rad="101600">
                  <a:schemeClr val="tx1">
                    <a:alpha val="60000"/>
                  </a:schemeClr>
                </a:glow>
              </a:effectLst>
              <a:latin typeface="Baskerville Old Face" panose="02020602080505020303"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US" sz="3600" b="1" i="1" dirty="0" smtClean="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4. No </a:t>
            </a:r>
            <a:r>
              <a:rPr lang="en-US" sz="36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rPr>
              <a:t>parental love</a:t>
            </a:r>
            <a:endParaRPr lang="en-US" sz="3600" b="1" i="1" dirty="0">
              <a:solidFill>
                <a:srgbClr val="FFFF00"/>
              </a:solidFill>
              <a:effectLst>
                <a:glow rad="101600">
                  <a:schemeClr val="tx1">
                    <a:alpha val="60000"/>
                  </a:schemeClr>
                </a:glow>
              </a:effectLst>
              <a:latin typeface="Baskerville Old Face" panose="02020602080505020303" charset="0"/>
              <a:cs typeface="Baskerville Old Face" panose="02020602080505020303" charset="0"/>
            </a:endParaRPr>
          </a:p>
        </p:txBody>
      </p:sp>
      <p:sp>
        <p:nvSpPr>
          <p:cNvPr id="3" name="TextBox 2"/>
          <p:cNvSpPr txBox="1"/>
          <p:nvPr/>
        </p:nvSpPr>
        <p:spPr>
          <a:xfrm>
            <a:off x="188595" y="1376680"/>
            <a:ext cx="8569960" cy="3861435"/>
          </a:xfrm>
          <a:prstGeom prst="rect">
            <a:avLst/>
          </a:prstGeom>
          <a:noFill/>
        </p:spPr>
        <p:txBody>
          <a:bodyPr wrap="square" rtlCol="0">
            <a:spAutoFit/>
          </a:bodyPr>
          <a:lstStyle/>
          <a:p>
            <a:pPr algn="l">
              <a:lnSpc>
                <a:spcPct val="200000"/>
              </a:lnSpc>
            </a:pPr>
            <a:r>
              <a:rPr lang="en-US" sz="2800" b="1" dirty="0">
                <a:solidFill>
                  <a:srgbClr val="99FF99"/>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Longing for love </a:t>
            </a:r>
            <a:r>
              <a:rPr lang="en-US" sz="2800" b="1" dirty="0">
                <a:latin typeface="Baskerville Old Face" panose="02020602080505020303" charset="0"/>
                <a:ea typeface="Roboto" panose="02000000000000000000" pitchFamily="2" charset="0"/>
                <a:cs typeface="Baskerville Old Face" panose="02020602080505020303" charset="0"/>
              </a:rPr>
              <a:t>–</a:t>
            </a:r>
            <a:endParaRPr lang="en-US" sz="2800" b="1" dirty="0">
              <a:latin typeface="Baskerville Old Face" panose="02020602080505020303" charset="0"/>
              <a:ea typeface="Roboto" panose="02000000000000000000" pitchFamily="2" charset="0"/>
              <a:cs typeface="Baskerville Old Face" panose="02020602080505020303" charset="0"/>
            </a:endParaRPr>
          </a:p>
          <a:p>
            <a:pPr algn="l">
              <a:lnSpc>
                <a:spcPct val="20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Counsel &amp; Caution the parents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20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No one should touch</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20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Keep a distance</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endParaRPr lang="en-US" sz="2100" b="1" dirty="0">
              <a:latin typeface="Baskerville Old Face" panose="02020602080505020303" charset="0"/>
              <a:ea typeface="Roboto" panose="02000000000000000000" pitchFamily="2"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28650" y="327309"/>
            <a:ext cx="7886700" cy="994172"/>
          </a:xfrm>
        </p:spPr>
        <p:txBody>
          <a:bodyPr/>
          <a:lstStyle/>
          <a:p>
            <a:pPr algn="ctr"/>
            <a:r>
              <a:rPr lang="en-US" b="1" dirty="0" smtClean="0">
                <a:solidFill>
                  <a:srgbClr val="FFFF00"/>
                </a:solidFill>
                <a:effectLst>
                  <a:glow rad="101600">
                    <a:schemeClr val="tx1">
                      <a:alpha val="60000"/>
                    </a:schemeClr>
                  </a:glow>
                </a:effectLst>
                <a:latin typeface="Bell Gothic Std Black"/>
              </a:rPr>
              <a:t>5.  PEER GROUP</a:t>
            </a:r>
            <a:endParaRPr lang="en-US" b="1" dirty="0">
              <a:solidFill>
                <a:srgbClr val="FFFF00"/>
              </a:solidFill>
              <a:effectLst>
                <a:glow rad="101600">
                  <a:schemeClr val="tx1">
                    <a:alpha val="60000"/>
                  </a:schemeClr>
                </a:glow>
              </a:effectLst>
              <a:latin typeface="Bell Gothic Std Black"/>
            </a:endParaRPr>
          </a:p>
        </p:txBody>
      </p:sp>
      <p:sp>
        <p:nvSpPr>
          <p:cNvPr id="3" name="Rectangle 2"/>
          <p:cNvSpPr/>
          <p:nvPr/>
        </p:nvSpPr>
        <p:spPr>
          <a:xfrm>
            <a:off x="220345" y="1086485"/>
            <a:ext cx="8582660" cy="4994275"/>
          </a:xfrm>
          <a:prstGeom prst="rect">
            <a:avLst/>
          </a:prstGeom>
        </p:spPr>
        <p:txBody>
          <a:bodyPr wrap="square">
            <a:spAutoFit/>
          </a:bodyPr>
          <a:lstStyle/>
          <a:p>
            <a:pPr algn="ctr"/>
            <a:r>
              <a:rPr lang="en-US" sz="3600" b="1"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Peer pressure and influence</a:t>
            </a:r>
            <a:endParaRPr lang="en-US" sz="3600" b="1" i="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3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1.	DRUGS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lvl="2" indent="0">
              <a:lnSpc>
                <a:spcPct val="130000"/>
              </a:lnSpc>
              <a:buNone/>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2.	BOY FRIEND / GIRL FRIEND</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lvl="2" indent="0">
              <a:lnSpc>
                <a:spcPct val="130000"/>
              </a:lnSpc>
              <a:buNone/>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3.	IMMORAL ACTIVITIES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lvl="1" indent="0">
              <a:lnSpc>
                <a:spcPct val="130000"/>
              </a:lnSpc>
              <a:buNone/>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	4.	SAME SEX ACTIVITIES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lvl="2" indent="0">
              <a:lnSpc>
                <a:spcPct val="130000"/>
              </a:lnSpc>
              <a:buNone/>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5.	WRONG ATTACHMENTS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lvl="2" indent="0">
              <a:lnSpc>
                <a:spcPct val="130000"/>
              </a:lnSpc>
              <a:buNone/>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6.	LOSE FAITH IN PARENTS, TEACHERS AND SIBLINGS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endParaRPr lang="en-US" sz="2800" b="1" dirty="0">
              <a:latin typeface="Baskerville Old Face" panose="02020602080505020303" charset="0"/>
              <a:ea typeface="Roboto" panose="02000000000000000000" pitchFamily="2"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1">
            <a:extLst>
              <a:ext uri="{BEBA8EAE-BF5A-486C-A8C5-ECC9F3942E4B}">
                <a14:imgProps xmlns:a14="http://schemas.microsoft.com/office/drawing/2010/main">
                  <a14:imgLayer r:embed="rId2">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46088" y="0"/>
            <a:ext cx="9144000" cy="6858000"/>
          </a:xfrm>
          <a:prstGeom prst="rect">
            <a:avLst/>
          </a:prstGeom>
        </p:spPr>
      </p:pic>
      <p:sp>
        <p:nvSpPr>
          <p:cNvPr id="2" name="Title 1"/>
          <p:cNvSpPr>
            <a:spLocks noGrp="1"/>
          </p:cNvSpPr>
          <p:nvPr>
            <p:ph type="title"/>
          </p:nvPr>
        </p:nvSpPr>
        <p:spPr>
          <a:xfrm>
            <a:off x="177165" y="816610"/>
            <a:ext cx="8716010" cy="1386840"/>
          </a:xfrm>
        </p:spPr>
        <p:txBody>
          <a:bodyPr>
            <a:noAutofit/>
          </a:bodyPr>
          <a:lstStyle/>
          <a:p>
            <a:pPr algn="ctr"/>
            <a:r>
              <a:rPr lang="en-US" sz="3600" b="1" dirty="0" smtClean="0">
                <a:solidFill>
                  <a:srgbClr val="FFFF00"/>
                </a:solidFill>
                <a:effectLst>
                  <a:glow rad="101600">
                    <a:schemeClr val="tx1">
                      <a:alpha val="60000"/>
                    </a:schemeClr>
                  </a:glow>
                </a:effectLst>
                <a:latin typeface="Bell Gothic Std Black"/>
              </a:rPr>
              <a:t>6.  Boyfriend/girlfriend </a:t>
            </a:r>
            <a:r>
              <a:rPr lang="en-US" sz="3600" b="1" dirty="0">
                <a:solidFill>
                  <a:srgbClr val="FFFF00"/>
                </a:solidFill>
                <a:effectLst>
                  <a:glow rad="101600">
                    <a:schemeClr val="tx1">
                      <a:alpha val="60000"/>
                    </a:schemeClr>
                  </a:glow>
                </a:effectLst>
                <a:latin typeface="Bell Gothic Std Black"/>
              </a:rPr>
              <a:t>syndrome</a:t>
            </a:r>
            <a:endParaRPr lang="en-US" sz="3600" b="1" dirty="0">
              <a:solidFill>
                <a:srgbClr val="FFFF00"/>
              </a:solidFill>
              <a:effectLst>
                <a:glow rad="101600">
                  <a:schemeClr val="tx1">
                    <a:alpha val="60000"/>
                  </a:schemeClr>
                </a:glow>
              </a:effectLst>
              <a:latin typeface="Bell Gothic Std Black"/>
            </a:endParaRPr>
          </a:p>
        </p:txBody>
      </p:sp>
      <p:sp>
        <p:nvSpPr>
          <p:cNvPr id="3" name="Rectangle 2"/>
          <p:cNvSpPr/>
          <p:nvPr/>
        </p:nvSpPr>
        <p:spPr>
          <a:xfrm>
            <a:off x="464574" y="2387393"/>
            <a:ext cx="8218539" cy="960489"/>
          </a:xfrm>
          <a:prstGeom prst="rect">
            <a:avLst/>
          </a:prstGeom>
        </p:spPr>
        <p:txBody>
          <a:bodyPr wrap="square">
            <a:prstTxWarp prst="textChevron">
              <a:avLst/>
            </a:prstTxWarp>
            <a:spAutoFit/>
          </a:bodyPr>
          <a:lstStyle/>
          <a:p>
            <a:pPr algn="ctr"/>
            <a:r>
              <a:rPr lang="en-US" sz="2000" b="1" dirty="0">
                <a:solidFill>
                  <a:schemeClr val="bg1"/>
                </a:solidFill>
                <a:effectLst>
                  <a:glow rad="101600">
                    <a:schemeClr val="tx1">
                      <a:alpha val="60000"/>
                    </a:schemeClr>
                  </a:glow>
                </a:effectLst>
                <a:latin typeface="Clarendon BT" panose="02040704040505020204" pitchFamily="18" charset="0"/>
              </a:rPr>
              <a:t>The Billy Graham Rule: </a:t>
            </a:r>
            <a:endParaRPr lang="en-US" sz="2000" b="1" dirty="0">
              <a:solidFill>
                <a:schemeClr val="bg1"/>
              </a:solidFill>
              <a:effectLst>
                <a:glow rad="101600">
                  <a:schemeClr val="tx1">
                    <a:alpha val="60000"/>
                  </a:schemeClr>
                </a:glow>
              </a:effectLst>
              <a:latin typeface="Clarendon BT" panose="02040704040505020204" pitchFamily="18" charset="0"/>
            </a:endParaRPr>
          </a:p>
          <a:p>
            <a:pPr algn="ctr"/>
            <a:r>
              <a:rPr lang="en-US" sz="2000" b="1" dirty="0">
                <a:solidFill>
                  <a:schemeClr val="bg1"/>
                </a:solidFill>
                <a:effectLst>
                  <a:glow rad="101600">
                    <a:schemeClr val="tx1">
                      <a:alpha val="60000"/>
                    </a:schemeClr>
                  </a:glow>
                </a:effectLst>
                <a:latin typeface="Clarendon BT" panose="02040704040505020204" pitchFamily="18" charset="0"/>
              </a:rPr>
              <a:t>Should You Be Friends With Someone of the Opposite Sex?</a:t>
            </a:r>
            <a:endParaRPr lang="en-US" sz="2000" b="1" dirty="0">
              <a:solidFill>
                <a:schemeClr val="bg1"/>
              </a:solidFill>
              <a:effectLst>
                <a:glow rad="101600">
                  <a:schemeClr val="tx1">
                    <a:alpha val="60000"/>
                  </a:schemeClr>
                </a:glow>
              </a:effectLst>
              <a:latin typeface="Clarendon BT" panose="02040704040505020204" pitchFamily="18" charset="0"/>
            </a:endParaRPr>
          </a:p>
        </p:txBody>
      </p:sp>
      <p:sp>
        <p:nvSpPr>
          <p:cNvPr id="4" name="Rectangle 3"/>
          <p:cNvSpPr/>
          <p:nvPr/>
        </p:nvSpPr>
        <p:spPr>
          <a:xfrm>
            <a:off x="176979" y="3865921"/>
            <a:ext cx="8506134" cy="1076325"/>
          </a:xfrm>
          <a:prstGeom prst="rect">
            <a:avLst/>
          </a:prstGeom>
        </p:spPr>
        <p:txBody>
          <a:bodyPr wrap="square">
            <a:spAutoFit/>
          </a:bodyPr>
          <a:lstStyle/>
          <a:p>
            <a:r>
              <a:rPr lang="en-US" sz="3200" b="1" dirty="0">
                <a:solidFill>
                  <a:srgbClr val="99FF99"/>
                </a:solidFill>
                <a:latin typeface="Aharoni" panose="02010803020104030203" pitchFamily="2" charset="-79"/>
                <a:cs typeface="Aharoni" panose="02010803020104030203" pitchFamily="2" charset="-79"/>
              </a:rPr>
              <a:t>It’s OK to have friends of the opposite sex, BUT </a:t>
            </a:r>
            <a:r>
              <a:rPr lang="en-US" sz="3200" b="1" dirty="0" smtClean="0">
                <a:solidFill>
                  <a:srgbClr val="99FF99"/>
                </a:solidFill>
                <a:latin typeface="Aharoni" panose="02010803020104030203" pitchFamily="2" charset="-79"/>
                <a:cs typeface="Aharoni" panose="02010803020104030203" pitchFamily="2" charset="-79"/>
              </a:rPr>
              <a:t> ………………………</a:t>
            </a:r>
            <a:endParaRPr lang="en-US" sz="3200" b="1" dirty="0">
              <a:solidFill>
                <a:srgbClr val="99FF99"/>
              </a:solidFill>
              <a:latin typeface="Aharoni" panose="02010803020104030203" pitchFamily="2" charset="-79"/>
              <a:cs typeface="Aharoni" panose="02010803020104030203" pitchFamily="2" charset="-79"/>
            </a:endParaRPr>
          </a:p>
        </p:txBody>
      </p:sp>
      <p:sp>
        <p:nvSpPr>
          <p:cNvPr id="5" name="Rectangle 4"/>
          <p:cNvSpPr/>
          <p:nvPr/>
        </p:nvSpPr>
        <p:spPr>
          <a:xfrm>
            <a:off x="176980" y="3531941"/>
            <a:ext cx="8882216" cy="369332"/>
          </a:xfrm>
          <a:prstGeom prst="rect">
            <a:avLst/>
          </a:prstGeom>
        </p:spPr>
        <p:txBody>
          <a:bodyPr wrap="square">
            <a:spAutoFit/>
          </a:bodyPr>
          <a:lstStyle/>
          <a:p>
            <a:r>
              <a:rPr lang="en-US" b="1" dirty="0" smtClean="0">
                <a:solidFill>
                  <a:srgbClr val="FFFF99"/>
                </a:solidFill>
                <a:effectLst>
                  <a:glow rad="101600">
                    <a:schemeClr val="tx1">
                      <a:alpha val="60000"/>
                    </a:schemeClr>
                  </a:glow>
                </a:effectLst>
                <a:latin typeface="Modern No. 20" panose="02070704070505020303" pitchFamily="18" charset="0"/>
              </a:rPr>
              <a:t>.</a:t>
            </a:r>
            <a:endParaRPr lang="en-US" b="1" dirty="0">
              <a:solidFill>
                <a:srgbClr val="FFFF99"/>
              </a:solidFill>
              <a:effectLst>
                <a:glow rad="101600">
                  <a:schemeClr val="tx1">
                    <a:alpha val="60000"/>
                  </a:schemeClr>
                </a:glow>
              </a:effectLst>
              <a:latin typeface="Modern No. 20" panose="02070704070505020303"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7086600"/>
          </a:xfrm>
          <a:prstGeom prst="rect">
            <a:avLst/>
          </a:prstGeom>
        </p:spPr>
      </p:pic>
      <p:sp>
        <p:nvSpPr>
          <p:cNvPr id="2" name="Rectangle 1"/>
          <p:cNvSpPr/>
          <p:nvPr/>
        </p:nvSpPr>
        <p:spPr>
          <a:xfrm>
            <a:off x="147484" y="368720"/>
            <a:ext cx="8790039" cy="4724400"/>
          </a:xfrm>
          <a:prstGeom prst="rect">
            <a:avLst/>
          </a:prstGeom>
        </p:spPr>
        <p:txBody>
          <a:bodyPr wrap="square">
            <a:spAutoFit/>
          </a:bodyPr>
          <a:lstStyle/>
          <a:p>
            <a:pPr>
              <a:lnSpc>
                <a:spcPct val="150000"/>
              </a:lnSpc>
            </a:pPr>
            <a:r>
              <a:rPr lang="en-US" sz="3600" b="1" u="sng" dirty="0" smtClean="0">
                <a:solidFill>
                  <a:srgbClr val="FFFF00"/>
                </a:solidFill>
                <a:effectLst>
                  <a:glow rad="101600">
                    <a:schemeClr val="tx1">
                      <a:alpha val="60000"/>
                    </a:schemeClr>
                  </a:glow>
                </a:effectLst>
                <a:latin typeface="Bell Gothic Std Black"/>
                <a:sym typeface="+mn-ea"/>
              </a:rPr>
              <a:t>6.  Boyfriend/girlfriend </a:t>
            </a:r>
            <a:r>
              <a:rPr lang="en-US" sz="3600" b="1" u="sng" dirty="0">
                <a:solidFill>
                  <a:srgbClr val="FFFF00"/>
                </a:solidFill>
                <a:effectLst>
                  <a:glow rad="101600">
                    <a:schemeClr val="tx1">
                      <a:alpha val="60000"/>
                    </a:schemeClr>
                  </a:glow>
                </a:effectLst>
                <a:latin typeface="Bell Gothic Std Black"/>
                <a:sym typeface="+mn-ea"/>
              </a:rPr>
              <a:t>syndrome</a:t>
            </a:r>
            <a:endParaRPr lang="en-US" sz="3600" b="1" u="sng" dirty="0">
              <a:solidFill>
                <a:srgbClr val="FFFF00"/>
              </a:solidFill>
              <a:effectLst>
                <a:glow rad="101600">
                  <a:schemeClr val="tx1">
                    <a:alpha val="60000"/>
                  </a:schemeClr>
                </a:glow>
              </a:effectLst>
              <a:latin typeface="Bell Gothic Std Black"/>
              <a:sym typeface="+mn-ea"/>
            </a:endParaRPr>
          </a:p>
          <a:p>
            <a:pPr>
              <a:lnSpc>
                <a:spcPct val="60000"/>
              </a:lnSpc>
            </a:pPr>
            <a:endParaRPr lang="en-US" sz="3600" b="1" u="sng" dirty="0">
              <a:solidFill>
                <a:srgbClr val="FFFF00"/>
              </a:solidFill>
              <a:effectLst>
                <a:glow rad="101600">
                  <a:schemeClr val="tx1">
                    <a:alpha val="60000"/>
                  </a:schemeClr>
                </a:glow>
              </a:effectLst>
              <a:latin typeface="Bell Gothic Std Black"/>
            </a:endParaRPr>
          </a:p>
          <a:p>
            <a:pPr>
              <a:lnSpc>
                <a:spcPct val="90000"/>
              </a:lnSpc>
            </a:pPr>
            <a:r>
              <a:rPr lang="en-US" sz="2400" b="1" dirty="0">
                <a:solidFill>
                  <a:srgbClr val="FFFF00"/>
                </a:solidFill>
                <a:effectLst>
                  <a:glow rad="101600">
                    <a:schemeClr val="tx1">
                      <a:alpha val="60000"/>
                    </a:schemeClr>
                  </a:glow>
                </a:effectLst>
                <a:latin typeface="Book Antiqua" panose="02040602050305030304" pitchFamily="18" charset="0"/>
              </a:rPr>
              <a:t>	1a/	First, those friendships </a:t>
            </a:r>
            <a:r>
              <a:rPr lang="en-US" sz="2400" b="1" i="1" dirty="0">
                <a:solidFill>
                  <a:srgbClr val="FFFF00"/>
                </a:solidFill>
                <a:effectLst>
                  <a:glow rad="101600">
                    <a:schemeClr val="tx1">
                      <a:alpha val="60000"/>
                    </a:schemeClr>
                  </a:glow>
                </a:effectLst>
                <a:latin typeface="Book Antiqua" panose="02040602050305030304" pitchFamily="18" charset="0"/>
              </a:rPr>
              <a:t>should not  be close 	friendships </a:t>
            </a:r>
            <a:endParaRPr lang="en-US" sz="2400" b="1" i="1" dirty="0">
              <a:solidFill>
                <a:srgbClr val="FFFF00"/>
              </a:solidFill>
              <a:effectLst>
                <a:glow rad="101600">
                  <a:schemeClr val="tx1">
                    <a:alpha val="60000"/>
                  </a:schemeClr>
                </a:glow>
              </a:effectLst>
              <a:latin typeface="Book Antiqua" panose="02040602050305030304" pitchFamily="18" charset="0"/>
            </a:endParaRPr>
          </a:p>
          <a:p>
            <a:pPr>
              <a:lnSpc>
                <a:spcPct val="90000"/>
              </a:lnSpc>
            </a:pPr>
            <a:r>
              <a:rPr lang="en-US" sz="2400" b="1" dirty="0">
                <a:solidFill>
                  <a:srgbClr val="FFFF00"/>
                </a:solidFill>
                <a:effectLst>
                  <a:glow rad="101600">
                    <a:schemeClr val="tx1">
                      <a:alpha val="60000"/>
                    </a:schemeClr>
                  </a:glow>
                </a:effectLst>
                <a:latin typeface="Book Antiqua" panose="02040602050305030304" pitchFamily="18" charset="0"/>
              </a:rPr>
              <a:t>	— the sort of friendships that entail a lot of one-on-one 	contact or where you’re sharing intimate details of 	your life with each other. </a:t>
            </a:r>
            <a:endParaRPr lang="en-US" sz="2400" b="1" dirty="0">
              <a:solidFill>
                <a:srgbClr val="FFFF00"/>
              </a:solidFill>
              <a:effectLst>
                <a:glow rad="101600">
                  <a:schemeClr val="tx1">
                    <a:alpha val="60000"/>
                  </a:schemeClr>
                </a:glow>
              </a:effectLst>
              <a:latin typeface="Book Antiqua" panose="02040602050305030304" pitchFamily="18" charset="0"/>
            </a:endParaRPr>
          </a:p>
          <a:p>
            <a:pPr>
              <a:lnSpc>
                <a:spcPct val="90000"/>
              </a:lnSpc>
            </a:pPr>
            <a:endParaRPr lang="en-US" sz="2400" b="1" dirty="0">
              <a:solidFill>
                <a:srgbClr val="FFFF00"/>
              </a:solidFill>
              <a:effectLst>
                <a:glow rad="101600">
                  <a:schemeClr val="tx1">
                    <a:alpha val="60000"/>
                  </a:schemeClr>
                </a:glow>
              </a:effectLst>
              <a:latin typeface="Book Antiqua" panose="02040602050305030304" pitchFamily="18" charset="0"/>
            </a:endParaRPr>
          </a:p>
          <a:p>
            <a:pPr>
              <a:lnSpc>
                <a:spcPct val="100000"/>
              </a:lnSpc>
            </a:pPr>
            <a:r>
              <a:rPr lang="en-US" sz="2400" b="1" dirty="0" smtClean="0">
                <a:solidFill>
                  <a:srgbClr val="FFFF00"/>
                </a:solidFill>
                <a:effectLst>
                  <a:glow rad="101600">
                    <a:schemeClr val="tx1">
                      <a:alpha val="60000"/>
                    </a:schemeClr>
                  </a:glow>
                </a:effectLst>
                <a:latin typeface="Book Antiqua" panose="02040602050305030304" pitchFamily="18" charset="0"/>
              </a:rPr>
              <a:t>	b/	Friendships </a:t>
            </a:r>
            <a:r>
              <a:rPr lang="en-US" sz="2400" b="1" dirty="0">
                <a:solidFill>
                  <a:srgbClr val="FFFF00"/>
                </a:solidFill>
                <a:effectLst>
                  <a:glow rad="101600">
                    <a:schemeClr val="tx1">
                      <a:alpha val="60000"/>
                    </a:schemeClr>
                  </a:glow>
                </a:effectLst>
                <a:latin typeface="Book Antiqua" panose="02040602050305030304" pitchFamily="18" charset="0"/>
              </a:rPr>
              <a:t>with </a:t>
            </a:r>
            <a:r>
              <a:rPr lang="en-US" sz="2400" b="1" i="1" dirty="0">
                <a:solidFill>
                  <a:srgbClr val="FFFF00"/>
                </a:solidFill>
                <a:effectLst>
                  <a:glow rad="101600">
                    <a:schemeClr val="tx1">
                      <a:alpha val="60000"/>
                    </a:schemeClr>
                  </a:glow>
                </a:effectLst>
                <a:latin typeface="Book Antiqua" panose="02040602050305030304" pitchFamily="18" charset="0"/>
              </a:rPr>
              <a:t>people of the opposite sex </a:t>
            </a:r>
            <a:r>
              <a:rPr lang="en-US" sz="2400" b="1" dirty="0">
                <a:solidFill>
                  <a:srgbClr val="FFFF00"/>
                </a:solidFill>
                <a:effectLst>
                  <a:glow rad="101600">
                    <a:schemeClr val="tx1">
                      <a:alpha val="60000"/>
                    </a:schemeClr>
                  </a:glow>
                </a:effectLst>
                <a:latin typeface="Book Antiqua" panose="02040602050305030304" pitchFamily="18" charset="0"/>
              </a:rPr>
              <a:t>	should be casual friendships: your time together </a:t>
            </a:r>
            <a:r>
              <a:rPr lang="en-US" sz="2400" b="1" dirty="0" smtClean="0">
                <a:solidFill>
                  <a:srgbClr val="FFFF00"/>
                </a:solidFill>
                <a:effectLst>
                  <a:glow rad="101600">
                    <a:schemeClr val="tx1">
                      <a:alpha val="60000"/>
                    </a:schemeClr>
                  </a:glow>
                </a:effectLst>
                <a:latin typeface="Book Antiqua" panose="02040602050305030304" pitchFamily="18" charset="0"/>
              </a:rPr>
              <a:t>and</a:t>
            </a:r>
            <a:r>
              <a:rPr lang="en-US" sz="2400" b="1" dirty="0">
                <a:solidFill>
                  <a:srgbClr val="FFFF00"/>
                </a:solidFill>
                <a:effectLst>
                  <a:glow rad="101600">
                    <a:schemeClr val="tx1">
                      <a:alpha val="60000"/>
                    </a:schemeClr>
                  </a:glow>
                </a:effectLst>
                <a:latin typeface="Book Antiqua" panose="02040602050305030304" pitchFamily="18" charset="0"/>
              </a:rPr>
              <a:t>, 	when you do see each </a:t>
            </a:r>
            <a:r>
              <a:rPr lang="en-US" sz="2400" b="1" dirty="0" smtClean="0">
                <a:solidFill>
                  <a:srgbClr val="FFFF00"/>
                </a:solidFill>
                <a:effectLst>
                  <a:glow rad="101600">
                    <a:schemeClr val="tx1">
                      <a:alpha val="60000"/>
                    </a:schemeClr>
                  </a:glow>
                </a:effectLst>
                <a:latin typeface="Book Antiqua" panose="02040602050305030304" pitchFamily="18" charset="0"/>
              </a:rPr>
              <a:t>other, should not be frequent. </a:t>
            </a:r>
            <a:endParaRPr lang="en-US" sz="2400" b="1" dirty="0">
              <a:solidFill>
                <a:srgbClr val="FFFF00"/>
              </a:solidFill>
              <a:effectLst>
                <a:glow rad="101600">
                  <a:schemeClr val="tx1">
                    <a:alpha val="60000"/>
                  </a:schemeClr>
                </a:glow>
              </a:effectLst>
              <a:latin typeface="Book Antiqua" panose="02040602050305030304" pitchFamily="18" charset="0"/>
            </a:endParaRPr>
          </a:p>
          <a:p>
            <a:pPr>
              <a:lnSpc>
                <a:spcPct val="100000"/>
              </a:lnSpc>
            </a:pPr>
            <a:r>
              <a:rPr lang="en-US" sz="2400" b="1" dirty="0">
                <a:solidFill>
                  <a:srgbClr val="FFFF99"/>
                </a:solidFill>
                <a:effectLst>
                  <a:glow rad="101600">
                    <a:schemeClr val="tx1">
                      <a:alpha val="60000"/>
                    </a:schemeClr>
                  </a:glow>
                </a:effectLst>
                <a:latin typeface="Book Antiqua" panose="02040602050305030304" pitchFamily="18" charset="0"/>
              </a:rPr>
              <a:t>	</a:t>
            </a:r>
            <a:endParaRPr lang="en-US" sz="2400" b="1" dirty="0">
              <a:solidFill>
                <a:schemeClr val="accent4">
                  <a:lumMod val="20000"/>
                  <a:lumOff val="80000"/>
                </a:schemeClr>
              </a:solidFill>
              <a:effectLst>
                <a:glow rad="101600">
                  <a:schemeClr val="tx1">
                    <a:alpha val="60000"/>
                  </a:schemeClr>
                </a:glow>
              </a:effectLst>
              <a:latin typeface="Book Antiqua" panose="0204060205030503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3090" y="73025"/>
            <a:ext cx="7625080" cy="4669155"/>
          </a:xfrm>
          <a:prstGeom prst="rect">
            <a:avLst/>
          </a:prstGeom>
          <a:noFill/>
        </p:spPr>
        <p:txBody>
          <a:bodyPr wrap="square" rtlCol="0" anchor="t">
            <a:spAutoFit/>
          </a:bodyPr>
          <a:p>
            <a:pPr>
              <a:lnSpc>
                <a:spcPct val="150000"/>
              </a:lnSpc>
            </a:pPr>
            <a:r>
              <a:rPr lang="en-US" b="1" u="sng" dirty="0" smtClean="0">
                <a:solidFill>
                  <a:srgbClr val="FFFF00"/>
                </a:solidFill>
                <a:effectLst>
                  <a:glow rad="101600">
                    <a:schemeClr val="tx1">
                      <a:alpha val="60000"/>
                    </a:schemeClr>
                  </a:glow>
                </a:effectLst>
                <a:latin typeface="Bell Gothic Std Black"/>
                <a:sym typeface="+mn-ea"/>
              </a:rPr>
              <a:t> </a:t>
            </a:r>
            <a:r>
              <a:rPr lang="en-US" sz="3200" b="1" u="sng" dirty="0" smtClean="0">
                <a:solidFill>
                  <a:srgbClr val="FFFF00"/>
                </a:solidFill>
                <a:effectLst>
                  <a:glow rad="101600">
                    <a:schemeClr val="tx1">
                      <a:alpha val="60000"/>
                    </a:schemeClr>
                  </a:glow>
                </a:effectLst>
                <a:latin typeface="Bell Gothic Std Black"/>
                <a:sym typeface="+mn-ea"/>
              </a:rPr>
              <a:t>Boyfriend/girlfriend </a:t>
            </a:r>
            <a:r>
              <a:rPr lang="en-US" sz="3200" b="1" u="sng" dirty="0">
                <a:solidFill>
                  <a:srgbClr val="FFFF00"/>
                </a:solidFill>
                <a:effectLst>
                  <a:glow rad="101600">
                    <a:schemeClr val="tx1">
                      <a:alpha val="60000"/>
                    </a:schemeClr>
                  </a:glow>
                </a:effectLst>
                <a:latin typeface="Bell Gothic Std Black"/>
                <a:sym typeface="+mn-ea"/>
              </a:rPr>
              <a:t>syndrome</a:t>
            </a:r>
            <a:endParaRPr lang="en-US" sz="3200" b="1" u="sng" dirty="0">
              <a:solidFill>
                <a:srgbClr val="FFFF00"/>
              </a:solidFill>
              <a:effectLst>
                <a:glow rad="101600">
                  <a:schemeClr val="tx1">
                    <a:alpha val="60000"/>
                  </a:schemeClr>
                </a:glow>
              </a:effectLst>
              <a:latin typeface="Bell Gothic Std Black"/>
              <a:sym typeface="+mn-ea"/>
            </a:endParaRPr>
          </a:p>
          <a:p>
            <a:pPr>
              <a:lnSpc>
                <a:spcPct val="150000"/>
              </a:lnSpc>
            </a:pPr>
            <a:endParaRPr lang="en-US" sz="3200" b="1" u="sng" dirty="0">
              <a:solidFill>
                <a:srgbClr val="FFFF00"/>
              </a:solidFill>
              <a:effectLst>
                <a:glow rad="101600">
                  <a:schemeClr val="tx1">
                    <a:alpha val="60000"/>
                  </a:schemeClr>
                </a:glow>
              </a:effectLst>
              <a:latin typeface="Bell Gothic Std Black"/>
              <a:sym typeface="+mn-ea"/>
            </a:endParaRPr>
          </a:p>
          <a:p>
            <a:pPr>
              <a:lnSpc>
                <a:spcPct val="140000"/>
              </a:lnSpc>
            </a:pPr>
            <a:r>
              <a:rPr lang="en-US" sz="2400" b="1" dirty="0">
                <a:solidFill>
                  <a:srgbClr val="FFFF99"/>
                </a:solidFill>
                <a:effectLst>
                  <a:glow rad="101600">
                    <a:schemeClr val="tx1">
                      <a:alpha val="60000"/>
                    </a:schemeClr>
                  </a:glow>
                </a:effectLst>
                <a:highlight>
                  <a:srgbClr val="FF0000"/>
                </a:highlight>
                <a:latin typeface="Book Antiqua" panose="02040602050305030304" pitchFamily="18" charset="0"/>
                <a:sym typeface="+mn-ea"/>
              </a:rPr>
              <a:t>2/	Second — and really, this should go without saying — those friendships </a:t>
            </a:r>
            <a:r>
              <a:rPr lang="en-US" sz="2400" b="1" i="1" dirty="0">
                <a:solidFill>
                  <a:srgbClr val="FFFF99"/>
                </a:solidFill>
                <a:effectLst>
                  <a:glow rad="101600">
                    <a:schemeClr val="tx1">
                      <a:alpha val="60000"/>
                    </a:schemeClr>
                  </a:glow>
                </a:effectLst>
                <a:highlight>
                  <a:srgbClr val="FF0000"/>
                </a:highlight>
                <a:latin typeface="Book Antiqua" panose="02040602050305030304" pitchFamily="18" charset="0"/>
                <a:sym typeface="+mn-ea"/>
              </a:rPr>
              <a:t>should be completely out in the open. no secrets and no hiding;</a:t>
            </a:r>
            <a:endParaRPr lang="en-US" sz="2400" b="1" i="1" dirty="0">
              <a:solidFill>
                <a:srgbClr val="FFFF99"/>
              </a:solidFill>
              <a:effectLst>
                <a:glow rad="101600">
                  <a:schemeClr val="tx1">
                    <a:alpha val="60000"/>
                  </a:schemeClr>
                </a:glow>
              </a:effectLst>
              <a:highlight>
                <a:srgbClr val="FF0000"/>
              </a:highlight>
              <a:latin typeface="Book Antiqua" panose="02040602050305030304" pitchFamily="18" charset="0"/>
              <a:sym typeface="+mn-ea"/>
            </a:endParaRPr>
          </a:p>
          <a:p>
            <a:pPr>
              <a:lnSpc>
                <a:spcPct val="140000"/>
              </a:lnSpc>
            </a:pPr>
            <a:endParaRPr lang="en-US" sz="2400" b="1" dirty="0">
              <a:solidFill>
                <a:srgbClr val="FFFF99"/>
              </a:solidFill>
              <a:effectLst>
                <a:glow rad="101600">
                  <a:schemeClr val="tx1">
                    <a:alpha val="60000"/>
                  </a:schemeClr>
                </a:glow>
              </a:effectLst>
              <a:highlight>
                <a:srgbClr val="FF0000"/>
              </a:highlight>
              <a:latin typeface="Book Antiqua" panose="02040602050305030304" pitchFamily="18" charset="0"/>
            </a:endParaRPr>
          </a:p>
          <a:p>
            <a:pPr>
              <a:lnSpc>
                <a:spcPct val="140000"/>
              </a:lnSpc>
            </a:pPr>
            <a:r>
              <a:rPr lang="en-US" sz="2400" b="1" dirty="0">
                <a:solidFill>
                  <a:schemeClr val="accent4">
                    <a:lumMod val="20000"/>
                    <a:lumOff val="80000"/>
                  </a:schemeClr>
                </a:solidFill>
                <a:effectLst>
                  <a:glow rad="101600">
                    <a:schemeClr val="tx1">
                      <a:alpha val="60000"/>
                    </a:schemeClr>
                  </a:glow>
                </a:effectLst>
                <a:highlight>
                  <a:srgbClr val="FF0000"/>
                </a:highlight>
                <a:latin typeface="Book Antiqua" panose="02040602050305030304" pitchFamily="18" charset="0"/>
                <a:sym typeface="+mn-ea"/>
              </a:rPr>
              <a:t>3/	Third, not only should </a:t>
            </a:r>
            <a:r>
              <a:rPr lang="en-US" sz="2400" b="1" i="1" dirty="0">
                <a:solidFill>
                  <a:schemeClr val="accent4">
                    <a:lumMod val="20000"/>
                    <a:lumOff val="80000"/>
                  </a:schemeClr>
                </a:solidFill>
                <a:effectLst>
                  <a:glow rad="101600">
                    <a:schemeClr val="tx1">
                      <a:alpha val="60000"/>
                    </a:schemeClr>
                  </a:glow>
                </a:effectLst>
                <a:highlight>
                  <a:srgbClr val="FF0000"/>
                </a:highlight>
                <a:latin typeface="Book Antiqua" panose="02040602050305030304" pitchFamily="18" charset="0"/>
                <a:sym typeface="+mn-ea"/>
              </a:rPr>
              <a:t>your parents know</a:t>
            </a:r>
            <a:r>
              <a:rPr lang="en-US" sz="2400" b="1" dirty="0">
                <a:solidFill>
                  <a:schemeClr val="accent4">
                    <a:lumMod val="20000"/>
                    <a:lumOff val="80000"/>
                  </a:schemeClr>
                </a:solidFill>
                <a:effectLst>
                  <a:glow rad="101600">
                    <a:schemeClr val="tx1">
                      <a:alpha val="60000"/>
                    </a:schemeClr>
                  </a:glow>
                </a:effectLst>
                <a:highlight>
                  <a:srgbClr val="FF0000"/>
                </a:highlight>
                <a:latin typeface="Book Antiqua" panose="02040602050305030304" pitchFamily="18" charset="0"/>
                <a:sym typeface="+mn-ea"/>
              </a:rPr>
              <a:t>, your </a:t>
            </a:r>
            <a:r>
              <a:rPr lang="en-US" sz="2400" b="1" i="1" dirty="0">
                <a:solidFill>
                  <a:schemeClr val="accent4">
                    <a:lumMod val="20000"/>
                    <a:lumOff val="80000"/>
                  </a:schemeClr>
                </a:solidFill>
                <a:effectLst>
                  <a:glow rad="101600">
                    <a:schemeClr val="tx1">
                      <a:alpha val="60000"/>
                    </a:schemeClr>
                  </a:glow>
                </a:effectLst>
                <a:highlight>
                  <a:srgbClr val="FF0000"/>
                </a:highlight>
                <a:latin typeface="Book Antiqua" panose="02040602050305030304" pitchFamily="18" charset="0"/>
                <a:sym typeface="+mn-ea"/>
              </a:rPr>
              <a:t>parents should not doubt the friendship</a:t>
            </a:r>
            <a:endParaRPr lang="en-US" sz="2400" b="1" i="1" dirty="0">
              <a:solidFill>
                <a:schemeClr val="accent4">
                  <a:lumMod val="20000"/>
                  <a:lumOff val="80000"/>
                </a:schemeClr>
              </a:solidFill>
              <a:effectLst>
                <a:glow rad="101600">
                  <a:schemeClr val="tx1">
                    <a:alpha val="60000"/>
                  </a:schemeClr>
                </a:glow>
              </a:effectLst>
              <a:highlight>
                <a:srgbClr val="FF0000"/>
              </a:highlight>
              <a:latin typeface="Book Antiqua" panose="02040602050305030304" pitchFamily="18"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duotone>
              <a:schemeClr val="accent2">
                <a:shade val="45000"/>
                <a:satMod val="135000"/>
              </a:schemeClr>
              <a:prstClr val="white"/>
            </a:duotone>
          </a:blip>
          <a:stretch>
            <a:fillRect/>
          </a:stretch>
        </p:blipFill>
        <p:spPr>
          <a:xfrm>
            <a:off x="-397" y="0"/>
            <a:ext cx="9144793" cy="6919085"/>
          </a:xfrm>
          <a:prstGeom prst="rect">
            <a:avLst/>
          </a:prstGeom>
        </p:spPr>
      </p:pic>
      <p:sp>
        <p:nvSpPr>
          <p:cNvPr id="2" name="Title 1"/>
          <p:cNvSpPr>
            <a:spLocks noGrp="1"/>
          </p:cNvSpPr>
          <p:nvPr>
            <p:ph type="title"/>
          </p:nvPr>
        </p:nvSpPr>
        <p:spPr>
          <a:xfrm>
            <a:off x="628650" y="260985"/>
            <a:ext cx="7886700" cy="906780"/>
          </a:xfrm>
        </p:spPr>
        <p:txBody>
          <a:bodyPr>
            <a:normAutofit/>
          </a:bodyPr>
          <a:lstStyle/>
          <a:p>
            <a:pPr algn="ctr"/>
            <a:r>
              <a:rPr lang="en-US" sz="3600" b="1" dirty="0" smtClean="0">
                <a:solidFill>
                  <a:srgbClr val="FFFF00"/>
                </a:solidFill>
                <a:effectLst>
                  <a:glow rad="101600">
                    <a:schemeClr val="tx1">
                      <a:alpha val="60000"/>
                    </a:schemeClr>
                  </a:glow>
                </a:effectLst>
                <a:latin typeface="Bell Gothic Std Black"/>
              </a:rPr>
              <a:t>7.  ADDICTIONs</a:t>
            </a:r>
            <a:endParaRPr lang="en-US" sz="3600" b="1" dirty="0">
              <a:solidFill>
                <a:srgbClr val="FFFF00"/>
              </a:solidFill>
              <a:effectLst>
                <a:glow rad="101600">
                  <a:schemeClr val="tx1">
                    <a:alpha val="60000"/>
                  </a:schemeClr>
                </a:glow>
              </a:effectLst>
              <a:latin typeface="Bell Gothic Std Black"/>
            </a:endParaRPr>
          </a:p>
        </p:txBody>
      </p:sp>
      <p:sp>
        <p:nvSpPr>
          <p:cNvPr id="3" name="TextBox 2"/>
          <p:cNvSpPr txBox="1"/>
          <p:nvPr/>
        </p:nvSpPr>
        <p:spPr>
          <a:xfrm>
            <a:off x="427990" y="1168400"/>
            <a:ext cx="8217535" cy="6122670"/>
          </a:xfrm>
          <a:prstGeom prst="rect">
            <a:avLst/>
          </a:prstGeom>
          <a:noFill/>
        </p:spPr>
        <p:txBody>
          <a:bodyPr wrap="square" rtlCol="0">
            <a:spAutoFit/>
          </a:bodyPr>
          <a:lstStyle/>
          <a:p>
            <a:pPr>
              <a:lnSpc>
                <a:spcPct val="11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Smoking , Drinking, Drugs</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10000"/>
              </a:lnSpc>
            </a:pP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1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PARENTS HAVE NO CONTROL OVER THE CHILD</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20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WRONG PEER GROUP</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20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HERO ATTITUDE</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20000"/>
              </a:lnSpc>
            </a:pP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120000"/>
              </a:lnSpc>
            </a:pPr>
            <a:r>
              <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rPr>
              <a:t>PARENTS FEED WITH UNACCOUNTED MONEY</a:t>
            </a:r>
            <a:endParaRPr lang="en-US" sz="2800" b="1" dirty="0">
              <a:solidFill>
                <a:schemeClr val="bg1"/>
              </a:solidFill>
              <a:effectLst>
                <a:glow rad="101600">
                  <a:schemeClr val="tx1">
                    <a:alpha val="60000"/>
                  </a:schemeClr>
                </a:glow>
              </a:effectLst>
              <a:latin typeface="Baskerville Old Face" panose="02020602080505020303" charset="0"/>
              <a:ea typeface="Roboto" panose="02000000000000000000" pitchFamily="2" charset="0"/>
              <a:cs typeface="Baskerville Old Face" panose="02020602080505020303" charset="0"/>
            </a:endParaRPr>
          </a:p>
          <a:p>
            <a:pPr>
              <a:lnSpc>
                <a:spcPct val="200000"/>
              </a:lnSpc>
            </a:pPr>
            <a:r>
              <a:rPr lang="en-US" sz="2800" b="1" dirty="0">
                <a:solidFill>
                  <a:schemeClr val="bg1"/>
                </a:solidFill>
                <a:latin typeface="Baskerville Old Face" panose="02020602080505020303" charset="0"/>
                <a:ea typeface="Roboto" panose="02000000000000000000" pitchFamily="2" charset="0"/>
                <a:cs typeface="Baskerville Old Face" panose="02020602080505020303" charset="0"/>
              </a:rPr>
              <a:t> </a:t>
            </a:r>
            <a:endParaRPr lang="en-US" sz="2800" b="1" dirty="0">
              <a:solidFill>
                <a:schemeClr val="bg1"/>
              </a:solidFill>
              <a:latin typeface="Baskerville Old Face" panose="02020602080505020303" charset="0"/>
              <a:ea typeface="Roboto" panose="02000000000000000000" pitchFamily="2" charset="0"/>
              <a:cs typeface="Baskerville Old Face" panose="02020602080505020303"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28650" y="365125"/>
            <a:ext cx="7886700" cy="3135630"/>
          </a:xfrm>
        </p:spPr>
        <p:txBody>
          <a:bodyPr/>
          <a:p>
            <a:pPr algn="ctr"/>
            <a:r>
              <a:rPr lang="en-US">
                <a:latin typeface="Baskerville Old Face" panose="02020602080505020303" charset="0"/>
                <a:cs typeface="Baskerville Old Face" panose="02020602080505020303" charset="0"/>
              </a:rPr>
              <a:t>Thank you</a:t>
            </a:r>
            <a:endParaRPr lang="en-US">
              <a:latin typeface="Baskerville Old Face" panose="02020602080505020303" charset="0"/>
              <a:cs typeface="Baskerville Old Face" panose="02020602080505020303"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28650" y="-84685"/>
            <a:ext cx="7886700" cy="1318156"/>
          </a:xfrm>
        </p:spPr>
        <p:txBody>
          <a:bodyPr>
            <a:normAutofit/>
          </a:bodyPr>
          <a:lstStyle/>
          <a:p>
            <a:pPr algn="ctr"/>
            <a:r>
              <a:rPr lang="en-US" sz="3200" b="1" dirty="0" smtClean="0">
                <a:solidFill>
                  <a:srgbClr val="FFFF00"/>
                </a:solidFill>
                <a:effectLst>
                  <a:glow rad="101600">
                    <a:schemeClr val="tx1">
                      <a:alpha val="60000"/>
                    </a:schemeClr>
                  </a:glow>
                </a:effectLst>
                <a:latin typeface="Bell Gothic Std Black"/>
              </a:rPr>
              <a:t>8. DRUGS</a:t>
            </a:r>
            <a:endParaRPr lang="en-US" sz="3200" b="1" dirty="0">
              <a:solidFill>
                <a:srgbClr val="FFFF00"/>
              </a:solidFill>
              <a:effectLst>
                <a:glow rad="101600">
                  <a:schemeClr val="tx1">
                    <a:alpha val="60000"/>
                  </a:schemeClr>
                </a:glow>
              </a:effectLst>
              <a:latin typeface="Bell Gothic Std Black"/>
            </a:endParaRPr>
          </a:p>
        </p:txBody>
      </p:sp>
      <p:sp>
        <p:nvSpPr>
          <p:cNvPr id="3" name="TextBox 2"/>
          <p:cNvSpPr txBox="1"/>
          <p:nvPr/>
        </p:nvSpPr>
        <p:spPr>
          <a:xfrm>
            <a:off x="220133" y="1169848"/>
            <a:ext cx="8923867" cy="4524315"/>
          </a:xfrm>
          <a:prstGeom prst="rect">
            <a:avLst/>
          </a:prstGeom>
          <a:noFill/>
        </p:spPr>
        <p:txBody>
          <a:bodyPr wrap="square" rtlCol="0">
            <a:spAutoFit/>
          </a:bodyPr>
          <a:lstStyle/>
          <a:p>
            <a:pPr>
              <a:lnSpc>
                <a:spcPct val="150000"/>
              </a:lnSpc>
            </a:pPr>
            <a:r>
              <a:rPr lang="en-US" sz="2400" b="1" dirty="0" smtClean="0">
                <a:solidFill>
                  <a:schemeClr val="bg1"/>
                </a:solidFill>
                <a:effectLst>
                  <a:glow rad="101600">
                    <a:schemeClr val="tx1">
                      <a:alpha val="60000"/>
                    </a:schemeClr>
                  </a:glow>
                </a:effectLst>
                <a:latin typeface="Adobe Garamond Pro Bold" panose="02020702060506020403" pitchFamily="18" charset="0"/>
              </a:rPr>
              <a:t>LSD</a:t>
            </a:r>
            <a:r>
              <a:rPr lang="en-US" sz="2400" b="1" dirty="0" smtClean="0">
                <a:solidFill>
                  <a:schemeClr val="bg1"/>
                </a:solidFill>
                <a:effectLst>
                  <a:glow rad="101600">
                    <a:schemeClr val="tx1">
                      <a:alpha val="60000"/>
                    </a:schemeClr>
                  </a:glow>
                </a:effectLst>
                <a:latin typeface="Adobe Garamond Pro Bold" panose="02020702060506020403" pitchFamily="18" charset="0"/>
              </a:rPr>
              <a:t> </a:t>
            </a:r>
            <a:r>
              <a:rPr lang="en-US" sz="2400" b="1" dirty="0" smtClean="0">
                <a:solidFill>
                  <a:schemeClr val="bg1"/>
                </a:solidFill>
                <a:effectLst>
                  <a:glow rad="101600">
                    <a:schemeClr val="tx1">
                      <a:alpha val="60000"/>
                    </a:schemeClr>
                  </a:glow>
                </a:effectLst>
                <a:latin typeface="Adobe Garamond Pro Bold" panose="02020702060506020403" pitchFamily="18" charset="0"/>
              </a:rPr>
              <a:t>(Lysergic </a:t>
            </a:r>
            <a:r>
              <a:rPr lang="en-US" sz="2400" b="1" dirty="0">
                <a:solidFill>
                  <a:schemeClr val="bg1"/>
                </a:solidFill>
                <a:effectLst>
                  <a:glow rad="101600">
                    <a:schemeClr val="tx1">
                      <a:alpha val="60000"/>
                    </a:schemeClr>
                  </a:glow>
                </a:effectLst>
                <a:latin typeface="Adobe Garamond Pro Bold" panose="02020702060506020403" pitchFamily="18" charset="0"/>
              </a:rPr>
              <a:t>acid </a:t>
            </a:r>
            <a:r>
              <a:rPr lang="en-US" sz="2400" b="1" dirty="0" smtClean="0">
                <a:solidFill>
                  <a:schemeClr val="bg1"/>
                </a:solidFill>
                <a:effectLst>
                  <a:glow rad="101600">
                    <a:schemeClr val="tx1">
                      <a:alpha val="60000"/>
                    </a:schemeClr>
                  </a:glow>
                </a:effectLst>
                <a:latin typeface="Adobe Garamond Pro Bold" panose="02020702060506020403" pitchFamily="18" charset="0"/>
              </a:rPr>
              <a:t>diethylamide)</a:t>
            </a:r>
            <a:endParaRPr lang="en-US" sz="2400" b="1" dirty="0" smtClean="0">
              <a:solidFill>
                <a:schemeClr val="bg1"/>
              </a:solidFill>
              <a:effectLst>
                <a:glow rad="101600">
                  <a:schemeClr val="tx1">
                    <a:alpha val="60000"/>
                  </a:schemeClr>
                </a:glow>
              </a:effectLst>
              <a:latin typeface="Adobe Garamond Pro Bold" panose="02020702060506020403" pitchFamily="18" charset="0"/>
            </a:endParaRPr>
          </a:p>
          <a:p>
            <a:pPr>
              <a:lnSpc>
                <a:spcPct val="150000"/>
              </a:lnSpc>
            </a:pPr>
            <a:r>
              <a:rPr lang="en-US" sz="2400" b="1" dirty="0" smtClean="0">
                <a:solidFill>
                  <a:schemeClr val="bg1"/>
                </a:solidFill>
                <a:effectLst>
                  <a:glow rad="101600">
                    <a:schemeClr val="tx1">
                      <a:alpha val="60000"/>
                    </a:schemeClr>
                  </a:glow>
                </a:effectLst>
                <a:latin typeface="Adobe Garamond Pro Bold" panose="02020702060506020403" pitchFamily="18" charset="0"/>
              </a:rPr>
              <a:t>LSD  </a:t>
            </a:r>
            <a:r>
              <a:rPr lang="en-US" sz="2400" b="1" dirty="0" smtClean="0">
                <a:solidFill>
                  <a:schemeClr val="bg1"/>
                </a:solidFill>
                <a:effectLst>
                  <a:glow rad="101600">
                    <a:schemeClr val="tx1">
                      <a:alpha val="60000"/>
                    </a:schemeClr>
                  </a:glow>
                </a:effectLst>
                <a:latin typeface="Adobe Garamond Pro Bold" panose="02020702060506020403" pitchFamily="18" charset="0"/>
              </a:rPr>
              <a:t>STAMP</a:t>
            </a:r>
            <a:endParaRPr lang="en-US" sz="2400" b="1" dirty="0" smtClean="0">
              <a:solidFill>
                <a:schemeClr val="bg1"/>
              </a:solidFill>
              <a:effectLst>
                <a:glow rad="101600">
                  <a:schemeClr val="tx1">
                    <a:alpha val="60000"/>
                  </a:schemeClr>
                </a:glow>
              </a:effectLst>
              <a:latin typeface="Adobe Garamond Pro Bold" panose="02020702060506020403" pitchFamily="18" charset="0"/>
            </a:endParaRPr>
          </a:p>
          <a:p>
            <a:pPr>
              <a:lnSpc>
                <a:spcPct val="150000"/>
              </a:lnSpc>
            </a:pPr>
            <a:endParaRPr lang="en-US" sz="2400" b="1" dirty="0" smtClean="0">
              <a:solidFill>
                <a:schemeClr val="bg1"/>
              </a:solidFill>
              <a:effectLst>
                <a:glow rad="101600">
                  <a:schemeClr val="tx1">
                    <a:alpha val="60000"/>
                  </a:schemeClr>
                </a:glow>
              </a:effectLst>
              <a:latin typeface="Adobe Garamond Pro Bold" panose="02020702060506020403" pitchFamily="18" charset="0"/>
            </a:endParaRPr>
          </a:p>
          <a:p>
            <a:pPr>
              <a:lnSpc>
                <a:spcPct val="150000"/>
              </a:lnSpc>
            </a:pPr>
            <a:r>
              <a:rPr lang="en-US" sz="2400" b="1" dirty="0" smtClean="0">
                <a:solidFill>
                  <a:srgbClr val="FFCCFF"/>
                </a:solidFill>
                <a:effectLst>
                  <a:glow rad="101600">
                    <a:schemeClr val="tx1">
                      <a:alpha val="60000"/>
                    </a:schemeClr>
                  </a:glow>
                </a:effectLst>
                <a:latin typeface="Adobe Garamond Pro Bold" panose="02020702060506020403" pitchFamily="18" charset="0"/>
              </a:rPr>
              <a:t>Methamphetamine </a:t>
            </a:r>
            <a:r>
              <a:rPr lang="en-US" sz="2400" b="1" dirty="0">
                <a:solidFill>
                  <a:srgbClr val="FFCCFF"/>
                </a:solidFill>
                <a:effectLst>
                  <a:glow rad="101600">
                    <a:schemeClr val="tx1">
                      <a:alpha val="60000"/>
                    </a:schemeClr>
                  </a:glow>
                </a:effectLst>
                <a:latin typeface="Adobe Garamond Pro Bold" panose="02020702060506020403" pitchFamily="18" charset="0"/>
              </a:rPr>
              <a:t>(Mental, </a:t>
            </a:r>
            <a:r>
              <a:rPr lang="en-US" sz="2400" b="1" dirty="0" smtClean="0">
                <a:solidFill>
                  <a:srgbClr val="FFCCFF"/>
                </a:solidFill>
                <a:effectLst>
                  <a:glow rad="101600">
                    <a:schemeClr val="tx1">
                      <a:alpha val="60000"/>
                    </a:schemeClr>
                  </a:glow>
                </a:effectLst>
                <a:latin typeface="Adobe Garamond Pro Bold" panose="02020702060506020403" pitchFamily="18" charset="0"/>
              </a:rPr>
              <a:t>Behavioral disorders</a:t>
            </a:r>
            <a:r>
              <a:rPr lang="en-US" sz="2400" b="1" dirty="0" smtClean="0">
                <a:solidFill>
                  <a:srgbClr val="FFCCFF"/>
                </a:solidFill>
                <a:effectLst>
                  <a:glow rad="101600">
                    <a:schemeClr val="tx1">
                      <a:alpha val="60000"/>
                    </a:schemeClr>
                  </a:glow>
                </a:effectLst>
                <a:latin typeface="Adobe Garamond Pro Bold" panose="02020702060506020403" pitchFamily="18" charset="0"/>
              </a:rPr>
              <a:t>)</a:t>
            </a:r>
            <a:endParaRPr lang="en-US" sz="2400" b="1" dirty="0" smtClean="0">
              <a:solidFill>
                <a:srgbClr val="FFCCFF"/>
              </a:solidFill>
              <a:effectLst>
                <a:glow rad="101600">
                  <a:schemeClr val="tx1">
                    <a:alpha val="60000"/>
                  </a:schemeClr>
                </a:glow>
              </a:effectLst>
              <a:latin typeface="Adobe Garamond Pro Bold" panose="02020702060506020403" pitchFamily="18" charset="0"/>
            </a:endParaRPr>
          </a:p>
          <a:p>
            <a:pPr>
              <a:lnSpc>
                <a:spcPct val="150000"/>
              </a:lnSpc>
            </a:pPr>
            <a:endParaRPr lang="en-US" sz="2400" b="1" dirty="0">
              <a:solidFill>
                <a:srgbClr val="FFCCFF"/>
              </a:solidFill>
              <a:effectLst>
                <a:glow rad="101600">
                  <a:schemeClr val="tx1">
                    <a:alpha val="60000"/>
                  </a:schemeClr>
                </a:glow>
              </a:effectLst>
              <a:latin typeface="Adobe Garamond Pro Bold" panose="02020702060506020403" pitchFamily="18" charset="0"/>
            </a:endParaRPr>
          </a:p>
          <a:p>
            <a:pPr>
              <a:lnSpc>
                <a:spcPct val="150000"/>
              </a:lnSpc>
            </a:pPr>
            <a:r>
              <a:rPr lang="en-US" sz="2400" b="1" dirty="0">
                <a:solidFill>
                  <a:schemeClr val="accent2">
                    <a:lumMod val="40000"/>
                    <a:lumOff val="60000"/>
                  </a:schemeClr>
                </a:solidFill>
                <a:effectLst>
                  <a:glow rad="101600">
                    <a:schemeClr val="tx1">
                      <a:alpha val="60000"/>
                    </a:schemeClr>
                  </a:glow>
                </a:effectLst>
                <a:latin typeface="Adobe Garamond Pro Bold" panose="02020702060506020403" pitchFamily="18" charset="0"/>
              </a:rPr>
              <a:t>Cannabis/marijuana  can be used by smoking, vaporizing, within food, or as an </a:t>
            </a:r>
            <a:r>
              <a:rPr lang="en-US" sz="2400" b="1" dirty="0" smtClean="0">
                <a:solidFill>
                  <a:schemeClr val="accent2">
                    <a:lumMod val="40000"/>
                    <a:lumOff val="60000"/>
                  </a:schemeClr>
                </a:solidFill>
                <a:effectLst>
                  <a:glow rad="101600">
                    <a:schemeClr val="tx1">
                      <a:alpha val="60000"/>
                    </a:schemeClr>
                  </a:glow>
                </a:effectLst>
                <a:latin typeface="Adobe Garamond Pro Bold" panose="02020702060506020403" pitchFamily="18" charset="0"/>
              </a:rPr>
              <a:t>extract. </a:t>
            </a:r>
            <a:endParaRPr lang="en-US" sz="2400" b="1" dirty="0">
              <a:solidFill>
                <a:schemeClr val="accent2">
                  <a:lumMod val="40000"/>
                  <a:lumOff val="60000"/>
                </a:schemeClr>
              </a:solidFill>
              <a:effectLst>
                <a:glow rad="101600">
                  <a:schemeClr val="tx1">
                    <a:alpha val="60000"/>
                  </a:schemeClr>
                </a:glow>
              </a:effectLst>
              <a:latin typeface="Adobe Garamond Pro Bold" panose="02020702060506020403" pitchFamily="18" charset="0"/>
            </a:endParaRPr>
          </a:p>
        </p:txBody>
      </p:sp>
      <p:pic>
        <p:nvPicPr>
          <p:cNvPr id="4" name="Picture 3"/>
          <p:cNvPicPr>
            <a:picLocks noChangeAspect="1"/>
          </p:cNvPicPr>
          <p:nvPr/>
        </p:nvPicPr>
        <p:blipFill>
          <a:blip r:embed="rId2"/>
          <a:stretch>
            <a:fillRect/>
          </a:stretch>
        </p:blipFill>
        <p:spPr>
          <a:xfrm>
            <a:off x="7400003" y="385560"/>
            <a:ext cx="1743997" cy="1670255"/>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397" y="-297"/>
            <a:ext cx="9144793" cy="6858594"/>
          </a:xfrm>
          <a:prstGeom prst="rect">
            <a:avLst/>
          </a:prstGeom>
        </p:spPr>
      </p:pic>
      <p:sp>
        <p:nvSpPr>
          <p:cNvPr id="2" name="Rectangle 1"/>
          <p:cNvSpPr/>
          <p:nvPr/>
        </p:nvSpPr>
        <p:spPr>
          <a:xfrm>
            <a:off x="474133" y="1159925"/>
            <a:ext cx="8238067" cy="4523105"/>
          </a:xfrm>
          <a:prstGeom prst="rect">
            <a:avLst/>
          </a:prstGeom>
        </p:spPr>
        <p:txBody>
          <a:bodyPr wrap="square">
            <a:spAutoFit/>
          </a:bodyPr>
          <a:lstStyle/>
          <a:p>
            <a:r>
              <a:rPr lang="en-US" sz="2400" b="1" dirty="0" smtClean="0">
                <a:solidFill>
                  <a:srgbClr val="FFFF99"/>
                </a:solidFill>
                <a:latin typeface="Baskerville Old Face" panose="02020602080505020303" charset="0"/>
                <a:cs typeface="Baskerville Old Face" panose="02020602080505020303" charset="0"/>
              </a:rPr>
              <a:t>PEOPLE CAN SMOKE MARIJUANA, INHALE IT THROUGH VAPOR, BREW IT AS A TEA, APPLY IT AS A BALM, OR EAT IT IN PRODUCTS, SUCH AS BROWNIES OR CHOCOLATE BARS.</a:t>
            </a:r>
            <a:endParaRPr lang="en-US" sz="2400" b="1" dirty="0" smtClean="0">
              <a:solidFill>
                <a:srgbClr val="FFFF99"/>
              </a:solidFill>
              <a:latin typeface="Baskerville Old Face" panose="02020602080505020303" charset="0"/>
              <a:cs typeface="Baskerville Old Face" panose="02020602080505020303" charset="0"/>
            </a:endParaRPr>
          </a:p>
          <a:p>
            <a:endParaRPr lang="en-US" sz="2400" b="1" dirty="0" smtClean="0">
              <a:solidFill>
                <a:srgbClr val="FFFF99"/>
              </a:solidFill>
              <a:latin typeface="Adobe Garamond Pro Bold"/>
            </a:endParaRPr>
          </a:p>
          <a:p>
            <a:r>
              <a:rPr lang="en-US" sz="2400" b="1" dirty="0" smtClean="0">
                <a:solidFill>
                  <a:srgbClr val="FFCCFF"/>
                </a:solidFill>
                <a:latin typeface="Adobe Garamond Pro Bold"/>
              </a:rPr>
              <a:t>SALVIA – INHALER FOR HALLUCINATION</a:t>
            </a:r>
            <a:endParaRPr lang="en-US" sz="2400" b="1" dirty="0" smtClean="0">
              <a:solidFill>
                <a:srgbClr val="FFCCFF"/>
              </a:solidFill>
              <a:latin typeface="Adobe Garamond Pro Bold"/>
            </a:endParaRPr>
          </a:p>
          <a:p>
            <a:endParaRPr lang="en-US" sz="2400" b="1" dirty="0" smtClean="0">
              <a:solidFill>
                <a:srgbClr val="FFCCFF"/>
              </a:solidFill>
              <a:latin typeface="Adobe Garamond Pro Bold"/>
            </a:endParaRPr>
          </a:p>
          <a:p>
            <a:r>
              <a:rPr lang="en-US" sz="2400" b="1" dirty="0" smtClean="0">
                <a:solidFill>
                  <a:srgbClr val="CCFF99"/>
                </a:solidFill>
                <a:latin typeface="Adobe Garamond Pro Bold"/>
              </a:rPr>
              <a:t>ROHYPNOL - THESE DRUGS CAN AFFECT YOU VERY QUICKLY AND CAUSE VICTIMS TO BECOME WEAK, CONFUSED, AND EVEN PASS OUT. YOU MAY NOT REMEMBER WHAT HAPPENED WHILE YOU WERE DRUGGED. (KNOWN AS RAPE DRUG)</a:t>
            </a:r>
            <a:endParaRPr lang="en-US" sz="2400" b="1" dirty="0">
              <a:solidFill>
                <a:srgbClr val="CCFF99"/>
              </a:solidFill>
              <a:latin typeface="Adobe Garamond Pro 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dmin\Documents\suicide\_d2a6cd8e-1c20-11e7-aa2a-1591876ff7cf.jpg"/>
          <p:cNvPicPr>
            <a:picLocks noChangeAspect="1" noChangeArrowheads="1"/>
          </p:cNvPicPr>
          <p:nvPr/>
        </p:nvPicPr>
        <p:blipFill>
          <a:blip r:embed="rId1"/>
          <a:srcRect/>
          <a:stretch>
            <a:fillRect/>
          </a:stretch>
        </p:blipFill>
        <p:spPr bwMode="auto">
          <a:xfrm>
            <a:off x="0" y="0"/>
            <a:ext cx="9144000" cy="6857999"/>
          </a:xfrm>
          <a:prstGeom prst="rect">
            <a:avLst/>
          </a:prstGeom>
          <a:noFill/>
        </p:spPr>
      </p:pic>
      <p:sp>
        <p:nvSpPr>
          <p:cNvPr id="2" name="Title 1"/>
          <p:cNvSpPr>
            <a:spLocks noGrp="1"/>
          </p:cNvSpPr>
          <p:nvPr>
            <p:ph type="title"/>
          </p:nvPr>
        </p:nvSpPr>
        <p:spPr>
          <a:xfrm>
            <a:off x="1371600" y="2057400"/>
            <a:ext cx="6400800" cy="2362200"/>
          </a:xfrm>
        </p:spPr>
        <p:txBody>
          <a:bodyPr>
            <a:prstTxWarp prst="textFadeUp">
              <a:avLst/>
            </a:prstTxWarp>
          </a:bodyPr>
          <a:lstStyle/>
          <a:p>
            <a:r>
              <a:rPr lang="en-US" b="1" dirty="0" smtClean="0">
                <a:ln>
                  <a:solidFill>
                    <a:srgbClr val="FFC000"/>
                  </a:solidFill>
                </a:ln>
                <a:solidFill>
                  <a:srgbClr val="FF0000"/>
                </a:solidFill>
                <a:effectLst>
                  <a:glow rad="101600">
                    <a:schemeClr val="tx1">
                      <a:alpha val="60000"/>
                    </a:schemeClr>
                  </a:glow>
                </a:effectLst>
                <a:latin typeface="Algerian" panose="04020705040A02060702" pitchFamily="82" charset="0"/>
              </a:rPr>
              <a:t>9. SUICIDE</a:t>
            </a:r>
            <a:endParaRPr lang="en-US" b="1" dirty="0">
              <a:ln>
                <a:solidFill>
                  <a:srgbClr val="FFC000"/>
                </a:solidFill>
              </a:ln>
              <a:solidFill>
                <a:srgbClr val="FF0000"/>
              </a:solidFill>
              <a:effectLst>
                <a:glow rad="101600">
                  <a:schemeClr val="tx1">
                    <a:alpha val="60000"/>
                  </a:schemeClr>
                </a:glow>
              </a:effectLst>
              <a:latin typeface="Algerian" panose="04020705040A02060702" pitchFamily="82"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hoto: Shutterstock"/>
          <p:cNvPicPr>
            <a:picLocks noChangeAspect="1" noChangeArrowheads="1"/>
          </p:cNvPicPr>
          <p:nvPr/>
        </p:nvPicPr>
        <p:blipFill>
          <a:blip r:embed="rId1"/>
          <a:srcRect/>
          <a:stretch>
            <a:fillRect/>
          </a:stretch>
        </p:blipFill>
        <p:spPr bwMode="auto">
          <a:xfrm>
            <a:off x="0" y="0"/>
            <a:ext cx="9144000" cy="6858000"/>
          </a:xfrm>
          <a:prstGeom prst="rect">
            <a:avLst/>
          </a:prstGeom>
          <a:noFill/>
        </p:spPr>
      </p:pic>
      <p:sp>
        <p:nvSpPr>
          <p:cNvPr id="2" name="Rectangle 1"/>
          <p:cNvSpPr/>
          <p:nvPr/>
        </p:nvSpPr>
        <p:spPr>
          <a:xfrm>
            <a:off x="1828800" y="1752600"/>
            <a:ext cx="5486400" cy="3321935"/>
          </a:xfrm>
          <a:prstGeom prst="rect">
            <a:avLst/>
          </a:prstGeom>
          <a:solidFill>
            <a:srgbClr val="FF0000"/>
          </a:solidFill>
        </p:spPr>
        <p:txBody>
          <a:bodyPr wrap="square">
            <a:spAutoFit/>
          </a:bodyPr>
          <a:lstStyle/>
          <a:p>
            <a:pPr algn="ctr">
              <a:lnSpc>
                <a:spcPct val="150000"/>
              </a:lnSpc>
            </a:pPr>
            <a:r>
              <a:rPr lang="en-US" sz="3600" b="1" dirty="0">
                <a:solidFill>
                  <a:schemeClr val="bg1"/>
                </a:solidFill>
                <a:effectLst>
                  <a:glow rad="101600">
                    <a:schemeClr val="tx1">
                      <a:alpha val="60000"/>
                    </a:schemeClr>
                  </a:glow>
                </a:effectLst>
                <a:latin typeface="Myriad Pro Light" pitchFamily="34" charset="0"/>
              </a:rPr>
              <a:t>75,000 students committed suicides in India between </a:t>
            </a:r>
            <a:endParaRPr lang="en-US" sz="3600" b="1" dirty="0" smtClean="0">
              <a:solidFill>
                <a:schemeClr val="bg1"/>
              </a:solidFill>
              <a:effectLst>
                <a:glow rad="101600">
                  <a:schemeClr val="tx1">
                    <a:alpha val="60000"/>
                  </a:schemeClr>
                </a:glow>
              </a:effectLst>
              <a:latin typeface="Myriad Pro Light" pitchFamily="34" charset="0"/>
            </a:endParaRPr>
          </a:p>
          <a:p>
            <a:pPr algn="ctr">
              <a:lnSpc>
                <a:spcPct val="150000"/>
              </a:lnSpc>
            </a:pPr>
            <a:r>
              <a:rPr lang="en-US" sz="3600" b="1" dirty="0" smtClean="0">
                <a:solidFill>
                  <a:schemeClr val="bg1"/>
                </a:solidFill>
                <a:effectLst>
                  <a:glow rad="101600">
                    <a:schemeClr val="tx1">
                      <a:alpha val="60000"/>
                    </a:schemeClr>
                  </a:glow>
                </a:effectLst>
                <a:latin typeface="Myriad Pro Light" pitchFamily="34" charset="0"/>
              </a:rPr>
              <a:t>2007 </a:t>
            </a:r>
            <a:r>
              <a:rPr lang="en-US" sz="3600" b="1" dirty="0">
                <a:solidFill>
                  <a:schemeClr val="bg1"/>
                </a:solidFill>
                <a:effectLst>
                  <a:glow rad="101600">
                    <a:schemeClr val="tx1">
                      <a:alpha val="60000"/>
                    </a:schemeClr>
                  </a:glow>
                </a:effectLst>
                <a:latin typeface="Myriad Pro Light" pitchFamily="34" charset="0"/>
              </a:rPr>
              <a:t>and 2016: Study</a:t>
            </a:r>
            <a:endParaRPr lang="en-US" sz="3600" b="1" dirty="0">
              <a:solidFill>
                <a:schemeClr val="bg1"/>
              </a:solidFill>
              <a:effectLst>
                <a:glow rad="101600">
                  <a:schemeClr val="tx1">
                    <a:alpha val="60000"/>
                  </a:schemeClr>
                </a:glow>
              </a:effectLst>
              <a:latin typeface="Myriad Pro Light"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Related image"/>
          <p:cNvPicPr>
            <a:picLocks noChangeAspect="1" noChangeArrowheads="1"/>
          </p:cNvPicPr>
          <p:nvPr/>
        </p:nvPicPr>
        <p:blipFill>
          <a:blip r:embed="rId1"/>
          <a:srcRect/>
          <a:stretch>
            <a:fillRect/>
          </a:stretch>
        </p:blipFill>
        <p:spPr bwMode="auto">
          <a:xfrm>
            <a:off x="0" y="0"/>
            <a:ext cx="9144000" cy="6858000"/>
          </a:xfrm>
          <a:prstGeom prst="rect">
            <a:avLst/>
          </a:prstGeom>
          <a:noFill/>
        </p:spPr>
      </p:pic>
      <p:sp>
        <p:nvSpPr>
          <p:cNvPr id="2" name="Rectangle 1"/>
          <p:cNvSpPr/>
          <p:nvPr/>
        </p:nvSpPr>
        <p:spPr>
          <a:xfrm>
            <a:off x="2057400" y="762000"/>
            <a:ext cx="5029200" cy="2611677"/>
          </a:xfrm>
          <a:prstGeom prst="rect">
            <a:avLst/>
          </a:prstGeom>
        </p:spPr>
        <p:txBody>
          <a:bodyPr wrap="square">
            <a:spAutoFit/>
          </a:bodyPr>
          <a:lstStyle/>
          <a:p>
            <a:pPr algn="ctr">
              <a:lnSpc>
                <a:spcPct val="150000"/>
              </a:lnSpc>
            </a:pPr>
            <a:r>
              <a:rPr lang="en-US" sz="2800" b="1" dirty="0">
                <a:solidFill>
                  <a:schemeClr val="bg1"/>
                </a:solidFill>
                <a:effectLst>
                  <a:glow rad="101600">
                    <a:schemeClr val="tx1">
                      <a:alpha val="60000"/>
                    </a:schemeClr>
                  </a:glow>
                </a:effectLst>
                <a:latin typeface="Palatino Linotype" panose="02040502050505030304" pitchFamily="18" charset="0"/>
                <a:cs typeface="Times New Roman" panose="02020603050405020304" pitchFamily="18" charset="0"/>
              </a:rPr>
              <a:t>Suicide is not a mental illness in itself, but a serious potential consequence of treatable mental disorders</a:t>
            </a:r>
            <a:endParaRPr lang="en-US" sz="2800" b="1" dirty="0">
              <a:solidFill>
                <a:schemeClr val="bg1"/>
              </a:solidFill>
              <a:effectLst>
                <a:glow rad="101600">
                  <a:schemeClr val="tx1">
                    <a:alpha val="60000"/>
                  </a:schemeClr>
                </a:glow>
              </a:effectLst>
              <a:latin typeface="Palatino Linotype" panose="02040502050505030304" pitchFamily="18" charset="0"/>
              <a:cs typeface="Times New Roman" panose="02020603050405020304" pitchFamily="18" charset="0"/>
            </a:endParaRPr>
          </a:p>
        </p:txBody>
      </p:sp>
      <p:sp>
        <p:nvSpPr>
          <p:cNvPr id="3" name="Rectangle 2"/>
          <p:cNvSpPr/>
          <p:nvPr/>
        </p:nvSpPr>
        <p:spPr>
          <a:xfrm>
            <a:off x="1828800" y="3932872"/>
            <a:ext cx="5562600" cy="2215991"/>
          </a:xfrm>
          <a:prstGeom prst="rect">
            <a:avLst/>
          </a:prstGeom>
        </p:spPr>
        <p:txBody>
          <a:bodyPr wrap="square">
            <a:spAutoFit/>
          </a:bodyPr>
          <a:lstStyle/>
          <a:p>
            <a:pPr algn="ctr" fontAlgn="t"/>
            <a:r>
              <a:rPr lang="en-US" sz="2400" b="1" dirty="0" smtClean="0">
                <a:solidFill>
                  <a:srgbClr val="FFFF00"/>
                </a:solidFill>
                <a:effectLst>
                  <a:glow rad="101600">
                    <a:schemeClr val="tx1">
                      <a:alpha val="60000"/>
                    </a:schemeClr>
                  </a:glow>
                </a:effectLst>
                <a:latin typeface="Myriad Pro Light" pitchFamily="34" charset="0"/>
              </a:rPr>
              <a:t>BORDERLINE PERSONALITY DISORDER</a:t>
            </a:r>
            <a:endParaRPr lang="en-US" sz="2400" b="1" dirty="0" smtClean="0">
              <a:solidFill>
                <a:srgbClr val="FFFF00"/>
              </a:solidFill>
              <a:effectLst>
                <a:glow rad="101600">
                  <a:schemeClr val="tx1">
                    <a:alpha val="60000"/>
                  </a:schemeClr>
                </a:glow>
              </a:effectLst>
              <a:latin typeface="Myriad Pro Light" pitchFamily="34" charset="0"/>
            </a:endParaRPr>
          </a:p>
          <a:p>
            <a:endParaRPr lang="en-US" dirty="0" smtClean="0">
              <a:solidFill>
                <a:srgbClr val="FFFF00"/>
              </a:solidFill>
              <a:effectLst>
                <a:glow rad="101600">
                  <a:schemeClr val="tx1">
                    <a:alpha val="60000"/>
                  </a:schemeClr>
                </a:glow>
              </a:effectLst>
            </a:endParaRPr>
          </a:p>
          <a:p>
            <a:pPr algn="ctr"/>
            <a:r>
              <a:rPr lang="en-US" sz="2400" b="1" dirty="0" smtClean="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 </a:t>
            </a:r>
            <a:r>
              <a:rPr lang="en-US" sz="24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personality disorder characterized by severe mood swings, impulsive </a:t>
            </a:r>
            <a:r>
              <a:rPr lang="en-US" sz="2400" b="1" dirty="0" smtClean="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behavior, </a:t>
            </a:r>
            <a:r>
              <a:rPr lang="en-US" sz="2400"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and difficulty forming stable personal relationships</a:t>
            </a:r>
            <a:r>
              <a:rPr lang="en-US"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rPr>
              <a:t>.</a:t>
            </a:r>
            <a:endParaRPr lang="en-US" b="1" dirty="0">
              <a:solidFill>
                <a:srgbClr val="FFFF00"/>
              </a:solidFill>
              <a:effectLst>
                <a:glow rad="101600">
                  <a:schemeClr val="tx1">
                    <a:alpha val="60000"/>
                  </a:schemeClr>
                </a:glow>
              </a:effectLst>
              <a:latin typeface="Aharoni" panose="02010803020104030203" pitchFamily="2" charset="-79"/>
              <a:cs typeface="Aharoni" panose="02010803020104030203" pitchFamily="2" charset="-79"/>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dirty="0">
                <a:solidFill>
                  <a:srgbClr val="FFFF99"/>
                </a:solidFill>
                <a:effectLst>
                  <a:glow rad="101600">
                    <a:schemeClr val="tx1">
                      <a:alpha val="60000"/>
                    </a:schemeClr>
                  </a:glow>
                </a:effectLst>
                <a:latin typeface="Algerian" panose="04020705040A02060702" pitchFamily="82" charset="0"/>
              </a:rPr>
              <a:t>Basic Counseling </a:t>
            </a:r>
            <a:r>
              <a:rPr lang="en-IN" dirty="0" smtClean="0">
                <a:solidFill>
                  <a:srgbClr val="FFFF99"/>
                </a:solidFill>
                <a:effectLst>
                  <a:glow rad="101600">
                    <a:schemeClr val="tx1">
                      <a:alpha val="60000"/>
                    </a:schemeClr>
                  </a:glow>
                </a:effectLst>
                <a:latin typeface="Algerian" panose="04020705040A02060702" pitchFamily="82" charset="0"/>
              </a:rPr>
              <a:t>Skills</a:t>
            </a:r>
            <a:br>
              <a:rPr lang="en-US" dirty="0">
                <a:solidFill>
                  <a:srgbClr val="FFFF99"/>
                </a:solidFill>
                <a:effectLst>
                  <a:glow rad="101600">
                    <a:schemeClr val="tx1">
                      <a:alpha val="60000"/>
                    </a:schemeClr>
                  </a:glow>
                </a:effectLst>
                <a:latin typeface="Algerian" panose="04020705040A02060702" pitchFamily="82" charset="0"/>
              </a:rPr>
            </a:br>
            <a:r>
              <a:rPr lang="en-US" sz="2700" dirty="0">
                <a:solidFill>
                  <a:srgbClr val="FFFF99"/>
                </a:solidFill>
                <a:effectLst>
                  <a:glow rad="101600">
                    <a:schemeClr val="tx1">
                      <a:alpha val="60000"/>
                    </a:schemeClr>
                  </a:glow>
                </a:effectLst>
                <a:latin typeface="Algerian" panose="04020705040A02060702" pitchFamily="82" charset="0"/>
              </a:rPr>
              <a:t>அடிப்படை ஆலோசனை திறன்கள்</a:t>
            </a:r>
            <a:endParaRPr lang="en-IN" sz="2700" dirty="0">
              <a:solidFill>
                <a:srgbClr val="FFFF99"/>
              </a:solidFill>
              <a:effectLst>
                <a:glow rad="101600">
                  <a:schemeClr val="tx1">
                    <a:alpha val="60000"/>
                  </a:schemeClr>
                </a:glow>
              </a:effectLst>
              <a:latin typeface="Algerian" panose="04020705040A02060702" pitchFamily="82" charset="0"/>
            </a:endParaRPr>
          </a:p>
        </p:txBody>
      </p:sp>
      <p:sp>
        <p:nvSpPr>
          <p:cNvPr id="3" name="Rectangle 2"/>
          <p:cNvSpPr/>
          <p:nvPr/>
        </p:nvSpPr>
        <p:spPr>
          <a:xfrm>
            <a:off x="1176867" y="1896534"/>
            <a:ext cx="6824133" cy="3349058"/>
          </a:xfrm>
          <a:prstGeom prst="rect">
            <a:avLst/>
          </a:prstGeom>
        </p:spPr>
        <p:txBody>
          <a:bodyPr wrap="square">
            <a:spAutoFit/>
          </a:bodyPr>
          <a:lstStyle/>
          <a:p>
            <a:pPr algn="just">
              <a:lnSpc>
                <a:spcPct val="150000"/>
              </a:lnSpc>
            </a:pPr>
            <a:r>
              <a:rPr lang="en-US" sz="2400" b="1" dirty="0">
                <a:solidFill>
                  <a:srgbClr val="CCFF99"/>
                </a:solidFill>
                <a:effectLst>
                  <a:glow rad="101600">
                    <a:schemeClr val="tx1">
                      <a:alpha val="60000"/>
                    </a:schemeClr>
                  </a:glow>
                </a:effectLst>
                <a:latin typeface="Georgia" panose="02040502050405020303" pitchFamily="18" charset="0"/>
              </a:rPr>
              <a:t>Deep listening</a:t>
            </a:r>
            <a:r>
              <a:rPr lang="en-US" sz="2400" b="1" dirty="0">
                <a:solidFill>
                  <a:srgbClr val="FFFFCC"/>
                </a:solidFill>
                <a:effectLst>
                  <a:glow rad="101600">
                    <a:schemeClr val="tx1">
                      <a:alpha val="60000"/>
                    </a:schemeClr>
                  </a:glow>
                </a:effectLst>
                <a:latin typeface="Georgia" panose="02040502050405020303" pitchFamily="18" charset="0"/>
              </a:rPr>
              <a:t>, </a:t>
            </a:r>
            <a:r>
              <a:rPr lang="en-US" sz="2400" b="1" dirty="0">
                <a:solidFill>
                  <a:srgbClr val="FFCCFF"/>
                </a:solidFill>
                <a:effectLst>
                  <a:glow rad="101600">
                    <a:schemeClr val="tx1">
                      <a:alpha val="60000"/>
                    </a:schemeClr>
                  </a:glow>
                </a:effectLst>
                <a:latin typeface="Georgia" panose="02040502050405020303" pitchFamily="18" charset="0"/>
              </a:rPr>
              <a:t>skillful questions</a:t>
            </a:r>
            <a:r>
              <a:rPr lang="en-US" sz="2400" b="1" dirty="0">
                <a:solidFill>
                  <a:srgbClr val="FFFFCC"/>
                </a:solidFill>
                <a:effectLst>
                  <a:glow rad="101600">
                    <a:schemeClr val="tx1">
                      <a:alpha val="60000"/>
                    </a:schemeClr>
                  </a:glow>
                </a:effectLst>
                <a:latin typeface="Georgia" panose="02040502050405020303" pitchFamily="18" charset="0"/>
              </a:rPr>
              <a:t>, and </a:t>
            </a:r>
            <a:r>
              <a:rPr lang="en-US" sz="2400" b="1" dirty="0">
                <a:solidFill>
                  <a:srgbClr val="99FF99"/>
                </a:solidFill>
                <a:effectLst>
                  <a:glow rad="101600">
                    <a:schemeClr val="tx1">
                      <a:alpha val="60000"/>
                    </a:schemeClr>
                  </a:glow>
                </a:effectLst>
                <a:latin typeface="Georgia" panose="02040502050405020303" pitchFamily="18" charset="0"/>
              </a:rPr>
              <a:t>goal setting</a:t>
            </a:r>
            <a:r>
              <a:rPr lang="en-US" sz="2400" b="1" dirty="0">
                <a:solidFill>
                  <a:srgbClr val="FFFFCC"/>
                </a:solidFill>
                <a:effectLst>
                  <a:glow rad="101600">
                    <a:schemeClr val="tx1">
                      <a:alpha val="60000"/>
                    </a:schemeClr>
                  </a:glow>
                </a:effectLst>
                <a:latin typeface="Georgia" panose="02040502050405020303" pitchFamily="18" charset="0"/>
              </a:rPr>
              <a:t> are just three, simple counseling skills that can help you build authentic relationships and contribute to positive outcome with the young people you work with. </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Rectangle 1"/>
          <p:cNvSpPr/>
          <p:nvPr/>
        </p:nvSpPr>
        <p:spPr>
          <a:xfrm>
            <a:off x="1176867" y="651922"/>
            <a:ext cx="6832600" cy="5632311"/>
          </a:xfrm>
          <a:prstGeom prst="rect">
            <a:avLst/>
          </a:prstGeom>
        </p:spPr>
        <p:txBody>
          <a:bodyPr wrap="square">
            <a:spAutoFit/>
          </a:bodyPr>
          <a:lstStyle/>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Communication serves as the basis for change in counseling. Counselors need to be able to understand and utilize a client’s inner resources and strengths in order to help them move towards their treatment </a:t>
            </a:r>
            <a:r>
              <a:rPr lang="en-US" sz="2400" b="1" dirty="0" smtClean="0">
                <a:solidFill>
                  <a:srgbClr val="FFFFCC"/>
                </a:solidFill>
                <a:effectLst>
                  <a:glow rad="101600">
                    <a:schemeClr val="tx1">
                      <a:alpha val="60000"/>
                    </a:schemeClr>
                  </a:glow>
                </a:effectLst>
                <a:latin typeface="Georgia" panose="02040502050405020303" pitchFamily="18" charset="0"/>
              </a:rPr>
              <a:t>goals.</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algn="just">
              <a:lnSpc>
                <a:spcPct val="150000"/>
              </a:lnSpc>
            </a:pPr>
            <a:r>
              <a:rPr lang="en-US" sz="2400" b="1" dirty="0" smtClean="0">
                <a:solidFill>
                  <a:srgbClr val="FFFFCC"/>
                </a:solidFill>
                <a:effectLst>
                  <a:glow rad="101600">
                    <a:schemeClr val="tx1">
                      <a:alpha val="60000"/>
                    </a:schemeClr>
                  </a:glow>
                </a:effectLst>
                <a:latin typeface="Georgia" panose="02040502050405020303" pitchFamily="18" charset="0"/>
              </a:rPr>
              <a:t>Engagement </a:t>
            </a:r>
            <a:r>
              <a:rPr lang="en-US" sz="2400" b="1" dirty="0">
                <a:solidFill>
                  <a:srgbClr val="FFFFCC"/>
                </a:solidFill>
                <a:effectLst>
                  <a:glow rad="101600">
                    <a:schemeClr val="tx1">
                      <a:alpha val="60000"/>
                    </a:schemeClr>
                  </a:glow>
                </a:effectLst>
                <a:latin typeface="Georgia" panose="02040502050405020303" pitchFamily="18" charset="0"/>
              </a:rPr>
              <a:t>is one of the most significant tools that counselors can employ when working with teens who are reluctant about participating in </a:t>
            </a:r>
            <a:r>
              <a:rPr lang="en-US" sz="2400" b="1" dirty="0" smtClean="0">
                <a:solidFill>
                  <a:srgbClr val="FFFFCC"/>
                </a:solidFill>
                <a:effectLst>
                  <a:glow rad="101600">
                    <a:schemeClr val="tx1">
                      <a:alpha val="60000"/>
                    </a:schemeClr>
                  </a:glow>
                </a:effectLst>
                <a:latin typeface="Georgia" panose="02040502050405020303" pitchFamily="18" charset="0"/>
              </a:rPr>
              <a:t>counseling.</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sz="3600" b="1" dirty="0">
                <a:solidFill>
                  <a:srgbClr val="FFFF99"/>
                </a:solidFill>
                <a:effectLst>
                  <a:glow rad="101600">
                    <a:schemeClr val="tx1">
                      <a:alpha val="60000"/>
                    </a:schemeClr>
                  </a:glow>
                </a:effectLst>
                <a:latin typeface="Algerian" panose="04020705040A02060702" pitchFamily="82" charset="0"/>
              </a:rPr>
              <a:t>1) Deep </a:t>
            </a:r>
            <a:r>
              <a:rPr lang="en-IN" sz="3600" b="1" dirty="0" smtClean="0">
                <a:solidFill>
                  <a:srgbClr val="FFFF99"/>
                </a:solidFill>
                <a:effectLst>
                  <a:glow rad="101600">
                    <a:schemeClr val="tx1">
                      <a:alpha val="60000"/>
                    </a:schemeClr>
                  </a:glow>
                </a:effectLst>
                <a:latin typeface="Algerian" panose="04020705040A02060702" pitchFamily="82" charset="0"/>
              </a:rPr>
              <a:t>Listening</a:t>
            </a:r>
            <a:br>
              <a:rPr lang="en-US" sz="3600" b="1" dirty="0">
                <a:solidFill>
                  <a:srgbClr val="FFFF99"/>
                </a:solidFill>
                <a:effectLst>
                  <a:glow rad="101600">
                    <a:schemeClr val="tx1">
                      <a:alpha val="60000"/>
                    </a:schemeClr>
                  </a:glow>
                </a:effectLst>
                <a:latin typeface="Algerian" panose="04020705040A02060702" pitchFamily="82" charset="0"/>
              </a:rPr>
            </a:br>
            <a:r>
              <a:rPr lang="en-US" sz="2400" b="1" dirty="0">
                <a:solidFill>
                  <a:srgbClr val="FFFF99"/>
                </a:solidFill>
                <a:effectLst>
                  <a:glow rad="101600">
                    <a:schemeClr val="tx1">
                      <a:alpha val="60000"/>
                    </a:schemeClr>
                  </a:glow>
                </a:effectLst>
                <a:latin typeface="Algerian" panose="04020705040A02060702" pitchFamily="82" charset="0"/>
              </a:rPr>
              <a:t>ஆழமாக கேட்பது</a:t>
            </a:r>
            <a:endParaRPr lang="en-IN" sz="2400" b="1" dirty="0">
              <a:solidFill>
                <a:srgbClr val="FFFF99"/>
              </a:solidFill>
              <a:effectLst>
                <a:glow rad="101600">
                  <a:schemeClr val="tx1">
                    <a:alpha val="60000"/>
                  </a:schemeClr>
                </a:glow>
              </a:effectLst>
              <a:latin typeface="Algerian" panose="04020705040A02060702" pitchFamily="82" charset="0"/>
            </a:endParaRPr>
          </a:p>
        </p:txBody>
      </p:sp>
      <p:sp>
        <p:nvSpPr>
          <p:cNvPr id="3" name="Rectangle 2"/>
          <p:cNvSpPr/>
          <p:nvPr/>
        </p:nvSpPr>
        <p:spPr>
          <a:xfrm>
            <a:off x="1092199" y="1540932"/>
            <a:ext cx="6891867" cy="5011052"/>
          </a:xfrm>
          <a:prstGeom prst="rect">
            <a:avLst/>
          </a:prstGeom>
        </p:spPr>
        <p:txBody>
          <a:bodyPr wrap="square">
            <a:spAutoFit/>
          </a:bodyPr>
          <a:lstStyle/>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Deep listening is the practice of bringing one’s awareness to the present moment with an attitude of non-judgment—a type of mindfulness practice. </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algn="just">
              <a:lnSpc>
                <a:spcPct val="150000"/>
              </a:lnSpc>
            </a:pPr>
            <a:endParaRPr lang="en-US" sz="2400" b="1" dirty="0" smtClean="0">
              <a:solidFill>
                <a:srgbClr val="FFFFCC"/>
              </a:solidFill>
              <a:effectLst>
                <a:glow rad="101600">
                  <a:schemeClr val="tx1">
                    <a:alpha val="60000"/>
                  </a:schemeClr>
                </a:glow>
              </a:effectLst>
              <a:latin typeface="Georgia" panose="02040502050405020303" pitchFamily="18" charset="0"/>
            </a:endParaRPr>
          </a:p>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The benefit of this skill is that the teen that’s confiding in you will feel heard, listened to, understood, and as a result your relationship will grow stronger. </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lstStyle/>
          <a:p>
            <a:pPr algn="ctr"/>
            <a:r>
              <a:rPr lang="en-IN" b="1" dirty="0">
                <a:solidFill>
                  <a:srgbClr val="FFCCFF"/>
                </a:solidFill>
                <a:effectLst>
                  <a:glow rad="101600">
                    <a:schemeClr val="tx1">
                      <a:alpha val="60000"/>
                    </a:schemeClr>
                  </a:glow>
                </a:effectLst>
                <a:latin typeface="Bright DEMO" pitchFamily="50" charset="0"/>
              </a:rPr>
              <a:t>Listen and Reflect</a:t>
            </a:r>
            <a:endParaRPr lang="en-IN" b="1" dirty="0">
              <a:solidFill>
                <a:srgbClr val="FFCCFF"/>
              </a:solidFill>
              <a:effectLst>
                <a:glow rad="101600">
                  <a:schemeClr val="tx1">
                    <a:alpha val="60000"/>
                  </a:schemeClr>
                </a:glow>
              </a:effectLst>
              <a:latin typeface="Bright DEMO" pitchFamily="50" charset="0"/>
            </a:endParaRPr>
          </a:p>
        </p:txBody>
      </p:sp>
      <p:sp>
        <p:nvSpPr>
          <p:cNvPr id="3" name="Rectangle 2"/>
          <p:cNvSpPr/>
          <p:nvPr/>
        </p:nvSpPr>
        <p:spPr>
          <a:xfrm>
            <a:off x="1151255" y="1555115"/>
            <a:ext cx="6972300" cy="3415030"/>
          </a:xfrm>
          <a:prstGeom prst="rect">
            <a:avLst/>
          </a:prstGeom>
        </p:spPr>
        <p:txBody>
          <a:bodyPr wrap="square">
            <a:spAutoFit/>
          </a:bodyPr>
          <a:lstStyle/>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Teens want to know they are being heard and </a:t>
            </a:r>
            <a:r>
              <a:rPr lang="en-US" sz="2400" b="1" dirty="0" smtClean="0">
                <a:solidFill>
                  <a:srgbClr val="FFFFCC"/>
                </a:solidFill>
                <a:effectLst>
                  <a:glow rad="101600">
                    <a:schemeClr val="tx1">
                      <a:alpha val="60000"/>
                    </a:schemeClr>
                  </a:glow>
                </a:effectLst>
                <a:latin typeface="Georgia" panose="02040502050405020303" pitchFamily="18" charset="0"/>
              </a:rPr>
              <a:t>understood</a:t>
            </a:r>
            <a:r>
              <a:rPr lang="en-US" sz="2400" b="1" dirty="0">
                <a:solidFill>
                  <a:srgbClr val="FFFFCC"/>
                </a:solidFill>
                <a:effectLst>
                  <a:glow rad="101600">
                    <a:schemeClr val="tx1">
                      <a:alpha val="60000"/>
                    </a:schemeClr>
                  </a:glow>
                </a:effectLst>
                <a:latin typeface="Georgia" panose="02040502050405020303" pitchFamily="18" charset="0"/>
              </a:rPr>
              <a:t>, you can also ask questions as they talk to ensure you fully understand what they expect from you. Don’t be quick to share without listening to everything they have to say.</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sz="3600" b="1" dirty="0">
                <a:solidFill>
                  <a:srgbClr val="FFFF99"/>
                </a:solidFill>
                <a:effectLst>
                  <a:glow rad="101600">
                    <a:schemeClr val="tx1">
                      <a:alpha val="60000"/>
                    </a:schemeClr>
                  </a:glow>
                </a:effectLst>
                <a:latin typeface="Algerian" panose="04020705040A02060702" pitchFamily="82" charset="0"/>
              </a:rPr>
              <a:t>2) Skillful </a:t>
            </a:r>
            <a:r>
              <a:rPr lang="en-IN" sz="3600" b="1" dirty="0" smtClean="0">
                <a:solidFill>
                  <a:srgbClr val="FFFF99"/>
                </a:solidFill>
                <a:effectLst>
                  <a:glow rad="101600">
                    <a:schemeClr val="tx1">
                      <a:alpha val="60000"/>
                    </a:schemeClr>
                  </a:glow>
                </a:effectLst>
                <a:latin typeface="Algerian" panose="04020705040A02060702" pitchFamily="82" charset="0"/>
              </a:rPr>
              <a:t>Questions</a:t>
            </a:r>
            <a:br>
              <a:rPr lang="en-US" sz="3600" b="1" dirty="0">
                <a:solidFill>
                  <a:srgbClr val="FFFF99"/>
                </a:solidFill>
                <a:effectLst>
                  <a:glow rad="101600">
                    <a:schemeClr val="tx1">
                      <a:alpha val="60000"/>
                    </a:schemeClr>
                  </a:glow>
                </a:effectLst>
                <a:latin typeface="Algerian" panose="04020705040A02060702" pitchFamily="82" charset="0"/>
              </a:rPr>
            </a:br>
            <a:r>
              <a:rPr lang="en-US" sz="2400" b="1" dirty="0">
                <a:solidFill>
                  <a:srgbClr val="FFFF99"/>
                </a:solidFill>
                <a:effectLst>
                  <a:glow rad="101600">
                    <a:schemeClr val="tx1">
                      <a:alpha val="60000"/>
                    </a:schemeClr>
                  </a:glow>
                </a:effectLst>
                <a:latin typeface="Algerian" panose="04020705040A02060702" pitchFamily="82" charset="0"/>
              </a:rPr>
              <a:t>திறமையான கேள்விகள்</a:t>
            </a:r>
            <a:endParaRPr lang="en-IN" sz="2400" b="1" dirty="0">
              <a:solidFill>
                <a:srgbClr val="FFFF99"/>
              </a:solidFill>
              <a:effectLst>
                <a:glow rad="101600">
                  <a:schemeClr val="tx1">
                    <a:alpha val="60000"/>
                  </a:schemeClr>
                </a:glow>
              </a:effectLst>
              <a:latin typeface="Algerian" panose="04020705040A02060702" pitchFamily="82" charset="0"/>
            </a:endParaRPr>
          </a:p>
        </p:txBody>
      </p:sp>
      <p:sp>
        <p:nvSpPr>
          <p:cNvPr id="3" name="Rectangle 2"/>
          <p:cNvSpPr/>
          <p:nvPr/>
        </p:nvSpPr>
        <p:spPr>
          <a:xfrm>
            <a:off x="508000" y="1574800"/>
            <a:ext cx="8204200" cy="5078313"/>
          </a:xfrm>
          <a:prstGeom prst="rect">
            <a:avLst/>
          </a:prstGeom>
        </p:spPr>
        <p:txBody>
          <a:bodyPr wrap="square">
            <a:spAutoFit/>
          </a:bodyPr>
          <a:lstStyle/>
          <a:p>
            <a:pPr>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Asking questions can be a great way to engage teens in lively discussion and help build self-awareness</a:t>
            </a:r>
            <a:r>
              <a:rPr lang="en-US" sz="2400" b="1" dirty="0" smtClean="0">
                <a:solidFill>
                  <a:srgbClr val="FFFFCC"/>
                </a:solidFill>
                <a:effectLst>
                  <a:glow rad="101600">
                    <a:schemeClr val="tx1">
                      <a:alpha val="60000"/>
                    </a:schemeClr>
                  </a:glow>
                </a:effectLst>
                <a:latin typeface="Georgia" panose="02040502050405020303" pitchFamily="18" charset="0"/>
              </a:rPr>
              <a:t>.</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marL="342900" indent="-342900">
              <a:lnSpc>
                <a:spcPct val="150000"/>
              </a:lnSpc>
              <a:buAutoNum type="arabicPeriod"/>
            </a:pPr>
            <a:r>
              <a:rPr lang="en-US" sz="2400" b="1" dirty="0" smtClean="0">
                <a:solidFill>
                  <a:srgbClr val="99FF99"/>
                </a:solidFill>
                <a:effectLst>
                  <a:glow rad="101600">
                    <a:schemeClr val="tx1">
                      <a:alpha val="60000"/>
                    </a:schemeClr>
                  </a:glow>
                </a:effectLst>
                <a:latin typeface="Georgia" panose="02040502050405020303" pitchFamily="18" charset="0"/>
              </a:rPr>
              <a:t>Open-Ended Questions</a:t>
            </a:r>
            <a:endParaRPr lang="en-US" sz="2400" b="1" dirty="0" smtClean="0">
              <a:solidFill>
                <a:srgbClr val="99FF99"/>
              </a:solidFill>
              <a:effectLst>
                <a:glow rad="101600">
                  <a:schemeClr val="tx1">
                    <a:alpha val="60000"/>
                  </a:schemeClr>
                </a:glow>
              </a:effectLst>
              <a:latin typeface="Georgia" panose="02040502050405020303" pitchFamily="18" charset="0"/>
            </a:endParaRPr>
          </a:p>
          <a:p>
            <a:pPr>
              <a:lnSpc>
                <a:spcPct val="150000"/>
              </a:lnSpc>
            </a:pPr>
            <a:r>
              <a:rPr lang="en-US" sz="2400" b="1" dirty="0">
                <a:solidFill>
                  <a:srgbClr val="99FF99"/>
                </a:solidFill>
                <a:effectLst>
                  <a:glow rad="101600">
                    <a:schemeClr val="tx1">
                      <a:alpha val="60000"/>
                    </a:schemeClr>
                  </a:glow>
                </a:effectLst>
                <a:latin typeface="Georgia" panose="02040502050405020303" pitchFamily="18" charset="0"/>
              </a:rPr>
              <a:t>“How are you feeling right now</a:t>
            </a:r>
            <a:r>
              <a:rPr lang="en-US" sz="2400" b="1" dirty="0" smtClean="0">
                <a:solidFill>
                  <a:srgbClr val="99FF99"/>
                </a:solidFill>
                <a:effectLst>
                  <a:glow rad="101600">
                    <a:schemeClr val="tx1">
                      <a:alpha val="60000"/>
                    </a:schemeClr>
                  </a:glow>
                </a:effectLst>
                <a:latin typeface="Georgia" panose="02040502050405020303" pitchFamily="18" charset="0"/>
              </a:rPr>
              <a:t>?”</a:t>
            </a:r>
            <a:endParaRPr lang="en-US" sz="2400" b="1" dirty="0" smtClean="0">
              <a:solidFill>
                <a:srgbClr val="99FF99"/>
              </a:solidFill>
              <a:effectLst>
                <a:glow rad="101600">
                  <a:schemeClr val="tx1">
                    <a:alpha val="60000"/>
                  </a:schemeClr>
                </a:glow>
              </a:effectLst>
              <a:latin typeface="Georgia" panose="02040502050405020303" pitchFamily="18" charset="0"/>
            </a:endParaRPr>
          </a:p>
          <a:p>
            <a:pPr marL="342900" indent="-342900">
              <a:lnSpc>
                <a:spcPct val="150000"/>
              </a:lnSpc>
              <a:buAutoNum type="arabicPeriod" startAt="2"/>
            </a:pPr>
            <a:r>
              <a:rPr lang="en-US" sz="2400" b="1" dirty="0" smtClean="0">
                <a:solidFill>
                  <a:schemeClr val="accent2">
                    <a:lumMod val="60000"/>
                    <a:lumOff val="40000"/>
                  </a:schemeClr>
                </a:solidFill>
                <a:effectLst>
                  <a:glow rad="101600">
                    <a:schemeClr val="tx1">
                      <a:alpha val="60000"/>
                    </a:schemeClr>
                  </a:glow>
                </a:effectLst>
                <a:latin typeface="Georgia" panose="02040502050405020303" pitchFamily="18" charset="0"/>
              </a:rPr>
              <a:t>Close-Ended Questions</a:t>
            </a:r>
            <a:endParaRPr lang="en-US" sz="2400" b="1" dirty="0" smtClean="0">
              <a:solidFill>
                <a:schemeClr val="accent2">
                  <a:lumMod val="60000"/>
                  <a:lumOff val="40000"/>
                </a:schemeClr>
              </a:solidFill>
              <a:effectLst>
                <a:glow rad="101600">
                  <a:schemeClr val="tx1">
                    <a:alpha val="60000"/>
                  </a:schemeClr>
                </a:glow>
              </a:effectLst>
              <a:latin typeface="Georgia" panose="02040502050405020303" pitchFamily="18" charset="0"/>
            </a:endParaRPr>
          </a:p>
          <a:p>
            <a:pPr>
              <a:lnSpc>
                <a:spcPct val="150000"/>
              </a:lnSpc>
            </a:pPr>
            <a:r>
              <a:rPr lang="en-US" sz="2400" b="1" dirty="0">
                <a:solidFill>
                  <a:schemeClr val="accent2">
                    <a:lumMod val="60000"/>
                    <a:lumOff val="40000"/>
                  </a:schemeClr>
                </a:solidFill>
                <a:effectLst>
                  <a:glow rad="101600">
                    <a:schemeClr val="tx1">
                      <a:alpha val="60000"/>
                    </a:schemeClr>
                  </a:glow>
                </a:effectLst>
                <a:latin typeface="Georgia" panose="02040502050405020303" pitchFamily="18" charset="0"/>
              </a:rPr>
              <a:t>“Are you feeling upset right now</a:t>
            </a:r>
            <a:r>
              <a:rPr lang="en-US" sz="2400" b="1" dirty="0" smtClean="0">
                <a:solidFill>
                  <a:schemeClr val="accent2">
                    <a:lumMod val="60000"/>
                    <a:lumOff val="40000"/>
                  </a:schemeClr>
                </a:solidFill>
                <a:effectLst>
                  <a:glow rad="101600">
                    <a:schemeClr val="tx1">
                      <a:alpha val="60000"/>
                    </a:schemeClr>
                  </a:glow>
                </a:effectLst>
                <a:latin typeface="Georgia" panose="02040502050405020303" pitchFamily="18" charset="0"/>
              </a:rPr>
              <a:t>?”</a:t>
            </a:r>
            <a:endParaRPr lang="en-US" sz="2400" b="1" dirty="0" smtClean="0">
              <a:solidFill>
                <a:schemeClr val="accent2">
                  <a:lumMod val="60000"/>
                  <a:lumOff val="40000"/>
                </a:schemeClr>
              </a:solidFill>
              <a:effectLst>
                <a:glow rad="101600">
                  <a:schemeClr val="tx1">
                    <a:alpha val="60000"/>
                  </a:schemeClr>
                </a:glow>
              </a:effectLst>
              <a:latin typeface="Georgia" panose="02040502050405020303" pitchFamily="18" charset="0"/>
            </a:endParaRPr>
          </a:p>
          <a:p>
            <a:pPr marL="342900" indent="-342900">
              <a:lnSpc>
                <a:spcPct val="150000"/>
              </a:lnSpc>
              <a:buAutoNum type="arabicPeriod" startAt="3"/>
            </a:pPr>
            <a:r>
              <a:rPr lang="en-IN" sz="2400" b="1" dirty="0" smtClean="0">
                <a:solidFill>
                  <a:schemeClr val="accent4">
                    <a:lumMod val="20000"/>
                    <a:lumOff val="80000"/>
                  </a:schemeClr>
                </a:solidFill>
                <a:effectLst>
                  <a:glow rad="101600">
                    <a:schemeClr val="tx1">
                      <a:alpha val="60000"/>
                    </a:schemeClr>
                  </a:glow>
                </a:effectLst>
                <a:latin typeface="Georgia" panose="02040502050405020303" pitchFamily="18" charset="0"/>
              </a:rPr>
              <a:t>Meaning-Based Questions</a:t>
            </a:r>
            <a:endParaRPr lang="en-IN" sz="2400" b="1" dirty="0" smtClean="0">
              <a:solidFill>
                <a:schemeClr val="accent4">
                  <a:lumMod val="20000"/>
                  <a:lumOff val="80000"/>
                </a:schemeClr>
              </a:solidFill>
              <a:effectLst>
                <a:glow rad="101600">
                  <a:schemeClr val="tx1">
                    <a:alpha val="60000"/>
                  </a:schemeClr>
                </a:glow>
              </a:effectLst>
              <a:latin typeface="Georgia" panose="02040502050405020303" pitchFamily="18" charset="0"/>
            </a:endParaRPr>
          </a:p>
          <a:p>
            <a:pPr>
              <a:lnSpc>
                <a:spcPct val="150000"/>
              </a:lnSpc>
            </a:pPr>
            <a:r>
              <a:rPr lang="en-IN" sz="2400" b="1" dirty="0">
                <a:solidFill>
                  <a:schemeClr val="accent4">
                    <a:lumMod val="20000"/>
                    <a:lumOff val="80000"/>
                  </a:schemeClr>
                </a:solidFill>
                <a:effectLst>
                  <a:glow rad="101600">
                    <a:schemeClr val="tx1">
                      <a:alpha val="60000"/>
                    </a:schemeClr>
                  </a:glow>
                </a:effectLst>
                <a:latin typeface="Georgia" panose="02040502050405020303" pitchFamily="18" charset="0"/>
              </a:rPr>
              <a:t>“What might that mean?”</a:t>
            </a:r>
            <a:endParaRPr lang="en-IN" sz="2400" b="1" dirty="0">
              <a:solidFill>
                <a:schemeClr val="accent4">
                  <a:lumMod val="20000"/>
                  <a:lumOff val="80000"/>
                </a:schemeClr>
              </a:solidFill>
              <a:effectLst>
                <a:glow rad="101600">
                  <a:schemeClr val="tx1">
                    <a:alpha val="60000"/>
                  </a:schemeClr>
                </a:glo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sz="3600" b="1" dirty="0">
                <a:solidFill>
                  <a:srgbClr val="FFCCFF"/>
                </a:solidFill>
                <a:effectLst>
                  <a:glow rad="101600">
                    <a:schemeClr val="tx1">
                      <a:alpha val="60000"/>
                    </a:schemeClr>
                  </a:glow>
                </a:effectLst>
                <a:latin typeface="Bright DEMO" pitchFamily="50" charset="0"/>
              </a:rPr>
              <a:t>Never Judge</a:t>
            </a:r>
            <a:endParaRPr lang="en-IN" sz="3600" b="1" dirty="0">
              <a:solidFill>
                <a:srgbClr val="FFCCFF"/>
              </a:solidFill>
              <a:effectLst>
                <a:glow rad="101600">
                  <a:schemeClr val="tx1">
                    <a:alpha val="60000"/>
                  </a:schemeClr>
                </a:glow>
              </a:effectLst>
              <a:latin typeface="Bright DEMO" pitchFamily="50" charset="0"/>
            </a:endParaRPr>
          </a:p>
        </p:txBody>
      </p:sp>
      <p:sp>
        <p:nvSpPr>
          <p:cNvPr id="3" name="Rectangle 2"/>
          <p:cNvSpPr/>
          <p:nvPr/>
        </p:nvSpPr>
        <p:spPr>
          <a:xfrm>
            <a:off x="1159933" y="1761067"/>
            <a:ext cx="6815667" cy="3903056"/>
          </a:xfrm>
          <a:prstGeom prst="rect">
            <a:avLst/>
          </a:prstGeom>
        </p:spPr>
        <p:txBody>
          <a:bodyPr wrap="square">
            <a:spAutoFit/>
          </a:bodyPr>
          <a:lstStyle/>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A teenager can easily know when you are looking down on them and judging them. If </a:t>
            </a:r>
            <a:r>
              <a:rPr lang="en-US" sz="2400" b="1" dirty="0" smtClean="0">
                <a:solidFill>
                  <a:srgbClr val="FFFFCC"/>
                </a:solidFill>
                <a:effectLst>
                  <a:glow rad="101600">
                    <a:schemeClr val="tx1">
                      <a:alpha val="60000"/>
                    </a:schemeClr>
                  </a:glow>
                </a:effectLst>
                <a:latin typeface="Georgia" panose="02040502050405020303" pitchFamily="18" charset="0"/>
              </a:rPr>
              <a:t>they </a:t>
            </a:r>
            <a:r>
              <a:rPr lang="en-US" sz="2400" b="1" dirty="0">
                <a:solidFill>
                  <a:srgbClr val="FFFFCC"/>
                </a:solidFill>
                <a:effectLst>
                  <a:glow rad="101600">
                    <a:schemeClr val="tx1">
                      <a:alpha val="60000"/>
                    </a:schemeClr>
                  </a:glow>
                </a:effectLst>
                <a:latin typeface="Georgia" panose="02040502050405020303" pitchFamily="18" charset="0"/>
              </a:rPr>
              <a:t>start to feel like you are judging them, then they will most probably shut down and fear sharing it with other people because they assume they will be judged. </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sz="3600" b="1" dirty="0">
                <a:solidFill>
                  <a:srgbClr val="FFFF99"/>
                </a:solidFill>
                <a:effectLst>
                  <a:glow rad="101600">
                    <a:schemeClr val="tx1">
                      <a:alpha val="60000"/>
                    </a:schemeClr>
                  </a:glow>
                </a:effectLst>
                <a:latin typeface="Algerian" panose="04020705040A02060702" pitchFamily="82" charset="0"/>
              </a:rPr>
              <a:t>3) Goal </a:t>
            </a:r>
            <a:r>
              <a:rPr lang="en-IN" sz="3600" b="1" dirty="0" smtClean="0">
                <a:solidFill>
                  <a:srgbClr val="FFFF99"/>
                </a:solidFill>
                <a:effectLst>
                  <a:glow rad="101600">
                    <a:schemeClr val="tx1">
                      <a:alpha val="60000"/>
                    </a:schemeClr>
                  </a:glow>
                </a:effectLst>
                <a:latin typeface="Algerian" panose="04020705040A02060702" pitchFamily="82" charset="0"/>
              </a:rPr>
              <a:t>setting</a:t>
            </a:r>
            <a:br>
              <a:rPr lang="en-US" sz="3600" b="1" dirty="0">
                <a:solidFill>
                  <a:srgbClr val="FFFF99"/>
                </a:solidFill>
                <a:effectLst>
                  <a:glow rad="101600">
                    <a:schemeClr val="tx1">
                      <a:alpha val="60000"/>
                    </a:schemeClr>
                  </a:glow>
                </a:effectLst>
                <a:latin typeface="Algerian" panose="04020705040A02060702" pitchFamily="82" charset="0"/>
              </a:rPr>
            </a:br>
            <a:r>
              <a:rPr lang="en-US" sz="2400" b="1" dirty="0">
                <a:solidFill>
                  <a:srgbClr val="FFFF99"/>
                </a:solidFill>
                <a:effectLst>
                  <a:glow rad="101600">
                    <a:schemeClr val="tx1">
                      <a:alpha val="60000"/>
                    </a:schemeClr>
                  </a:glow>
                </a:effectLst>
                <a:latin typeface="Algerian" panose="04020705040A02060702" pitchFamily="82" charset="0"/>
              </a:rPr>
              <a:t>இலக்கு நிர்ணயம்</a:t>
            </a:r>
            <a:endParaRPr lang="en-IN" sz="2400" b="1" dirty="0">
              <a:solidFill>
                <a:srgbClr val="FFFF99"/>
              </a:solidFill>
              <a:effectLst>
                <a:glow rad="101600">
                  <a:schemeClr val="tx1">
                    <a:alpha val="60000"/>
                  </a:schemeClr>
                </a:glow>
              </a:effectLst>
              <a:latin typeface="Algerian" panose="04020705040A02060702" pitchFamily="82" charset="0"/>
            </a:endParaRPr>
          </a:p>
        </p:txBody>
      </p:sp>
      <p:sp>
        <p:nvSpPr>
          <p:cNvPr id="3" name="Rectangle 2"/>
          <p:cNvSpPr/>
          <p:nvPr/>
        </p:nvSpPr>
        <p:spPr>
          <a:xfrm>
            <a:off x="1100667" y="2032000"/>
            <a:ext cx="6951133" cy="4154984"/>
          </a:xfrm>
          <a:prstGeom prst="rect">
            <a:avLst/>
          </a:prstGeom>
        </p:spPr>
        <p:txBody>
          <a:bodyPr wrap="square">
            <a:spAutoFit/>
          </a:bodyPr>
          <a:lstStyle/>
          <a:p>
            <a:pPr algn="just"/>
            <a:r>
              <a:rPr lang="en-US" sz="2400" b="1" dirty="0">
                <a:solidFill>
                  <a:srgbClr val="FFFFCC"/>
                </a:solidFill>
                <a:effectLst>
                  <a:glow rad="101600">
                    <a:schemeClr val="tx1">
                      <a:alpha val="60000"/>
                    </a:schemeClr>
                  </a:glow>
                </a:effectLst>
                <a:latin typeface="Georgia" panose="02040502050405020303" pitchFamily="18" charset="0"/>
              </a:rPr>
              <a:t>Goal setting is a great way to get teens to think about their future. It’s great to get youth to think both about long-term and short-term goals</a:t>
            </a:r>
            <a:r>
              <a:rPr lang="en-US" sz="2400" b="1" dirty="0" smtClean="0">
                <a:solidFill>
                  <a:srgbClr val="FFFFCC"/>
                </a:solidFill>
                <a:effectLst>
                  <a:glow rad="101600">
                    <a:schemeClr val="tx1">
                      <a:alpha val="60000"/>
                    </a:schemeClr>
                  </a:glow>
                </a:effectLst>
                <a:latin typeface="Georgia" panose="02040502050405020303" pitchFamily="18" charset="0"/>
              </a:rPr>
              <a:t>.</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marL="342900" indent="-342900" algn="just">
              <a:buAutoNum type="arabicPeriod"/>
            </a:pPr>
            <a:r>
              <a:rPr lang="en-IN" sz="2400" b="1" dirty="0" smtClean="0">
                <a:solidFill>
                  <a:srgbClr val="FFFFCC"/>
                </a:solidFill>
                <a:effectLst>
                  <a:glow rad="101600">
                    <a:schemeClr val="tx1">
                      <a:alpha val="60000"/>
                    </a:schemeClr>
                  </a:glow>
                </a:effectLst>
                <a:latin typeface="Georgia" panose="02040502050405020303" pitchFamily="18" charset="0"/>
              </a:rPr>
              <a:t>Long </a:t>
            </a:r>
            <a:r>
              <a:rPr lang="en-IN" sz="2400" b="1" dirty="0">
                <a:solidFill>
                  <a:srgbClr val="FFFFCC"/>
                </a:solidFill>
                <a:effectLst>
                  <a:glow rad="101600">
                    <a:schemeClr val="tx1">
                      <a:alpha val="60000"/>
                    </a:schemeClr>
                  </a:glow>
                </a:effectLst>
                <a:latin typeface="Georgia" panose="02040502050405020303" pitchFamily="18" charset="0"/>
              </a:rPr>
              <a:t>Term </a:t>
            </a:r>
            <a:r>
              <a:rPr lang="en-IN" sz="2400" b="1" dirty="0" smtClean="0">
                <a:solidFill>
                  <a:srgbClr val="FFFFCC"/>
                </a:solidFill>
                <a:effectLst>
                  <a:glow rad="101600">
                    <a:schemeClr val="tx1">
                      <a:alpha val="60000"/>
                    </a:schemeClr>
                  </a:glow>
                </a:effectLst>
                <a:latin typeface="Georgia" panose="02040502050405020303" pitchFamily="18" charset="0"/>
              </a:rPr>
              <a:t>Goals</a:t>
            </a:r>
            <a:endParaRPr lang="en-IN" sz="2400" b="1" dirty="0" smtClean="0">
              <a:solidFill>
                <a:srgbClr val="FFFFCC"/>
              </a:solidFill>
              <a:effectLst>
                <a:glow rad="101600">
                  <a:schemeClr val="tx1">
                    <a:alpha val="60000"/>
                  </a:schemeClr>
                </a:glow>
              </a:effectLst>
              <a:latin typeface="Georgia" panose="02040502050405020303" pitchFamily="18" charset="0"/>
            </a:endParaRPr>
          </a:p>
          <a:p>
            <a:pPr algn="just"/>
            <a:r>
              <a:rPr lang="en-IN" sz="2400" b="1" dirty="0" smtClean="0">
                <a:solidFill>
                  <a:srgbClr val="FFFFCC"/>
                </a:solidFill>
                <a:effectLst>
                  <a:glow rad="101600">
                    <a:schemeClr val="tx1">
                      <a:alpha val="60000"/>
                    </a:schemeClr>
                  </a:glow>
                </a:effectLst>
                <a:latin typeface="Georgia" panose="02040502050405020303" pitchFamily="18" charset="0"/>
              </a:rPr>
              <a:t>Encourage him to think</a:t>
            </a:r>
            <a:r>
              <a:rPr lang="en-US" sz="2400" b="1" dirty="0" smtClean="0">
                <a:solidFill>
                  <a:srgbClr val="FFFFCC"/>
                </a:solidFill>
                <a:effectLst>
                  <a:glow rad="101600">
                    <a:schemeClr val="tx1">
                      <a:alpha val="60000"/>
                    </a:schemeClr>
                  </a:glow>
                </a:effectLst>
                <a:latin typeface="Georgia" panose="02040502050405020303" pitchFamily="18" charset="0"/>
              </a:rPr>
              <a:t> </a:t>
            </a:r>
            <a:r>
              <a:rPr lang="en-US" sz="2400" b="1" dirty="0">
                <a:solidFill>
                  <a:srgbClr val="FFFFCC"/>
                </a:solidFill>
                <a:effectLst>
                  <a:glow rad="101600">
                    <a:schemeClr val="tx1">
                      <a:alpha val="60000"/>
                    </a:schemeClr>
                  </a:glow>
                </a:effectLst>
                <a:latin typeface="Georgia" panose="02040502050405020303" pitchFamily="18" charset="0"/>
              </a:rPr>
              <a:t>about </a:t>
            </a:r>
            <a:r>
              <a:rPr lang="en-US" sz="2400" b="1" dirty="0" smtClean="0">
                <a:solidFill>
                  <a:srgbClr val="FFFFCC"/>
                </a:solidFill>
                <a:effectLst>
                  <a:glow rad="101600">
                    <a:schemeClr val="tx1">
                      <a:alpha val="60000"/>
                    </a:schemeClr>
                  </a:glow>
                </a:effectLst>
                <a:latin typeface="Georgia" panose="02040502050405020303" pitchFamily="18" charset="0"/>
              </a:rPr>
              <a:t>himself </a:t>
            </a:r>
            <a:r>
              <a:rPr lang="en-US" sz="2400" b="1" dirty="0">
                <a:solidFill>
                  <a:srgbClr val="FFFFCC"/>
                </a:solidFill>
                <a:effectLst>
                  <a:glow rad="101600">
                    <a:schemeClr val="tx1">
                      <a:alpha val="60000"/>
                    </a:schemeClr>
                  </a:glow>
                </a:effectLst>
                <a:latin typeface="Georgia" panose="02040502050405020303" pitchFamily="18" charset="0"/>
              </a:rPr>
              <a:t>as a huge </a:t>
            </a:r>
            <a:r>
              <a:rPr lang="en-US" sz="2400" b="1" dirty="0" smtClean="0">
                <a:solidFill>
                  <a:srgbClr val="FFFFCC"/>
                </a:solidFill>
                <a:effectLst>
                  <a:glow rad="101600">
                    <a:schemeClr val="tx1">
                      <a:alpha val="60000"/>
                    </a:schemeClr>
                  </a:glow>
                </a:effectLst>
                <a:latin typeface="Georgia" panose="02040502050405020303" pitchFamily="18" charset="0"/>
              </a:rPr>
              <a:t>success</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marL="342900" indent="-342900" algn="just">
              <a:buAutoNum type="arabicPeriod" startAt="2"/>
            </a:pPr>
            <a:r>
              <a:rPr lang="en-IN" sz="2400" b="1" dirty="0" smtClean="0">
                <a:solidFill>
                  <a:srgbClr val="FFFFCC"/>
                </a:solidFill>
                <a:effectLst>
                  <a:glow rad="101600">
                    <a:schemeClr val="tx1">
                      <a:alpha val="60000"/>
                    </a:schemeClr>
                  </a:glow>
                </a:effectLst>
                <a:latin typeface="Georgia" panose="02040502050405020303" pitchFamily="18" charset="0"/>
              </a:rPr>
              <a:t>Short-Term </a:t>
            </a:r>
            <a:r>
              <a:rPr lang="en-IN" sz="2400" b="1" dirty="0">
                <a:solidFill>
                  <a:srgbClr val="FFFFCC"/>
                </a:solidFill>
                <a:effectLst>
                  <a:glow rad="101600">
                    <a:schemeClr val="tx1">
                      <a:alpha val="60000"/>
                    </a:schemeClr>
                  </a:glow>
                </a:effectLst>
                <a:latin typeface="Georgia" panose="02040502050405020303" pitchFamily="18" charset="0"/>
              </a:rPr>
              <a:t>Goals </a:t>
            </a:r>
            <a:endParaRPr lang="en-IN" sz="2400" b="1" dirty="0" smtClean="0">
              <a:solidFill>
                <a:srgbClr val="FFFFCC"/>
              </a:solidFill>
              <a:effectLst>
                <a:glow rad="101600">
                  <a:schemeClr val="tx1">
                    <a:alpha val="60000"/>
                  </a:schemeClr>
                </a:glow>
              </a:effectLst>
              <a:latin typeface="Georgia" panose="02040502050405020303" pitchFamily="18" charset="0"/>
            </a:endParaRPr>
          </a:p>
          <a:p>
            <a:pPr algn="just"/>
            <a:r>
              <a:rPr lang="en-US" sz="2400" b="1" dirty="0" smtClean="0">
                <a:solidFill>
                  <a:srgbClr val="FFFFCC"/>
                </a:solidFill>
                <a:effectLst>
                  <a:glow rad="101600">
                    <a:schemeClr val="tx1">
                      <a:alpha val="60000"/>
                    </a:schemeClr>
                  </a:glow>
                </a:effectLst>
                <a:latin typeface="Georgia" panose="02040502050405020303" pitchFamily="18" charset="0"/>
              </a:rPr>
              <a:t>Help the teen </a:t>
            </a:r>
            <a:r>
              <a:rPr lang="en-US" sz="2400" b="1" dirty="0">
                <a:solidFill>
                  <a:srgbClr val="FFFFCC"/>
                </a:solidFill>
                <a:effectLst>
                  <a:glow rad="101600">
                    <a:schemeClr val="tx1">
                      <a:alpha val="60000"/>
                    </a:schemeClr>
                  </a:glow>
                </a:effectLst>
                <a:latin typeface="Georgia" panose="02040502050405020303" pitchFamily="18" charset="0"/>
              </a:rPr>
              <a:t>develop Specific, Measurable, Achievable, Realistic, and Time-bound (SMART) goals.</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0" y="0"/>
            <a:ext cx="9144000" cy="6858000"/>
          </a:xfrm>
          <a:prstGeom prst="rect">
            <a:avLst/>
          </a:prstGeom>
        </p:spPr>
      </p:pic>
      <p:sp>
        <p:nvSpPr>
          <p:cNvPr id="2" name="Title 1"/>
          <p:cNvSpPr>
            <a:spLocks noGrp="1"/>
          </p:cNvSpPr>
          <p:nvPr>
            <p:ph type="title"/>
          </p:nvPr>
        </p:nvSpPr>
        <p:spPr/>
        <p:txBody>
          <a:bodyPr>
            <a:normAutofit/>
          </a:bodyPr>
          <a:lstStyle/>
          <a:p>
            <a:pPr algn="ctr"/>
            <a:r>
              <a:rPr lang="en-IN" sz="3600" b="1" dirty="0">
                <a:solidFill>
                  <a:srgbClr val="FFCCFF"/>
                </a:solidFill>
                <a:latin typeface="Bright DEMO" pitchFamily="50" charset="0"/>
              </a:rPr>
              <a:t>Activate their family systems</a:t>
            </a:r>
            <a:endParaRPr lang="en-IN" sz="3600" b="1" dirty="0">
              <a:solidFill>
                <a:srgbClr val="FFCCFF"/>
              </a:solidFill>
              <a:latin typeface="Bright DEMO" pitchFamily="50" charset="0"/>
            </a:endParaRPr>
          </a:p>
        </p:txBody>
      </p:sp>
      <p:sp>
        <p:nvSpPr>
          <p:cNvPr id="3" name="Rectangle 2"/>
          <p:cNvSpPr/>
          <p:nvPr/>
        </p:nvSpPr>
        <p:spPr>
          <a:xfrm>
            <a:off x="482601" y="1591724"/>
            <a:ext cx="8246532" cy="5078313"/>
          </a:xfrm>
          <a:prstGeom prst="rect">
            <a:avLst/>
          </a:prstGeom>
        </p:spPr>
        <p:txBody>
          <a:bodyPr wrap="square">
            <a:spAutoFit/>
          </a:bodyPr>
          <a:lstStyle/>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During the counselling, never promise the teen confidentiality. Tell them you will try your best to keep the conversation private but </a:t>
            </a:r>
            <a:r>
              <a:rPr lang="en-US" sz="2400" b="1" dirty="0" smtClean="0">
                <a:solidFill>
                  <a:srgbClr val="FFFFCC"/>
                </a:solidFill>
                <a:effectLst>
                  <a:glow rad="101600">
                    <a:schemeClr val="tx1">
                      <a:alpha val="60000"/>
                    </a:schemeClr>
                  </a:glow>
                </a:effectLst>
                <a:latin typeface="Georgia" panose="02040502050405020303" pitchFamily="18" charset="0"/>
              </a:rPr>
              <a:t>there </a:t>
            </a:r>
            <a:r>
              <a:rPr lang="en-US" sz="2400" b="1" dirty="0">
                <a:solidFill>
                  <a:srgbClr val="FFFFCC"/>
                </a:solidFill>
                <a:effectLst>
                  <a:glow rad="101600">
                    <a:schemeClr val="tx1">
                      <a:alpha val="60000"/>
                    </a:schemeClr>
                  </a:glow>
                </a:effectLst>
                <a:latin typeface="Georgia" panose="02040502050405020303" pitchFamily="18" charset="0"/>
              </a:rPr>
              <a:t>are some cases like drugs, alcohol, and danger to self that you have to bypass the desire of the teen to have their parents be in the dark. </a:t>
            </a:r>
            <a:endParaRPr lang="en-US" sz="2400" b="1" dirty="0" smtClean="0">
              <a:solidFill>
                <a:srgbClr val="FFFFCC"/>
              </a:solidFill>
              <a:effectLst>
                <a:glow rad="101600">
                  <a:schemeClr val="tx1">
                    <a:alpha val="60000"/>
                  </a:schemeClr>
                </a:glow>
              </a:effectLst>
              <a:latin typeface="Georgia" panose="02040502050405020303" pitchFamily="18" charset="0"/>
            </a:endParaRPr>
          </a:p>
          <a:p>
            <a:pPr algn="just">
              <a:lnSpc>
                <a:spcPct val="150000"/>
              </a:lnSpc>
            </a:pPr>
            <a:r>
              <a:rPr lang="en-US" sz="2400" b="1" dirty="0">
                <a:solidFill>
                  <a:srgbClr val="FFFFCC"/>
                </a:solidFill>
                <a:effectLst>
                  <a:glow rad="101600">
                    <a:schemeClr val="tx1">
                      <a:alpha val="60000"/>
                    </a:schemeClr>
                  </a:glow>
                </a:effectLst>
                <a:latin typeface="Georgia" panose="02040502050405020303" pitchFamily="18" charset="0"/>
              </a:rPr>
              <a:t>Having the parents aware that there is a problem can help in providing a solution that you may have not thought of before. </a:t>
            </a:r>
            <a:endParaRPr lang="en-IN" sz="2400" b="1" dirty="0">
              <a:solidFill>
                <a:srgbClr val="FFFFCC"/>
              </a:solidFill>
              <a:effectLst>
                <a:glow rad="101600">
                  <a:schemeClr val="tx1">
                    <a:alpha val="60000"/>
                  </a:schemeClr>
                </a:glow>
              </a:effectLst>
              <a:latin typeface="Georgia" panose="02040502050405020303"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0" y="0"/>
            <a:ext cx="9144000" cy="6858000"/>
          </a:xfrm>
          <a:prstGeom prst="rect">
            <a:avLst/>
          </a:prstGeom>
        </p:spPr>
      </p:pic>
      <p:sp>
        <p:nvSpPr>
          <p:cNvPr id="2" name="Rectangle 1"/>
          <p:cNvSpPr/>
          <p:nvPr/>
        </p:nvSpPr>
        <p:spPr>
          <a:xfrm>
            <a:off x="1143000" y="1727202"/>
            <a:ext cx="6841067" cy="3416320"/>
          </a:xfrm>
          <a:prstGeom prst="rect">
            <a:avLst/>
          </a:prstGeom>
        </p:spPr>
        <p:txBody>
          <a:bodyPr wrap="square">
            <a:spAutoFit/>
          </a:bodyPr>
          <a:lstStyle/>
          <a:p>
            <a:pPr algn="just">
              <a:lnSpc>
                <a:spcPct val="150000"/>
              </a:lnSpc>
            </a:pPr>
            <a:r>
              <a:rPr lang="en-US" dirty="0"/>
              <a:t> </a:t>
            </a:r>
            <a:r>
              <a:rPr lang="en-US" sz="2400" b="1" dirty="0" smtClean="0">
                <a:solidFill>
                  <a:srgbClr val="FFFF99"/>
                </a:solidFill>
                <a:effectLst>
                  <a:glow rad="101600">
                    <a:schemeClr val="tx1">
                      <a:alpha val="60000"/>
                    </a:schemeClr>
                  </a:glow>
                </a:effectLst>
                <a:latin typeface="Georgia" panose="02040502050405020303" pitchFamily="18" charset="0"/>
              </a:rPr>
              <a:t>The </a:t>
            </a:r>
            <a:r>
              <a:rPr lang="en-US" sz="2400" b="1" dirty="0">
                <a:solidFill>
                  <a:srgbClr val="FFFF99"/>
                </a:solidFill>
                <a:effectLst>
                  <a:glow rad="101600">
                    <a:schemeClr val="tx1">
                      <a:alpha val="60000"/>
                    </a:schemeClr>
                  </a:glow>
                </a:effectLst>
                <a:latin typeface="Georgia" panose="02040502050405020303" pitchFamily="18" charset="0"/>
              </a:rPr>
              <a:t>use of creativity in counseling with teens is encouraged. Creativity can provide venues for teen clients to fully develop and express their thoughts, behaviors, and feelings while becoming </a:t>
            </a:r>
            <a:r>
              <a:rPr lang="en-US" sz="2400" b="1" dirty="0" smtClean="0">
                <a:solidFill>
                  <a:srgbClr val="FFFF99"/>
                </a:solidFill>
                <a:effectLst>
                  <a:glow rad="101600">
                    <a:schemeClr val="tx1">
                      <a:alpha val="60000"/>
                    </a:schemeClr>
                  </a:glow>
                </a:effectLst>
                <a:latin typeface="Georgia" panose="02040502050405020303" pitchFamily="18" charset="0"/>
              </a:rPr>
              <a:t>empowered. </a:t>
            </a:r>
            <a:endParaRPr lang="en-IN" sz="2400" b="1" dirty="0">
              <a:solidFill>
                <a:srgbClr val="FFFF99"/>
              </a:solidFill>
              <a:effectLst>
                <a:glow rad="101600">
                  <a:schemeClr val="tx1">
                    <a:alpha val="60000"/>
                  </a:schemeClr>
                </a:glow>
              </a:effectLst>
              <a:latin typeface="Georgia" panose="020405020504050203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9342</Words>
  <Application>WPS Presentation</Application>
  <PresentationFormat>On-screen Show (4:3)</PresentationFormat>
  <Paragraphs>261</Paragraphs>
  <Slides>39</Slides>
  <Notes>0</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39</vt:i4>
      </vt:variant>
    </vt:vector>
  </HeadingPairs>
  <TitlesOfParts>
    <vt:vector size="72" baseType="lpstr">
      <vt:lpstr>Arial</vt:lpstr>
      <vt:lpstr>SimSun</vt:lpstr>
      <vt:lpstr>Wingdings</vt:lpstr>
      <vt:lpstr>Algerian</vt:lpstr>
      <vt:lpstr>Clarendon BT</vt:lpstr>
      <vt:lpstr>Segoe Print</vt:lpstr>
      <vt:lpstr>Bell Gothic Std Black</vt:lpstr>
      <vt:lpstr>Agency FB</vt:lpstr>
      <vt:lpstr>Sylfaen</vt:lpstr>
      <vt:lpstr>Bodoni Bd BT</vt:lpstr>
      <vt:lpstr>Baskerville Old Face</vt:lpstr>
      <vt:lpstr>GungsuhChe</vt:lpstr>
      <vt:lpstr>Aharoni</vt:lpstr>
      <vt:lpstr>Roboto</vt:lpstr>
      <vt:lpstr>Calibri</vt:lpstr>
      <vt:lpstr>Microsoft YaHei</vt:lpstr>
      <vt:lpstr>Arial Unicode MS</vt:lpstr>
      <vt:lpstr>Calibri Light</vt:lpstr>
      <vt:lpstr>Georgia</vt:lpstr>
      <vt:lpstr>Bright DEMO</vt:lpstr>
      <vt:lpstr>Bell Gothic Std Black</vt:lpstr>
      <vt:lpstr>Rosewood Std Regular</vt:lpstr>
      <vt:lpstr>Times New Roman</vt:lpstr>
      <vt:lpstr>Monotype Corsiva</vt:lpstr>
      <vt:lpstr>Gisha</vt:lpstr>
      <vt:lpstr>Modern No. 20</vt:lpstr>
      <vt:lpstr>Book Antiqua</vt:lpstr>
      <vt:lpstr>Adobe Garamond Pro Bold</vt:lpstr>
      <vt:lpstr>Adobe Garamond Pro Bold</vt:lpstr>
      <vt:lpstr>Garamond</vt:lpstr>
      <vt:lpstr>Myriad Pro Light</vt:lpstr>
      <vt:lpstr>Palatino Linotype</vt:lpstr>
      <vt:lpstr>Office Theme</vt:lpstr>
      <vt:lpstr>COUNSELING TEENS  பதின்ம வயதினருக்கு ஆலோசனை</vt:lpstr>
      <vt:lpstr>PowerPoint 演示文稿</vt:lpstr>
      <vt:lpstr>LIFE STYLE OF AN INDIAN TEEN A day in my 11th grade life goes like this</vt:lpstr>
      <vt:lpstr>COMMON COMPLAINTS OF   TEENS பொதுவான புகார்கள்</vt:lpstr>
      <vt:lpstr>PowerPoint 演示文稿</vt:lpstr>
      <vt:lpstr>FAMILY BACKGROUND</vt:lpstr>
      <vt:lpstr>SYNDROME IN TEENS    பதின்ம வயதினரின் நோய்குறிகள்</vt:lpstr>
      <vt:lpstr>POISONOUS SYNDROMES</vt:lpstr>
      <vt:lpstr>AGONY OF TEENS</vt:lpstr>
      <vt:lpstr>Loneliness</vt:lpstr>
      <vt:lpstr>CHARACTERS OF LONELINESS  தனிமையின் தன்மைகள்</vt:lpstr>
      <vt:lpstr>LONELINESS – BODY LANGUAGE தனிமைத்துவம் - உடல் மொழி </vt:lpstr>
      <vt:lpstr>1. KILLER ATTITUDE   கொலையாளி மனப்பான்மை</vt:lpstr>
      <vt:lpstr>2.  LOW SELF-CONFIDENCE - குறைந்த தன்னம்பிக்கை</vt:lpstr>
      <vt:lpstr>3.DEPRESSION</vt:lpstr>
      <vt:lpstr>Depression</vt:lpstr>
      <vt:lpstr>PowerPoint 演示文稿</vt:lpstr>
      <vt:lpstr>PowerPoint 演示文稿</vt:lpstr>
      <vt:lpstr>4. No parental love</vt:lpstr>
      <vt:lpstr>5.  PEER GROUP</vt:lpstr>
      <vt:lpstr>6.  Boyfriend/girlfriend syndrome</vt:lpstr>
      <vt:lpstr>PowerPoint 演示文稿</vt:lpstr>
      <vt:lpstr>PowerPoint 演示文稿</vt:lpstr>
      <vt:lpstr>7.  ADDICTIONs</vt:lpstr>
      <vt:lpstr>Thank you</vt:lpstr>
      <vt:lpstr>8. DRUGS</vt:lpstr>
      <vt:lpstr>PowerPoint 演示文稿</vt:lpstr>
      <vt:lpstr>9. SUICIDE</vt:lpstr>
      <vt:lpstr>PowerPoint 演示文稿</vt:lpstr>
      <vt:lpstr>PowerPoint 演示文稿</vt:lpstr>
      <vt:lpstr>Basic Counseling Skills அடிப்படை ஆலோசனை திறன்கள்</vt:lpstr>
      <vt:lpstr>PowerPoint 演示文稿</vt:lpstr>
      <vt:lpstr>1) Deep Listening ஆழமாக கேட்பது</vt:lpstr>
      <vt:lpstr>Listen and Reflect</vt:lpstr>
      <vt:lpstr>2) Skillful Questions திறமையான கேள்விகள்</vt:lpstr>
      <vt:lpstr>Never Judge</vt:lpstr>
      <vt:lpstr>3) Goal setting இலக்கு நிர்ணயம்</vt:lpstr>
      <vt:lpstr>Activate their family systems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TEENS</dc:title>
  <dc:creator>soundar</dc:creator>
  <cp:lastModifiedBy>india</cp:lastModifiedBy>
  <cp:revision>131</cp:revision>
  <dcterms:created xsi:type="dcterms:W3CDTF">2020-02-14T13:46:00Z</dcterms:created>
  <dcterms:modified xsi:type="dcterms:W3CDTF">2023-10-20T12:10:17Z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FD0B299A3436485BB55DD3C0729CEFA1</vt:lpwstr>
  </property>
  <property fmtid="{D5CDD505-2E9C-101B-9397-08002B2CF9AE}" pid="3" name="KSOProductBuildVer">
    <vt:lpwstr>1033-12.2.0.13215</vt:lpwstr>
  </property>
</Properties>
</file>