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91" r:id="rId3"/>
    <p:sldId id="307" r:id="rId4"/>
    <p:sldId id="306" r:id="rId5"/>
    <p:sldId id="292" r:id="rId7"/>
    <p:sldId id="257" r:id="rId8"/>
    <p:sldId id="263" r:id="rId9"/>
    <p:sldId id="287" r:id="rId10"/>
    <p:sldId id="286" r:id="rId11"/>
    <p:sldId id="285" r:id="rId12"/>
    <p:sldId id="297" r:id="rId13"/>
    <p:sldId id="269" r:id="rId14"/>
    <p:sldId id="348" r:id="rId15"/>
    <p:sldId id="299" r:id="rId16"/>
    <p:sldId id="300" r:id="rId17"/>
    <p:sldId id="301" r:id="rId18"/>
    <p:sldId id="303" r:id="rId19"/>
    <p:sldId id="375" r:id="rId20"/>
    <p:sldId id="377" r:id="rId21"/>
    <p:sldId id="270" r:id="rId22"/>
    <p:sldId id="365" r:id="rId23"/>
    <p:sldId id="364" r:id="rId24"/>
    <p:sldId id="271" r:id="rId25"/>
    <p:sldId id="277" r:id="rId26"/>
    <p:sldId id="278" r:id="rId27"/>
    <p:sldId id="281" r:id="rId28"/>
    <p:sldId id="333" r:id="rId29"/>
    <p:sldId id="334" r:id="rId30"/>
    <p:sldId id="335" r:id="rId31"/>
    <p:sldId id="304"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6" d="100"/>
          <a:sy n="66" d="100"/>
        </p:scale>
        <p:origin x="-73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A5D053-226B-42A3-9469-82B6BCCFAE74}"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0D278F-6A15-4679-9A1A-246EC0F73D6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Prof. K. </a:t>
            </a:r>
            <a:r>
              <a:rPr lang="en-US" dirty="0" err="1" smtClean="0"/>
              <a:t>Nagarajan</a:t>
            </a:r>
            <a:r>
              <a:rPr lang="en-US" dirty="0" smtClean="0"/>
              <a:t>, Psychology of  Learning and Human Development.</a:t>
            </a:r>
            <a:endParaRPr lang="en-US" dirty="0"/>
          </a:p>
        </p:txBody>
      </p:sp>
      <p:sp>
        <p:nvSpPr>
          <p:cNvPr id="4" name="Slide Number Placeholder 3"/>
          <p:cNvSpPr>
            <a:spLocks noGrp="1"/>
          </p:cNvSpPr>
          <p:nvPr>
            <p:ph type="sldNum" sz="quarter" idx="10"/>
          </p:nvPr>
        </p:nvSpPr>
        <p:spPr/>
        <p:txBody>
          <a:bodyPr/>
          <a:lstStyle/>
          <a:p>
            <a:fld id="{5D0D278F-6A15-4679-9A1A-246EC0F73D6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0D278F-6A15-4679-9A1A-246EC0F73D6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6858000"/>
          </a:xfrm>
          <a:prstGeom prst="rect">
            <a:avLst/>
          </a:prstGeom>
          <a:noFill/>
          <a:ln w="9525">
            <a:noFill/>
          </a:ln>
        </p:spPr>
      </p:pic>
      <p:sp>
        <p:nvSpPr>
          <p:cNvPr id="2051" name="Rectangle 3"/>
          <p:cNvSpPr>
            <a:spLocks noGrp="1" noChangeArrowheads="1"/>
          </p:cNvSpPr>
          <p:nvPr>
            <p:ph type="ctrTitle"/>
          </p:nvPr>
        </p:nvSpPr>
        <p:spPr>
          <a:xfrm>
            <a:off x="468313" y="1196975"/>
            <a:ext cx="8207375"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469900" y="2422525"/>
            <a:ext cx="8212138"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74CBEAF9-9E58-4CC8-A6FF-6DD8A58DEEA4}" type="datetimeFigureOut">
              <a:rPr lang="en-US" smtClean="0"/>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kumimoji="0"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A15C064-DD44-4CAC-873E-2D1F54821676}" type="slidenum">
              <a:rPr kumimoji="0" lang="en-US" smtClean="0"/>
            </a:fld>
            <a:endParaRPr kumimoji="0"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74CBEAF9-9E58-4CC8-A6FF-6DD8A58DEEA4}" type="datetimeFigureOut">
              <a:rPr lang="en-US" smtClean="0"/>
            </a:fld>
            <a:endParaRPr lang="en-US"/>
          </a:p>
        </p:txBody>
      </p:sp>
      <p:sp>
        <p:nvSpPr>
          <p:cNvPr id="6" name="Footer Placeholder 5"/>
          <p:cNvSpPr>
            <a:spLocks noGrp="1"/>
          </p:cNvSpPr>
          <p:nvPr>
            <p:ph type="ftr" sz="quarter" idx="11"/>
          </p:nvPr>
        </p:nvSpPr>
        <p:spPr/>
        <p:txBody>
          <a:bodyPr/>
          <a:p>
            <a:endParaRPr kumimoji="0" lang="en-US"/>
          </a:p>
        </p:txBody>
      </p:sp>
      <p:sp>
        <p:nvSpPr>
          <p:cNvPr id="7" name="Slide Number Placeholder 6"/>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74CBEAF9-9E58-4CC8-A6FF-6DD8A58DEEA4}" type="datetimeFigureOut">
              <a:rPr lang="en-US" smtClean="0"/>
            </a:fld>
            <a:endParaRPr lang="en-US"/>
          </a:p>
        </p:txBody>
      </p:sp>
      <p:sp>
        <p:nvSpPr>
          <p:cNvPr id="8" name="Footer Placeholder 7"/>
          <p:cNvSpPr>
            <a:spLocks noGrp="1"/>
          </p:cNvSpPr>
          <p:nvPr>
            <p:ph type="ftr" sz="quarter" idx="11"/>
          </p:nvPr>
        </p:nvSpPr>
        <p:spPr/>
        <p:txBody>
          <a:bodyPr/>
          <a:p>
            <a:endParaRPr kumimoji="0" lang="en-US"/>
          </a:p>
        </p:txBody>
      </p:sp>
      <p:sp>
        <p:nvSpPr>
          <p:cNvPr id="9" name="Slide Number Placeholder 8"/>
          <p:cNvSpPr>
            <a:spLocks noGrp="1"/>
          </p:cNvSpPr>
          <p:nvPr>
            <p:ph type="sldNum" sz="quarter" idx="12"/>
          </p:nvPr>
        </p:nvSpPr>
        <p:spPr/>
        <p:txBody>
          <a:bodyPr/>
          <a:p>
            <a:fld id="{CA15C064-DD44-4CAC-873E-2D1F54821676}" type="slidenum">
              <a:rPr kumimoji="0" lang="en-US" smtClean="0"/>
            </a:fld>
            <a:endParaRPr kumimoji="0"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74CBEAF9-9E58-4CC8-A6FF-6DD8A58DEEA4}" type="datetimeFigureOut">
              <a:rPr lang="en-US" smtClean="0"/>
            </a:fld>
            <a:endParaRPr lang="en-US"/>
          </a:p>
        </p:txBody>
      </p:sp>
      <p:sp>
        <p:nvSpPr>
          <p:cNvPr id="4" name="Footer Placeholder 3"/>
          <p:cNvSpPr>
            <a:spLocks noGrp="1"/>
          </p:cNvSpPr>
          <p:nvPr>
            <p:ph type="ftr" sz="quarter" idx="11"/>
          </p:nvPr>
        </p:nvSpPr>
        <p:spPr/>
        <p:txBody>
          <a:bodyPr/>
          <a:p>
            <a:endParaRPr kumimoji="0" lang="en-US"/>
          </a:p>
        </p:txBody>
      </p:sp>
      <p:sp>
        <p:nvSpPr>
          <p:cNvPr id="5" name="Slide Number Placeholder 4"/>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74CBEAF9-9E58-4CC8-A6FF-6DD8A58DEEA4}" type="datetimeFigureOut">
              <a:rPr lang="en-US" smtClean="0"/>
            </a:fld>
            <a:endParaRPr lang="en-US"/>
          </a:p>
        </p:txBody>
      </p:sp>
      <p:sp>
        <p:nvSpPr>
          <p:cNvPr id="3" name="Footer Placeholder 2"/>
          <p:cNvSpPr>
            <a:spLocks noGrp="1"/>
          </p:cNvSpPr>
          <p:nvPr>
            <p:ph type="ftr" sz="quarter" idx="11"/>
          </p:nvPr>
        </p:nvSpPr>
        <p:spPr/>
        <p:txBody>
          <a:bodyPr/>
          <a:p>
            <a:endParaRPr kumimoji="0" lang="en-US"/>
          </a:p>
        </p:txBody>
      </p:sp>
      <p:sp>
        <p:nvSpPr>
          <p:cNvPr id="4" name="Slide Number Placeholder 3"/>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74CBEAF9-9E58-4CC8-A6FF-6DD8A58DEEA4}" type="datetimeFigureOut">
              <a:rPr lang="en-US" smtClean="0"/>
            </a:fld>
            <a:endParaRPr lang="en-US"/>
          </a:p>
        </p:txBody>
      </p:sp>
      <p:sp>
        <p:nvSpPr>
          <p:cNvPr id="6" name="Footer Placeholder 5"/>
          <p:cNvSpPr>
            <a:spLocks noGrp="1"/>
          </p:cNvSpPr>
          <p:nvPr>
            <p:ph type="ftr" sz="quarter" idx="11"/>
          </p:nvPr>
        </p:nvSpPr>
        <p:spPr/>
        <p:txBody>
          <a:bodyPr/>
          <a:p>
            <a:endParaRPr kumimoji="0" lang="en-US" dirty="0"/>
          </a:p>
        </p:txBody>
      </p:sp>
      <p:sp>
        <p:nvSpPr>
          <p:cNvPr id="7" name="Slide Number Placeholder 6"/>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74CBEAF9-9E58-4CC8-A6FF-6DD8A58DEEA4}" type="datetimeFigureOut">
              <a:rPr lang="en-US" smtClean="0"/>
            </a:fld>
            <a:endParaRPr lang="en-US"/>
          </a:p>
        </p:txBody>
      </p:sp>
      <p:sp>
        <p:nvSpPr>
          <p:cNvPr id="6" name="Footer Placeholder 5"/>
          <p:cNvSpPr>
            <a:spLocks noGrp="1"/>
          </p:cNvSpPr>
          <p:nvPr>
            <p:ph type="ftr" sz="quarter" idx="11"/>
          </p:nvPr>
        </p:nvSpPr>
        <p:spPr/>
        <p:txBody>
          <a:bodyPr/>
          <a:p>
            <a:endParaRPr kumimoji="0" lang="en-US"/>
          </a:p>
        </p:txBody>
      </p:sp>
      <p:sp>
        <p:nvSpPr>
          <p:cNvPr id="7" name="Slide Number Placeholder 6"/>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4CBEAF9-9E58-4CC8-A6FF-6DD8A58DEEA4}" type="datetimeFigureOut">
              <a:rPr lang="en-US" smtClean="0"/>
            </a:fld>
            <a:endParaRPr lang="en-US"/>
          </a:p>
        </p:txBody>
      </p:sp>
      <p:sp>
        <p:nvSpPr>
          <p:cNvPr id="5" name="Footer Placeholder 4"/>
          <p:cNvSpPr>
            <a:spLocks noGrp="1"/>
          </p:cNvSpPr>
          <p:nvPr>
            <p:ph type="ftr" sz="quarter" idx="11"/>
          </p:nvPr>
        </p:nvSpPr>
        <p:spPr/>
        <p:txBody>
          <a:bodyPr/>
          <a:p>
            <a:endParaRPr kumimoji="0" lang="en-US"/>
          </a:p>
        </p:txBody>
      </p:sp>
      <p:sp>
        <p:nvSpPr>
          <p:cNvPr id="6" name="Slide Number Placeholder 5"/>
          <p:cNvSpPr>
            <a:spLocks noGrp="1"/>
          </p:cNvSpPr>
          <p:nvPr>
            <p:ph type="sldNum" sz="quarter" idx="12"/>
          </p:nvPr>
        </p:nvSpPr>
        <p:spPr/>
        <p:txBody>
          <a:bodyPr/>
          <a:p>
            <a:fld id="{CA15C064-DD44-4CAC-873E-2D1F54821676}" type="slidenum">
              <a:rPr kumimoji="0" lang="en-US" smtClean="0"/>
            </a:fld>
            <a:endParaRPr kumimoji="0"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9156700" cy="6858000"/>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algn="l" eaLnBrk="1" latinLnBrk="0" hangingPunct="1"/>
            <a:fld id="{74CBEAF9-9E58-4CC8-A6FF-6DD8A58DEEA4}" type="datetimeFigureOut">
              <a:rPr lang="en-US" smtClean="0"/>
            </a:fld>
            <a:endParaRPr lang="en-US" dirty="0">
              <a:solidFill>
                <a:schemeClr val="accent1">
                  <a:shade val="75000"/>
                </a:schemeClr>
              </a:solidFill>
            </a:endParaRPr>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algn="r" eaLnBrk="1" latinLnBrk="0" hangingPunct="1"/>
            <a:endParaRPr kumimoji="0" lang="en-US" dirty="0">
              <a:solidFill>
                <a:schemeClr val="accent1">
                  <a:shade val="75000"/>
                </a:schemeClr>
              </a:solidFill>
            </a:endParaRPr>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A15C064-DD44-4CAC-873E-2D1F54821676}" type="slidenum">
              <a:rPr kumimoji="0" lang="en-US" smtClean="0"/>
            </a:fld>
            <a:endParaRPr kumimoji="0" lang="en-US" dirty="0">
              <a:solidFill>
                <a:schemeClr val="accent1">
                  <a:shade val="7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4.emf"/><Relationship Id="rId1" Type="http://schemas.openxmlformats.org/officeDocument/2006/relationships/package" Target="../embeddings/Document1.docx"/></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package" Target="../embeddings/Document2.doc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533400"/>
          </a:xfrm>
        </p:spPr>
        <p:txBody>
          <a:bodyPr>
            <a:normAutofit fontScale="90000"/>
          </a:bodyPr>
          <a:lstStyle/>
          <a:p>
            <a:pPr algn="ctr"/>
            <a:r>
              <a:rPr lang="en-US" sz="3100" b="1" dirty="0" smtClean="0">
                <a:latin typeface="Times New Roman" panose="02020603050405020304" pitchFamily="18" charset="0"/>
                <a:cs typeface="Times New Roman" panose="02020603050405020304" pitchFamily="18" charset="0"/>
              </a:rPr>
              <a:t>DEVELOPMENTAL  PSYCHOLOGY, STUDENTS’ GUIDANCE &amp; COUNSELLING </a:t>
            </a:r>
            <a:br>
              <a:rPr lang="en-US" sz="3100" b="1" dirty="0" smtClean="0">
                <a:latin typeface="Times New Roman" panose="02020603050405020304" pitchFamily="18" charset="0"/>
                <a:cs typeface="Times New Roman" panose="02020603050405020304" pitchFamily="18" charset="0"/>
              </a:rPr>
            </a:br>
            <a:r>
              <a:rPr lang="en-US" sz="2200" b="1" cap="none" dirty="0" smtClean="0">
                <a:latin typeface="Times New Roman" panose="02020603050405020304" pitchFamily="18" charset="0"/>
                <a:cs typeface="Times New Roman" panose="02020603050405020304" pitchFamily="18" charset="0"/>
              </a:rPr>
              <a:t>b</a:t>
            </a:r>
            <a:r>
              <a:rPr lang="en-US" sz="2200" cap="none" dirty="0" smtClean="0">
                <a:latin typeface="Times New Roman" panose="02020603050405020304" pitchFamily="18" charset="0"/>
                <a:cs typeface="Times New Roman" panose="02020603050405020304" pitchFamily="18" charset="0"/>
              </a:rPr>
              <a:t>y Philomena </a:t>
            </a:r>
            <a:r>
              <a:rPr lang="en-US" sz="2200" cap="none" dirty="0" err="1" smtClean="0">
                <a:latin typeface="Times New Roman" panose="02020603050405020304" pitchFamily="18" charset="0"/>
                <a:cs typeface="Times New Roman" panose="02020603050405020304" pitchFamily="18" charset="0"/>
              </a:rPr>
              <a:t>Kanagaraj</a:t>
            </a:r>
            <a:r>
              <a:rPr lang="en-US" sz="2200" cap="none" dirty="0" smtClean="0">
                <a:latin typeface="Times New Roman" panose="02020603050405020304" pitchFamily="18" charset="0"/>
                <a:cs typeface="Times New Roman" panose="02020603050405020304" pitchFamily="18" charset="0"/>
              </a:rPr>
              <a:t> </a:t>
            </a:r>
            <a:endParaRPr lang="en-US" sz="2200" cap="none" dirty="0">
              <a:latin typeface="Times New Roman" panose="02020603050405020304" pitchFamily="18" charset="0"/>
              <a:cs typeface="Times New Roman" panose="02020603050405020304" pitchFamily="18" charset="0"/>
            </a:endParaRPr>
          </a:p>
        </p:txBody>
      </p:sp>
      <p:pic>
        <p:nvPicPr>
          <p:cNvPr id="21506" name="Picture 2" descr="DEV PSY"/>
          <p:cNvPicPr>
            <a:picLocks noGrp="1" noChangeAspect="1" noChangeArrowheads="1"/>
          </p:cNvPicPr>
          <p:nvPr>
            <p:ph idx="1"/>
          </p:nvPr>
        </p:nvPicPr>
        <p:blipFill>
          <a:blip r:embed="rId1"/>
          <a:srcRect/>
          <a:stretch>
            <a:fillRect/>
          </a:stretch>
        </p:blipFill>
        <p:spPr bwMode="auto">
          <a:xfrm>
            <a:off x="1571625" y="1426845"/>
            <a:ext cx="6276975" cy="550735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latin typeface="Times New Roman" panose="02020603050405020304" pitchFamily="18" charset="0"/>
                <a:cs typeface="Times New Roman" panose="02020603050405020304" pitchFamily="18" charset="0"/>
              </a:rPr>
              <a:t>Children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295400"/>
            <a:ext cx="8077200" cy="4784725"/>
          </a:xfrm>
        </p:spPr>
        <p:txBody>
          <a:bodyPr>
            <a:normAutofit/>
          </a:bodyPr>
          <a:lstStyle/>
          <a:p>
            <a:endParaRPr lang="en-US" dirty="0" smtClean="0"/>
          </a:p>
          <a:p>
            <a:r>
              <a:rPr lang="en-US" sz="2800" dirty="0" smtClean="0">
                <a:latin typeface="Times New Roman" panose="02020603050405020304" pitchFamily="18" charset="0"/>
                <a:cs typeface="Times New Roman" panose="02020603050405020304" pitchFamily="18" charset="0"/>
              </a:rPr>
              <a:t>But Jesus said ‘Suffer little children, and forbid them not, to come unto me, for of such is the kingdom of heaven’. Matt 19 :14 </a:t>
            </a:r>
            <a:r>
              <a:rPr lang="en-US" sz="1600" dirty="0" smtClean="0">
                <a:latin typeface="Times New Roman" panose="02020603050405020304" pitchFamily="18" charset="0"/>
                <a:cs typeface="Times New Roman" panose="02020603050405020304" pitchFamily="18" charset="0"/>
              </a:rPr>
              <a:t>(King James version) </a:t>
            </a:r>
            <a:endParaRPr lang="en-US" sz="1600" dirty="0" smtClean="0">
              <a:latin typeface="Times New Roman" panose="02020603050405020304" pitchFamily="18" charset="0"/>
              <a:cs typeface="Times New Roman" panose="02020603050405020304" pitchFamily="18" charset="0"/>
            </a:endParaRPr>
          </a:p>
          <a:p>
            <a:endParaRPr lang="en-US" sz="16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But Jesus said, “Let the little children come to me, and don’t prevent them. For of such is the Kingdom of Heaven.” Matt 19:14 </a:t>
            </a:r>
            <a:r>
              <a:rPr lang="en-US" sz="1800" dirty="0" smtClean="0">
                <a:latin typeface="Times New Roman" panose="02020603050405020304" pitchFamily="18" charset="0"/>
                <a:cs typeface="Times New Roman" panose="02020603050405020304" pitchFamily="18" charset="0"/>
              </a:rPr>
              <a:t>(</a:t>
            </a:r>
            <a:r>
              <a:rPr lang="en-US" sz="1800" dirty="0" err="1" smtClean="0">
                <a:latin typeface="Times New Roman" panose="02020603050405020304" pitchFamily="18" charset="0"/>
                <a:cs typeface="Times New Roman" panose="02020603050405020304" pitchFamily="18" charset="0"/>
              </a:rPr>
              <a:t>Lindsell</a:t>
            </a:r>
            <a:r>
              <a:rPr lang="en-US" sz="1800" dirty="0" smtClean="0">
                <a:latin typeface="Times New Roman" panose="02020603050405020304" pitchFamily="18" charset="0"/>
                <a:cs typeface="Times New Roman" panose="02020603050405020304" pitchFamily="18" charset="0"/>
              </a:rPr>
              <a:t> Study bible)</a:t>
            </a:r>
            <a:endParaRPr lang="en-US" sz="1800"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latin typeface="Times New Roman" panose="02020603050405020304" pitchFamily="18" charset="0"/>
                <a:ea typeface="BatangChe" panose="02030609000101010101" pitchFamily="49" charset="-127"/>
                <a:cs typeface="Times New Roman" panose="02020603050405020304" pitchFamily="18" charset="0"/>
              </a:rPr>
              <a:t>PSYCHOLOGY &amp; Child Psychology</a:t>
            </a:r>
            <a:endParaRPr lang="en-US" sz="2800" dirty="0"/>
          </a:p>
        </p:txBody>
      </p:sp>
      <p:sp>
        <p:nvSpPr>
          <p:cNvPr id="3" name="Content Placeholder 2"/>
          <p:cNvSpPr>
            <a:spLocks noGrp="1"/>
          </p:cNvSpPr>
          <p:nvPr>
            <p:ph idx="1"/>
          </p:nvPr>
        </p:nvSpPr>
        <p:spPr/>
        <p:txBody>
          <a:bodyPr>
            <a:normAutofit fontScale="62500" lnSpcReduction="20000"/>
          </a:bodyPr>
          <a:lstStyle/>
          <a:p>
            <a:r>
              <a:rPr lang="en-US" dirty="0" smtClean="0"/>
              <a:t>Psychology : Two Greek words </a:t>
            </a:r>
            <a:r>
              <a:rPr lang="en-US" i="1" dirty="0" smtClean="0"/>
              <a:t>‘Psyche’ </a:t>
            </a:r>
            <a:r>
              <a:rPr lang="en-US" dirty="0" smtClean="0"/>
              <a:t>meaning</a:t>
            </a:r>
            <a:r>
              <a:rPr lang="en-US" i="1" dirty="0" smtClean="0"/>
              <a:t> </a:t>
            </a:r>
            <a:r>
              <a:rPr lang="en-US" dirty="0" smtClean="0"/>
              <a:t>soul and ‘</a:t>
            </a:r>
            <a:r>
              <a:rPr lang="en-US" i="1" dirty="0" err="1" smtClean="0"/>
              <a:t>logus</a:t>
            </a:r>
            <a:r>
              <a:rPr lang="en-US" i="1" dirty="0" smtClean="0"/>
              <a:t>’</a:t>
            </a:r>
            <a:r>
              <a:rPr lang="en-US" dirty="0" smtClean="0"/>
              <a:t> meaning science or knowledge; Is the Science of the soul.</a:t>
            </a:r>
            <a:endParaRPr lang="en-US" dirty="0" smtClean="0"/>
          </a:p>
          <a:p>
            <a:endParaRPr lang="en-US" dirty="0" smtClean="0"/>
          </a:p>
          <a:p>
            <a:r>
              <a:rPr lang="en-US" dirty="0" smtClean="0"/>
              <a:t>Today Psychology is the Science of </a:t>
            </a:r>
            <a:r>
              <a:rPr lang="en-US" dirty="0" err="1" smtClean="0"/>
              <a:t>Behaviour</a:t>
            </a:r>
            <a:r>
              <a:rPr lang="en-US" dirty="0" smtClean="0"/>
              <a:t> </a:t>
            </a:r>
            <a:endParaRPr lang="en-US" dirty="0" smtClean="0"/>
          </a:p>
          <a:p>
            <a:endParaRPr lang="en-US" dirty="0" smtClean="0"/>
          </a:p>
          <a:p>
            <a:r>
              <a:rPr lang="en-US" sz="3800" b="1" dirty="0" smtClean="0"/>
              <a:t>Child Psychology </a:t>
            </a:r>
            <a:r>
              <a:rPr lang="en-US" sz="3800" dirty="0" smtClean="0"/>
              <a:t>: ‘The branch of psychology which deals with growth and development of children, role of heredity and environment in child development, different potentials found in children and their measurement, different aspects of adjustment in </a:t>
            </a:r>
            <a:r>
              <a:rPr lang="en-US" sz="3800" dirty="0" err="1" smtClean="0"/>
              <a:t>behaviour</a:t>
            </a:r>
            <a:r>
              <a:rPr lang="en-US" sz="3800" dirty="0" smtClean="0"/>
              <a:t> with environment that children achieve etc., is known as Child Psychology. </a:t>
            </a:r>
            <a:endParaRPr lang="en-US" sz="3800" dirty="0" smtClean="0"/>
          </a:p>
          <a:p>
            <a:endParaRPr lang="en-US" dirty="0" smtClean="0"/>
          </a:p>
          <a:p>
            <a:r>
              <a:rPr lang="en-US" sz="2900" dirty="0" smtClean="0">
                <a:latin typeface="Times New Roman" panose="02020603050405020304" pitchFamily="18" charset="0"/>
                <a:cs typeface="Times New Roman" panose="02020603050405020304" pitchFamily="18" charset="0"/>
              </a:rPr>
              <a:t>Definition of psychology : “a science that systematically studies and attempts to explain observable </a:t>
            </a:r>
            <a:r>
              <a:rPr lang="en-US" sz="2900" dirty="0" err="1" smtClean="0">
                <a:latin typeface="Times New Roman" panose="02020603050405020304" pitchFamily="18" charset="0"/>
                <a:cs typeface="Times New Roman" panose="02020603050405020304" pitchFamily="18" charset="0"/>
              </a:rPr>
              <a:t>behaviour</a:t>
            </a:r>
            <a:r>
              <a:rPr lang="en-US" sz="2900" dirty="0" smtClean="0">
                <a:latin typeface="Times New Roman" panose="02020603050405020304" pitchFamily="18" charset="0"/>
                <a:cs typeface="Times New Roman" panose="02020603050405020304" pitchFamily="18" charset="0"/>
              </a:rPr>
              <a:t> and its relationship to unseen ‘mental’ processes (experiences) that go on inside the organism and to external events in the environment.”</a:t>
            </a:r>
            <a:endParaRPr lang="en-US" sz="29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8" name="Object 4"/>
          <p:cNvGraphicFramePr>
            <a:graphicFrameLocks noChangeAspect="1"/>
          </p:cNvGraphicFramePr>
          <p:nvPr/>
        </p:nvGraphicFramePr>
        <p:xfrm>
          <a:off x="762000" y="152400"/>
          <a:ext cx="6985635" cy="6116955"/>
        </p:xfrm>
        <a:graphic>
          <a:graphicData uri="http://schemas.openxmlformats.org/presentationml/2006/ole">
            <mc:AlternateContent xmlns:mc="http://schemas.openxmlformats.org/markup-compatibility/2006">
              <mc:Choice xmlns:v="urn:schemas-microsoft-com:vml" Requires="v">
                <p:oleObj spid="_x0000_s1025" name="Document" r:id="rId1" imgW="5944235" imgH="3021330" progId="Word.Document.12">
                  <p:embed/>
                </p:oleObj>
              </mc:Choice>
              <mc:Fallback>
                <p:oleObj name="Document" r:id="rId1" imgW="5944235" imgH="3021330" progId="Word.Document.12">
                  <p:embed/>
                  <p:pic>
                    <p:nvPicPr>
                      <p:cNvPr id="0" name="Picture 1024"/>
                      <p:cNvPicPr>
                        <a:picLocks noChangeAspect="1"/>
                      </p:cNvPicPr>
                      <p:nvPr/>
                    </p:nvPicPr>
                    <p:blipFill>
                      <a:blip r:embed="rId2"/>
                      <a:stretch>
                        <a:fillRect/>
                      </a:stretch>
                    </p:blipFill>
                    <p:spPr>
                      <a:xfrm>
                        <a:off x="762000" y="152400"/>
                        <a:ext cx="6985635" cy="611695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04800" y="228600"/>
            <a:ext cx="8686800" cy="1066800"/>
          </a:xfrm>
        </p:spPr>
        <p:txBody>
          <a:bodyPr>
            <a:normAutofit/>
          </a:bodyPr>
          <a:lstStyle/>
          <a:p>
            <a:pPr algn="ctr"/>
            <a:r>
              <a:rPr lang="en-US" sz="3100" dirty="0" smtClean="0">
                <a:latin typeface="Times New Roman" panose="02020603050405020304" pitchFamily="18" charset="0"/>
                <a:cs typeface="Times New Roman" panose="02020603050405020304" pitchFamily="18" charset="0"/>
              </a:rPr>
              <a:t>STAGES OF SOCIAL DEVELOPMENT </a:t>
            </a:r>
            <a:r>
              <a:rPr lang="en-US" dirty="0" smtClean="0"/>
              <a:t> </a:t>
            </a:r>
            <a:br>
              <a:rPr lang="en-US" dirty="0" smtClean="0"/>
            </a:br>
            <a:r>
              <a:rPr lang="en-US" sz="2700" dirty="0" smtClean="0"/>
              <a:t>E.H. ERIKSON</a:t>
            </a:r>
            <a:endParaRPr lang="en-US" sz="2700" dirty="0"/>
          </a:p>
        </p:txBody>
      </p:sp>
      <p:graphicFrame>
        <p:nvGraphicFramePr>
          <p:cNvPr id="4" name="Content Placeholder 3"/>
          <p:cNvGraphicFramePr>
            <a:graphicFrameLocks noGrp="1"/>
          </p:cNvGraphicFramePr>
          <p:nvPr>
            <p:ph idx="1"/>
          </p:nvPr>
        </p:nvGraphicFramePr>
        <p:xfrm>
          <a:off x="228600" y="1325880"/>
          <a:ext cx="8686800" cy="4389120"/>
        </p:xfrm>
        <a:graphic>
          <a:graphicData uri="http://schemas.openxmlformats.org/drawingml/2006/table">
            <a:tbl>
              <a:tblPr firstRow="1" bandRow="1">
                <a:tableStyleId>{00A15C55-8517-42AA-B614-E9B94910E393}</a:tableStyleId>
              </a:tblPr>
              <a:tblGrid>
                <a:gridCol w="457200"/>
                <a:gridCol w="1600200"/>
                <a:gridCol w="1295400"/>
                <a:gridCol w="1219200"/>
                <a:gridCol w="4114800"/>
              </a:tblGrid>
              <a:tr h="370840">
                <a:tc>
                  <a:txBody>
                    <a:bodyPr/>
                    <a:lstStyle/>
                    <a:p>
                      <a:r>
                        <a:rPr lang="en-US" sz="1600" dirty="0" err="1" smtClean="0"/>
                        <a:t>S.No</a:t>
                      </a:r>
                      <a:endParaRPr lang="en-US" sz="1600" dirty="0" smtClean="0"/>
                    </a:p>
                    <a:p>
                      <a:endParaRPr lang="en-US" sz="1600" dirty="0" smtClean="0"/>
                    </a:p>
                  </a:txBody>
                  <a:tcPr/>
                </a:tc>
                <a:tc>
                  <a:txBody>
                    <a:bodyPr/>
                    <a:lstStyle/>
                    <a:p>
                      <a:r>
                        <a:rPr lang="en-US" sz="1600" dirty="0" smtClean="0"/>
                        <a:t>Stage</a:t>
                      </a:r>
                      <a:endParaRPr lang="en-US" sz="1600" dirty="0"/>
                    </a:p>
                  </a:txBody>
                  <a:tcPr/>
                </a:tc>
                <a:tc>
                  <a:txBody>
                    <a:bodyPr/>
                    <a:lstStyle/>
                    <a:p>
                      <a:r>
                        <a:rPr lang="en-US" sz="1600" dirty="0" smtClean="0"/>
                        <a:t>Basic </a:t>
                      </a:r>
                      <a:r>
                        <a:rPr lang="en-US" sz="1600" baseline="0" dirty="0" smtClean="0"/>
                        <a:t>  Conflict</a:t>
                      </a:r>
                      <a:endParaRPr lang="en-US" sz="1600" dirty="0"/>
                    </a:p>
                  </a:txBody>
                  <a:tcPr/>
                </a:tc>
                <a:tc>
                  <a:txBody>
                    <a:bodyPr/>
                    <a:lstStyle/>
                    <a:p>
                      <a:r>
                        <a:rPr lang="en-US" sz="1600" dirty="0" smtClean="0"/>
                        <a:t>Important Events</a:t>
                      </a:r>
                      <a:endParaRPr lang="en-US" sz="1600" dirty="0"/>
                    </a:p>
                  </a:txBody>
                  <a:tcPr/>
                </a:tc>
                <a:tc>
                  <a:txBody>
                    <a:bodyPr/>
                    <a:lstStyle/>
                    <a:p>
                      <a:r>
                        <a:rPr lang="en-US" sz="1600" dirty="0" smtClean="0"/>
                        <a:t>Outcome </a:t>
                      </a:r>
                      <a:endParaRPr lang="en-US" sz="1600" dirty="0"/>
                    </a:p>
                  </a:txBody>
                  <a:tcPr/>
                </a:tc>
              </a:tr>
              <a:tr h="370840">
                <a:tc>
                  <a:txBody>
                    <a:bodyPr/>
                    <a:lstStyle/>
                    <a:p>
                      <a:r>
                        <a:rPr lang="en-US" sz="1400" dirty="0" smtClean="0"/>
                        <a:t>1.</a:t>
                      </a:r>
                      <a:endParaRPr lang="en-US" sz="1400" dirty="0"/>
                    </a:p>
                  </a:txBody>
                  <a:tcPr/>
                </a:tc>
                <a:tc>
                  <a:txBody>
                    <a:bodyPr/>
                    <a:lstStyle/>
                    <a:p>
                      <a:r>
                        <a:rPr lang="en-US" sz="1400" dirty="0" smtClean="0"/>
                        <a:t>Infancy (birth to </a:t>
                      </a:r>
                      <a:endParaRPr lang="en-US" sz="1400" dirty="0" smtClean="0"/>
                    </a:p>
                    <a:p>
                      <a:r>
                        <a:rPr lang="en-US" sz="1400" dirty="0" smtClean="0"/>
                        <a:t>2 years) </a:t>
                      </a:r>
                      <a:endParaRPr lang="en-US" sz="1400" dirty="0"/>
                    </a:p>
                  </a:txBody>
                  <a:tcPr/>
                </a:tc>
                <a:tc>
                  <a:txBody>
                    <a:bodyPr/>
                    <a:lstStyle/>
                    <a:p>
                      <a:r>
                        <a:rPr lang="en-US" sz="1400" dirty="0" smtClean="0"/>
                        <a:t>Trust   Vs.</a:t>
                      </a:r>
                      <a:r>
                        <a:rPr lang="en-US" sz="1400" baseline="0" dirty="0" smtClean="0"/>
                        <a:t> Mistrust</a:t>
                      </a:r>
                      <a:endParaRPr lang="en-US" sz="1400" dirty="0" smtClean="0"/>
                    </a:p>
                    <a:p>
                      <a:endParaRPr lang="en-US" sz="1400" dirty="0"/>
                    </a:p>
                  </a:txBody>
                  <a:tcPr/>
                </a:tc>
                <a:tc>
                  <a:txBody>
                    <a:bodyPr/>
                    <a:lstStyle/>
                    <a:p>
                      <a:r>
                        <a:rPr lang="en-US" sz="1400" dirty="0" smtClean="0"/>
                        <a:t>Feeding </a:t>
                      </a:r>
                      <a:endParaRPr lang="en-US" sz="1400" dirty="0"/>
                    </a:p>
                  </a:txBody>
                  <a:tcPr/>
                </a:tc>
                <a:tc>
                  <a:txBody>
                    <a:bodyPr/>
                    <a:lstStyle/>
                    <a:p>
                      <a:r>
                        <a:rPr lang="en-US" sz="1400" dirty="0" smtClean="0"/>
                        <a:t>Children develop a sense of trust when caregivers provide reliability, care, and affection.  A lack of this will lead to mistrust. </a:t>
                      </a:r>
                      <a:endParaRPr lang="en-US" sz="1400" dirty="0"/>
                    </a:p>
                  </a:txBody>
                  <a:tcPr/>
                </a:tc>
              </a:tr>
              <a:tr h="370840">
                <a:tc>
                  <a:txBody>
                    <a:bodyPr/>
                    <a:lstStyle/>
                    <a:p>
                      <a:r>
                        <a:rPr lang="en-US" sz="1400" dirty="0" smtClean="0"/>
                        <a:t>2.</a:t>
                      </a:r>
                      <a:endParaRPr lang="en-US" sz="1400" dirty="0"/>
                    </a:p>
                  </a:txBody>
                  <a:tcPr/>
                </a:tc>
                <a:tc>
                  <a:txBody>
                    <a:bodyPr/>
                    <a:lstStyle/>
                    <a:p>
                      <a:r>
                        <a:rPr lang="en-US" sz="1400" dirty="0" smtClean="0"/>
                        <a:t>Early Childhood (2 to 3 years)</a:t>
                      </a:r>
                      <a:endParaRPr lang="en-US" sz="1400" dirty="0"/>
                    </a:p>
                  </a:txBody>
                  <a:tcPr/>
                </a:tc>
                <a:tc>
                  <a:txBody>
                    <a:bodyPr/>
                    <a:lstStyle/>
                    <a:p>
                      <a:r>
                        <a:rPr lang="en-US" sz="1400" dirty="0" smtClean="0"/>
                        <a:t>Autonomy   Vs. Shame and Doubt</a:t>
                      </a:r>
                      <a:endParaRPr lang="en-US" sz="1400" dirty="0"/>
                    </a:p>
                  </a:txBody>
                  <a:tcPr/>
                </a:tc>
                <a:tc>
                  <a:txBody>
                    <a:bodyPr/>
                    <a:lstStyle/>
                    <a:p>
                      <a:r>
                        <a:rPr lang="en-US" sz="1400" dirty="0" smtClean="0"/>
                        <a:t>Toilet Training</a:t>
                      </a:r>
                      <a:endParaRPr lang="en-US" sz="1400" dirty="0"/>
                    </a:p>
                  </a:txBody>
                  <a:tcPr/>
                </a:tc>
                <a:tc>
                  <a:txBody>
                    <a:bodyPr/>
                    <a:lstStyle/>
                    <a:p>
                      <a:r>
                        <a:rPr lang="en-US" sz="1400" dirty="0" smtClean="0"/>
                        <a:t>Children need to develop a personal control over physical skills and a sense of independence.  Success leads to feelings of autonomy, failure results in feeling of shame and doubt. </a:t>
                      </a:r>
                      <a:endParaRPr lang="en-US" sz="1400" dirty="0"/>
                    </a:p>
                  </a:txBody>
                  <a:tcPr/>
                </a:tc>
              </a:tr>
              <a:tr h="370840">
                <a:tc>
                  <a:txBody>
                    <a:bodyPr/>
                    <a:lstStyle/>
                    <a:p>
                      <a:r>
                        <a:rPr lang="en-US" sz="1400" dirty="0" smtClean="0"/>
                        <a:t>3.</a:t>
                      </a:r>
                      <a:endParaRPr lang="en-US" sz="1400" dirty="0"/>
                    </a:p>
                  </a:txBody>
                  <a:tcPr/>
                </a:tc>
                <a:tc>
                  <a:txBody>
                    <a:bodyPr/>
                    <a:lstStyle/>
                    <a:p>
                      <a:r>
                        <a:rPr lang="en-US" sz="1400" dirty="0" smtClean="0"/>
                        <a:t>Pre School </a:t>
                      </a:r>
                      <a:endParaRPr lang="en-US" sz="1400" dirty="0" smtClean="0"/>
                    </a:p>
                    <a:p>
                      <a:r>
                        <a:rPr lang="en-US" sz="1400" dirty="0" smtClean="0"/>
                        <a:t>(3 to 5 years) </a:t>
                      </a:r>
                      <a:endParaRPr lang="en-US" sz="1400" dirty="0"/>
                    </a:p>
                  </a:txBody>
                  <a:tcPr/>
                </a:tc>
                <a:tc>
                  <a:txBody>
                    <a:bodyPr/>
                    <a:lstStyle/>
                    <a:p>
                      <a:r>
                        <a:rPr lang="en-US" sz="1400" dirty="0" smtClean="0"/>
                        <a:t>Initiative  Vs.</a:t>
                      </a:r>
                      <a:endParaRPr lang="en-US" sz="1400" dirty="0" smtClean="0"/>
                    </a:p>
                    <a:p>
                      <a:r>
                        <a:rPr lang="en-US" sz="1400" dirty="0" smtClean="0"/>
                        <a:t>Guilt</a:t>
                      </a:r>
                      <a:endParaRPr lang="en-US" sz="1400" dirty="0"/>
                    </a:p>
                  </a:txBody>
                  <a:tcPr/>
                </a:tc>
                <a:tc>
                  <a:txBody>
                    <a:bodyPr/>
                    <a:lstStyle/>
                    <a:p>
                      <a:r>
                        <a:rPr lang="en-US" sz="1400" dirty="0" smtClean="0"/>
                        <a:t>Exploration</a:t>
                      </a:r>
                      <a:endParaRPr lang="en-US" sz="1400" dirty="0"/>
                    </a:p>
                  </a:txBody>
                  <a:tcPr/>
                </a:tc>
                <a:tc>
                  <a:txBody>
                    <a:bodyPr/>
                    <a:lstStyle/>
                    <a:p>
                      <a:r>
                        <a:rPr lang="en-US" sz="1400" dirty="0" smtClean="0"/>
                        <a:t>Children need to begin asserting control and power over the environment.  Success</a:t>
                      </a:r>
                      <a:r>
                        <a:rPr lang="en-US" sz="1400" baseline="0" dirty="0" smtClean="0"/>
                        <a:t> in this stage leads to a sense of purpose.  Children who try to exert too much power experience disapproval, resulting in a sense of guilt.</a:t>
                      </a:r>
                      <a:endParaRPr lang="en-US" sz="1400" dirty="0"/>
                    </a:p>
                  </a:txBody>
                  <a:tcPr/>
                </a:tc>
              </a:tr>
              <a:tr h="370840">
                <a:tc>
                  <a:txBody>
                    <a:bodyPr/>
                    <a:lstStyle/>
                    <a:p>
                      <a:r>
                        <a:rPr lang="en-US" sz="1400" dirty="0" smtClean="0"/>
                        <a:t>4. </a:t>
                      </a:r>
                      <a:endParaRPr lang="en-US" sz="1400" dirty="0"/>
                    </a:p>
                  </a:txBody>
                  <a:tcPr/>
                </a:tc>
                <a:tc>
                  <a:txBody>
                    <a:bodyPr/>
                    <a:lstStyle/>
                    <a:p>
                      <a:r>
                        <a:rPr lang="en-US" sz="1400" dirty="0" smtClean="0"/>
                        <a:t>School Age (6 to 12 years or puberty)</a:t>
                      </a:r>
                      <a:endParaRPr lang="en-US" sz="1400" dirty="0"/>
                    </a:p>
                  </a:txBody>
                  <a:tcPr/>
                </a:tc>
                <a:tc>
                  <a:txBody>
                    <a:bodyPr/>
                    <a:lstStyle/>
                    <a:p>
                      <a:r>
                        <a:rPr lang="en-US" sz="1400" dirty="0" smtClean="0"/>
                        <a:t>Industry Vs.</a:t>
                      </a:r>
                      <a:endParaRPr lang="en-US" sz="1400" dirty="0" smtClean="0"/>
                    </a:p>
                    <a:p>
                      <a:r>
                        <a:rPr lang="en-US" sz="1400" dirty="0" smtClean="0"/>
                        <a:t>Inferiority</a:t>
                      </a:r>
                      <a:endParaRPr lang="en-US" sz="1400" dirty="0"/>
                    </a:p>
                  </a:txBody>
                  <a:tcPr/>
                </a:tc>
                <a:tc>
                  <a:txBody>
                    <a:bodyPr/>
                    <a:lstStyle/>
                    <a:p>
                      <a:r>
                        <a:rPr lang="en-US" sz="1400" dirty="0" smtClean="0"/>
                        <a:t>School</a:t>
                      </a:r>
                      <a:endParaRPr lang="en-US" sz="1400" dirty="0"/>
                    </a:p>
                  </a:txBody>
                  <a:tcPr/>
                </a:tc>
                <a:tc>
                  <a:txBody>
                    <a:bodyPr/>
                    <a:lstStyle/>
                    <a:p>
                      <a:r>
                        <a:rPr lang="en-US" sz="1400" dirty="0" smtClean="0"/>
                        <a:t>Children</a:t>
                      </a:r>
                      <a:r>
                        <a:rPr lang="en-US" sz="1400" baseline="0" dirty="0" smtClean="0"/>
                        <a:t> need to cope with new social and academic demands.  Success leads to a sense of competence, while failure results in feelings of inferiority.</a:t>
                      </a:r>
                      <a:endParaRPr lang="en-US" sz="1400" baseline="0" dirty="0" smtClean="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762000"/>
          </a:xfrm>
        </p:spPr>
        <p:txBody>
          <a:bodyPr>
            <a:normAutofit/>
          </a:bodyPr>
          <a:lstStyle/>
          <a:p>
            <a:r>
              <a:rPr lang="en-US" sz="2800" dirty="0" smtClean="0">
                <a:latin typeface="Times New Roman" panose="02020603050405020304" pitchFamily="18" charset="0"/>
                <a:cs typeface="Times New Roman" panose="02020603050405020304" pitchFamily="18" charset="0"/>
              </a:rPr>
              <a:t>STAGES OF SOCIAL DEVELOPMENT … </a:t>
            </a:r>
            <a:r>
              <a:rPr lang="en-US" sz="1600" cap="none" dirty="0" smtClean="0"/>
              <a:t>p/2</a:t>
            </a:r>
            <a:endParaRPr lang="en-US" sz="1600" dirty="0"/>
          </a:p>
        </p:txBody>
      </p:sp>
      <p:graphicFrame>
        <p:nvGraphicFramePr>
          <p:cNvPr id="4" name="Content Placeholder 3"/>
          <p:cNvGraphicFramePr>
            <a:graphicFrameLocks noGrp="1"/>
          </p:cNvGraphicFramePr>
          <p:nvPr>
            <p:ph idx="1"/>
          </p:nvPr>
        </p:nvGraphicFramePr>
        <p:xfrm>
          <a:off x="304800" y="1554163"/>
          <a:ext cx="8686800" cy="5278120"/>
        </p:xfrm>
        <a:graphic>
          <a:graphicData uri="http://schemas.openxmlformats.org/drawingml/2006/table">
            <a:tbl>
              <a:tblPr firstRow="1" bandRow="1">
                <a:tableStyleId>{00A15C55-8517-42AA-B614-E9B94910E393}</a:tableStyleId>
              </a:tblPr>
              <a:tblGrid>
                <a:gridCol w="457200"/>
                <a:gridCol w="1524000"/>
                <a:gridCol w="1295400"/>
                <a:gridCol w="1371600"/>
                <a:gridCol w="4038600"/>
              </a:tblGrid>
              <a:tr h="370840">
                <a:tc>
                  <a:txBody>
                    <a:bodyPr/>
                    <a:lstStyle/>
                    <a:p>
                      <a:r>
                        <a:rPr lang="en-US" sz="1600" dirty="0" err="1" smtClean="0"/>
                        <a:t>S.No</a:t>
                      </a:r>
                      <a:endParaRPr lang="en-US" sz="1600" dirty="0"/>
                    </a:p>
                  </a:txBody>
                  <a:tcPr/>
                </a:tc>
                <a:tc>
                  <a:txBody>
                    <a:bodyPr/>
                    <a:lstStyle/>
                    <a:p>
                      <a:r>
                        <a:rPr lang="en-US" sz="1600" dirty="0" smtClean="0"/>
                        <a:t>Stage</a:t>
                      </a:r>
                      <a:endParaRPr lang="en-US" sz="1600" dirty="0"/>
                    </a:p>
                  </a:txBody>
                  <a:tcPr/>
                </a:tc>
                <a:tc>
                  <a:txBody>
                    <a:bodyPr/>
                    <a:lstStyle/>
                    <a:p>
                      <a:r>
                        <a:rPr lang="en-US" sz="1600" dirty="0" smtClean="0"/>
                        <a:t>Basic Conflict</a:t>
                      </a:r>
                      <a:endParaRPr lang="en-US" sz="1600" dirty="0"/>
                    </a:p>
                  </a:txBody>
                  <a:tcPr/>
                </a:tc>
                <a:tc>
                  <a:txBody>
                    <a:bodyPr/>
                    <a:lstStyle/>
                    <a:p>
                      <a:r>
                        <a:rPr lang="en-US" sz="1600" dirty="0" smtClean="0"/>
                        <a:t>Important</a:t>
                      </a:r>
                      <a:r>
                        <a:rPr lang="en-US" sz="1600" baseline="0" dirty="0" smtClean="0"/>
                        <a:t> Events</a:t>
                      </a:r>
                      <a:endParaRPr lang="en-US" sz="1600" dirty="0"/>
                    </a:p>
                  </a:txBody>
                  <a:tcPr/>
                </a:tc>
                <a:tc>
                  <a:txBody>
                    <a:bodyPr/>
                    <a:lstStyle/>
                    <a:p>
                      <a:r>
                        <a:rPr lang="en-US" sz="1600" dirty="0" smtClean="0"/>
                        <a:t>Outcome</a:t>
                      </a:r>
                      <a:endParaRPr lang="en-US" sz="1600" dirty="0"/>
                    </a:p>
                  </a:txBody>
                  <a:tcPr/>
                </a:tc>
              </a:tr>
              <a:tr h="370840">
                <a:tc>
                  <a:txBody>
                    <a:bodyPr/>
                    <a:lstStyle/>
                    <a:p>
                      <a:r>
                        <a:rPr lang="en-US" sz="1600" dirty="0" smtClean="0"/>
                        <a:t>5.</a:t>
                      </a:r>
                      <a:endParaRPr lang="en-US" sz="1600" dirty="0"/>
                    </a:p>
                  </a:txBody>
                  <a:tcPr/>
                </a:tc>
                <a:tc>
                  <a:txBody>
                    <a:bodyPr/>
                    <a:lstStyle/>
                    <a:p>
                      <a:r>
                        <a:rPr lang="en-US" sz="1600" dirty="0" smtClean="0"/>
                        <a:t>Adolescence (13 to 19 years)</a:t>
                      </a:r>
                      <a:endParaRPr lang="en-US" sz="1600" dirty="0"/>
                    </a:p>
                  </a:txBody>
                  <a:tcPr/>
                </a:tc>
                <a:tc>
                  <a:txBody>
                    <a:bodyPr/>
                    <a:lstStyle/>
                    <a:p>
                      <a:r>
                        <a:rPr lang="en-US" sz="1600" dirty="0" smtClean="0"/>
                        <a:t>Identity Vs. Confusion</a:t>
                      </a:r>
                      <a:endParaRPr lang="en-US" sz="1600" dirty="0"/>
                    </a:p>
                  </a:txBody>
                  <a:tcPr/>
                </a:tc>
                <a:tc>
                  <a:txBody>
                    <a:bodyPr/>
                    <a:lstStyle/>
                    <a:p>
                      <a:r>
                        <a:rPr lang="en-US" sz="1600" dirty="0" smtClean="0"/>
                        <a:t>Social Relationships</a:t>
                      </a:r>
                      <a:endParaRPr lang="en-US" sz="1600" dirty="0"/>
                    </a:p>
                  </a:txBody>
                  <a:tcPr/>
                </a:tc>
                <a:tc>
                  <a:txBody>
                    <a:bodyPr/>
                    <a:lstStyle/>
                    <a:p>
                      <a:r>
                        <a:rPr lang="en-US" sz="1600" dirty="0" smtClean="0"/>
                        <a:t>Teens need to develop a sense of self and personal identity.  Success leads to an ability to stay true to yourself,</a:t>
                      </a:r>
                      <a:r>
                        <a:rPr lang="en-US" sz="1600" baseline="0" dirty="0" smtClean="0"/>
                        <a:t> while failure leads to role confusion and a weak sense of self.</a:t>
                      </a:r>
                      <a:endParaRPr lang="en-US" sz="1600" dirty="0"/>
                    </a:p>
                  </a:txBody>
                  <a:tcPr/>
                </a:tc>
              </a:tr>
              <a:tr h="370840">
                <a:tc>
                  <a:txBody>
                    <a:bodyPr/>
                    <a:lstStyle/>
                    <a:p>
                      <a:r>
                        <a:rPr lang="en-US" sz="1400" dirty="0" smtClean="0"/>
                        <a:t>6.</a:t>
                      </a:r>
                      <a:endParaRPr lang="en-US" sz="1400" dirty="0"/>
                    </a:p>
                  </a:txBody>
                  <a:tcPr/>
                </a:tc>
                <a:tc>
                  <a:txBody>
                    <a:bodyPr/>
                    <a:lstStyle/>
                    <a:p>
                      <a:r>
                        <a:rPr lang="en-US" sz="1400" dirty="0" smtClean="0"/>
                        <a:t>Young Adulthood(19 to 40 years)</a:t>
                      </a:r>
                      <a:endParaRPr lang="en-US" sz="1400" dirty="0"/>
                    </a:p>
                  </a:txBody>
                  <a:tcPr/>
                </a:tc>
                <a:tc>
                  <a:txBody>
                    <a:bodyPr/>
                    <a:lstStyle/>
                    <a:p>
                      <a:r>
                        <a:rPr lang="en-US" sz="1400" dirty="0" smtClean="0"/>
                        <a:t>Intimacy Vs. Isolation</a:t>
                      </a:r>
                      <a:endParaRPr lang="en-US" sz="1400" dirty="0"/>
                    </a:p>
                  </a:txBody>
                  <a:tcPr/>
                </a:tc>
                <a:tc>
                  <a:txBody>
                    <a:bodyPr/>
                    <a:lstStyle/>
                    <a:p>
                      <a:r>
                        <a:rPr lang="en-US" sz="1400" dirty="0" smtClean="0"/>
                        <a:t>Relationships</a:t>
                      </a:r>
                      <a:endParaRPr lang="en-US" sz="1400" dirty="0"/>
                    </a:p>
                  </a:txBody>
                  <a:tcPr/>
                </a:tc>
                <a:tc>
                  <a:txBody>
                    <a:bodyPr/>
                    <a:lstStyle/>
                    <a:p>
                      <a:r>
                        <a:rPr lang="en-US" sz="1400" dirty="0" smtClean="0"/>
                        <a:t>Young adults need to form intimate loving relationships with other people. Success leads to strong relationships, while failure results in loneliness and isolation.</a:t>
                      </a:r>
                      <a:endParaRPr lang="en-US" sz="1400" dirty="0"/>
                    </a:p>
                  </a:txBody>
                  <a:tcPr/>
                </a:tc>
              </a:tr>
              <a:tr h="370840">
                <a:tc>
                  <a:txBody>
                    <a:bodyPr/>
                    <a:lstStyle/>
                    <a:p>
                      <a:r>
                        <a:rPr lang="en-US" sz="1400" dirty="0" smtClean="0"/>
                        <a:t>7.</a:t>
                      </a:r>
                      <a:endParaRPr lang="en-US" sz="1400" dirty="0"/>
                    </a:p>
                  </a:txBody>
                  <a:tcPr/>
                </a:tc>
                <a:tc>
                  <a:txBody>
                    <a:bodyPr/>
                    <a:lstStyle/>
                    <a:p>
                      <a:r>
                        <a:rPr lang="en-US" sz="1400" dirty="0" smtClean="0"/>
                        <a:t>Middle Adulthood (40 to 65 years)</a:t>
                      </a:r>
                      <a:endParaRPr lang="en-US" sz="1400" dirty="0"/>
                    </a:p>
                  </a:txBody>
                  <a:tcPr/>
                </a:tc>
                <a:tc>
                  <a:txBody>
                    <a:bodyPr/>
                    <a:lstStyle/>
                    <a:p>
                      <a:r>
                        <a:rPr lang="en-US" sz="1400" dirty="0" err="1" smtClean="0"/>
                        <a:t>Generativity</a:t>
                      </a:r>
                      <a:r>
                        <a:rPr lang="en-US" sz="1400" dirty="0" smtClean="0"/>
                        <a:t> Vs. Stagnation</a:t>
                      </a:r>
                      <a:endParaRPr lang="en-US" sz="1400" dirty="0"/>
                    </a:p>
                  </a:txBody>
                  <a:tcPr/>
                </a:tc>
                <a:tc>
                  <a:txBody>
                    <a:bodyPr/>
                    <a:lstStyle/>
                    <a:p>
                      <a:r>
                        <a:rPr lang="en-US" sz="1400" dirty="0" smtClean="0"/>
                        <a:t>Work and Parenthood</a:t>
                      </a:r>
                      <a:endParaRPr lang="en-US" sz="1400" dirty="0"/>
                    </a:p>
                  </a:txBody>
                  <a:tcPr/>
                </a:tc>
                <a:tc>
                  <a:txBody>
                    <a:bodyPr/>
                    <a:lstStyle/>
                    <a:p>
                      <a:r>
                        <a:rPr lang="en-US" sz="1400" dirty="0" smtClean="0"/>
                        <a:t>Adults need to create or nurture things that will outlast them, often by having children or creating a positive change that benefits other people.  Success</a:t>
                      </a:r>
                      <a:r>
                        <a:rPr lang="en-US" sz="1400" baseline="0" dirty="0" smtClean="0"/>
                        <a:t> leads to feelings of usefulness and accomplishment, while failure results in shall involvement in the world.</a:t>
                      </a:r>
                      <a:endParaRPr lang="en-US" sz="1400" dirty="0"/>
                    </a:p>
                  </a:txBody>
                  <a:tcPr/>
                </a:tc>
              </a:tr>
              <a:tr h="370840">
                <a:tc>
                  <a:txBody>
                    <a:bodyPr/>
                    <a:lstStyle/>
                    <a:p>
                      <a:r>
                        <a:rPr lang="en-US" sz="1400" dirty="0" smtClean="0"/>
                        <a:t>8.</a:t>
                      </a:r>
                      <a:endParaRPr lang="en-US" sz="1400" dirty="0"/>
                    </a:p>
                  </a:txBody>
                  <a:tcPr/>
                </a:tc>
                <a:tc>
                  <a:txBody>
                    <a:bodyPr/>
                    <a:lstStyle/>
                    <a:p>
                      <a:r>
                        <a:rPr lang="en-US" sz="1400" dirty="0" smtClean="0"/>
                        <a:t>Maturity  (65 to death)</a:t>
                      </a:r>
                      <a:endParaRPr lang="en-US" sz="1400" dirty="0"/>
                    </a:p>
                  </a:txBody>
                  <a:tcPr/>
                </a:tc>
                <a:tc>
                  <a:txBody>
                    <a:bodyPr/>
                    <a:lstStyle/>
                    <a:p>
                      <a:r>
                        <a:rPr lang="en-US" sz="1400" dirty="0" smtClean="0"/>
                        <a:t>Ego Integrity Vs. Despair</a:t>
                      </a:r>
                      <a:endParaRPr lang="en-US" sz="1400" dirty="0"/>
                    </a:p>
                  </a:txBody>
                  <a:tcPr/>
                </a:tc>
                <a:tc>
                  <a:txBody>
                    <a:bodyPr/>
                    <a:lstStyle/>
                    <a:p>
                      <a:r>
                        <a:rPr lang="en-US" sz="1400" dirty="0" smtClean="0"/>
                        <a:t>Reflection  on Life</a:t>
                      </a:r>
                      <a:endParaRPr lang="en-US" sz="1400" dirty="0"/>
                    </a:p>
                  </a:txBody>
                  <a:tcPr/>
                </a:tc>
                <a:tc>
                  <a:txBody>
                    <a:bodyPr/>
                    <a:lstStyle/>
                    <a:p>
                      <a:r>
                        <a:rPr lang="en-US" sz="1400" dirty="0" smtClean="0"/>
                        <a:t>Older adults need to look back on life and feel a sense of fulfillment.</a:t>
                      </a:r>
                      <a:r>
                        <a:rPr lang="en-US" sz="1400" baseline="0" dirty="0" smtClean="0"/>
                        <a:t>  Success at this stage leads to feelings of wisdom, while failure results in regret, bitterness and despair. </a:t>
                      </a:r>
                      <a:endParaRPr lang="en-US" sz="1400"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3.0  </a:t>
            </a:r>
            <a:r>
              <a:rPr lang="en-US" sz="2800" b="1" dirty="0" smtClean="0">
                <a:solidFill>
                  <a:schemeClr val="accent1"/>
                </a:solidFill>
                <a:latin typeface="Times New Roman" panose="02020603050405020304" pitchFamily="18" charset="0"/>
                <a:cs typeface="Times New Roman" panose="02020603050405020304" pitchFamily="18" charset="0"/>
              </a:rPr>
              <a:t> ADOLESCENCE</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84555"/>
            <a:ext cx="8229600" cy="5243195"/>
          </a:xfrm>
        </p:spPr>
        <p:txBody>
          <a:bodyPr>
            <a:normAutofit/>
          </a:bodyPr>
          <a:lstStyle/>
          <a:p>
            <a:r>
              <a:rPr lang="en-US" sz="2400" b="1" dirty="0" smtClean="0">
                <a:latin typeface="Times New Roman" panose="02020603050405020304" pitchFamily="18" charset="0"/>
                <a:cs typeface="Times New Roman" panose="02020603050405020304" pitchFamily="18" charset="0"/>
              </a:rPr>
              <a:t>Adolescence </a:t>
            </a:r>
            <a:endParaRPr lang="en-US" sz="2400" dirty="0" smtClean="0">
              <a:latin typeface="Times New Roman" panose="02020603050405020304" pitchFamily="18" charset="0"/>
              <a:cs typeface="Times New Roman" panose="02020603050405020304" pitchFamily="18" charset="0"/>
            </a:endParaRPr>
          </a:p>
          <a:p>
            <a:pPr marL="457200" indent="-457200">
              <a:buAutoNum type="arabicPlain"/>
            </a:pPr>
            <a:r>
              <a:rPr lang="en-US" sz="2400" b="1" dirty="0" smtClean="0">
                <a:latin typeface="Times New Roman" panose="02020603050405020304" pitchFamily="18" charset="0"/>
                <a:cs typeface="Times New Roman" panose="02020603050405020304" pitchFamily="18" charset="0"/>
              </a:rPr>
              <a:t>is a ‘Transitional Period’</a:t>
            </a:r>
            <a:r>
              <a:rPr lang="en-US" sz="2400" dirty="0" smtClean="0">
                <a:latin typeface="Times New Roman" panose="02020603050405020304" pitchFamily="18" charset="0"/>
                <a:cs typeface="Times New Roman" panose="02020603050405020304" pitchFamily="18" charset="0"/>
              </a:rPr>
              <a:t>.  Children must put away childish things and they must also learn new patterns of behavior and attitudes.</a:t>
            </a:r>
            <a:endParaRPr lang="en-US" sz="2400" dirty="0" smtClean="0">
              <a:latin typeface="Times New Roman" panose="02020603050405020304" pitchFamily="18" charset="0"/>
              <a:cs typeface="Times New Roman" panose="02020603050405020304" pitchFamily="18" charset="0"/>
            </a:endParaRPr>
          </a:p>
          <a:p>
            <a:pPr marL="457200" indent="-457200">
              <a:buAutoNum type="arabicPlain" startAt="2"/>
            </a:pPr>
            <a:r>
              <a:rPr lang="en-US" sz="2400" b="1" dirty="0" smtClean="0">
                <a:latin typeface="Times New Roman" panose="02020603050405020304" pitchFamily="18" charset="0"/>
                <a:cs typeface="Times New Roman" panose="02020603050405020304" pitchFamily="18" charset="0"/>
              </a:rPr>
              <a:t>Is a ‘Problem Age</a:t>
            </a:r>
            <a:r>
              <a:rPr lang="en-US" sz="2400" dirty="0" smtClean="0">
                <a:latin typeface="Times New Roman" panose="02020603050405020304" pitchFamily="18" charset="0"/>
                <a:cs typeface="Times New Roman" panose="02020603050405020304" pitchFamily="18" charset="0"/>
              </a:rPr>
              <a:t>. They cannot act either as a child or an adult.</a:t>
            </a:r>
            <a:endParaRPr lang="en-US" sz="2400" dirty="0" smtClean="0">
              <a:latin typeface="Times New Roman" panose="02020603050405020304" pitchFamily="18" charset="0"/>
              <a:cs typeface="Times New Roman" panose="02020603050405020304" pitchFamily="18" charset="0"/>
            </a:endParaRPr>
          </a:p>
          <a:p>
            <a:pPr marL="457200" indent="-457200">
              <a:buAutoNum type="arabicPlain" startAt="2"/>
            </a:pPr>
            <a:r>
              <a:rPr lang="en-US" sz="2400" b="1" dirty="0" smtClean="0">
                <a:latin typeface="Times New Roman" panose="02020603050405020304" pitchFamily="18" charset="0"/>
                <a:cs typeface="Times New Roman" panose="02020603050405020304" pitchFamily="18" charset="0"/>
              </a:rPr>
              <a:t>is a ‘Time of Search for Identity,’</a:t>
            </a:r>
            <a:r>
              <a:rPr lang="en-US" sz="2400" dirty="0" smtClean="0">
                <a:latin typeface="Times New Roman" panose="02020603050405020304" pitchFamily="18" charset="0"/>
                <a:cs typeface="Times New Roman" panose="02020603050405020304" pitchFamily="18" charset="0"/>
              </a:rPr>
              <a:t>  crave for identity and not satisfied  to be like their peers .</a:t>
            </a:r>
            <a:endParaRPr lang="en-US" sz="2400" dirty="0" smtClean="0">
              <a:latin typeface="Times New Roman" panose="02020603050405020304" pitchFamily="18" charset="0"/>
              <a:cs typeface="Times New Roman" panose="02020603050405020304" pitchFamily="18" charset="0"/>
            </a:endParaRPr>
          </a:p>
          <a:p>
            <a:pPr marL="457200" indent="-457200">
              <a:buAutoNum type="arabicPlain" startAt="4"/>
            </a:pPr>
            <a:r>
              <a:rPr lang="en-US" sz="2400" b="1" dirty="0" smtClean="0">
                <a:latin typeface="Times New Roman" panose="02020603050405020304" pitchFamily="18" charset="0"/>
                <a:cs typeface="Times New Roman" panose="02020603050405020304" pitchFamily="18" charset="0"/>
              </a:rPr>
              <a:t>Is a ‘time of unrealism’</a:t>
            </a:r>
            <a:r>
              <a:rPr lang="en-US" sz="2400" dirty="0" smtClean="0">
                <a:latin typeface="Times New Roman" panose="02020603050405020304" pitchFamily="18" charset="0"/>
                <a:cs typeface="Times New Roman" panose="02020603050405020304" pitchFamily="18" charset="0"/>
              </a:rPr>
              <a:t>  develop unrealistic aspirations.</a:t>
            </a:r>
            <a:endParaRPr lang="en-US" sz="2400" dirty="0" smtClean="0">
              <a:latin typeface="Times New Roman" panose="02020603050405020304" pitchFamily="18" charset="0"/>
              <a:cs typeface="Times New Roman" panose="02020603050405020304" pitchFamily="18" charset="0"/>
            </a:endParaRPr>
          </a:p>
          <a:p>
            <a:pPr marL="457200" indent="-457200">
              <a:buNone/>
            </a:pPr>
            <a:r>
              <a:rPr lang="en-US" sz="2000" b="1" dirty="0" smtClean="0">
                <a:latin typeface="Times New Roman" panose="02020603050405020304" pitchFamily="18" charset="0"/>
                <a:cs typeface="Times New Roman" panose="02020603050405020304" pitchFamily="18" charset="0"/>
              </a:rPr>
              <a:t>5</a:t>
            </a:r>
            <a:r>
              <a:rPr lang="en-US" sz="2400" b="1" dirty="0" smtClean="0">
                <a:latin typeface="Times New Roman" panose="02020603050405020304" pitchFamily="18" charset="0"/>
                <a:cs typeface="Times New Roman" panose="02020603050405020304" pitchFamily="18" charset="0"/>
              </a:rPr>
              <a:t>	Is the ‘Period of Storm and Stress’ </a:t>
            </a:r>
            <a:r>
              <a:rPr lang="en-US" sz="2400" dirty="0" smtClean="0">
                <a:latin typeface="Times New Roman" panose="02020603050405020304" pitchFamily="18" charset="0"/>
                <a:cs typeface="Times New Roman" panose="02020603050405020304" pitchFamily="18" charset="0"/>
              </a:rPr>
              <a:t>– a time of heightened emotional 	tension.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solidFill>
                  <a:schemeClr val="accent1"/>
                </a:solidFill>
                <a:latin typeface="Times New Roman" panose="02020603050405020304" pitchFamily="18" charset="0"/>
                <a:cs typeface="Times New Roman" panose="02020603050405020304" pitchFamily="18" charset="0"/>
              </a:rPr>
              <a:t>3.0 </a:t>
            </a:r>
            <a:r>
              <a:rPr lang="en-US" sz="2800" b="1" dirty="0" smtClean="0">
                <a:solidFill>
                  <a:schemeClr val="accent1"/>
                </a:solidFill>
                <a:latin typeface="Times New Roman" panose="02020603050405020304" pitchFamily="18" charset="0"/>
                <a:cs typeface="Times New Roman" panose="02020603050405020304" pitchFamily="18" charset="0"/>
              </a:rPr>
              <a:t>ADOLESCENCE </a:t>
            </a:r>
            <a:r>
              <a:rPr lang="en-US" sz="2000" dirty="0" smtClean="0">
                <a:latin typeface="Times New Roman" panose="02020603050405020304" pitchFamily="18" charset="0"/>
                <a:cs typeface="Times New Roman" panose="02020603050405020304" pitchFamily="18" charset="0"/>
              </a:rPr>
              <a:t>(cont’d…p/2)</a:t>
            </a:r>
            <a:endParaRPr lang="en-US" sz="2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59485"/>
            <a:ext cx="8229600" cy="5168265"/>
          </a:xfrm>
        </p:spPr>
        <p:txBody>
          <a:bodyPr>
            <a:noAutofit/>
          </a:bodyPr>
          <a:lstStyle/>
          <a:p>
            <a:pPr marL="514350" indent="-514350">
              <a:buAutoNum type="arabicPlain" startAt="6"/>
            </a:pPr>
            <a:r>
              <a:rPr lang="en-US" sz="2000" b="1" dirty="0" smtClean="0">
                <a:latin typeface="Times New Roman" panose="02020603050405020304" pitchFamily="18" charset="0"/>
                <a:cs typeface="Times New Roman" panose="02020603050405020304" pitchFamily="18" charset="0"/>
              </a:rPr>
              <a:t>Adjustment difficulties with School Discipline</a:t>
            </a:r>
            <a:r>
              <a:rPr lang="en-US" sz="2000" dirty="0" smtClean="0">
                <a:latin typeface="Times New Roman" panose="02020603050405020304" pitchFamily="18" charset="0"/>
                <a:cs typeface="Times New Roman" panose="02020603050405020304" pitchFamily="18" charset="0"/>
              </a:rPr>
              <a:t> : restrictions on adolescents by some Schools – should not talk to opposite sex, have a haircut. </a:t>
            </a:r>
            <a:endParaRPr lang="en-US" sz="2000" dirty="0" smtClean="0">
              <a:latin typeface="Times New Roman" panose="02020603050405020304" pitchFamily="18" charset="0"/>
              <a:cs typeface="Times New Roman" panose="02020603050405020304" pitchFamily="18" charset="0"/>
            </a:endParaRPr>
          </a:p>
          <a:p>
            <a:pPr marL="514350" indent="-514350">
              <a:buAutoNum type="arabicPlain" startAt="6"/>
            </a:pPr>
            <a:r>
              <a:rPr lang="en-US" sz="2000" b="1" dirty="0" smtClean="0">
                <a:latin typeface="Times New Roman" panose="02020603050405020304" pitchFamily="18" charset="0"/>
                <a:cs typeface="Times New Roman" panose="02020603050405020304" pitchFamily="18" charset="0"/>
              </a:rPr>
              <a:t>Financial Problem</a:t>
            </a:r>
            <a:r>
              <a:rPr lang="en-US" sz="2000" dirty="0" smtClean="0">
                <a:latin typeface="Times New Roman" panose="02020603050405020304" pitchFamily="18" charset="0"/>
                <a:cs typeface="Times New Roman" panose="02020603050405020304" pitchFamily="18" charset="0"/>
              </a:rPr>
              <a:t> : pocket money not sufficient. Sometimes they steal parents’ money.</a:t>
            </a:r>
            <a:endParaRPr lang="en-US" sz="2000" dirty="0" smtClean="0">
              <a:latin typeface="Times New Roman" panose="02020603050405020304" pitchFamily="18" charset="0"/>
              <a:cs typeface="Times New Roman" panose="02020603050405020304" pitchFamily="18" charset="0"/>
            </a:endParaRPr>
          </a:p>
          <a:p>
            <a:pPr marL="514350" indent="-514350">
              <a:buAutoNum type="arabicPlain" startAt="8"/>
            </a:pPr>
            <a:r>
              <a:rPr lang="en-US" sz="2000" b="1" dirty="0" smtClean="0">
                <a:latin typeface="Times New Roman" panose="02020603050405020304" pitchFamily="18" charset="0"/>
                <a:cs typeface="Times New Roman" panose="02020603050405020304" pitchFamily="18" charset="0"/>
              </a:rPr>
              <a:t>Conflicts between Parents’ Aspiration and that of the Children</a:t>
            </a:r>
            <a:r>
              <a:rPr lang="en-US" sz="2000" dirty="0" smtClean="0">
                <a:latin typeface="Times New Roman" panose="02020603050405020304" pitchFamily="18" charset="0"/>
                <a:cs typeface="Times New Roman" panose="02020603050405020304" pitchFamily="18" charset="0"/>
              </a:rPr>
              <a:t>.  Due to the conflict some of them go away from home and some commit suicide.</a:t>
            </a:r>
            <a:endParaRPr lang="en-US" sz="2000" dirty="0" smtClean="0">
              <a:latin typeface="Times New Roman" panose="02020603050405020304" pitchFamily="18" charset="0"/>
              <a:cs typeface="Times New Roman" panose="02020603050405020304" pitchFamily="18" charset="0"/>
            </a:endParaRPr>
          </a:p>
          <a:p>
            <a:pPr marL="514350" indent="-514350">
              <a:buAutoNum type="arabicPlain" startAt="8"/>
            </a:pPr>
            <a:r>
              <a:rPr lang="en-US" sz="2000" b="1" dirty="0" smtClean="0">
                <a:latin typeface="Times New Roman" panose="02020603050405020304" pitchFamily="18" charset="0"/>
                <a:cs typeface="Times New Roman" panose="02020603050405020304" pitchFamily="18" charset="0"/>
              </a:rPr>
              <a:t>Problems related to physical appearance </a:t>
            </a:r>
            <a:r>
              <a:rPr lang="en-US" sz="2000" dirty="0" smtClean="0">
                <a:latin typeface="Times New Roman" panose="02020603050405020304" pitchFamily="18" charset="0"/>
                <a:cs typeface="Times New Roman" panose="02020603050405020304" pitchFamily="18" charset="0"/>
              </a:rPr>
              <a:t>: adolescents with the underdeveloped or overdeveloped physique, handicaps, diseases etc. develop various complexes and they feel isolated from the group. </a:t>
            </a:r>
            <a:endParaRPr lang="en-US" sz="2000" dirty="0" smtClean="0">
              <a:latin typeface="Times New Roman" panose="02020603050405020304" pitchFamily="18" charset="0"/>
              <a:cs typeface="Times New Roman" panose="02020603050405020304" pitchFamily="18" charset="0"/>
            </a:endParaRPr>
          </a:p>
          <a:p>
            <a:pPr marL="742950" indent="-742950">
              <a:buAutoNum type="arabicPlain" startAt="10"/>
            </a:pPr>
            <a:r>
              <a:rPr lang="en-US" sz="2000" b="1" dirty="0" smtClean="0">
                <a:latin typeface="Times New Roman" panose="02020603050405020304" pitchFamily="18" charset="0"/>
                <a:cs typeface="Times New Roman" panose="02020603050405020304" pitchFamily="18" charset="0"/>
              </a:rPr>
              <a:t>Heterosexual Adjustment problems </a:t>
            </a:r>
            <a:r>
              <a:rPr lang="en-US" sz="2000" dirty="0" smtClean="0">
                <a:latin typeface="Times New Roman" panose="02020603050405020304" pitchFamily="18" charset="0"/>
                <a:cs typeface="Times New Roman" panose="02020603050405020304" pitchFamily="18" charset="0"/>
              </a:rPr>
              <a:t>: parents and teachers put                   </a:t>
            </a:r>
            <a:endParaRPr lang="en-US" sz="2000" dirty="0" smtClean="0">
              <a:latin typeface="Times New Roman" panose="02020603050405020304" pitchFamily="18" charset="0"/>
              <a:cs typeface="Times New Roman" panose="02020603050405020304" pitchFamily="18" charset="0"/>
            </a:endParaRPr>
          </a:p>
          <a:p>
            <a:pPr marL="742950" indent="-742950">
              <a:buNone/>
            </a:pPr>
            <a:r>
              <a:rPr lang="en-US" sz="2000" dirty="0" smtClean="0">
                <a:latin typeface="Times New Roman" panose="02020603050405020304" pitchFamily="18" charset="0"/>
                <a:cs typeface="Times New Roman" panose="02020603050405020304" pitchFamily="18" charset="0"/>
              </a:rPr>
              <a:t>	restrictions on the youngsters to have friendship with opposite sex, they want to mingle with them. These unsolved motives get aggravated and negative activities follow.</a:t>
            </a:r>
            <a:endParaRPr lang="en-US" sz="2000" dirty="0" smtClean="0">
              <a:latin typeface="Times New Roman" panose="02020603050405020304" pitchFamily="18" charset="0"/>
              <a:cs typeface="Times New Roman" panose="02020603050405020304" pitchFamily="18" charset="0"/>
            </a:endParaRPr>
          </a:p>
          <a:p>
            <a:pPr>
              <a:buNone/>
            </a:pPr>
            <a:r>
              <a:rPr lang="en-US" sz="2000" b="1" dirty="0" smtClean="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endParaRPr 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86800" cy="838200"/>
          </a:xfrm>
        </p:spPr>
        <p:txBody>
          <a:bodyPr>
            <a:noAutofit/>
          </a:bodyPr>
          <a:lstStyle/>
          <a:p>
            <a:pPr algn="ctr"/>
            <a:r>
              <a:rPr lang="en-US" sz="1800" b="1" dirty="0" smtClean="0">
                <a:solidFill>
                  <a:schemeClr val="accent1"/>
                </a:solidFill>
                <a:latin typeface="Times New Roman" panose="02020603050405020304" pitchFamily="18" charset="0"/>
                <a:cs typeface="Times New Roman" panose="02020603050405020304" pitchFamily="18" charset="0"/>
              </a:rPr>
              <a:t>3.2</a:t>
            </a:r>
            <a:r>
              <a:rPr lang="en-US" sz="2400" b="1" dirty="0" smtClean="0">
                <a:solidFill>
                  <a:schemeClr val="accent1"/>
                </a:solidFill>
                <a:latin typeface="Times New Roman" panose="02020603050405020304" pitchFamily="18" charset="0"/>
                <a:cs typeface="Times New Roman" panose="02020603050405020304" pitchFamily="18" charset="0"/>
              </a:rPr>
              <a:t>  DEVELOPMENTAL PROBLEMS OF </a:t>
            </a:r>
            <a:br>
              <a:rPr lang="en-US" sz="2400" b="1" dirty="0" smtClean="0">
                <a:solidFill>
                  <a:schemeClr val="accent1"/>
                </a:solidFill>
                <a:latin typeface="Times New Roman" panose="02020603050405020304" pitchFamily="18" charset="0"/>
                <a:cs typeface="Times New Roman" panose="02020603050405020304" pitchFamily="18" charset="0"/>
              </a:rPr>
            </a:br>
            <a:r>
              <a:rPr lang="en-US" sz="2400" b="1" dirty="0" smtClean="0">
                <a:solidFill>
                  <a:schemeClr val="accent1"/>
                </a:solidFill>
                <a:latin typeface="Times New Roman" panose="02020603050405020304" pitchFamily="18" charset="0"/>
                <a:cs typeface="Times New Roman" panose="02020603050405020304" pitchFamily="18" charset="0"/>
              </a:rPr>
              <a:t>ADOLESCENTS IN INDIA </a:t>
            </a: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lnSpcReduction="20000"/>
          </a:bodyPr>
          <a:lstStyle/>
          <a:p>
            <a:pPr marL="514350" indent="-514350">
              <a:buAutoNum type="arabicPlain"/>
            </a:pPr>
            <a:r>
              <a:rPr lang="en-US" sz="8000" b="1" dirty="0" smtClean="0">
                <a:latin typeface="Times New Roman" panose="02020603050405020304" pitchFamily="18" charset="0"/>
                <a:cs typeface="Times New Roman" panose="02020603050405020304" pitchFamily="18" charset="0"/>
              </a:rPr>
              <a:t>Physical changes</a:t>
            </a:r>
            <a:r>
              <a:rPr lang="en-US" sz="8000" dirty="0" smtClean="0">
                <a:latin typeface="Times New Roman" panose="02020603050405020304" pitchFamily="18" charset="0"/>
                <a:cs typeface="Times New Roman" panose="02020603050405020304" pitchFamily="18" charset="0"/>
              </a:rPr>
              <a:t> : lack of scientific knowledge  about sex hygiene and physiology leads to guilty feeling and many other complexities among adolescents.</a:t>
            </a:r>
            <a:endParaRPr lang="en-US" sz="8000" dirty="0" smtClean="0">
              <a:latin typeface="Times New Roman" panose="02020603050405020304" pitchFamily="18" charset="0"/>
              <a:cs typeface="Times New Roman" panose="02020603050405020304" pitchFamily="18" charset="0"/>
            </a:endParaRPr>
          </a:p>
          <a:p>
            <a:pPr marL="514350" indent="-514350">
              <a:buAutoNum type="arabicPlain"/>
            </a:pPr>
            <a:r>
              <a:rPr lang="en-US" sz="8000" b="1" dirty="0" smtClean="0">
                <a:latin typeface="Times New Roman" panose="02020603050405020304" pitchFamily="18" charset="0"/>
                <a:cs typeface="Times New Roman" panose="02020603050405020304" pitchFamily="18" charset="0"/>
              </a:rPr>
              <a:t>Inquisitive Sex :</a:t>
            </a:r>
            <a:r>
              <a:rPr lang="en-US" sz="8000" dirty="0" smtClean="0">
                <a:latin typeface="Times New Roman" panose="02020603050405020304" pitchFamily="18" charset="0"/>
                <a:cs typeface="Times New Roman" panose="02020603050405020304" pitchFamily="18" charset="0"/>
              </a:rPr>
              <a:t> some adolescents resort to socially unacceptable ways to satisfy their curiosity about sex-related matters as parents are mostly shy about revealing or discussing with their children. Media pornography is another way they learn about sex.</a:t>
            </a:r>
            <a:endParaRPr lang="en-US" sz="8000" dirty="0" smtClean="0">
              <a:latin typeface="Times New Roman" panose="02020603050405020304" pitchFamily="18" charset="0"/>
              <a:cs typeface="Times New Roman" panose="02020603050405020304" pitchFamily="18" charset="0"/>
            </a:endParaRPr>
          </a:p>
          <a:p>
            <a:pPr marL="514350" indent="-514350">
              <a:buAutoNum type="arabicPlain"/>
            </a:pPr>
            <a:r>
              <a:rPr lang="en-US" sz="8000" b="1" dirty="0" smtClean="0">
                <a:latin typeface="Times New Roman" panose="02020603050405020304" pitchFamily="18" charset="0"/>
                <a:cs typeface="Times New Roman" panose="02020603050405020304" pitchFamily="18" charset="0"/>
              </a:rPr>
              <a:t>Transitional Conflict </a:t>
            </a:r>
            <a:r>
              <a:rPr lang="en-US" sz="8000" dirty="0" smtClean="0">
                <a:latin typeface="Times New Roman" panose="02020603050405020304" pitchFamily="18" charset="0"/>
                <a:cs typeface="Times New Roman" panose="02020603050405020304" pitchFamily="18" charset="0"/>
              </a:rPr>
              <a:t>: neither a child or an adult. Independent views and opinions like an adult. Sometimes he is treated as a child sometimes as an adult by the parents.  This leads to conflict in mind about his status. </a:t>
            </a:r>
            <a:endParaRPr lang="en-US" sz="8000" dirty="0" smtClean="0">
              <a:latin typeface="Times New Roman" panose="02020603050405020304" pitchFamily="18" charset="0"/>
              <a:cs typeface="Times New Roman" panose="02020603050405020304" pitchFamily="18" charset="0"/>
            </a:endParaRPr>
          </a:p>
          <a:p>
            <a:pPr marL="514350" indent="-514350">
              <a:lnSpc>
                <a:spcPct val="120000"/>
              </a:lnSpc>
              <a:buAutoNum type="arabicPlain"/>
            </a:pPr>
            <a:r>
              <a:rPr lang="en-US" sz="8000" b="1" dirty="0" smtClean="0">
                <a:latin typeface="Times New Roman" panose="02020603050405020304" pitchFamily="18" charset="0"/>
                <a:cs typeface="Times New Roman" panose="02020603050405020304" pitchFamily="18" charset="0"/>
              </a:rPr>
              <a:t>Adjustment problems with Parents</a:t>
            </a:r>
            <a:r>
              <a:rPr lang="en-US" sz="8000" dirty="0" smtClean="0">
                <a:latin typeface="Times New Roman" panose="02020603050405020304" pitchFamily="18" charset="0"/>
                <a:cs typeface="Times New Roman" panose="02020603050405020304" pitchFamily="18" charset="0"/>
              </a:rPr>
              <a:t> : Adolescents want to be independent, in their choices and selections  viz. friends, dress, recreational interests, study    </a:t>
            </a:r>
            <a:endParaRPr lang="en-US" sz="8000" dirty="0" smtClean="0">
              <a:latin typeface="Times New Roman" panose="02020603050405020304" pitchFamily="18" charset="0"/>
              <a:cs typeface="Times New Roman" panose="02020603050405020304" pitchFamily="18" charset="0"/>
            </a:endParaRPr>
          </a:p>
          <a:p>
            <a:pPr>
              <a:lnSpc>
                <a:spcPct val="120000"/>
              </a:lnSpc>
              <a:buNone/>
            </a:pPr>
            <a:r>
              <a:rPr lang="en-US" sz="8000" b="1" dirty="0" smtClean="0">
                <a:latin typeface="Times New Roman" panose="02020603050405020304" pitchFamily="18" charset="0"/>
                <a:cs typeface="Times New Roman" panose="02020603050405020304" pitchFamily="18" charset="0"/>
              </a:rPr>
              <a:t>5	   Adjustment difficulties with Community</a:t>
            </a:r>
            <a:r>
              <a:rPr lang="en-US" sz="8000" dirty="0" smtClean="0">
                <a:latin typeface="Times New Roman" panose="02020603050405020304" pitchFamily="18" charset="0"/>
                <a:cs typeface="Times New Roman" panose="02020603050405020304" pitchFamily="18" charset="0"/>
              </a:rPr>
              <a:t> : want to enjoy with peers.     They  have to make up their mind whether to stay with peers or go with the goal in life. </a:t>
            </a:r>
            <a:endParaRPr lang="en-US" sz="8000" dirty="0" smtClean="0">
              <a:latin typeface="Times New Roman" panose="02020603050405020304" pitchFamily="18" charset="0"/>
              <a:cs typeface="Times New Roman" panose="02020603050405020304" pitchFamily="18" charset="0"/>
            </a:endParaRPr>
          </a:p>
          <a:p>
            <a:pPr algn="r">
              <a:lnSpc>
                <a:spcPct val="120000"/>
              </a:lnSpc>
              <a:buNone/>
            </a:pPr>
            <a:r>
              <a:rPr lang="en-IN" sz="4800" dirty="0" err="1" smtClean="0"/>
              <a:t>Yakaiah</a:t>
            </a:r>
            <a:r>
              <a:rPr lang="en-IN" sz="4800" dirty="0" smtClean="0"/>
              <a:t>, </a:t>
            </a:r>
            <a:r>
              <a:rPr lang="en-IN" sz="4800" i="1" dirty="0" smtClean="0"/>
              <a:t>Psychology of Childhood and Adolescence</a:t>
            </a:r>
            <a:r>
              <a:rPr lang="en-IN" sz="4800" dirty="0" smtClean="0"/>
              <a:t>, pg 10 &amp; 11</a:t>
            </a:r>
            <a:endParaRPr lang="en-US" sz="4800" dirty="0" smtClean="0"/>
          </a:p>
          <a:p>
            <a:endParaRPr lang="en-US" sz="4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solidFill>
                  <a:schemeClr val="accent1"/>
                </a:solidFill>
              </a:rPr>
              <a:t>3.2	</a:t>
            </a:r>
            <a:r>
              <a:rPr lang="en-US" sz="2700" b="1" dirty="0" smtClean="0">
                <a:solidFill>
                  <a:schemeClr val="accent1"/>
                </a:solidFill>
                <a:latin typeface="Times New Roman" panose="02020603050405020304" pitchFamily="18" charset="0"/>
                <a:cs typeface="Times New Roman" panose="02020603050405020304" pitchFamily="18" charset="0"/>
              </a:rPr>
              <a:t>Developmental problems in </a:t>
            </a:r>
            <a:r>
              <a:rPr lang="en-US" sz="2700" b="1" dirty="0" err="1" smtClean="0">
                <a:solidFill>
                  <a:schemeClr val="accent1"/>
                </a:solidFill>
                <a:latin typeface="Times New Roman" panose="02020603050405020304" pitchFamily="18" charset="0"/>
                <a:cs typeface="Times New Roman" panose="02020603050405020304" pitchFamily="18" charset="0"/>
              </a:rPr>
              <a:t>adolscents</a:t>
            </a:r>
            <a:r>
              <a:rPr lang="en-US" sz="2700" b="1" dirty="0" smtClean="0">
                <a:solidFill>
                  <a:schemeClr val="accent1"/>
                </a:solidFill>
                <a:latin typeface="Times New Roman" panose="02020603050405020304" pitchFamily="18" charset="0"/>
                <a:cs typeface="Times New Roman" panose="02020603050405020304" pitchFamily="18" charset="0"/>
              </a:rPr>
              <a:t> </a:t>
            </a:r>
            <a:r>
              <a:rPr lang="en-US" sz="27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p/2</a:t>
            </a:r>
            <a:endParaRPr lang="en-US" sz="1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97255"/>
            <a:ext cx="8229600" cy="5230495"/>
          </a:xfrm>
        </p:spPr>
        <p:txBody>
          <a:bodyPr>
            <a:normAutofit fontScale="85000" lnSpcReduction="10000"/>
          </a:bodyPr>
          <a:lstStyle/>
          <a:p>
            <a:pPr marL="514350" indent="-514350">
              <a:buAutoNum type="arabicPlain" startAt="6"/>
            </a:pPr>
            <a:r>
              <a:rPr lang="en-US" b="1" dirty="0" smtClean="0"/>
              <a:t>A  hero-worshipper</a:t>
            </a:r>
            <a:endParaRPr lang="en-US" b="1" dirty="0" smtClean="0"/>
          </a:p>
          <a:p>
            <a:pPr marL="514350" indent="-514350">
              <a:buAutoNum type="arabicPlain" startAt="6"/>
            </a:pPr>
            <a:r>
              <a:rPr lang="en-US" b="1" dirty="0" smtClean="0"/>
              <a:t>Sex-consciousness becomes too intense</a:t>
            </a:r>
            <a:r>
              <a:rPr lang="en-US" dirty="0" smtClean="0"/>
              <a:t> – they get interested in the opposite sex.</a:t>
            </a:r>
            <a:endParaRPr lang="en-US" dirty="0" smtClean="0"/>
          </a:p>
          <a:p>
            <a:pPr marL="514350" indent="-514350">
              <a:buAutoNum type="arabicPlain" startAt="8"/>
            </a:pPr>
            <a:r>
              <a:rPr lang="en-US" b="1" dirty="0" smtClean="0"/>
              <a:t>Peer group relationship is too intense</a:t>
            </a:r>
            <a:r>
              <a:rPr lang="en-US" dirty="0" smtClean="0"/>
              <a:t> – they are following  the group norms</a:t>
            </a:r>
            <a:endParaRPr lang="en-US" dirty="0" smtClean="0"/>
          </a:p>
          <a:p>
            <a:pPr marL="514350" indent="-514350">
              <a:buAutoNum type="arabicPlain" startAt="9"/>
            </a:pPr>
            <a:r>
              <a:rPr lang="en-US" b="1" dirty="0" smtClean="0"/>
              <a:t>Is a ‘Period of Day-Dreaming</a:t>
            </a:r>
            <a:r>
              <a:rPr lang="en-US" dirty="0" smtClean="0"/>
              <a:t>.’  Exuberant imagination.</a:t>
            </a:r>
            <a:endParaRPr lang="en-US" dirty="0" smtClean="0"/>
          </a:p>
          <a:p>
            <a:pPr marL="514350" indent="-514350">
              <a:buAutoNum type="arabicPlain" startAt="9"/>
            </a:pPr>
            <a:r>
              <a:rPr lang="en-US" b="1" dirty="0" smtClean="0"/>
              <a:t>Is the period of acquiring</a:t>
            </a:r>
            <a:r>
              <a:rPr lang="en-US" dirty="0" smtClean="0"/>
              <a:t> the attitudes and values which are essential for the effective   participation in society. </a:t>
            </a:r>
            <a:endParaRPr lang="en-US" dirty="0" smtClean="0"/>
          </a:p>
          <a:p>
            <a:pPr marL="514350" indent="-514350">
              <a:buAutoNum type="arabicPlain" startAt="9"/>
            </a:pPr>
            <a:r>
              <a:rPr lang="en-US" b="1" dirty="0" smtClean="0"/>
              <a:t>Is a period where ‘falling in love’</a:t>
            </a:r>
            <a:r>
              <a:rPr lang="en-US" dirty="0" smtClean="0"/>
              <a:t> is prevalent, even  sometimes with the Teacher or  Master.</a:t>
            </a:r>
            <a:endParaRPr lang="en-US"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065" y="190500"/>
            <a:ext cx="8039735" cy="582930"/>
          </a:xfrm>
        </p:spPr>
        <p:txBody>
          <a:bodyPr/>
          <a:lstStyle/>
          <a:p>
            <a:r>
              <a:rPr lang="en-US" sz="1800" dirty="0" smtClean="0">
                <a:solidFill>
                  <a:schemeClr val="accent1"/>
                </a:solidFill>
              </a:rPr>
              <a:t>3</a:t>
            </a:r>
            <a:r>
              <a:rPr lang="en-US" sz="1800" b="1" dirty="0" smtClean="0">
                <a:solidFill>
                  <a:schemeClr val="accent1"/>
                </a:solidFill>
              </a:rPr>
              <a:t>.3</a:t>
            </a:r>
            <a:r>
              <a:rPr lang="en-US" b="1" dirty="0" smtClean="0">
                <a:solidFill>
                  <a:schemeClr val="accent1"/>
                </a:solidFill>
              </a:rPr>
              <a:t> F</a:t>
            </a:r>
            <a:r>
              <a:rPr lang="en-US" sz="2800" b="1" dirty="0" smtClean="0">
                <a:solidFill>
                  <a:schemeClr val="accent1"/>
                </a:solidFill>
                <a:latin typeface="Times New Roman" panose="02020603050405020304" pitchFamily="18" charset="0"/>
                <a:cs typeface="Times New Roman" panose="02020603050405020304" pitchFamily="18" charset="0"/>
              </a:rPr>
              <a:t>rustrations </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19200"/>
            <a:ext cx="8686800" cy="5257800"/>
          </a:xfrm>
        </p:spPr>
        <p:txBody>
          <a:bodyPr>
            <a:normAutofit fontScale="32500" lnSpcReduction="20000"/>
          </a:bodyPr>
          <a:lstStyle/>
          <a:p>
            <a:r>
              <a:rPr lang="en-US" dirty="0" smtClean="0"/>
              <a:t>	</a:t>
            </a:r>
            <a:r>
              <a:rPr lang="en-US" sz="6200" b="1" dirty="0" smtClean="0"/>
              <a:t>				 </a:t>
            </a:r>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6200" b="1" dirty="0" smtClean="0"/>
          </a:p>
          <a:p>
            <a:endParaRPr lang="en-US" sz="5500" dirty="0" smtClean="0"/>
          </a:p>
          <a:p>
            <a:r>
              <a:rPr lang="en-US" sz="5500" dirty="0" smtClean="0"/>
              <a:t>‘Frustration refers to failure to satisfy a basic need because of either conditions in the individual or external obstacles’. </a:t>
            </a:r>
            <a:r>
              <a:rPr lang="en-US" sz="4310" b="1" i="1" dirty="0" smtClean="0"/>
              <a:t>Barney and </a:t>
            </a:r>
            <a:r>
              <a:rPr lang="en-US" sz="4310" b="1" i="1" dirty="0" err="1" smtClean="0"/>
              <a:t>Lehner</a:t>
            </a:r>
            <a:r>
              <a:rPr lang="en-US" sz="4310" b="1" i="1" dirty="0" smtClean="0"/>
              <a:t>.</a:t>
            </a:r>
            <a:endParaRPr lang="en-US" sz="4310" b="1" i="1" dirty="0" smtClean="0"/>
          </a:p>
          <a:p>
            <a:r>
              <a:rPr lang="en-US" sz="4310" b="1" i="1" dirty="0" smtClean="0"/>
              <a:t> </a:t>
            </a:r>
            <a:endParaRPr lang="en-US" sz="4310" b="1" i="1" dirty="0" smtClean="0"/>
          </a:p>
          <a:p>
            <a:endParaRPr lang="en-US" sz="4310" b="1" i="1" dirty="0"/>
          </a:p>
        </p:txBody>
      </p:sp>
      <p:graphicFrame>
        <p:nvGraphicFramePr>
          <p:cNvPr id="20483" name="Object 3"/>
          <p:cNvGraphicFramePr>
            <a:graphicFrameLocks noChangeAspect="1"/>
          </p:cNvGraphicFramePr>
          <p:nvPr/>
        </p:nvGraphicFramePr>
        <p:xfrm>
          <a:off x="762000" y="1219199"/>
          <a:ext cx="7391400" cy="3587751"/>
        </p:xfrm>
        <a:graphic>
          <a:graphicData uri="http://schemas.openxmlformats.org/presentationml/2006/ole">
            <mc:AlternateContent xmlns:mc="http://schemas.openxmlformats.org/markup-compatibility/2006">
              <mc:Choice xmlns:v="urn:schemas-microsoft-com:vml" Requires="v">
                <p:oleObj spid="_x0000_s2049" name="Document" r:id="rId1" imgW="5944235" imgH="2755265" progId="Word.Document.12">
                  <p:embed/>
                </p:oleObj>
              </mc:Choice>
              <mc:Fallback>
                <p:oleObj name="Document" r:id="rId1" imgW="5944235" imgH="2755265" progId="Word.Document.12">
                  <p:embed/>
                  <p:pic>
                    <p:nvPicPr>
                      <p:cNvPr id="0" name="Picture 2048"/>
                      <p:cNvPicPr>
                        <a:picLocks noChangeAspect="1"/>
                      </p:cNvPicPr>
                      <p:nvPr/>
                    </p:nvPicPr>
                    <p:blipFill>
                      <a:blip r:embed="rId2"/>
                      <a:stretch>
                        <a:fillRect/>
                      </a:stretch>
                    </p:blipFill>
                    <p:spPr>
                      <a:xfrm>
                        <a:off x="762000" y="1219199"/>
                        <a:ext cx="7391400" cy="3587751"/>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685800"/>
          </a:xfrm>
        </p:spPr>
        <p:txBody>
          <a:bodyPr>
            <a:normAutofit/>
          </a:bodyPr>
          <a:lstStyle/>
          <a:p>
            <a:pPr algn="l"/>
            <a:r>
              <a:rPr lang="en-US" sz="2000" dirty="0" smtClean="0">
                <a:latin typeface="Times New Roman" panose="02020603050405020304" pitchFamily="18" charset="0"/>
                <a:cs typeface="Times New Roman" panose="02020603050405020304" pitchFamily="18" charset="0"/>
              </a:rPr>
              <a:t>    </a:t>
            </a:r>
            <a:r>
              <a:rPr lang="en-US" sz="2700" b="1" dirty="0" smtClean="0">
                <a:solidFill>
                  <a:schemeClr val="accent1"/>
                </a:solidFill>
                <a:latin typeface="Times New Roman" panose="02020603050405020304" pitchFamily="18" charset="0"/>
                <a:cs typeface="Times New Roman" panose="02020603050405020304" pitchFamily="18" charset="0"/>
              </a:rPr>
              <a:t>Causes for Problem </a:t>
            </a:r>
            <a:r>
              <a:rPr lang="en-US" sz="2700" b="1" dirty="0" err="1" smtClean="0">
                <a:solidFill>
                  <a:schemeClr val="accent1"/>
                </a:solidFill>
                <a:latin typeface="Times New Roman" panose="02020603050405020304" pitchFamily="18" charset="0"/>
                <a:cs typeface="Times New Roman" panose="02020603050405020304" pitchFamily="18" charset="0"/>
              </a:rPr>
              <a:t>behaviour</a:t>
            </a:r>
            <a:r>
              <a:rPr lang="en-US" sz="2700" b="1" dirty="0" smtClean="0">
                <a:solidFill>
                  <a:schemeClr val="accent1"/>
                </a:solidFill>
                <a:latin typeface="Times New Roman" panose="02020603050405020304" pitchFamily="18" charset="0"/>
                <a:cs typeface="Times New Roman" panose="02020603050405020304" pitchFamily="18" charset="0"/>
              </a:rPr>
              <a:t> in children</a:t>
            </a:r>
            <a:endParaRPr lang="en-US" sz="27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143000"/>
            <a:ext cx="8686800" cy="4937125"/>
          </a:xfrm>
        </p:spPr>
        <p:txBody>
          <a:bodyPr>
            <a:normAutofit fontScale="77500" lnSpcReduction="20000"/>
          </a:bodyPr>
          <a:lstStyle/>
          <a:p>
            <a:r>
              <a:rPr lang="en-US" sz="2900" dirty="0" smtClean="0">
                <a:latin typeface="Times New Roman" panose="02020603050405020304" pitchFamily="18" charset="0"/>
                <a:cs typeface="Times New Roman" panose="02020603050405020304" pitchFamily="18" charset="0"/>
              </a:rPr>
              <a:t>‘</a:t>
            </a:r>
            <a:r>
              <a:rPr lang="en-US" sz="2900" u="sng" dirty="0" smtClean="0">
                <a:latin typeface="Times New Roman" panose="02020603050405020304" pitchFamily="18" charset="0"/>
                <a:cs typeface="Times New Roman" panose="02020603050405020304" pitchFamily="18" charset="0"/>
              </a:rPr>
              <a:t>PROBLEM CHILD’, ‘PROBLEM BEHAVIOUR’</a:t>
            </a:r>
            <a:r>
              <a:rPr lang="en-US" sz="2900" dirty="0" smtClean="0">
                <a:latin typeface="Times New Roman" panose="02020603050405020304" pitchFamily="18" charset="0"/>
                <a:cs typeface="Times New Roman" panose="02020603050405020304" pitchFamily="18" charset="0"/>
              </a:rPr>
              <a:t> </a:t>
            </a:r>
            <a:endParaRPr lang="en-US" sz="2900" dirty="0" smtClean="0">
              <a:latin typeface="Times New Roman" panose="02020603050405020304" pitchFamily="18" charset="0"/>
              <a:cs typeface="Times New Roman" panose="02020603050405020304" pitchFamily="18" charset="0"/>
            </a:endParaRPr>
          </a:p>
          <a:p>
            <a:pPr>
              <a:buNone/>
            </a:pPr>
            <a:r>
              <a:rPr lang="en-US" sz="2900" dirty="0" smtClean="0">
                <a:latin typeface="Times New Roman" panose="02020603050405020304" pitchFamily="18" charset="0"/>
                <a:cs typeface="Times New Roman" panose="02020603050405020304" pitchFamily="18" charset="0"/>
              </a:rPr>
              <a:t>	The  anti-social </a:t>
            </a:r>
            <a:r>
              <a:rPr lang="en-US" sz="2900" dirty="0" err="1" smtClean="0">
                <a:latin typeface="Times New Roman" panose="02020603050405020304" pitchFamily="18" charset="0"/>
                <a:cs typeface="Times New Roman" panose="02020603050405020304" pitchFamily="18" charset="0"/>
              </a:rPr>
              <a:t>behaviour</a:t>
            </a:r>
            <a:r>
              <a:rPr lang="en-US" sz="2900" dirty="0" smtClean="0">
                <a:latin typeface="Times New Roman" panose="02020603050405020304" pitchFamily="18" charset="0"/>
                <a:cs typeface="Times New Roman" panose="02020603050405020304" pitchFamily="18" charset="0"/>
              </a:rPr>
              <a:t> of some children  is called ‘problem </a:t>
            </a:r>
            <a:r>
              <a:rPr lang="en-US" sz="2900" dirty="0" err="1" smtClean="0">
                <a:latin typeface="Times New Roman" panose="02020603050405020304" pitchFamily="18" charset="0"/>
                <a:cs typeface="Times New Roman" panose="02020603050405020304" pitchFamily="18" charset="0"/>
              </a:rPr>
              <a:t>behaviour</a:t>
            </a:r>
            <a:r>
              <a:rPr lang="en-US" sz="2900" dirty="0" smtClean="0">
                <a:latin typeface="Times New Roman" panose="02020603050405020304" pitchFamily="18" charset="0"/>
                <a:cs typeface="Times New Roman" panose="02020603050405020304" pitchFamily="18" charset="0"/>
              </a:rPr>
              <a:t>’ and such children are called ‘problem child’. </a:t>
            </a:r>
            <a:endParaRPr lang="en-US" sz="2900" dirty="0" smtClean="0">
              <a:latin typeface="Times New Roman" panose="02020603050405020304" pitchFamily="18" charset="0"/>
              <a:cs typeface="Times New Roman" panose="02020603050405020304" pitchFamily="18" charset="0"/>
            </a:endParaRPr>
          </a:p>
          <a:p>
            <a:pPr>
              <a:buNone/>
            </a:pPr>
            <a:r>
              <a:rPr lang="en-US" sz="2900" dirty="0" smtClean="0">
                <a:latin typeface="Times New Roman" panose="02020603050405020304" pitchFamily="18" charset="0"/>
                <a:cs typeface="Times New Roman" panose="02020603050405020304" pitchFamily="18" charset="0"/>
              </a:rPr>
              <a:t>	Common </a:t>
            </a:r>
            <a:r>
              <a:rPr lang="en-US" sz="2900" dirty="0" err="1" smtClean="0">
                <a:latin typeface="Times New Roman" panose="02020603050405020304" pitchFamily="18" charset="0"/>
                <a:cs typeface="Times New Roman" panose="02020603050405020304" pitchFamily="18" charset="0"/>
              </a:rPr>
              <a:t>behavioural</a:t>
            </a:r>
            <a:r>
              <a:rPr lang="en-US" sz="2900" dirty="0" smtClean="0">
                <a:latin typeface="Times New Roman" panose="02020603050405020304" pitchFamily="18" charset="0"/>
                <a:cs typeface="Times New Roman" panose="02020603050405020304" pitchFamily="18" charset="0"/>
              </a:rPr>
              <a:t> problems are </a:t>
            </a:r>
            <a:r>
              <a:rPr lang="en-US" sz="2900" b="1" dirty="0" smtClean="0">
                <a:latin typeface="Times New Roman" panose="02020603050405020304" pitchFamily="18" charset="0"/>
                <a:cs typeface="Times New Roman" panose="02020603050405020304" pitchFamily="18" charset="0"/>
              </a:rPr>
              <a:t>truancy, lying,  bullying, stealing, destruction of common property, adolescent sexual </a:t>
            </a:r>
            <a:r>
              <a:rPr lang="en-US" sz="2900" b="1" dirty="0" err="1" smtClean="0">
                <a:latin typeface="Times New Roman" panose="02020603050405020304" pitchFamily="18" charset="0"/>
                <a:cs typeface="Times New Roman" panose="02020603050405020304" pitchFamily="18" charset="0"/>
              </a:rPr>
              <a:t>misbehaviour</a:t>
            </a:r>
            <a:r>
              <a:rPr lang="en-US" sz="2900" b="1" dirty="0" smtClean="0">
                <a:latin typeface="Times New Roman" panose="02020603050405020304" pitchFamily="18" charset="0"/>
                <a:cs typeface="Times New Roman" panose="02020603050405020304" pitchFamily="18" charset="0"/>
              </a:rPr>
              <a:t>, disobedience to those in authority, picking up quarrels for flimsy reasons, loud &amp; boisterous, shouting, creating scenes in public places, frequently indulging in mischief</a:t>
            </a:r>
            <a:r>
              <a:rPr lang="en-US" sz="2900" dirty="0" smtClean="0">
                <a:latin typeface="Times New Roman" panose="02020603050405020304" pitchFamily="18" charset="0"/>
                <a:cs typeface="Times New Roman" panose="02020603050405020304" pitchFamily="18" charset="0"/>
              </a:rPr>
              <a:t> etc. </a:t>
            </a:r>
            <a:endParaRPr lang="en-US" sz="2900" dirty="0" smtClean="0">
              <a:latin typeface="Times New Roman" panose="02020603050405020304" pitchFamily="18" charset="0"/>
              <a:cs typeface="Times New Roman" panose="02020603050405020304" pitchFamily="18" charset="0"/>
            </a:endParaRPr>
          </a:p>
          <a:p>
            <a:pPr>
              <a:buNone/>
            </a:pP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Physical conditions</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Psychological Factors</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Broken Home</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Attitude of Parents</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Socio-Economic Conditions </a:t>
            </a:r>
            <a:endParaRPr lang="en-US" sz="2900" dirty="0" smtClean="0">
              <a:latin typeface="Times New Roman" panose="02020603050405020304" pitchFamily="18" charset="0"/>
              <a:cs typeface="Times New Roman" panose="02020603050405020304" pitchFamily="18" charset="0"/>
            </a:endParaRPr>
          </a:p>
          <a:p>
            <a:r>
              <a:rPr lang="en-US" sz="2900" dirty="0" smtClean="0">
                <a:latin typeface="Times New Roman" panose="02020603050405020304" pitchFamily="18" charset="0"/>
                <a:cs typeface="Times New Roman" panose="02020603050405020304" pitchFamily="18" charset="0"/>
              </a:rPr>
              <a:t>School Environment</a:t>
            </a:r>
            <a:endParaRPr lang="en-US" sz="2900" dirty="0" smtClean="0">
              <a:latin typeface="Times New Roman" panose="02020603050405020304" pitchFamily="18" charset="0"/>
              <a:cs typeface="Times New Roman" panose="02020603050405020304" pitchFamily="18" charset="0"/>
            </a:endParaRPr>
          </a:p>
          <a:p>
            <a:endParaRPr lang="en-US"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2000" b="1" dirty="0" smtClean="0">
                <a:solidFill>
                  <a:schemeClr val="accent1"/>
                </a:solidFill>
                <a:latin typeface="Times New Roman" panose="02020603050405020304" pitchFamily="18" charset="0"/>
                <a:cs typeface="Times New Roman" panose="02020603050405020304" pitchFamily="18" charset="0"/>
              </a:rPr>
              <a:t>3.4  </a:t>
            </a:r>
            <a:r>
              <a:rPr lang="en-US" sz="2800" b="1" dirty="0" smtClean="0">
                <a:solidFill>
                  <a:schemeClr val="accent1"/>
                </a:solidFill>
                <a:latin typeface="Times New Roman" panose="02020603050405020304" pitchFamily="18" charset="0"/>
                <a:cs typeface="Times New Roman" panose="02020603050405020304" pitchFamily="18" charset="0"/>
              </a:rPr>
              <a:t>COMMON TYPES OF DEFENCE MECHANISMS</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066800"/>
            <a:ext cx="8686800" cy="5562600"/>
          </a:xfrm>
        </p:spPr>
        <p:txBody>
          <a:bodyPr>
            <a:normAutofit fontScale="25000" lnSpcReduction="20000"/>
          </a:bodyPr>
          <a:lstStyle/>
          <a:p>
            <a:pPr>
              <a:buNone/>
            </a:pPr>
            <a:endParaRPr lang="en-US" dirty="0" smtClean="0"/>
          </a:p>
          <a:p>
            <a:pPr>
              <a:buNone/>
            </a:pPr>
            <a:r>
              <a:rPr lang="en-US" sz="8000" b="1" dirty="0" smtClean="0">
                <a:latin typeface="Times New Roman" panose="02020603050405020304" pitchFamily="18" charset="0"/>
                <a:cs typeface="Times New Roman" panose="02020603050405020304" pitchFamily="18" charset="0"/>
              </a:rPr>
              <a:t>1   Introversion : M</a:t>
            </a:r>
            <a:r>
              <a:rPr lang="en-US" sz="8000" dirty="0" smtClean="0">
                <a:latin typeface="Times New Roman" panose="02020603050405020304" pitchFamily="18" charset="0"/>
                <a:cs typeface="Times New Roman" panose="02020603050405020304" pitchFamily="18" charset="0"/>
              </a:rPr>
              <a:t>aladjusted </a:t>
            </a:r>
            <a:r>
              <a:rPr lang="en-US" sz="8000" dirty="0" err="1" smtClean="0">
                <a:latin typeface="Times New Roman" panose="02020603050405020304" pitchFamily="18" charset="0"/>
                <a:cs typeface="Times New Roman" panose="02020603050405020304" pitchFamily="18" charset="0"/>
              </a:rPr>
              <a:t>behaviour</a:t>
            </a:r>
            <a:r>
              <a:rPr lang="en-US" sz="8000" dirty="0" smtClean="0">
                <a:latin typeface="Times New Roman" panose="02020603050405020304" pitchFamily="18" charset="0"/>
                <a:cs typeface="Times New Roman" panose="02020603050405020304" pitchFamily="18" charset="0"/>
              </a:rPr>
              <a:t> of withdrawing oneself totally from the social world and remaining aloof. (Sam 20 yrs old)  Severe introversion may lead to antisocial  </a:t>
            </a:r>
            <a:r>
              <a:rPr lang="en-US" sz="8000" dirty="0" err="1" smtClean="0">
                <a:latin typeface="Times New Roman" panose="02020603050405020304" pitchFamily="18" charset="0"/>
                <a:cs typeface="Times New Roman" panose="02020603050405020304" pitchFamily="18" charset="0"/>
              </a:rPr>
              <a:t>behaviour</a:t>
            </a:r>
            <a:r>
              <a:rPr lang="en-US" sz="8000" dirty="0" smtClean="0">
                <a:latin typeface="Times New Roman" panose="02020603050405020304" pitchFamily="18" charset="0"/>
                <a:cs typeface="Times New Roman" panose="02020603050405020304" pitchFamily="18" charset="0"/>
              </a:rPr>
              <a:t>.</a:t>
            </a:r>
            <a:endParaRPr lang="en-US" sz="8000" dirty="0" smtClean="0">
              <a:latin typeface="Times New Roman" panose="02020603050405020304" pitchFamily="18" charset="0"/>
              <a:cs typeface="Times New Roman" panose="02020603050405020304" pitchFamily="18" charset="0"/>
            </a:endParaRPr>
          </a:p>
          <a:p>
            <a:pPr>
              <a:buNone/>
            </a:pPr>
            <a:endParaRPr lang="en-US" sz="5600" b="1" dirty="0" smtClean="0">
              <a:latin typeface="Times New Roman" panose="02020603050405020304" pitchFamily="18" charset="0"/>
              <a:cs typeface="Times New Roman" panose="02020603050405020304" pitchFamily="18" charset="0"/>
            </a:endParaRPr>
          </a:p>
          <a:p>
            <a:pPr>
              <a:buNone/>
            </a:pPr>
            <a:r>
              <a:rPr lang="en-US" sz="8000" b="1" dirty="0" smtClean="0">
                <a:latin typeface="Times New Roman" panose="02020603050405020304" pitchFamily="18" charset="0"/>
                <a:cs typeface="Times New Roman" panose="02020603050405020304" pitchFamily="18" charset="0"/>
              </a:rPr>
              <a:t>2   Fantasy : </a:t>
            </a:r>
            <a:r>
              <a:rPr lang="en-US" sz="8000" dirty="0" smtClean="0">
                <a:latin typeface="Times New Roman" panose="02020603050405020304" pitchFamily="18" charset="0"/>
                <a:cs typeface="Times New Roman" panose="02020603050405020304" pitchFamily="18" charset="0"/>
              </a:rPr>
              <a:t>Day-dreaming or fantasy, mind wanders aimlessly among pleasant imagery, gratifying wishes and desires that are ungratified in real life. This dream world is limited by the individual’s imagination. He achieves in his world of fantasy, what he could not achieve in real life. </a:t>
            </a:r>
            <a:endParaRPr lang="en-US" sz="8000" dirty="0" smtClean="0">
              <a:latin typeface="Times New Roman" panose="02020603050405020304" pitchFamily="18" charset="0"/>
              <a:cs typeface="Times New Roman" panose="02020603050405020304" pitchFamily="18" charset="0"/>
            </a:endParaRPr>
          </a:p>
          <a:p>
            <a:pPr>
              <a:buNone/>
            </a:pPr>
            <a:r>
              <a:rPr lang="en-US" sz="8000" dirty="0" smtClean="0">
                <a:latin typeface="Times New Roman" panose="02020603050405020304" pitchFamily="18" charset="0"/>
                <a:cs typeface="Times New Roman" panose="02020603050405020304" pitchFamily="18" charset="0"/>
              </a:rPr>
              <a:t>     Continued fantasy, results in the disorganization of the individual personality. </a:t>
            </a:r>
            <a:endParaRPr lang="en-US" sz="8000" dirty="0" smtClean="0">
              <a:latin typeface="Times New Roman" panose="02020603050405020304" pitchFamily="18" charset="0"/>
              <a:cs typeface="Times New Roman" panose="02020603050405020304" pitchFamily="18" charset="0"/>
            </a:endParaRPr>
          </a:p>
          <a:p>
            <a:endParaRPr lang="en-US" sz="6400" b="1" dirty="0" smtClean="0">
              <a:latin typeface="Times New Roman" panose="02020603050405020304" pitchFamily="18" charset="0"/>
              <a:cs typeface="Times New Roman" panose="02020603050405020304" pitchFamily="18" charset="0"/>
            </a:endParaRPr>
          </a:p>
          <a:p>
            <a:pPr>
              <a:buNone/>
            </a:pPr>
            <a:r>
              <a:rPr lang="en-US" sz="8000" b="1" dirty="0" smtClean="0">
                <a:latin typeface="Times New Roman" panose="02020603050405020304" pitchFamily="18" charset="0"/>
                <a:cs typeface="Times New Roman" panose="02020603050405020304" pitchFamily="18" charset="0"/>
              </a:rPr>
              <a:t>3   Projection : </a:t>
            </a:r>
            <a:r>
              <a:rPr lang="en-US" sz="8000" dirty="0" smtClean="0">
                <a:latin typeface="Times New Roman" panose="02020603050405020304" pitchFamily="18" charset="0"/>
                <a:cs typeface="Times New Roman" panose="02020603050405020304" pitchFamily="18" charset="0"/>
              </a:rPr>
              <a:t>Students are the victims of their parents’ projection of their hopes of higher education and thereby better life. (Ms Sophie) tendency to force on another person,  one’s own unrealized frustrated ambitions.  </a:t>
            </a:r>
            <a:endParaRPr lang="en-US" sz="8000" dirty="0" smtClean="0">
              <a:latin typeface="Times New Roman" panose="02020603050405020304" pitchFamily="18" charset="0"/>
              <a:cs typeface="Times New Roman" panose="02020603050405020304" pitchFamily="18" charset="0"/>
            </a:endParaRPr>
          </a:p>
          <a:p>
            <a:pPr>
              <a:buNone/>
            </a:pPr>
            <a:r>
              <a:rPr lang="en-US" sz="8000" dirty="0" smtClean="0">
                <a:latin typeface="Times New Roman" panose="02020603050405020304" pitchFamily="18" charset="0"/>
                <a:cs typeface="Times New Roman" panose="02020603050405020304" pitchFamily="18" charset="0"/>
              </a:rPr>
              <a:t>     In the mental disorder known as paranoia, the mechanism of projection is used to an extreme degree.</a:t>
            </a:r>
            <a:endParaRPr lang="en-US" sz="8000" dirty="0" smtClean="0">
              <a:latin typeface="Times New Roman" panose="02020603050405020304" pitchFamily="18" charset="0"/>
              <a:cs typeface="Times New Roman" panose="02020603050405020304" pitchFamily="18" charset="0"/>
            </a:endParaRPr>
          </a:p>
          <a:p>
            <a:endParaRPr lang="en-US" sz="5600" dirty="0" smtClean="0">
              <a:latin typeface="Times New Roman" panose="02020603050405020304" pitchFamily="18" charset="0"/>
              <a:cs typeface="Times New Roman" panose="02020603050405020304" pitchFamily="18" charset="0"/>
            </a:endParaRPr>
          </a:p>
          <a:p>
            <a:pPr>
              <a:buNone/>
            </a:pPr>
            <a:r>
              <a:rPr lang="en-US" sz="8000" b="1" dirty="0" smtClean="0">
                <a:latin typeface="Times New Roman" panose="02020603050405020304" pitchFamily="18" charset="0"/>
                <a:cs typeface="Times New Roman" panose="02020603050405020304" pitchFamily="18" charset="0"/>
              </a:rPr>
              <a:t>4   </a:t>
            </a:r>
            <a:r>
              <a:rPr lang="en-US" sz="8000" b="1" dirty="0" err="1" smtClean="0">
                <a:latin typeface="Times New Roman" panose="02020603050405020304" pitchFamily="18" charset="0"/>
                <a:cs typeface="Times New Roman" panose="02020603050405020304" pitchFamily="18" charset="0"/>
              </a:rPr>
              <a:t>Rationalisation</a:t>
            </a:r>
            <a:r>
              <a:rPr lang="en-US" sz="8000" b="1" dirty="0" smtClean="0">
                <a:latin typeface="Times New Roman" panose="02020603050405020304" pitchFamily="18" charset="0"/>
                <a:cs typeface="Times New Roman" panose="02020603050405020304" pitchFamily="18" charset="0"/>
              </a:rPr>
              <a:t>    </a:t>
            </a:r>
            <a:r>
              <a:rPr lang="en-US" sz="8000" dirty="0" smtClean="0">
                <a:latin typeface="Times New Roman" panose="02020603050405020304" pitchFamily="18" charset="0"/>
                <a:cs typeface="Times New Roman" panose="02020603050405020304" pitchFamily="18" charset="0"/>
              </a:rPr>
              <a:t>When a plausible reason or excuse is given, instead of the real reason. It is more often self-deception and not lying to deceive others. E.g. Fox and the Grapes ‘Grapes are sour’. </a:t>
            </a:r>
            <a:endParaRPr lang="en-US" sz="8000" b="1" dirty="0" smtClean="0">
              <a:latin typeface="Times New Roman" panose="02020603050405020304" pitchFamily="18" charset="0"/>
              <a:cs typeface="Times New Roman" panose="02020603050405020304" pitchFamily="18" charset="0"/>
            </a:endParaRPr>
          </a:p>
          <a:p>
            <a:endParaRPr lang="en-US" sz="8000" dirty="0" smtClean="0">
              <a:latin typeface="Times New Roman" panose="02020603050405020304" pitchFamily="18" charset="0"/>
              <a:cs typeface="Times New Roman" panose="02020603050405020304" pitchFamily="18" charset="0"/>
            </a:endParaRPr>
          </a:p>
          <a:p>
            <a:endParaRPr lang="en-US" sz="8000" b="1" dirty="0" smtClean="0">
              <a:latin typeface="Times New Roman" panose="02020603050405020304" pitchFamily="18" charset="0"/>
              <a:cs typeface="Times New Roman" panose="02020603050405020304" pitchFamily="18" charset="0"/>
            </a:endParaRPr>
          </a:p>
          <a:p>
            <a:endParaRPr lang="en-US" sz="5600" b="1" dirty="0" smtClean="0">
              <a:latin typeface="Times New Roman" panose="02020603050405020304" pitchFamily="18" charset="0"/>
              <a:cs typeface="Times New Roman" panose="02020603050405020304" pitchFamily="18" charset="0"/>
            </a:endParaRPr>
          </a:p>
          <a:p>
            <a:endParaRPr lang="en-US" sz="5600" dirty="0" smtClean="0">
              <a:latin typeface="Times New Roman" panose="02020603050405020304" pitchFamily="18" charset="0"/>
              <a:cs typeface="Times New Roman" panose="02020603050405020304" pitchFamily="18" charset="0"/>
            </a:endParaRPr>
          </a:p>
          <a:p>
            <a:pPr>
              <a:buNone/>
            </a:pPr>
            <a:endParaRPr lang="en-US" sz="5600" dirty="0" smtClean="0">
              <a:latin typeface="Times New Roman" panose="02020603050405020304" pitchFamily="18" charset="0"/>
              <a:cs typeface="Times New Roman" panose="02020603050405020304" pitchFamily="18" charset="0"/>
            </a:endParaRPr>
          </a:p>
          <a:p>
            <a:r>
              <a:rPr lang="en-US" sz="5600" dirty="0" smtClean="0">
                <a:latin typeface="Times New Roman" panose="02020603050405020304" pitchFamily="18" charset="0"/>
                <a:cs typeface="Times New Roman" panose="02020603050405020304" pitchFamily="18" charset="0"/>
              </a:rPr>
              <a:t>  </a:t>
            </a:r>
            <a:endParaRPr lang="en-US" sz="5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smtClean="0">
                <a:solidFill>
                  <a:schemeClr val="accent1"/>
                </a:solidFill>
                <a:latin typeface="Times New Roman" panose="02020603050405020304" pitchFamily="18" charset="0"/>
                <a:cs typeface="Times New Roman" panose="02020603050405020304" pitchFamily="18" charset="0"/>
              </a:rPr>
              <a:t>3.4     </a:t>
            </a:r>
            <a:r>
              <a:rPr lang="en-US" sz="2800" b="1" dirty="0" smtClean="0">
                <a:solidFill>
                  <a:schemeClr val="accent1"/>
                </a:solidFill>
                <a:latin typeface="Times New Roman" panose="02020603050405020304" pitchFamily="18" charset="0"/>
                <a:cs typeface="Times New Roman" panose="02020603050405020304" pitchFamily="18" charset="0"/>
              </a:rPr>
              <a:t> Common types of </a:t>
            </a:r>
            <a:r>
              <a:rPr lang="en-US" sz="2800" b="1" dirty="0" err="1" smtClean="0">
                <a:solidFill>
                  <a:schemeClr val="accent1"/>
                </a:solidFill>
                <a:latin typeface="Times New Roman" panose="02020603050405020304" pitchFamily="18" charset="0"/>
                <a:cs typeface="Times New Roman" panose="02020603050405020304" pitchFamily="18" charset="0"/>
              </a:rPr>
              <a:t>defence</a:t>
            </a:r>
            <a:r>
              <a:rPr lang="en-US" sz="2800" b="1" dirty="0" smtClean="0">
                <a:solidFill>
                  <a:schemeClr val="accent1"/>
                </a:solidFill>
                <a:latin typeface="Times New Roman" panose="02020603050405020304" pitchFamily="18" charset="0"/>
                <a:cs typeface="Times New Roman" panose="02020603050405020304" pitchFamily="18" charset="0"/>
              </a:rPr>
              <a:t> mechanisms</a:t>
            </a:r>
            <a:endParaRPr lang="en-US" sz="28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95400"/>
            <a:ext cx="8686800" cy="4784725"/>
          </a:xfrm>
        </p:spPr>
        <p:txBody>
          <a:bodyPr>
            <a:normAutofit fontScale="25000" lnSpcReduction="20000"/>
          </a:bodyPr>
          <a:lstStyle/>
          <a:p>
            <a:pPr>
              <a:buNone/>
            </a:pPr>
            <a:r>
              <a:rPr lang="en-US" sz="7200" b="1" dirty="0" smtClean="0">
                <a:latin typeface="Times New Roman" panose="02020603050405020304" pitchFamily="18" charset="0"/>
                <a:cs typeface="Times New Roman" panose="02020603050405020304" pitchFamily="18" charset="0"/>
              </a:rPr>
              <a:t>5   </a:t>
            </a:r>
            <a:r>
              <a:rPr lang="en-US" sz="7200" b="1" dirty="0" err="1" smtClean="0">
                <a:latin typeface="Times New Roman" panose="02020603050405020304" pitchFamily="18" charset="0"/>
                <a:cs typeface="Times New Roman" panose="02020603050405020304" pitchFamily="18" charset="0"/>
              </a:rPr>
              <a:t>Compensation</a:t>
            </a:r>
            <a:r>
              <a:rPr lang="en-US" sz="7200" dirty="0" err="1" smtClean="0">
                <a:latin typeface="Times New Roman" panose="02020603050405020304" pitchFamily="18" charset="0"/>
                <a:cs typeface="Times New Roman" panose="02020603050405020304" pitchFamily="18" charset="0"/>
              </a:rPr>
              <a:t>It</a:t>
            </a:r>
            <a:r>
              <a:rPr lang="en-US" sz="7200" dirty="0" smtClean="0">
                <a:latin typeface="Times New Roman" panose="02020603050405020304" pitchFamily="18" charset="0"/>
                <a:cs typeface="Times New Roman" panose="02020603050405020304" pitchFamily="18" charset="0"/>
              </a:rPr>
              <a:t> is a form of behavior of an individual, when he/she makes an attempt to overcome weakness or limitations by drawing attention to his/her strong or </a:t>
            </a:r>
            <a:r>
              <a:rPr lang="en-US" sz="7200" dirty="0" err="1" smtClean="0">
                <a:latin typeface="Times New Roman" panose="02020603050405020304" pitchFamily="18" charset="0"/>
                <a:cs typeface="Times New Roman" panose="02020603050405020304" pitchFamily="18" charset="0"/>
              </a:rPr>
              <a:t>favourable</a:t>
            </a:r>
            <a:r>
              <a:rPr lang="en-US" sz="7200" dirty="0" smtClean="0">
                <a:latin typeface="Times New Roman" panose="02020603050405020304" pitchFamily="18" charset="0"/>
                <a:cs typeface="Times New Roman" panose="02020603050405020304" pitchFamily="18" charset="0"/>
              </a:rPr>
              <a:t> characteristic.  For e.g. a student backward in studies may try to shine in sports or extra curricular activities. </a:t>
            </a:r>
            <a:endParaRPr lang="en-US" sz="7200" dirty="0" smtClean="0">
              <a:latin typeface="Times New Roman" panose="02020603050405020304" pitchFamily="18" charset="0"/>
              <a:cs typeface="Times New Roman" panose="02020603050405020304" pitchFamily="18" charset="0"/>
            </a:endParaRPr>
          </a:p>
          <a:p>
            <a:endParaRPr lang="en-US" sz="7200" b="1" dirty="0" smtClean="0">
              <a:latin typeface="Times New Roman" panose="02020603050405020304" pitchFamily="18" charset="0"/>
              <a:cs typeface="Times New Roman" panose="02020603050405020304" pitchFamily="18" charset="0"/>
            </a:endParaRPr>
          </a:p>
          <a:p>
            <a:pPr>
              <a:buNone/>
            </a:pPr>
            <a:r>
              <a:rPr lang="en-US" sz="7200" b="1" dirty="0" smtClean="0">
                <a:latin typeface="Times New Roman" panose="02020603050405020304" pitchFamily="18" charset="0"/>
                <a:cs typeface="Times New Roman" panose="02020603050405020304" pitchFamily="18" charset="0"/>
              </a:rPr>
              <a:t>6	Identification : </a:t>
            </a:r>
            <a:r>
              <a:rPr lang="en-US" sz="7200" dirty="0" smtClean="0">
                <a:latin typeface="Times New Roman" panose="02020603050405020304" pitchFamily="18" charset="0"/>
                <a:cs typeface="Times New Roman" panose="02020603050405020304" pitchFamily="18" charset="0"/>
              </a:rPr>
              <a:t>The process of enhancing one’s self-worth by identifying themselves with an illustrious person or institution is called identification. For e.g. Basking in the shadow of the Head of the Company, </a:t>
            </a:r>
            <a:r>
              <a:rPr lang="en-US" sz="7200" dirty="0" err="1" smtClean="0">
                <a:latin typeface="Times New Roman" panose="02020603050405020304" pitchFamily="18" charset="0"/>
                <a:cs typeface="Times New Roman" panose="02020603050405020304" pitchFamily="18" charset="0"/>
              </a:rPr>
              <a:t>Organisation</a:t>
            </a:r>
            <a:r>
              <a:rPr lang="en-US" sz="7200" dirty="0" smtClean="0">
                <a:latin typeface="Times New Roman" panose="02020603050405020304" pitchFamily="18" charset="0"/>
                <a:cs typeface="Times New Roman" panose="02020603050405020304" pitchFamily="18" charset="0"/>
              </a:rPr>
              <a:t>.</a:t>
            </a:r>
            <a:endParaRPr lang="en-US" sz="7200" dirty="0" smtClean="0">
              <a:latin typeface="Times New Roman" panose="02020603050405020304" pitchFamily="18" charset="0"/>
              <a:cs typeface="Times New Roman" panose="02020603050405020304" pitchFamily="18" charset="0"/>
            </a:endParaRPr>
          </a:p>
          <a:p>
            <a:pPr>
              <a:buNone/>
            </a:pPr>
            <a:endParaRPr lang="en-US" sz="7200" b="1" dirty="0" smtClean="0">
              <a:latin typeface="Times New Roman" panose="02020603050405020304" pitchFamily="18" charset="0"/>
              <a:cs typeface="Times New Roman" panose="02020603050405020304" pitchFamily="18" charset="0"/>
            </a:endParaRPr>
          </a:p>
          <a:p>
            <a:pPr>
              <a:buNone/>
            </a:pPr>
            <a:r>
              <a:rPr lang="en-US" sz="7200" b="1" dirty="0" smtClean="0">
                <a:latin typeface="Times New Roman" panose="02020603050405020304" pitchFamily="18" charset="0"/>
                <a:cs typeface="Times New Roman" panose="02020603050405020304" pitchFamily="18" charset="0"/>
              </a:rPr>
              <a:t>7	Regression : </a:t>
            </a:r>
            <a:r>
              <a:rPr lang="en-US" sz="7200" dirty="0" smtClean="0">
                <a:latin typeface="Times New Roman" panose="02020603050405020304" pitchFamily="18" charset="0"/>
                <a:cs typeface="Times New Roman" panose="02020603050405020304" pitchFamily="18" charset="0"/>
              </a:rPr>
              <a:t>the individual retreats to or adapts infantile or primitive forms of behavior. Throwing </a:t>
            </a:r>
            <a:r>
              <a:rPr lang="en-US" sz="7200" dirty="0" err="1" smtClean="0">
                <a:latin typeface="Times New Roman" panose="02020603050405020304" pitchFamily="18" charset="0"/>
                <a:cs typeface="Times New Roman" panose="02020603050405020304" pitchFamily="18" charset="0"/>
              </a:rPr>
              <a:t>trantrums</a:t>
            </a:r>
            <a:r>
              <a:rPr lang="en-US" sz="7200" dirty="0" smtClean="0">
                <a:latin typeface="Times New Roman" panose="02020603050405020304" pitchFamily="18" charset="0"/>
                <a:cs typeface="Times New Roman" panose="02020603050405020304" pitchFamily="18" charset="0"/>
              </a:rPr>
              <a:t>, creating a scene, threatening to leave home, refusing to speak, are common childish (regressive) devices used by adults. </a:t>
            </a:r>
            <a:endParaRPr lang="en-US" sz="7200" dirty="0" smtClean="0">
              <a:latin typeface="Times New Roman" panose="02020603050405020304" pitchFamily="18" charset="0"/>
              <a:cs typeface="Times New Roman" panose="02020603050405020304" pitchFamily="18" charset="0"/>
            </a:endParaRPr>
          </a:p>
          <a:p>
            <a:pPr>
              <a:buNone/>
            </a:pPr>
            <a:r>
              <a:rPr lang="en-US" sz="7200" dirty="0" smtClean="0">
                <a:latin typeface="Times New Roman" panose="02020603050405020304" pitchFamily="18" charset="0"/>
                <a:cs typeface="Times New Roman" panose="02020603050405020304" pitchFamily="18" charset="0"/>
              </a:rPr>
              <a:t>	Extreme form of regressive behavior is typical in some mental disorders such as Schizophrenia. Thus manifesting child behavior of unwillingness to eat, bathe or dress himself or herself. </a:t>
            </a:r>
            <a:endParaRPr lang="en-US" sz="7200" dirty="0" smtClean="0">
              <a:latin typeface="Times New Roman" panose="02020603050405020304" pitchFamily="18" charset="0"/>
              <a:cs typeface="Times New Roman" panose="02020603050405020304" pitchFamily="18" charset="0"/>
            </a:endParaRPr>
          </a:p>
          <a:p>
            <a:pPr>
              <a:buNone/>
            </a:pPr>
            <a:endParaRPr lang="en-US" sz="7200" dirty="0" smtClean="0">
              <a:latin typeface="Times New Roman" panose="02020603050405020304" pitchFamily="18" charset="0"/>
              <a:cs typeface="Times New Roman" panose="02020603050405020304" pitchFamily="18" charset="0"/>
            </a:endParaRPr>
          </a:p>
          <a:p>
            <a:pPr>
              <a:buNone/>
            </a:pPr>
            <a:r>
              <a:rPr lang="en-US" sz="7200" b="1" dirty="0" smtClean="0">
                <a:latin typeface="Times New Roman" panose="02020603050405020304" pitchFamily="18" charset="0"/>
                <a:cs typeface="Times New Roman" panose="02020603050405020304" pitchFamily="18" charset="0"/>
              </a:rPr>
              <a:t>8	Displacement : </a:t>
            </a:r>
            <a:r>
              <a:rPr lang="en-US" sz="7200" dirty="0" smtClean="0">
                <a:latin typeface="Times New Roman" panose="02020603050405020304" pitchFamily="18" charset="0"/>
                <a:cs typeface="Times New Roman" panose="02020603050405020304" pitchFamily="18" charset="0"/>
              </a:rPr>
              <a:t>A particular motive or emotion (or frustration) is turned to another unsuspecting object, totally unconnected. For e.g. boss shouts at man; man shouts at wife; wife shouts at child; child kicks the dog; dog bites a passerby and so on and so forth.</a:t>
            </a:r>
            <a:endParaRPr lang="en-US" sz="7200" dirty="0" smtClean="0">
              <a:latin typeface="Times New Roman" panose="02020603050405020304" pitchFamily="18" charset="0"/>
              <a:cs typeface="Times New Roman" panose="02020603050405020304" pitchFamily="18" charset="0"/>
            </a:endParaRPr>
          </a:p>
          <a:p>
            <a:endParaRPr lang="en-US" b="1" dirty="0" smtClean="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solidFill>
                  <a:schemeClr val="accent1"/>
                </a:solidFill>
              </a:rPr>
              <a:t>3.4	C</a:t>
            </a:r>
            <a:r>
              <a:rPr lang="en-US" sz="2700" b="1" dirty="0" smtClean="0">
                <a:solidFill>
                  <a:schemeClr val="accent1"/>
                </a:solidFill>
                <a:latin typeface="Times New Roman" panose="02020603050405020304" pitchFamily="18" charset="0"/>
                <a:cs typeface="Times New Roman" panose="02020603050405020304" pitchFamily="18" charset="0"/>
              </a:rPr>
              <a:t>ommon types of  Defense Mechanisms</a:t>
            </a:r>
            <a:endParaRPr lang="en-US" sz="27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25000" lnSpcReduction="20000"/>
          </a:bodyPr>
          <a:lstStyle/>
          <a:p>
            <a:pPr marL="514350" indent="-514350">
              <a:buAutoNum type="arabicPlain" startAt="9"/>
            </a:pPr>
            <a:r>
              <a:rPr lang="en-US" sz="6400" b="1" dirty="0" smtClean="0"/>
              <a:t>Sublimation : </a:t>
            </a:r>
            <a:r>
              <a:rPr lang="en-US" sz="6400" dirty="0" smtClean="0"/>
              <a:t>when a person’s urges or impulses could not be gratified and to assuage the frustration, he might engage himself in substitute activities , which are socially valued and acceptable.  </a:t>
            </a:r>
            <a:endParaRPr lang="en-US" sz="6400" dirty="0" smtClean="0"/>
          </a:p>
          <a:p>
            <a:pPr>
              <a:buNone/>
            </a:pPr>
            <a:r>
              <a:rPr lang="en-US" sz="6400" dirty="0" smtClean="0"/>
              <a:t>	    </a:t>
            </a:r>
            <a:r>
              <a:rPr lang="en-US" sz="6400" dirty="0" err="1" smtClean="0"/>
              <a:t>Allport</a:t>
            </a:r>
            <a:r>
              <a:rPr lang="en-US" sz="6400" dirty="0" smtClean="0"/>
              <a:t> says, </a:t>
            </a:r>
            <a:r>
              <a:rPr lang="en-US" sz="6400" i="1" dirty="0" smtClean="0"/>
              <a:t>‘Sublimation is a device by which antisocial impulses are made     </a:t>
            </a:r>
            <a:endParaRPr lang="en-US" sz="6400" i="1" dirty="0" smtClean="0"/>
          </a:p>
          <a:p>
            <a:pPr>
              <a:buNone/>
            </a:pPr>
            <a:r>
              <a:rPr lang="en-US" sz="6400" i="1" dirty="0" smtClean="0"/>
              <a:t>          socially acceptable’</a:t>
            </a:r>
            <a:r>
              <a:rPr lang="en-US" sz="6400" dirty="0" smtClean="0"/>
              <a:t>. </a:t>
            </a:r>
            <a:endParaRPr lang="en-US" sz="6400" dirty="0" smtClean="0"/>
          </a:p>
          <a:p>
            <a:pPr marL="514350" indent="-514350">
              <a:buAutoNum type="arabicPlain" startAt="10"/>
            </a:pPr>
            <a:endParaRPr lang="en-US" sz="6400" b="1" dirty="0" smtClean="0"/>
          </a:p>
          <a:p>
            <a:pPr marL="514350" indent="-514350">
              <a:buAutoNum type="arabicPlain" startAt="10"/>
            </a:pPr>
            <a:r>
              <a:rPr lang="en-US" sz="6400" b="1" dirty="0" smtClean="0"/>
              <a:t>Withdrawal : </a:t>
            </a:r>
            <a:r>
              <a:rPr lang="en-US" sz="6400" dirty="0" smtClean="0"/>
              <a:t>Withdrawing from a situation that causes frustration or failure – makes  himself by running away from the difficult scene.</a:t>
            </a:r>
            <a:r>
              <a:rPr lang="en-US" sz="6400" b="1" dirty="0" smtClean="0"/>
              <a:t>  </a:t>
            </a:r>
            <a:endParaRPr lang="en-US" sz="6400" b="1" dirty="0" smtClean="0"/>
          </a:p>
          <a:p>
            <a:pPr marL="514350" indent="-514350">
              <a:buAutoNum type="arabicPlain" startAt="11"/>
            </a:pPr>
            <a:endParaRPr lang="en-US" sz="6400" b="1" dirty="0" smtClean="0"/>
          </a:p>
          <a:p>
            <a:pPr marL="514350" indent="-514350">
              <a:buAutoNum type="arabicPlain" startAt="11"/>
            </a:pPr>
            <a:r>
              <a:rPr lang="en-US" sz="6400" b="1" dirty="0" smtClean="0"/>
              <a:t>Selective Forgetting :</a:t>
            </a:r>
            <a:endParaRPr lang="en-US" sz="6400" dirty="0" smtClean="0"/>
          </a:p>
          <a:p>
            <a:pPr>
              <a:buNone/>
            </a:pPr>
            <a:endParaRPr lang="en-US" sz="6400" b="1" dirty="0" smtClean="0"/>
          </a:p>
          <a:p>
            <a:pPr marL="514350" indent="-514350">
              <a:buNone/>
            </a:pPr>
            <a:r>
              <a:rPr lang="en-US" sz="6400" b="1" dirty="0" smtClean="0"/>
              <a:t> 	Suppression : </a:t>
            </a:r>
            <a:r>
              <a:rPr lang="en-US" sz="6400" dirty="0" smtClean="0"/>
              <a:t>Intentional and forcible avoidance of painful tendencies and    </a:t>
            </a:r>
            <a:endParaRPr lang="en-US" sz="6400" dirty="0" smtClean="0"/>
          </a:p>
          <a:p>
            <a:pPr marL="514350" indent="-514350">
              <a:buNone/>
            </a:pPr>
            <a:r>
              <a:rPr lang="en-US" sz="6400" dirty="0" smtClean="0"/>
              <a:t>	distressing circumstances &amp; memories from consciousness.</a:t>
            </a:r>
            <a:r>
              <a:rPr lang="en-US" sz="6400" b="1" dirty="0" smtClean="0"/>
              <a:t> </a:t>
            </a:r>
            <a:endParaRPr lang="en-US" sz="6400" dirty="0" smtClean="0"/>
          </a:p>
          <a:p>
            <a:pPr>
              <a:buNone/>
            </a:pPr>
            <a:r>
              <a:rPr lang="en-US" sz="6400" b="1" dirty="0" smtClean="0"/>
              <a:t>	   </a:t>
            </a:r>
            <a:endParaRPr lang="en-US" sz="6400" b="1" dirty="0" smtClean="0"/>
          </a:p>
          <a:p>
            <a:pPr>
              <a:buNone/>
            </a:pPr>
            <a:r>
              <a:rPr lang="en-US" sz="6400" b="1" dirty="0" smtClean="0"/>
              <a:t>	    Repression :  </a:t>
            </a:r>
            <a:r>
              <a:rPr lang="en-US" sz="6400" dirty="0" smtClean="0"/>
              <a:t>Removal of all mental conflict is repression.  Painful    </a:t>
            </a:r>
            <a:endParaRPr lang="en-US" sz="6400" dirty="0" smtClean="0"/>
          </a:p>
          <a:p>
            <a:pPr>
              <a:buNone/>
            </a:pPr>
            <a:r>
              <a:rPr lang="en-US" sz="6400" dirty="0" smtClean="0"/>
              <a:t>          tendencies, distressing experiences, memories etc. are pushed into the   </a:t>
            </a:r>
            <a:endParaRPr lang="en-US" sz="6400" dirty="0" smtClean="0"/>
          </a:p>
          <a:p>
            <a:pPr>
              <a:buNone/>
            </a:pPr>
            <a:r>
              <a:rPr lang="en-US" sz="6400" dirty="0" smtClean="0"/>
              <a:t>          unconscious mind and not allowed to re-enter the conscious mind again.  </a:t>
            </a:r>
            <a:endParaRPr lang="en-US" sz="6400" dirty="0" smtClean="0"/>
          </a:p>
          <a:p>
            <a:pPr>
              <a:buNone/>
            </a:pPr>
            <a:r>
              <a:rPr lang="en-US" sz="6400" dirty="0" smtClean="0"/>
              <a:t>	    This has the effect of complete forgetfulness. This is harmful for mental health and           </a:t>
            </a:r>
            <a:endParaRPr lang="en-US" sz="6400" dirty="0" smtClean="0"/>
          </a:p>
          <a:p>
            <a:pPr>
              <a:buNone/>
            </a:pPr>
            <a:r>
              <a:rPr lang="en-US" sz="6400" dirty="0" smtClean="0"/>
              <a:t>          leads to the disorganization or personality. </a:t>
            </a:r>
            <a:endParaRPr lang="en-US" sz="6400" dirty="0" smtClean="0"/>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5440"/>
            <a:ext cx="8229600" cy="841375"/>
          </a:xfrm>
        </p:spPr>
        <p:txBody>
          <a:bodyPr>
            <a:noAutofit/>
          </a:bodyPr>
          <a:lstStyle/>
          <a:p>
            <a:pPr algn="ctr"/>
            <a:br>
              <a:rPr lang="en-US" sz="1600" b="1" dirty="0" smtClean="0">
                <a:latin typeface="Times New Roman" panose="02020603050405020304" pitchFamily="18" charset="0"/>
                <a:cs typeface="Times New Roman" panose="02020603050405020304" pitchFamily="18" charset="0"/>
              </a:rPr>
            </a:br>
            <a:r>
              <a:rPr lang="en-US" sz="1600" b="1" dirty="0" smtClean="0">
                <a:solidFill>
                  <a:schemeClr val="accent1"/>
                </a:solidFill>
                <a:latin typeface="Times New Roman" panose="02020603050405020304" pitchFamily="18" charset="0"/>
                <a:cs typeface="Times New Roman" panose="02020603050405020304" pitchFamily="18" charset="0"/>
              </a:rPr>
              <a:t>4.0</a:t>
            </a:r>
            <a:r>
              <a:rPr lang="en-US" sz="1600" b="1" dirty="0" smtClean="0">
                <a:latin typeface="Times New Roman" panose="02020603050405020304" pitchFamily="18" charset="0"/>
                <a:cs typeface="Times New Roman" panose="02020603050405020304" pitchFamily="18" charset="0"/>
              </a:rPr>
              <a:t>	</a:t>
            </a:r>
            <a:r>
              <a:rPr lang="en-US" sz="2400" b="1" dirty="0" smtClean="0">
                <a:solidFill>
                  <a:schemeClr val="accent1"/>
                </a:solidFill>
                <a:latin typeface="Times New Roman" panose="02020603050405020304" pitchFamily="18" charset="0"/>
                <a:cs typeface="Times New Roman" panose="02020603050405020304" pitchFamily="18" charset="0"/>
              </a:rPr>
              <a:t>HOW TO RESOLVE ISSUES WITH CHILDREN, ADOLESCENTS  (</a:t>
            </a:r>
            <a:r>
              <a:rPr lang="en-US" sz="1600" b="1" cap="none" dirty="0" smtClean="0">
                <a:solidFill>
                  <a:schemeClr val="accent1"/>
                </a:solidFill>
                <a:latin typeface="Times New Roman" panose="02020603050405020304" pitchFamily="18" charset="0"/>
                <a:cs typeface="Times New Roman" panose="02020603050405020304" pitchFamily="18" charset="0"/>
              </a:rPr>
              <a:t>brain-storming</a:t>
            </a:r>
            <a:r>
              <a:rPr lang="en-US" sz="2400" b="1" dirty="0" smtClean="0">
                <a:solidFill>
                  <a:schemeClr val="accent1"/>
                </a:solidFill>
                <a:latin typeface="Times New Roman" panose="02020603050405020304" pitchFamily="18" charset="0"/>
                <a:cs typeface="Times New Roman" panose="02020603050405020304" pitchFamily="18" charset="0"/>
              </a:rPr>
              <a:t>)</a:t>
            </a:r>
            <a:br>
              <a:rPr lang="en-US" sz="2400" b="1" dirty="0" smtClean="0">
                <a:solidFill>
                  <a:schemeClr val="accent1"/>
                </a:solidFill>
                <a:latin typeface="Times New Roman" panose="02020603050405020304" pitchFamily="18" charset="0"/>
                <a:cs typeface="Times New Roman" panose="02020603050405020304" pitchFamily="18" charset="0"/>
              </a:rPr>
            </a:b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74750"/>
            <a:ext cx="8229600" cy="5546725"/>
          </a:xfrm>
        </p:spPr>
        <p:txBody>
          <a:bodyPr/>
          <a:lstStyle/>
          <a:p>
            <a:r>
              <a:rPr lang="en-US" sz="2400" dirty="0" smtClean="0">
                <a:solidFill>
                  <a:schemeClr val="accent1"/>
                </a:solidFill>
                <a:latin typeface="Baskerville Old Face" panose="02020602080505020303" charset="0"/>
                <a:cs typeface="Baskerville Old Face" panose="02020602080505020303" charset="0"/>
              </a:rPr>
              <a:t>	</a:t>
            </a:r>
            <a:r>
              <a:rPr lang="en-US" sz="2400" b="1" dirty="0" smtClean="0">
                <a:solidFill>
                  <a:schemeClr val="accent1"/>
                </a:solidFill>
                <a:latin typeface="Baskerville Old Face" panose="02020602080505020303" charset="0"/>
                <a:cs typeface="Baskerville Old Face" panose="02020602080505020303" charset="0"/>
              </a:rPr>
              <a:t>4.1	Quality Time with children, adolescents :  very 			important; </a:t>
            </a:r>
            <a:endParaRPr lang="en-US" sz="2400" b="1" dirty="0" smtClean="0">
              <a:solidFill>
                <a:schemeClr val="accent1"/>
              </a:solidFill>
              <a:latin typeface="Baskerville Old Face" panose="02020602080505020303" charset="0"/>
              <a:cs typeface="Baskerville Old Face" panose="02020602080505020303" charset="0"/>
            </a:endParaRPr>
          </a:p>
          <a:p>
            <a:r>
              <a:rPr lang="en-US" sz="2400" b="1" dirty="0" smtClean="0">
                <a:solidFill>
                  <a:schemeClr val="accent1"/>
                </a:solidFill>
                <a:latin typeface="Baskerville Old Face" panose="02020602080505020303" charset="0"/>
                <a:cs typeface="Baskerville Old Face" panose="02020602080505020303" charset="0"/>
              </a:rPr>
              <a:t>	</a:t>
            </a:r>
            <a:r>
              <a:rPr lang="en-US" sz="2400" b="1" dirty="0" smtClean="0">
                <a:solidFill>
                  <a:schemeClr val="accent1"/>
                </a:solidFill>
                <a:latin typeface="Baskerville Old Face" panose="02020602080505020303" charset="0"/>
                <a:cs typeface="Baskerville Old Face" panose="02020602080505020303" charset="0"/>
              </a:rPr>
              <a:t>4.2	Inculcate good habits in them ;</a:t>
            </a:r>
            <a:endParaRPr lang="en-US" sz="2400" b="1" dirty="0" smtClean="0">
              <a:solidFill>
                <a:schemeClr val="accent1"/>
              </a:solidFill>
              <a:latin typeface="Baskerville Old Face" panose="02020602080505020303" charset="0"/>
              <a:cs typeface="Baskerville Old Face" panose="02020602080505020303" charset="0"/>
            </a:endParaRPr>
          </a:p>
          <a:p>
            <a:pPr marL="914400" lvl="2" indent="0">
              <a:buNone/>
            </a:pPr>
            <a:r>
              <a:rPr lang="en-US" sz="2400" b="1" dirty="0">
                <a:solidFill>
                  <a:schemeClr val="accent1"/>
                </a:solidFill>
                <a:latin typeface="Baskerville Old Face" panose="02020602080505020303" charset="0"/>
                <a:cs typeface="Baskerville Old Face" panose="02020602080505020303" charset="0"/>
              </a:rPr>
              <a:t>4.3	Listening to them; </a:t>
            </a:r>
            <a:endParaRPr lang="en-US" sz="2400" b="1" dirty="0">
              <a:solidFill>
                <a:schemeClr val="accent1"/>
              </a:solidFill>
              <a:latin typeface="Baskerville Old Face" panose="02020602080505020303" charset="0"/>
              <a:cs typeface="Baskerville Old Face" panose="02020602080505020303" charset="0"/>
            </a:endParaRPr>
          </a:p>
          <a:p>
            <a:pPr marL="914400" lvl="2" indent="0">
              <a:buNone/>
            </a:pPr>
            <a:r>
              <a:rPr lang="en-US" sz="2400" b="1" dirty="0">
                <a:solidFill>
                  <a:schemeClr val="accent1"/>
                </a:solidFill>
                <a:latin typeface="Baskerville Old Face" panose="02020602080505020303" charset="0"/>
                <a:cs typeface="Baskerville Old Face" panose="02020602080505020303" charset="0"/>
              </a:rPr>
              <a:t>4.4	A friendly chat ;</a:t>
            </a:r>
            <a:endParaRPr lang="en-US" sz="2400" b="1" dirty="0">
              <a:solidFill>
                <a:schemeClr val="accent1"/>
              </a:solidFill>
              <a:latin typeface="Baskerville Old Face" panose="02020602080505020303" charset="0"/>
              <a:cs typeface="Baskerville Old Face" panose="02020602080505020303" charset="0"/>
            </a:endParaRPr>
          </a:p>
          <a:p>
            <a:pPr marL="914400" lvl="2" indent="0">
              <a:buNone/>
            </a:pPr>
            <a:r>
              <a:rPr lang="en-US" sz="2400" b="1" dirty="0">
                <a:solidFill>
                  <a:schemeClr val="accent1"/>
                </a:solidFill>
                <a:latin typeface="Baskerville Old Face" panose="02020602080505020303" charset="0"/>
                <a:cs typeface="Baskerville Old Face" panose="02020602080505020303" charset="0"/>
              </a:rPr>
              <a:t>4.5	Encouraging them ; say “I’m proud of you”</a:t>
            </a:r>
            <a:endParaRPr lang="en-US" sz="2400" b="1" dirty="0">
              <a:solidFill>
                <a:schemeClr val="accent1"/>
              </a:solidFill>
              <a:latin typeface="Baskerville Old Face" panose="02020602080505020303" charset="0"/>
              <a:cs typeface="Baskerville Old Face" panose="02020602080505020303" charset="0"/>
            </a:endParaRPr>
          </a:p>
          <a:p>
            <a:pPr marL="914400" lvl="2" indent="0">
              <a:buNone/>
            </a:pPr>
            <a:r>
              <a:rPr lang="en-US" sz="2400" b="1" dirty="0">
                <a:solidFill>
                  <a:schemeClr val="accent1"/>
                </a:solidFill>
                <a:latin typeface="Baskerville Old Face" panose="02020602080505020303" charset="0"/>
                <a:cs typeface="Baskerville Old Face" panose="02020602080505020303" charset="0"/>
              </a:rPr>
              <a:t>4.6	Invite your son’s or daughter’s friends to your 	home to spend an evening</a:t>
            </a:r>
            <a:endParaRPr lang="en-US" sz="2400" b="1" dirty="0">
              <a:solidFill>
                <a:schemeClr val="accent1"/>
              </a:solidFill>
              <a:latin typeface="Baskerville Old Face" panose="02020602080505020303" charset="0"/>
              <a:cs typeface="Baskerville Old Face" panose="02020602080505020303" charset="0"/>
            </a:endParaRPr>
          </a:p>
          <a:p>
            <a:pPr marL="914400" lvl="2" indent="0">
              <a:buNone/>
            </a:pPr>
            <a:r>
              <a:rPr lang="en-US" sz="2400" b="1" dirty="0">
                <a:solidFill>
                  <a:schemeClr val="accent1"/>
                </a:solidFill>
                <a:latin typeface="Baskerville Old Face" panose="02020602080505020303" charset="0"/>
                <a:cs typeface="Baskerville Old Face" panose="02020602080505020303" charset="0"/>
              </a:rPr>
              <a:t>4.7	Play games together</a:t>
            </a:r>
            <a:endParaRPr lang="en-US" sz="2400" b="1" dirty="0">
              <a:solidFill>
                <a:schemeClr val="accent1"/>
              </a:solidFill>
              <a:latin typeface="Baskerville Old Face" panose="02020602080505020303" charset="0"/>
              <a:cs typeface="Baskerville Old Face" panose="02020602080505020303" charset="0"/>
            </a:endParaRPr>
          </a:p>
          <a:p>
            <a:pPr marL="914400" lvl="2" indent="0">
              <a:buNone/>
            </a:pPr>
            <a:r>
              <a:rPr lang="en-US" sz="2400" b="1" dirty="0">
                <a:solidFill>
                  <a:schemeClr val="accent1"/>
                </a:solidFill>
                <a:latin typeface="Baskerville Old Face" panose="02020602080505020303" charset="0"/>
                <a:cs typeface="Baskerville Old Face" panose="02020602080505020303" charset="0"/>
              </a:rPr>
              <a:t>4.8	Learn a new skill with them or teach them one !</a:t>
            </a:r>
            <a:endParaRPr lang="en-US" sz="2400" b="1" dirty="0">
              <a:solidFill>
                <a:schemeClr val="accent1"/>
              </a:solidFill>
              <a:latin typeface="Baskerville Old Face" panose="02020602080505020303" charset="0"/>
              <a:cs typeface="Baskerville Old Face" panose="02020602080505020303" charset="0"/>
            </a:endParaRPr>
          </a:p>
          <a:p>
            <a:pPr marL="914400" lvl="2" indent="0">
              <a:buNone/>
            </a:pPr>
            <a:r>
              <a:rPr lang="en-US" sz="2400" b="1" dirty="0">
                <a:solidFill>
                  <a:schemeClr val="accent1"/>
                </a:solidFill>
                <a:latin typeface="Baskerville Old Face" panose="02020602080505020303" charset="0"/>
                <a:cs typeface="Baskerville Old Face" panose="02020602080505020303" charset="0"/>
              </a:rPr>
              <a:t>4.9	Spend a special time of praying for leaders, 	teachers, for friends,  for family members.....</a:t>
            </a:r>
            <a:endParaRPr lang="en-US" sz="2400" b="1" dirty="0">
              <a:solidFill>
                <a:schemeClr val="accent1"/>
              </a:solidFill>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solidFill>
                  <a:schemeClr val="accent1"/>
                </a:solidFill>
                <a:latin typeface="Times New Roman" panose="02020603050405020304" pitchFamily="18" charset="0"/>
                <a:cs typeface="Times New Roman" panose="02020603050405020304" pitchFamily="18" charset="0"/>
                <a:sym typeface="+mn-ea"/>
              </a:rPr>
              <a:t>7.0   A C</a:t>
            </a:r>
            <a:r>
              <a:rPr lang="en-US" b="1" dirty="0" err="1" smtClean="0">
                <a:solidFill>
                  <a:schemeClr val="accent1"/>
                </a:solidFill>
                <a:latin typeface="Times New Roman" panose="02020603050405020304" pitchFamily="18" charset="0"/>
                <a:cs typeface="Times New Roman" panose="02020603050405020304" pitchFamily="18" charset="0"/>
                <a:sym typeface="+mn-ea"/>
              </a:rPr>
              <a:t>hristian</a:t>
            </a:r>
            <a:r>
              <a:rPr lang="en-US" b="1" dirty="0" smtClean="0">
                <a:solidFill>
                  <a:schemeClr val="accent1"/>
                </a:solidFill>
                <a:latin typeface="Times New Roman" panose="02020603050405020304" pitchFamily="18" charset="0"/>
                <a:cs typeface="Times New Roman" panose="02020603050405020304" pitchFamily="18" charset="0"/>
                <a:sym typeface="+mn-ea"/>
              </a:rPr>
              <a:t> C</a:t>
            </a:r>
            <a:r>
              <a:rPr lang="en-US" b="1" dirty="0" err="1" smtClean="0">
                <a:solidFill>
                  <a:schemeClr val="accent1"/>
                </a:solidFill>
                <a:latin typeface="Times New Roman" panose="02020603050405020304" pitchFamily="18" charset="0"/>
                <a:cs typeface="Times New Roman" panose="02020603050405020304" pitchFamily="18" charset="0"/>
                <a:sym typeface="+mn-ea"/>
              </a:rPr>
              <a:t>ounsellor’s</a:t>
            </a:r>
            <a:r>
              <a:rPr lang="en-US" b="1" dirty="0" smtClean="0">
                <a:solidFill>
                  <a:schemeClr val="accent1"/>
                </a:solidFill>
                <a:latin typeface="Times New Roman" panose="02020603050405020304" pitchFamily="18" charset="0"/>
                <a:cs typeface="Times New Roman" panose="02020603050405020304" pitchFamily="18" charset="0"/>
                <a:sym typeface="+mn-ea"/>
              </a:rPr>
              <a:t> role </a:t>
            </a:r>
            <a:br>
              <a:rPr lang="en-US" b="1" dirty="0" smtClean="0">
                <a:solidFill>
                  <a:schemeClr val="accent1"/>
                </a:solidFill>
                <a:latin typeface="Times New Roman" panose="02020603050405020304" pitchFamily="18" charset="0"/>
                <a:cs typeface="Times New Roman" panose="02020603050405020304" pitchFamily="18" charset="0"/>
              </a:rPr>
            </a:br>
            <a:endParaRPr lang="en-US"/>
          </a:p>
        </p:txBody>
      </p:sp>
      <p:sp>
        <p:nvSpPr>
          <p:cNvPr id="3" name="Content Placeholder 2"/>
          <p:cNvSpPr>
            <a:spLocks noGrp="1"/>
          </p:cNvSpPr>
          <p:nvPr>
            <p:ph idx="1"/>
          </p:nvPr>
        </p:nvSpPr>
        <p:spPr/>
        <p:txBody>
          <a:bodyPr/>
          <a:p>
            <a:r>
              <a:rPr lang="en-US" dirty="0" smtClean="0">
                <a:latin typeface="Times New Roman" panose="02020603050405020304" pitchFamily="18" charset="0"/>
                <a:cs typeface="Times New Roman" panose="02020603050405020304" pitchFamily="18" charset="0"/>
                <a:sym typeface="+mn-ea"/>
              </a:rPr>
              <a:t>Extreme Care in handling sensitive situation among children or adolescents has to be taken.</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There is a ‘hidden agenda’ – there is a real case behind the actual incident/event.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The wisdom and God-given discernment  of the </a:t>
            </a:r>
            <a:r>
              <a:rPr lang="en-US" dirty="0" err="1" smtClean="0">
                <a:latin typeface="Times New Roman" panose="02020603050405020304" pitchFamily="18" charset="0"/>
                <a:cs typeface="Times New Roman" panose="02020603050405020304" pitchFamily="18" charset="0"/>
                <a:sym typeface="+mn-ea"/>
              </a:rPr>
              <a:t>Counsellor</a:t>
            </a:r>
            <a:r>
              <a:rPr lang="en-US" dirty="0" smtClean="0">
                <a:latin typeface="Times New Roman" panose="02020603050405020304" pitchFamily="18" charset="0"/>
                <a:cs typeface="Times New Roman" panose="02020603050405020304" pitchFamily="18" charset="0"/>
                <a:sym typeface="+mn-ea"/>
              </a:rPr>
              <a:t>.</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To build a Trust with the child.</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sym typeface="+mn-ea"/>
              </a:rPr>
              <a:t>Confidentiality in the </a:t>
            </a:r>
            <a:r>
              <a:rPr lang="en-US" dirty="0" err="1" smtClean="0">
                <a:latin typeface="Times New Roman" panose="02020603050405020304" pitchFamily="18" charset="0"/>
                <a:cs typeface="Times New Roman" panose="02020603050405020304" pitchFamily="18" charset="0"/>
                <a:sym typeface="+mn-ea"/>
              </a:rPr>
              <a:t>counselling</a:t>
            </a:r>
            <a:r>
              <a:rPr lang="en-US" dirty="0" smtClean="0">
                <a:latin typeface="Times New Roman" panose="02020603050405020304" pitchFamily="18" charset="0"/>
                <a:cs typeface="Times New Roman" panose="02020603050405020304" pitchFamily="18" charset="0"/>
                <a:sym typeface="+mn-ea"/>
              </a:rPr>
              <a:t>.</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itle 1"/>
          <p:cNvSpPr>
            <a:spLocks noGrp="1"/>
          </p:cNvSpPr>
          <p:nvPr>
            <p:ph type="title"/>
          </p:nvPr>
        </p:nvSpPr>
        <p:spPr>
          <a:xfrm>
            <a:off x="457200" y="990600"/>
            <a:ext cx="8229600" cy="990600"/>
          </a:xfrm>
        </p:spPr>
        <p:txBody>
          <a:bodyPr vert="horz" wrap="square" lIns="91440" tIns="45720" rIns="91440" bIns="45720" anchor="ctr" anchorCtr="0"/>
          <a:p>
            <a:pPr>
              <a:buNone/>
            </a:pPr>
            <a:r>
              <a:rPr sz="2000" dirty="0">
                <a:latin typeface="Times New Roman" panose="02020603050405020304" pitchFamily="18" charset="0"/>
                <a:cs typeface="Times New Roman" panose="02020603050405020304" pitchFamily="18" charset="0"/>
              </a:rPr>
              <a:t>SELF WORTH AND IDENTITY IN CHRIST</a:t>
            </a:r>
            <a:endParaRPr sz="2000" dirty="0">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457200" y="28575"/>
            <a:ext cx="8412480" cy="6712585"/>
          </a:xfrm>
          <a:effectLst/>
          <a:scene3d>
            <a:camera prst="orthographicFront"/>
            <a:lightRig rig="balanced" dir="t"/>
          </a:scene3d>
          <a:sp3d prstMaterial="plastic"/>
        </p:spPr>
        <p:txBody>
          <a:bodyPr vert="horz" lIns="91440" tIns="45720" rIns="91440" bIns="45720" rtlCol="0">
            <a:normAutofit lnSpcReduction="20000"/>
          </a:bodyPr>
          <a:lstStyle/>
          <a:p>
            <a:pPr marL="342900" marR="0" lvl="0" indent="-342900" algn="ctr"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000" b="1" i="0" u="sng" strike="noStrike" kern="1200" cap="none" spc="0" normalizeH="0" baseline="0" noProof="0" dirty="0" smtClean="0">
                <a:ln>
                  <a:noFill/>
                </a:ln>
                <a:solidFill>
                  <a:schemeClr val="accent1"/>
                </a:solidFill>
                <a:effectLst/>
                <a:uLnTx/>
                <a:uFillTx/>
                <a:latin typeface="Baskerville Old Face" panose="02020602080505020303" charset="0"/>
                <a:ea typeface="+mn-ea"/>
                <a:cs typeface="Baskerville Old Face" panose="02020602080505020303" charset="0"/>
              </a:rPr>
              <a:t>SELF WORTH AND IDENTITY IN CHRIST </a:t>
            </a:r>
            <a:endParaRPr kumimoji="0" lang="en-US" sz="2000" b="1" i="0" u="sng" strike="noStrike" kern="1200" cap="none" spc="0" normalizeH="0" baseline="0" noProof="0" dirty="0" smtClean="0">
              <a:ln>
                <a:noFill/>
              </a:ln>
              <a:solidFill>
                <a:schemeClr val="accent1"/>
              </a:solidFill>
              <a:effectLst/>
              <a:uLnTx/>
              <a:uFillTx/>
              <a:latin typeface="Baskerville Old Face" panose="02020602080505020303" charset="0"/>
              <a:ea typeface="+mn-ea"/>
              <a:cs typeface="Baskerville Old Face" panose="02020602080505020303"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sz="1600" b="1" dirty="0" smtClean="0">
                <a:solidFill>
                  <a:schemeClr val="accent1"/>
                </a:solidFill>
                <a:latin typeface="Baskerville Old Face" panose="02020602080505020303" charset="0"/>
                <a:cs typeface="Baskerville Old Face" panose="02020602080505020303" charset="0"/>
                <a:sym typeface="+mn-ea"/>
              </a:rPr>
              <a:t>The problems or conflicts in life begin, when our </a:t>
            </a:r>
            <a:r>
              <a:rPr lang="en-US" sz="1600" b="1" i="1" dirty="0" smtClean="0">
                <a:solidFill>
                  <a:schemeClr val="accent1"/>
                </a:solidFill>
                <a:latin typeface="Baskerville Old Face" panose="02020602080505020303" charset="0"/>
                <a:cs typeface="Baskerville Old Face" panose="02020602080505020303" charset="0"/>
                <a:sym typeface="+mn-ea"/>
              </a:rPr>
              <a:t>Self-worth</a:t>
            </a:r>
            <a:r>
              <a:rPr lang="en-US" sz="1600" b="1" dirty="0" smtClean="0">
                <a:solidFill>
                  <a:schemeClr val="accent1"/>
                </a:solidFill>
                <a:latin typeface="Baskerville Old Face" panose="02020602080505020303" charset="0"/>
                <a:cs typeface="Baskerville Old Face" panose="02020602080505020303" charset="0"/>
                <a:sym typeface="+mn-ea"/>
              </a:rPr>
              <a:t> or our </a:t>
            </a:r>
            <a:r>
              <a:rPr lang="en-US" sz="1600" b="1" i="1" dirty="0" smtClean="0">
                <a:solidFill>
                  <a:schemeClr val="accent1"/>
                </a:solidFill>
                <a:latin typeface="Baskerville Old Face" panose="02020602080505020303" charset="0"/>
                <a:cs typeface="Baskerville Old Face" panose="02020602080505020303" charset="0"/>
                <a:sym typeface="+mn-ea"/>
              </a:rPr>
              <a:t>Identity in Christ</a:t>
            </a:r>
            <a:r>
              <a:rPr lang="en-US" sz="1600" b="1" dirty="0" smtClean="0">
                <a:solidFill>
                  <a:schemeClr val="accent1"/>
                </a:solidFill>
                <a:latin typeface="Baskerville Old Face" panose="02020602080505020303" charset="0"/>
                <a:cs typeface="Baskerville Old Face" panose="02020602080505020303" charset="0"/>
                <a:sym typeface="+mn-ea"/>
              </a:rPr>
              <a:t> is distorted or, is </a:t>
            </a:r>
            <a:r>
              <a:rPr lang="en-US" sz="1600" b="1" i="1" dirty="0" smtClean="0">
                <a:solidFill>
                  <a:schemeClr val="accent1"/>
                </a:solidFill>
                <a:latin typeface="Baskerville Old Face" panose="02020602080505020303" charset="0"/>
                <a:cs typeface="Baskerville Old Face" panose="02020602080505020303" charset="0"/>
                <a:sym typeface="+mn-ea"/>
              </a:rPr>
              <a:t>not based</a:t>
            </a:r>
            <a:r>
              <a:rPr lang="en-US" sz="1600" b="1" dirty="0" smtClean="0">
                <a:solidFill>
                  <a:schemeClr val="accent1"/>
                </a:solidFill>
                <a:latin typeface="Baskerville Old Face" panose="02020602080505020303" charset="0"/>
                <a:cs typeface="Baskerville Old Face" panose="02020602080505020303" charset="0"/>
                <a:sym typeface="+mn-ea"/>
              </a:rPr>
              <a:t>  in Christ, </a:t>
            </a:r>
            <a:endParaRPr lang="en-US" sz="1600" b="1" dirty="0" smtClean="0">
              <a:solidFill>
                <a:schemeClr val="accent1"/>
              </a:solidFill>
              <a:latin typeface="Baskerville Old Face" panose="02020602080505020303" charset="0"/>
              <a:cs typeface="Baskerville Old Face" panose="02020602080505020303" charset="0"/>
              <a:sym typeface="+mn-ea"/>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sz="1600" b="1" i="1" dirty="0" smtClean="0">
                <a:solidFill>
                  <a:schemeClr val="accent1"/>
                </a:solidFill>
                <a:latin typeface="Baskerville Old Face" panose="02020602080505020303" charset="0"/>
                <a:cs typeface="Baskerville Old Face" panose="02020602080505020303" charset="0"/>
                <a:sym typeface="+mn-ea"/>
              </a:rPr>
              <a:t>but  </a:t>
            </a:r>
            <a:r>
              <a:rPr lang="en-US" sz="1600" b="1" dirty="0" smtClean="0">
                <a:solidFill>
                  <a:schemeClr val="accent1"/>
                </a:solidFill>
                <a:latin typeface="Baskerville Old Face" panose="02020602080505020303" charset="0"/>
                <a:cs typeface="Baskerville Old Face" panose="02020602080505020303" charset="0"/>
                <a:sym typeface="+mn-ea"/>
              </a:rPr>
              <a:t>based  on material possessions,  worldly pride, achievements etc.  Such a person, would eventually slide down into a state of  spiritual </a:t>
            </a:r>
            <a:r>
              <a:rPr lang="en-US" sz="1600" b="1" dirty="0" err="1" smtClean="0">
                <a:solidFill>
                  <a:schemeClr val="accent1"/>
                </a:solidFill>
                <a:latin typeface="Baskerville Old Face" panose="02020602080505020303" charset="0"/>
                <a:cs typeface="Baskerville Old Face" panose="02020602080505020303" charset="0"/>
                <a:sym typeface="+mn-ea"/>
              </a:rPr>
              <a:t>deterioriation </a:t>
            </a:r>
            <a:r>
              <a:rPr lang="en-US" sz="1600" b="1" dirty="0" smtClean="0">
                <a:solidFill>
                  <a:schemeClr val="accent1"/>
                </a:solidFill>
                <a:latin typeface="Baskerville Old Face" panose="02020602080505020303" charset="0"/>
                <a:cs typeface="Baskerville Old Face" panose="02020602080505020303" charset="0"/>
                <a:sym typeface="+mn-ea"/>
              </a:rPr>
              <a:t>though may be he/she may be alive and existing.</a:t>
            </a:r>
            <a:endParaRPr lang="en-US" sz="2000" b="1" dirty="0" smtClean="0">
              <a:latin typeface="Baskerville Old Face" panose="02020602080505020303" charset="0"/>
              <a:cs typeface="Baskerville Old Face" panose="02020602080505020303"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n-US" sz="17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17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n-US" sz="17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17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n-US" sz="17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1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11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n-US" sz="11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11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n-US" sz="11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11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11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1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Self-worth </a:t>
            </a:r>
            <a:r>
              <a:rPr kumimoji="0" lang="en-US" sz="1900" b="1" i="0" u="sng"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NOT</a:t>
            </a:r>
            <a:r>
              <a:rPr kumimoji="0" lang="en-US" sz="1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in Christ	 	                        Self-worth in Christ</a:t>
            </a:r>
            <a:endParaRPr kumimoji="0" lang="en-US" sz="1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19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cxnSp>
        <p:nvCxnSpPr>
          <p:cNvPr id="11" name="Straight Connector 10"/>
          <p:cNvCxnSpPr/>
          <p:nvPr/>
        </p:nvCxnSpPr>
        <p:spPr>
          <a:xfrm rot="5400000">
            <a:off x="2134394" y="2666206"/>
            <a:ext cx="1371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6172200" y="2667000"/>
            <a:ext cx="12192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438400" y="2438400"/>
            <a:ext cx="762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400800" y="2438400"/>
            <a:ext cx="762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3" name="Rounded Rectangle 32"/>
          <p:cNvSpPr/>
          <p:nvPr/>
        </p:nvSpPr>
        <p:spPr>
          <a:xfrm>
            <a:off x="533400" y="3581400"/>
            <a:ext cx="22860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Material</a:t>
            </a:r>
            <a:endPar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Possessions, Worldly Pride in Fame,  Achievements, Success, Beauty, Education, Intelligence etc.</a:t>
            </a:r>
            <a:endParaRPr kumimoji="0" lang="en-US" sz="16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35" name="Rounded Rectangle 34"/>
          <p:cNvSpPr/>
          <p:nvPr/>
        </p:nvSpPr>
        <p:spPr>
          <a:xfrm>
            <a:off x="6553200" y="3581400"/>
            <a:ext cx="2286000" cy="2057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Material</a:t>
            </a:r>
            <a:endParaRPr kumimoji="0" lang="en-US" sz="18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Possessions, Worldly Pride in Fame,  Achievements, Success, Beauty, Education, Intelligence </a:t>
            </a:r>
            <a:r>
              <a:rPr kumimoji="0" lang="en-US" sz="18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etc.</a:t>
            </a:r>
            <a:endParaRPr kumimoji="0" 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38" name="Right Arrow 37"/>
          <p:cNvSpPr/>
          <p:nvPr/>
        </p:nvSpPr>
        <p:spPr>
          <a:xfrm>
            <a:off x="2895600" y="4343400"/>
            <a:ext cx="533400" cy="46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Left Arrow 39"/>
          <p:cNvSpPr/>
          <p:nvPr/>
        </p:nvSpPr>
        <p:spPr>
          <a:xfrm>
            <a:off x="2895600" y="4724400"/>
            <a:ext cx="609600" cy="4603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42" name="Straight Arrow Connector 41"/>
          <p:cNvCxnSpPr/>
          <p:nvPr/>
        </p:nvCxnSpPr>
        <p:spPr>
          <a:xfrm rot="5400000" flipH="1" flipV="1">
            <a:off x="5600700" y="28575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5400000">
            <a:off x="6057900" y="3086100"/>
            <a:ext cx="838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9" name="Heart 48"/>
          <p:cNvSpPr/>
          <p:nvPr/>
        </p:nvSpPr>
        <p:spPr>
          <a:xfrm>
            <a:off x="3505200" y="3886200"/>
            <a:ext cx="1219200" cy="990600"/>
          </a:xfrm>
          <a:prstGeom prst="hear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smtClean="0">
                <a:ln>
                  <a:noFill/>
                </a:ln>
                <a:solidFill>
                  <a:schemeClr val="lt1"/>
                </a:solidFill>
                <a:effectLst/>
                <a:uLnTx/>
                <a:uFillTx/>
                <a:latin typeface="+mn-lt"/>
                <a:ea typeface="+mn-ea"/>
                <a:cs typeface="+mn-cs"/>
              </a:rPr>
              <a:t>Self Worth</a:t>
            </a:r>
            <a:endParaRPr kumimoji="0" lang="en-US" sz="1600" b="1" i="0" u="none" strike="noStrike" kern="1200" cap="none" spc="0" normalizeH="0" baseline="0" noProof="0" dirty="0">
              <a:ln>
                <a:noFill/>
              </a:ln>
              <a:solidFill>
                <a:schemeClr val="lt1"/>
              </a:solidFill>
              <a:effectLst/>
              <a:uLnTx/>
              <a:uFillTx/>
              <a:latin typeface="+mn-lt"/>
              <a:ea typeface="+mn-ea"/>
              <a:cs typeface="+mn-cs"/>
            </a:endParaRPr>
          </a:p>
        </p:txBody>
      </p:sp>
      <p:sp>
        <p:nvSpPr>
          <p:cNvPr id="50" name="Heart 49"/>
          <p:cNvSpPr/>
          <p:nvPr/>
        </p:nvSpPr>
        <p:spPr>
          <a:xfrm>
            <a:off x="4953000" y="3810000"/>
            <a:ext cx="1371600" cy="1143000"/>
          </a:xfrm>
          <a:prstGeom prst="hear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smtClean="0">
                <a:ln>
                  <a:noFill/>
                </a:ln>
                <a:solidFill>
                  <a:schemeClr val="lt1"/>
                </a:solidFill>
                <a:effectLst/>
                <a:uLnTx/>
                <a:uFillTx/>
                <a:latin typeface="+mn-lt"/>
                <a:ea typeface="+mn-ea"/>
                <a:cs typeface="+mn-cs"/>
              </a:rPr>
              <a:t>Self Worth</a:t>
            </a:r>
            <a:endParaRPr kumimoji="0" lang="en-US" sz="1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
            <a:ext cx="8229600" cy="1087120"/>
          </a:xfrm>
        </p:spPr>
        <p:txBody>
          <a:bodyPr>
            <a:normAutofit/>
          </a:bodyPr>
          <a:lstStyle/>
          <a:p>
            <a:r>
              <a:rPr lang="en-US" sz="2800" b="1" dirty="0" smtClean="0">
                <a:solidFill>
                  <a:schemeClr val="accent1"/>
                </a:solidFill>
                <a:latin typeface="Baskerville Old Face" panose="02020602080505020303" charset="0"/>
                <a:cs typeface="Baskerville Old Face" panose="02020602080505020303" charset="0"/>
              </a:rPr>
              <a:t>5.0  IDENTITY IN CHRIST </a:t>
            </a:r>
            <a:endParaRPr lang="en-US" sz="2800" b="1" dirty="0" smtClean="0">
              <a:solidFill>
                <a:schemeClr val="accent1"/>
              </a:solidFill>
              <a:latin typeface="Baskerville Old Face" panose="02020602080505020303" charset="0"/>
              <a:cs typeface="Baskerville Old Face" panose="02020602080505020303" charset="0"/>
            </a:endParaRPr>
          </a:p>
        </p:txBody>
      </p:sp>
      <p:sp>
        <p:nvSpPr>
          <p:cNvPr id="3" name="Content Placeholder 2"/>
          <p:cNvSpPr>
            <a:spLocks noGrp="1"/>
          </p:cNvSpPr>
          <p:nvPr>
            <p:ph idx="1"/>
          </p:nvPr>
        </p:nvSpPr>
        <p:spPr>
          <a:xfrm>
            <a:off x="304800" y="854075"/>
            <a:ext cx="8686800" cy="5851525"/>
          </a:xfrm>
        </p:spPr>
        <p:txBody>
          <a:bodyPr>
            <a:noAutofit/>
          </a:bodyPr>
          <a:lstStyle/>
          <a:p>
            <a:pPr>
              <a:buNone/>
            </a:pPr>
            <a:endParaRPr lang="en-US" sz="1600" dirty="0" smtClean="0"/>
          </a:p>
          <a:p>
            <a:r>
              <a:rPr lang="en-US" sz="2000" dirty="0" smtClean="0">
                <a:latin typeface="Baskerville Old Face" panose="02020602080505020303" charset="0"/>
                <a:cs typeface="Baskerville Old Face" panose="02020602080505020303" charset="0"/>
              </a:rPr>
              <a:t>Neil </a:t>
            </a:r>
            <a:r>
              <a:rPr lang="en-US" sz="2000" dirty="0" err="1" smtClean="0">
                <a:latin typeface="Baskerville Old Face" panose="02020602080505020303" charset="0"/>
                <a:cs typeface="Baskerville Old Face" panose="02020602080505020303" charset="0"/>
              </a:rPr>
              <a:t>T.Anderson</a:t>
            </a:r>
            <a:r>
              <a:rPr lang="en-US" sz="2000" dirty="0" smtClean="0">
                <a:latin typeface="Baskerville Old Face" panose="02020602080505020303" charset="0"/>
                <a:cs typeface="Baskerville Old Face" panose="02020602080505020303" charset="0"/>
              </a:rPr>
              <a:t> in his book ‘the Christ Centered Marriage’ lists out our Identity in Christ </a:t>
            </a:r>
            <a:r>
              <a:rPr lang="en-US" sz="2200" b="1" dirty="0" smtClean="0">
                <a:latin typeface="Baskerville Old Face" panose="02020602080505020303" charset="0"/>
                <a:cs typeface="Baskerville Old Face" panose="02020602080505020303" charset="0"/>
              </a:rPr>
              <a:t> </a:t>
            </a:r>
            <a:r>
              <a:rPr lang="en-US" sz="2200" b="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rPr>
              <a:t>‘Who I am in Christ’: </a:t>
            </a:r>
            <a:endParaRPr lang="en-US" sz="2200" b="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endParaRPr>
          </a:p>
          <a:p>
            <a:pPr marL="0" indent="0">
              <a:buNone/>
            </a:pPr>
            <a:r>
              <a:rPr lang="en-US" sz="2200" b="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rPr>
              <a:t>‘</a:t>
            </a:r>
            <a:r>
              <a:rPr lang="en-US" sz="2200" b="1" i="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rPr>
              <a:t>I am Accepted in Christ’</a:t>
            </a:r>
            <a:r>
              <a:rPr lang="en-US" sz="2200" b="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rPr>
              <a:t> </a:t>
            </a:r>
            <a:endParaRPr lang="en-US" sz="2200" b="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endParaRPr>
          </a:p>
          <a:p>
            <a:r>
              <a:rPr lang="en-US" sz="2200" dirty="0" smtClean="0">
                <a:latin typeface="Baskerville Old Face" panose="02020602080505020303" charset="0"/>
                <a:cs typeface="Baskerville Old Face" panose="02020602080505020303" charset="0"/>
              </a:rPr>
              <a:t>I have been justified (Roman 5:1); </a:t>
            </a:r>
            <a:endParaRPr lang="en-US" sz="2200" dirty="0" smtClean="0">
              <a:latin typeface="Baskerville Old Face" panose="02020602080505020303" charset="0"/>
              <a:cs typeface="Baskerville Old Face" panose="02020602080505020303" charset="0"/>
            </a:endParaRPr>
          </a:p>
          <a:p>
            <a:r>
              <a:rPr lang="en-US" sz="2200" dirty="0" smtClean="0">
                <a:latin typeface="Baskerville Old Face" panose="02020602080505020303" charset="0"/>
                <a:cs typeface="Baskerville Old Face" panose="02020602080505020303" charset="0"/>
              </a:rPr>
              <a:t>I am God’s child (John 1:12); </a:t>
            </a:r>
            <a:endParaRPr lang="en-US" sz="2200" dirty="0" smtClean="0">
              <a:latin typeface="Baskerville Old Face" panose="02020602080505020303" charset="0"/>
              <a:cs typeface="Baskerville Old Face" panose="02020602080505020303" charset="0"/>
            </a:endParaRPr>
          </a:p>
          <a:p>
            <a:r>
              <a:rPr lang="en-US" sz="2200" dirty="0" smtClean="0">
                <a:latin typeface="Baskerville Old Face" panose="02020602080505020303" charset="0"/>
                <a:cs typeface="Baskerville Old Face" panose="02020602080505020303" charset="0"/>
              </a:rPr>
              <a:t>I have been bought with a price – I belong to God (1Cor 6:17); </a:t>
            </a:r>
            <a:endParaRPr lang="en-US" sz="2200" dirty="0" smtClean="0">
              <a:latin typeface="Baskerville Old Face" panose="02020602080505020303" charset="0"/>
              <a:cs typeface="Baskerville Old Face" panose="02020602080505020303" charset="0"/>
            </a:endParaRPr>
          </a:p>
          <a:p>
            <a:pPr marL="0" indent="0">
              <a:buNone/>
            </a:pPr>
            <a:r>
              <a:rPr lang="en-US" sz="2200" b="1" i="1" u="sng" dirty="0" smtClean="0">
                <a:latin typeface="Baskerville Old Face" panose="02020602080505020303" charset="0"/>
                <a:cs typeface="Baskerville Old Face" panose="02020602080505020303" charset="0"/>
              </a:rPr>
              <a:t>‘</a:t>
            </a:r>
            <a:r>
              <a:rPr lang="en-US" sz="2200" b="1" i="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rPr>
              <a:t>I am Secure in Christ’</a:t>
            </a:r>
            <a:r>
              <a:rPr lang="en-US" sz="2200" i="1" u="sng" dirty="0" smtClean="0">
                <a:latin typeface="Baskerville Old Face" panose="02020602080505020303" charset="0"/>
                <a:cs typeface="Baskerville Old Face" panose="02020602080505020303" charset="0"/>
              </a:rPr>
              <a:t> :</a:t>
            </a:r>
            <a:r>
              <a:rPr lang="en-US" sz="2200" dirty="0" smtClean="0">
                <a:latin typeface="Baskerville Old Face" panose="02020602080505020303" charset="0"/>
                <a:cs typeface="Baskerville Old Face" panose="02020602080505020303" charset="0"/>
              </a:rPr>
              <a:t> I have direct access to God through the Holy Spirit (</a:t>
            </a:r>
            <a:r>
              <a:rPr lang="en-US" sz="2200" dirty="0" err="1" smtClean="0">
                <a:latin typeface="Baskerville Old Face" panose="02020602080505020303" charset="0"/>
                <a:cs typeface="Baskerville Old Face" panose="02020602080505020303" charset="0"/>
              </a:rPr>
              <a:t>Ephe</a:t>
            </a:r>
            <a:r>
              <a:rPr lang="en-US" sz="2200" dirty="0" smtClean="0">
                <a:latin typeface="Baskerville Old Face" panose="02020602080505020303" charset="0"/>
                <a:cs typeface="Baskerville Old Face" panose="02020602080505020303" charset="0"/>
              </a:rPr>
              <a:t> 2:18); </a:t>
            </a:r>
            <a:endParaRPr lang="en-US" sz="2200" dirty="0" smtClean="0">
              <a:latin typeface="Baskerville Old Face" panose="02020602080505020303" charset="0"/>
              <a:cs typeface="Baskerville Old Face" panose="02020602080505020303" charset="0"/>
            </a:endParaRPr>
          </a:p>
          <a:p>
            <a:r>
              <a:rPr lang="en-US" sz="2200" dirty="0" smtClean="0">
                <a:latin typeface="Baskerville Old Face" panose="02020602080505020303" charset="0"/>
                <a:cs typeface="Baskerville Old Face" panose="02020602080505020303" charset="0"/>
              </a:rPr>
              <a:t>I am free from condemnation (Rom 8:1,2); </a:t>
            </a:r>
            <a:endParaRPr lang="en-US" sz="2200" dirty="0" smtClean="0">
              <a:latin typeface="Baskerville Old Face" panose="02020602080505020303" charset="0"/>
              <a:cs typeface="Baskerville Old Face" panose="02020602080505020303" charset="0"/>
            </a:endParaRPr>
          </a:p>
          <a:p>
            <a:r>
              <a:rPr lang="en-US" sz="2200" dirty="0" smtClean="0">
                <a:latin typeface="Baskerville Old Face" panose="02020602080505020303" charset="0"/>
                <a:cs typeface="Baskerville Old Face" panose="02020602080505020303" charset="0"/>
              </a:rPr>
              <a:t>I have not been given a spirit of fear, but of power, love and a sound mind ( 2 Tim 1:7);  </a:t>
            </a:r>
            <a:r>
              <a:rPr lang="en-US" sz="2200" i="1" dirty="0" smtClean="0">
                <a:latin typeface="Baskerville Old Face" panose="02020602080505020303" charset="0"/>
                <a:cs typeface="Baskerville Old Face" panose="02020602080505020303" charset="0"/>
              </a:rPr>
              <a:t>and</a:t>
            </a:r>
            <a:r>
              <a:rPr lang="en-US" sz="2200" b="1" i="1" dirty="0" smtClean="0">
                <a:latin typeface="Baskerville Old Face" panose="02020602080505020303" charset="0"/>
                <a:cs typeface="Baskerville Old Face" panose="02020602080505020303" charset="0"/>
              </a:rPr>
              <a:t>, </a:t>
            </a:r>
            <a:endParaRPr lang="en-US" sz="2200" b="1" i="1" dirty="0" smtClean="0">
              <a:latin typeface="Baskerville Old Face" panose="02020602080505020303" charset="0"/>
              <a:cs typeface="Baskerville Old Face" panose="02020602080505020303" charset="0"/>
            </a:endParaRPr>
          </a:p>
          <a:p>
            <a:pPr marL="0" indent="0">
              <a:buNone/>
            </a:pPr>
            <a:r>
              <a:rPr lang="en-US" sz="2200" b="1" i="1" u="sng" dirty="0" smtClean="0">
                <a:latin typeface="Baskerville Old Face" panose="02020602080505020303" charset="0"/>
                <a:cs typeface="Baskerville Old Face" panose="02020602080505020303" charset="0"/>
              </a:rPr>
              <a:t>‘</a:t>
            </a:r>
            <a:r>
              <a:rPr lang="en-US" sz="2200" b="1" i="1" u="sng" dirty="0" smtClean="0">
                <a:gradFill>
                  <a:gsLst>
                    <a:gs pos="0">
                      <a:srgbClr val="007BD3"/>
                    </a:gs>
                    <a:gs pos="100000">
                      <a:srgbClr val="034373"/>
                    </a:gs>
                  </a:gsLst>
                  <a:lin scaled="0"/>
                </a:gradFill>
                <a:latin typeface="Baskerville Old Face" panose="02020602080505020303" charset="0"/>
                <a:cs typeface="Baskerville Old Face" panose="02020602080505020303" charset="0"/>
              </a:rPr>
              <a:t>I am Significant in Christ’</a:t>
            </a:r>
            <a:r>
              <a:rPr lang="en-US" sz="2200" u="sng" dirty="0" smtClean="0">
                <a:latin typeface="Baskerville Old Face" panose="02020602080505020303" charset="0"/>
                <a:cs typeface="Baskerville Old Face" panose="02020602080505020303" charset="0"/>
              </a:rPr>
              <a:t>:</a:t>
            </a:r>
            <a:r>
              <a:rPr lang="en-US" sz="2200" dirty="0" smtClean="0">
                <a:latin typeface="Baskerville Old Face" panose="02020602080505020303" charset="0"/>
                <a:cs typeface="Baskerville Old Face" panose="02020602080505020303" charset="0"/>
              </a:rPr>
              <a:t> I have been washed by His blood (1 </a:t>
            </a:r>
            <a:r>
              <a:rPr lang="en-US" sz="2200" dirty="0" err="1" smtClean="0">
                <a:latin typeface="Baskerville Old Face" panose="02020602080505020303" charset="0"/>
                <a:cs typeface="Baskerville Old Face" panose="02020602080505020303" charset="0"/>
              </a:rPr>
              <a:t>Jn</a:t>
            </a:r>
            <a:r>
              <a:rPr lang="en-US" sz="2200" dirty="0" smtClean="0">
                <a:latin typeface="Baskerville Old Face" panose="02020602080505020303" charset="0"/>
                <a:cs typeface="Baskerville Old Face" panose="02020602080505020303" charset="0"/>
              </a:rPr>
              <a:t> 1:7);  </a:t>
            </a:r>
            <a:endParaRPr lang="en-US" sz="2200" dirty="0" smtClean="0">
              <a:latin typeface="Baskerville Old Face" panose="02020602080505020303" charset="0"/>
              <a:cs typeface="Baskerville Old Face" panose="02020602080505020303" charset="0"/>
            </a:endParaRPr>
          </a:p>
          <a:p>
            <a:r>
              <a:rPr lang="en-US" sz="2200" dirty="0" smtClean="0">
                <a:latin typeface="Baskerville Old Face" panose="02020602080505020303" charset="0"/>
                <a:cs typeface="Baskerville Old Face" panose="02020602080505020303" charset="0"/>
              </a:rPr>
              <a:t>I am the salt and light of the earth (Matt 5:13,14); </a:t>
            </a:r>
            <a:endParaRPr lang="en-US" sz="2200" dirty="0" smtClean="0">
              <a:latin typeface="Baskerville Old Face" panose="02020602080505020303" charset="0"/>
              <a:cs typeface="Baskerville Old Face" panose="02020602080505020303" charset="0"/>
            </a:endParaRPr>
          </a:p>
          <a:p>
            <a:r>
              <a:rPr lang="en-US" sz="2200" dirty="0" smtClean="0">
                <a:latin typeface="Baskerville Old Face" panose="02020602080505020303" charset="0"/>
                <a:cs typeface="Baskerville Old Face" panose="02020602080505020303" charset="0"/>
              </a:rPr>
              <a:t>I am a branch of the true vine, a channel of His life (</a:t>
            </a:r>
            <a:r>
              <a:rPr lang="en-US" sz="2200" dirty="0" err="1" smtClean="0">
                <a:latin typeface="Baskerville Old Face" panose="02020602080505020303" charset="0"/>
                <a:cs typeface="Baskerville Old Face" panose="02020602080505020303" charset="0"/>
              </a:rPr>
              <a:t>Jn</a:t>
            </a:r>
            <a:r>
              <a:rPr lang="en-US" sz="2200" dirty="0" smtClean="0">
                <a:latin typeface="Baskerville Old Face" panose="02020602080505020303" charset="0"/>
                <a:cs typeface="Baskerville Old Face" panose="02020602080505020303" charset="0"/>
              </a:rPr>
              <a:t> 15: 1,5). </a:t>
            </a:r>
            <a:endParaRPr lang="en-US" sz="2200" dirty="0" smtClean="0">
              <a:latin typeface="Baskerville Old Face" panose="02020602080505020303" charset="0"/>
              <a:cs typeface="Baskerville Old Face" panose="02020602080505020303" charset="0"/>
            </a:endParaRPr>
          </a:p>
          <a:p>
            <a:r>
              <a:rPr lang="en-US" sz="2200" b="1" dirty="0" smtClean="0">
                <a:latin typeface="Baskerville Old Face" panose="02020602080505020303" charset="0"/>
                <a:cs typeface="Baskerville Old Face" panose="02020602080505020303" charset="0"/>
              </a:rPr>
              <a:t> </a:t>
            </a:r>
            <a:endParaRPr lang="en-US" sz="2200" dirty="0" smtClean="0">
              <a:latin typeface="Baskerville Old Face" panose="02020602080505020303" charset="0"/>
              <a:cs typeface="Baskerville Old Face" panose="02020602080505020303" charset="0"/>
            </a:endParaRPr>
          </a:p>
          <a:p>
            <a:endParaRPr lang="en-US" sz="2000" dirty="0" smtClean="0">
              <a:latin typeface="Baskerville Old Face" panose="02020602080505020303" charset="0"/>
              <a:cs typeface="Baskerville Old Face" panose="02020602080505020303" charset="0"/>
            </a:endParaRPr>
          </a:p>
          <a:p>
            <a:endParaRPr lang="en-US" sz="2000" dirty="0" smtClean="0">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ctr"/>
            <a:endParaRPr lang="en-US" b="1" i="1">
              <a:solidFill>
                <a:schemeClr val="accent2"/>
              </a:solidFill>
              <a:latin typeface="Baskerville Old Face" panose="02020602080505020303" charset="0"/>
              <a:cs typeface="Baskerville Old Face" panose="02020602080505020303" charset="0"/>
            </a:endParaRPr>
          </a:p>
          <a:p>
            <a:pPr algn="ctr"/>
            <a:endParaRPr lang="en-US" b="1" i="1">
              <a:solidFill>
                <a:schemeClr val="accent2"/>
              </a:solidFill>
              <a:latin typeface="Baskerville Old Face" panose="02020602080505020303" charset="0"/>
              <a:cs typeface="Baskerville Old Face" panose="02020602080505020303" charset="0"/>
            </a:endParaRPr>
          </a:p>
          <a:p>
            <a:pPr algn="ctr"/>
            <a:endParaRPr lang="en-US" b="1" i="1">
              <a:solidFill>
                <a:schemeClr val="accent2"/>
              </a:solidFill>
              <a:latin typeface="Baskerville Old Face" panose="02020602080505020303" charset="0"/>
              <a:cs typeface="Baskerville Old Face" panose="02020602080505020303" charset="0"/>
            </a:endParaRPr>
          </a:p>
          <a:p>
            <a:pPr algn="ctr"/>
            <a:r>
              <a:rPr lang="en-US" b="1" i="1">
                <a:solidFill>
                  <a:schemeClr val="accent2"/>
                </a:solidFill>
                <a:latin typeface="Baskerville Old Face" panose="02020602080505020303" charset="0"/>
                <a:cs typeface="Baskerville Old Face" panose="02020602080505020303" charset="0"/>
              </a:rPr>
              <a:t>THANK YOU !</a:t>
            </a:r>
            <a:endParaRPr lang="en-US" b="1" i="1">
              <a:solidFill>
                <a:schemeClr val="accent2"/>
              </a:solidFill>
              <a:latin typeface="Baskerville Old Face" panose="02020602080505020303" charset="0"/>
              <a:cs typeface="Baskerville Old Face" panose="02020602080505020303"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smtClean="0">
                <a:solidFill>
                  <a:schemeClr val="accent1"/>
                </a:solidFill>
                <a:latin typeface="Times New Roman" panose="02020603050405020304" pitchFamily="18" charset="0"/>
                <a:cs typeface="Times New Roman" panose="02020603050405020304" pitchFamily="18" charset="0"/>
              </a:rPr>
              <a:t>6.0</a:t>
            </a:r>
            <a:r>
              <a:rPr lang="en-US" sz="2400" b="1" dirty="0" smtClean="0">
                <a:solidFill>
                  <a:schemeClr val="accent1"/>
                </a:solidFill>
                <a:latin typeface="Times New Roman" panose="02020603050405020304" pitchFamily="18" charset="0"/>
                <a:cs typeface="Times New Roman" panose="02020603050405020304" pitchFamily="18" charset="0"/>
              </a:rPr>
              <a:t>        Approaches to C</a:t>
            </a:r>
            <a:r>
              <a:rPr lang="en-US" sz="2400" b="1" dirty="0" err="1" smtClean="0">
                <a:solidFill>
                  <a:schemeClr val="accent1"/>
                </a:solidFill>
                <a:latin typeface="Times New Roman" panose="02020603050405020304" pitchFamily="18" charset="0"/>
                <a:cs typeface="Times New Roman" panose="02020603050405020304" pitchFamily="18" charset="0"/>
              </a:rPr>
              <a:t>hristian</a:t>
            </a:r>
            <a:r>
              <a:rPr lang="en-US" sz="2400" b="1" dirty="0" smtClean="0">
                <a:solidFill>
                  <a:schemeClr val="accent1"/>
                </a:solidFill>
                <a:latin typeface="Times New Roman" panose="02020603050405020304" pitchFamily="18" charset="0"/>
                <a:cs typeface="Times New Roman" panose="02020603050405020304" pitchFamily="18" charset="0"/>
              </a:rPr>
              <a:t> C</a:t>
            </a:r>
            <a:r>
              <a:rPr lang="en-US" sz="2400" b="1" dirty="0" err="1" smtClean="0">
                <a:solidFill>
                  <a:schemeClr val="accent1"/>
                </a:solidFill>
                <a:latin typeface="Times New Roman" panose="02020603050405020304" pitchFamily="18" charset="0"/>
                <a:cs typeface="Times New Roman" panose="02020603050405020304" pitchFamily="18" charset="0"/>
              </a:rPr>
              <a:t>ounselling</a:t>
            </a:r>
            <a:r>
              <a:rPr lang="en-US" sz="2400" b="1" dirty="0" smtClean="0">
                <a:solidFill>
                  <a:schemeClr val="accent1"/>
                </a:solidFill>
                <a:latin typeface="Times New Roman" panose="02020603050405020304" pitchFamily="18" charset="0"/>
                <a:cs typeface="Times New Roman" panose="02020603050405020304" pitchFamily="18" charset="0"/>
              </a:rPr>
              <a:t> </a:t>
            </a: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19200"/>
            <a:ext cx="8686800" cy="4860925"/>
          </a:xfrm>
        </p:spPr>
        <p:txBody>
          <a:bodyPr>
            <a:noAutofit/>
          </a:bodyPr>
          <a:lstStyle/>
          <a:p>
            <a:r>
              <a:rPr lang="en-US" sz="2800" dirty="0" smtClean="0">
                <a:latin typeface="Times New Roman" panose="02020603050405020304" pitchFamily="18" charset="0"/>
                <a:cs typeface="Times New Roman" panose="02020603050405020304" pitchFamily="18" charset="0"/>
              </a:rPr>
              <a:t>Jesus Christ the Greatest </a:t>
            </a:r>
            <a:r>
              <a:rPr lang="en-US" sz="2800" dirty="0" err="1" smtClean="0">
                <a:latin typeface="Times New Roman" panose="02020603050405020304" pitchFamily="18" charset="0"/>
                <a:cs typeface="Times New Roman" panose="02020603050405020304" pitchFamily="18" charset="0"/>
              </a:rPr>
              <a:t>Counsellor</a:t>
            </a:r>
            <a:r>
              <a:rPr lang="en-US" sz="2800" dirty="0" smtClean="0">
                <a:latin typeface="Times New Roman" panose="02020603050405020304" pitchFamily="18" charset="0"/>
                <a:cs typeface="Times New Roman" panose="02020603050405020304" pitchFamily="18" charset="0"/>
              </a:rPr>
              <a:t> in the World</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Dr. Selwyn Hughes</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T.S. </a:t>
            </a:r>
            <a:r>
              <a:rPr lang="en-US" sz="2800" dirty="0" err="1" smtClean="0">
                <a:latin typeface="Times New Roman" panose="02020603050405020304" pitchFamily="18" charset="0"/>
                <a:cs typeface="Times New Roman" panose="02020603050405020304" pitchFamily="18" charset="0"/>
              </a:rPr>
              <a:t>Kanagaraj</a:t>
            </a: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Directive and Non-directive approach</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Dr. B.J. </a:t>
            </a:r>
            <a:r>
              <a:rPr lang="en-US" sz="2800" dirty="0" err="1" smtClean="0">
                <a:latin typeface="Times New Roman" panose="02020603050405020304" pitchFamily="18" charset="0"/>
                <a:cs typeface="Times New Roman" panose="02020603050405020304" pitchFamily="18" charset="0"/>
              </a:rPr>
              <a:t>Prashantham</a:t>
            </a: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Integrated Christian </a:t>
            </a:r>
            <a:r>
              <a:rPr lang="en-US" sz="2800" dirty="0" err="1" smtClean="0">
                <a:latin typeface="Times New Roman" panose="02020603050405020304" pitchFamily="18" charset="0"/>
                <a:cs typeface="Times New Roman" panose="02020603050405020304" pitchFamily="18" charset="0"/>
              </a:rPr>
              <a:t>Counselling</a:t>
            </a:r>
            <a:r>
              <a:rPr lang="en-US" sz="2800" dirty="0" smtClean="0">
                <a:latin typeface="Times New Roman" panose="02020603050405020304" pitchFamily="18" charset="0"/>
                <a:cs typeface="Times New Roman" panose="02020603050405020304" pitchFamily="18" charset="0"/>
              </a:rPr>
              <a:t> is based on the bible yet keep examining other information from psychology, sociology, neurosciences in the secular world. It does not give the worldly sciences equal or greater </a:t>
            </a:r>
            <a:r>
              <a:rPr lang="en-US" sz="2800" dirty="0" err="1" smtClean="0">
                <a:latin typeface="Times New Roman" panose="02020603050405020304" pitchFamily="18" charset="0"/>
                <a:cs typeface="Times New Roman" panose="02020603050405020304" pitchFamily="18" charset="0"/>
              </a:rPr>
              <a:t>weightage</a:t>
            </a:r>
            <a:r>
              <a:rPr lang="en-US" sz="2800" dirty="0" smtClean="0">
                <a:latin typeface="Times New Roman" panose="02020603050405020304" pitchFamily="18" charset="0"/>
                <a:cs typeface="Times New Roman" panose="02020603050405020304" pitchFamily="18" charset="0"/>
              </a:rPr>
              <a:t> than the biblical data.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0"/>
            <a:ext cx="8229600" cy="1010920"/>
          </a:xfrm>
        </p:spPr>
        <p:txBody>
          <a:bodyPr/>
          <a:lstStyle/>
          <a:p>
            <a:r>
              <a:rPr lang="en-US" sz="2800" b="1" dirty="0" smtClean="0">
                <a:solidFill>
                  <a:schemeClr val="accent1"/>
                </a:solidFill>
                <a:latin typeface="Baskerville Old Face" panose="02020602080505020303" charset="0"/>
                <a:cs typeface="Baskerville Old Face" panose="02020602080505020303" charset="0"/>
              </a:rPr>
              <a:t>8.0	GOAL OF CHRISTIAN  COUNSELLING </a:t>
            </a:r>
            <a:endParaRPr lang="en-US" sz="2800" b="1" dirty="0" smtClean="0">
              <a:solidFill>
                <a:schemeClr val="accent1"/>
              </a:solidFill>
              <a:latin typeface="Baskerville Old Face" panose="02020602080505020303" charset="0"/>
              <a:cs typeface="Baskerville Old Face" panose="02020602080505020303" charset="0"/>
            </a:endParaRPr>
          </a:p>
        </p:txBody>
      </p:sp>
      <p:sp>
        <p:nvSpPr>
          <p:cNvPr id="3" name="Content Placeholder 2"/>
          <p:cNvSpPr>
            <a:spLocks noGrp="1"/>
          </p:cNvSpPr>
          <p:nvPr>
            <p:ph idx="1"/>
          </p:nvPr>
        </p:nvSpPr>
        <p:spPr>
          <a:xfrm>
            <a:off x="457200" y="1315085"/>
            <a:ext cx="8229600" cy="4812665"/>
          </a:xfrm>
        </p:spPr>
        <p:txBody>
          <a:bodyPr>
            <a:normAutofit/>
          </a:bodyPr>
          <a:lstStyle/>
          <a:p>
            <a:r>
              <a:rPr lang="en-US" sz="2800" dirty="0" smtClean="0">
                <a:latin typeface="Times New Roman" panose="02020603050405020304" pitchFamily="18" charset="0"/>
                <a:cs typeface="Times New Roman" panose="02020603050405020304" pitchFamily="18" charset="0"/>
              </a:rPr>
              <a:t>The </a:t>
            </a:r>
            <a:r>
              <a:rPr lang="en-US" sz="2800" dirty="0" err="1" smtClean="0">
                <a:latin typeface="Times New Roman" panose="02020603050405020304" pitchFamily="18" charset="0"/>
                <a:cs typeface="Times New Roman" panose="02020603050405020304" pitchFamily="18" charset="0"/>
              </a:rPr>
              <a:t>counsellee</a:t>
            </a:r>
            <a:r>
              <a:rPr lang="en-US" sz="2800" dirty="0" smtClean="0">
                <a:latin typeface="Times New Roman" panose="02020603050405020304" pitchFamily="18" charset="0"/>
                <a:cs typeface="Times New Roman" panose="02020603050405020304" pitchFamily="18" charset="0"/>
              </a:rPr>
              <a:t> should become not only normal (emotionally and physically) but also try to live a holy, spiritually, healthy life and, begin to love God. </a:t>
            </a:r>
            <a:endParaRPr lang="en-US" sz="2800" dirty="0" smtClean="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A lot of empathy, understanding and support has to be extended by the </a:t>
            </a:r>
            <a:r>
              <a:rPr lang="en-US" sz="2800" dirty="0" err="1" smtClean="0">
                <a:latin typeface="Times New Roman" panose="02020603050405020304" pitchFamily="18" charset="0"/>
                <a:cs typeface="Times New Roman" panose="02020603050405020304" pitchFamily="18" charset="0"/>
              </a:rPr>
              <a:t>Counsellor</a:t>
            </a:r>
            <a:r>
              <a:rPr lang="en-US" sz="2800" dirty="0" smtClean="0">
                <a:latin typeface="Times New Roman" panose="02020603050405020304" pitchFamily="18" charset="0"/>
                <a:cs typeface="Times New Roman" panose="02020603050405020304" pitchFamily="18" charset="0"/>
              </a:rPr>
              <a:t>, to the suffering </a:t>
            </a:r>
            <a:r>
              <a:rPr lang="en-US" sz="2800" dirty="0" err="1" smtClean="0">
                <a:latin typeface="Times New Roman" panose="02020603050405020304" pitchFamily="18" charset="0"/>
                <a:cs typeface="Times New Roman" panose="02020603050405020304" pitchFamily="18" charset="0"/>
              </a:rPr>
              <a:t>counsellee</a:t>
            </a:r>
            <a:r>
              <a:rPr lang="en-US" sz="2800" dirty="0" smtClean="0">
                <a:latin typeface="Times New Roman" panose="02020603050405020304" pitchFamily="18" charset="0"/>
                <a:cs typeface="Times New Roman" panose="02020603050405020304" pitchFamily="18" charset="0"/>
              </a:rPr>
              <a:t>, with a lot of prayer.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686800" cy="1066800"/>
          </a:xfrm>
        </p:spPr>
        <p:txBody>
          <a:bodyPr>
            <a:normAutofit/>
          </a:bodyPr>
          <a:lstStyle/>
          <a:p>
            <a:pPr algn="l"/>
            <a:r>
              <a:rPr lang="en-US" sz="2400" b="1" dirty="0" smtClean="0">
                <a:solidFill>
                  <a:schemeClr val="accent1"/>
                </a:solidFill>
                <a:latin typeface="Times New Roman" panose="02020603050405020304" pitchFamily="18" charset="0"/>
                <a:cs typeface="Times New Roman" panose="02020603050405020304" pitchFamily="18" charset="0"/>
              </a:rPr>
              <a:t>9.0           STUDENTS’  UNREST AND ITS CAUSES</a:t>
            </a:r>
            <a:br>
              <a:rPr lang="en-US" sz="2400" b="1" dirty="0" smtClean="0">
                <a:solidFill>
                  <a:schemeClr val="accent1"/>
                </a:solidFill>
                <a:latin typeface="Times New Roman" panose="02020603050405020304" pitchFamily="18" charset="0"/>
                <a:cs typeface="Times New Roman" panose="02020603050405020304" pitchFamily="18" charset="0"/>
              </a:rPr>
            </a:br>
            <a:r>
              <a:rPr lang="en-US" sz="2400" b="1" dirty="0" smtClean="0">
                <a:solidFill>
                  <a:schemeClr val="accent1"/>
                </a:solidFill>
                <a:latin typeface="Times New Roman" panose="02020603050405020304" pitchFamily="18" charset="0"/>
                <a:cs typeface="Times New Roman" panose="02020603050405020304" pitchFamily="18" charset="0"/>
              </a:rPr>
              <a:t>	    </a:t>
            </a:r>
            <a:r>
              <a:rPr lang="en-US" sz="1300" b="1" dirty="0" smtClean="0">
                <a:solidFill>
                  <a:schemeClr val="accent1"/>
                </a:solidFill>
                <a:latin typeface="Times New Roman" panose="02020603050405020304" pitchFamily="18" charset="0"/>
                <a:cs typeface="Times New Roman" panose="02020603050405020304" pitchFamily="18" charset="0"/>
              </a:rPr>
              <a:t>Prof K. </a:t>
            </a:r>
            <a:r>
              <a:rPr lang="en-US" sz="1300" b="1" dirty="0" err="1" smtClean="0">
                <a:solidFill>
                  <a:schemeClr val="accent1"/>
                </a:solidFill>
                <a:latin typeface="Times New Roman" panose="02020603050405020304" pitchFamily="18" charset="0"/>
                <a:cs typeface="Times New Roman" panose="02020603050405020304" pitchFamily="18" charset="0"/>
              </a:rPr>
              <a:t>Nagarajan</a:t>
            </a:r>
            <a:r>
              <a:rPr lang="en-US" sz="1300" b="1" dirty="0" smtClean="0">
                <a:solidFill>
                  <a:schemeClr val="accent1"/>
                </a:solidFill>
                <a:latin typeface="Times New Roman" panose="02020603050405020304" pitchFamily="18" charset="0"/>
                <a:cs typeface="Times New Roman" panose="02020603050405020304" pitchFamily="18" charset="0"/>
              </a:rPr>
              <a:t>    </a:t>
            </a:r>
            <a:r>
              <a:rPr lang="en-US" sz="1300" b="1" cap="none" dirty="0" smtClean="0">
                <a:solidFill>
                  <a:schemeClr val="accent1"/>
                </a:solidFill>
                <a:latin typeface="Times New Roman" panose="02020603050405020304" pitchFamily="18" charset="0"/>
                <a:cs typeface="Times New Roman" panose="02020603050405020304" pitchFamily="18" charset="0"/>
              </a:rPr>
              <a:t> in</a:t>
            </a:r>
            <a:r>
              <a:rPr lang="en-US" sz="1300" b="1" dirty="0" smtClean="0">
                <a:solidFill>
                  <a:schemeClr val="accent1"/>
                </a:solidFill>
                <a:latin typeface="Times New Roman" panose="02020603050405020304" pitchFamily="18" charset="0"/>
                <a:cs typeface="Times New Roman" panose="02020603050405020304" pitchFamily="18" charset="0"/>
              </a:rPr>
              <a:t>   </a:t>
            </a:r>
            <a:r>
              <a:rPr lang="en-US" sz="1300" b="1" i="1" dirty="0" smtClean="0">
                <a:solidFill>
                  <a:schemeClr val="accent1"/>
                </a:solidFill>
                <a:latin typeface="Times New Roman" panose="02020603050405020304" pitchFamily="18" charset="0"/>
                <a:cs typeface="Times New Roman" panose="02020603050405020304" pitchFamily="18" charset="0"/>
              </a:rPr>
              <a:t>Psychology of Learning and Human Development</a:t>
            </a:r>
            <a:endParaRPr lang="en-US" sz="1300" b="1" i="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19200"/>
            <a:ext cx="8686800" cy="5181600"/>
          </a:xfrm>
        </p:spPr>
        <p:txBody>
          <a:bodyPr>
            <a:noAutofit/>
          </a:bodyPr>
          <a:lstStyle/>
          <a:p>
            <a:r>
              <a:rPr lang="en-US" sz="2000" dirty="0" smtClean="0">
                <a:latin typeface="Times New Roman" panose="02020603050405020304" pitchFamily="18" charset="0"/>
                <a:cs typeface="Times New Roman" panose="02020603050405020304" pitchFamily="18" charset="0"/>
              </a:rPr>
              <a:t>1/	Frustration and Conflicts :  Socio-Economic problems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2/	Poverty : Many living below poverty line. Poverty is a fertile ground for 	generating unrest and revolt.</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3/	Unemployment among the Youth :  After passing out, majority of youth 	remain unemployed for many years, therefore uncertain future, even while 	in the college. This results in campus unrest and violent </a:t>
            </a:r>
            <a:r>
              <a:rPr lang="en-US" sz="2000" dirty="0" err="1" smtClean="0">
                <a:latin typeface="Times New Roman" panose="02020603050405020304" pitchFamily="18" charset="0"/>
                <a:cs typeface="Times New Roman" panose="02020603050405020304" pitchFamily="18" charset="0"/>
              </a:rPr>
              <a:t>behaviour</a:t>
            </a:r>
            <a:r>
              <a:rPr lang="en-US" sz="2000" dirty="0" smtClean="0">
                <a:latin typeface="Times New Roman" panose="02020603050405020304" pitchFamily="18" charset="0"/>
                <a:cs typeface="Times New Roman" panose="02020603050405020304" pitchFamily="18" charset="0"/>
              </a:rPr>
              <a:t> etc.</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4/	Deterioration of Values in Society : this gets reflected across the student 	community – mass copying, campus violence, bribing the examiners, 	corrupt practices in student evaluation, performance deterioration etc. the 	students are insecure and become vulnerable to exploitation by antisocial 	elements and politicians.</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5/	Indifferent Administration : Administration of education al  institutions  is 	not so effective or student centered.</a:t>
            </a:r>
            <a:endParaRPr lang="en-US" sz="2000" dirty="0" smtClean="0">
              <a:latin typeface="Times New Roman" panose="02020603050405020304" pitchFamily="18" charset="0"/>
              <a:cs typeface="Times New Roman" panose="02020603050405020304" pitchFamily="18" charset="0"/>
            </a:endParaRPr>
          </a:p>
          <a:p>
            <a:pPr>
              <a:buNone/>
            </a:pPr>
            <a:r>
              <a:rPr lang="en-US" sz="2000" dirty="0" smtClean="0">
                <a:latin typeface="Times New Roman" panose="02020603050405020304" pitchFamily="18" charset="0"/>
                <a:cs typeface="Times New Roman" panose="02020603050405020304" pitchFamily="18" charset="0"/>
              </a:rPr>
              <a:t>	6//	Class and Caste Differences :  Merit students are pushed back due to the 	class and caste reservations in education.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686800" cy="762000"/>
          </a:xfrm>
        </p:spPr>
        <p:txBody>
          <a:bodyPr>
            <a:noAutofit/>
          </a:bodyPr>
          <a:lstStyle/>
          <a:p>
            <a:pPr algn="ctr"/>
            <a:r>
              <a:rPr lang="en-US" sz="2400" b="1" dirty="0" smtClean="0">
                <a:solidFill>
                  <a:schemeClr val="accent1"/>
                </a:solidFill>
                <a:latin typeface="Times New Roman" panose="02020603050405020304" pitchFamily="18" charset="0"/>
                <a:cs typeface="Times New Roman" panose="02020603050405020304" pitchFamily="18" charset="0"/>
              </a:rPr>
              <a:t>9.0	STUDENTS’  UNREST AND ITS CAUSES </a:t>
            </a:r>
            <a:r>
              <a:rPr lang="en-US" sz="1800" b="1" dirty="0" smtClean="0">
                <a:solidFill>
                  <a:schemeClr val="accent1"/>
                </a:solidFill>
                <a:latin typeface="Times New Roman" panose="02020603050405020304" pitchFamily="18" charset="0"/>
                <a:cs typeface="Times New Roman" panose="02020603050405020304" pitchFamily="18" charset="0"/>
              </a:rPr>
              <a:t>(cont’d.....</a:t>
            </a:r>
            <a:r>
              <a:rPr lang="en-US" sz="1800" b="1" i="1" dirty="0" smtClean="0">
                <a:solidFill>
                  <a:schemeClr val="accent1"/>
                </a:solidFill>
                <a:latin typeface="Times New Roman" panose="02020603050405020304" pitchFamily="18" charset="0"/>
                <a:cs typeface="Times New Roman" panose="02020603050405020304" pitchFamily="18" charset="0"/>
                <a:sym typeface="+mn-ea"/>
              </a:rPr>
              <a:t>  </a:t>
            </a:r>
            <a:r>
              <a:rPr lang="en-US" sz="1800" b="1" dirty="0" smtClean="0">
                <a:solidFill>
                  <a:schemeClr val="accent1"/>
                </a:solidFill>
                <a:latin typeface="Times New Roman" panose="02020603050405020304" pitchFamily="18" charset="0"/>
                <a:cs typeface="Times New Roman" panose="02020603050405020304" pitchFamily="18" charset="0"/>
                <a:sym typeface="+mn-ea"/>
              </a:rPr>
              <a:t>p/2)</a:t>
            </a:r>
            <a:br>
              <a:rPr lang="en-US" sz="1800" b="1" dirty="0" smtClean="0">
                <a:solidFill>
                  <a:schemeClr val="accent1"/>
                </a:solidFill>
                <a:latin typeface="Times New Roman" panose="02020603050405020304" pitchFamily="18" charset="0"/>
                <a:cs typeface="Times New Roman" panose="02020603050405020304" pitchFamily="18" charset="0"/>
              </a:rPr>
            </a:br>
            <a:r>
              <a:rPr lang="en-US" sz="1400" b="1" dirty="0" smtClean="0">
                <a:solidFill>
                  <a:schemeClr val="accent1"/>
                </a:solidFill>
                <a:latin typeface="Times New Roman" panose="02020603050405020304" pitchFamily="18" charset="0"/>
                <a:cs typeface="Times New Roman" panose="02020603050405020304" pitchFamily="18" charset="0"/>
              </a:rPr>
              <a:t>Prof K. </a:t>
            </a:r>
            <a:r>
              <a:rPr lang="en-US" sz="1400" b="1" dirty="0" err="1" smtClean="0">
                <a:solidFill>
                  <a:schemeClr val="accent1"/>
                </a:solidFill>
                <a:latin typeface="Times New Roman" panose="02020603050405020304" pitchFamily="18" charset="0"/>
                <a:cs typeface="Times New Roman" panose="02020603050405020304" pitchFamily="18" charset="0"/>
              </a:rPr>
              <a:t>Nagarajan</a:t>
            </a:r>
            <a:r>
              <a:rPr lang="en-US" sz="1400" b="1" dirty="0" smtClean="0">
                <a:solidFill>
                  <a:schemeClr val="accent1"/>
                </a:solidFill>
                <a:latin typeface="Times New Roman" panose="02020603050405020304" pitchFamily="18" charset="0"/>
                <a:cs typeface="Times New Roman" panose="02020603050405020304" pitchFamily="18" charset="0"/>
              </a:rPr>
              <a:t>    </a:t>
            </a:r>
            <a:r>
              <a:rPr lang="en-US" sz="1400" b="1" cap="none" dirty="0" smtClean="0">
                <a:solidFill>
                  <a:schemeClr val="accent1"/>
                </a:solidFill>
                <a:latin typeface="Times New Roman" panose="02020603050405020304" pitchFamily="18" charset="0"/>
                <a:cs typeface="Times New Roman" panose="02020603050405020304" pitchFamily="18" charset="0"/>
              </a:rPr>
              <a:t> in</a:t>
            </a:r>
            <a:r>
              <a:rPr lang="en-US" sz="1400" b="1" dirty="0" smtClean="0">
                <a:solidFill>
                  <a:schemeClr val="accent1"/>
                </a:solidFill>
                <a:latin typeface="Times New Roman" panose="02020603050405020304" pitchFamily="18" charset="0"/>
                <a:cs typeface="Times New Roman" panose="02020603050405020304" pitchFamily="18" charset="0"/>
              </a:rPr>
              <a:t>   </a:t>
            </a:r>
            <a:r>
              <a:rPr lang="en-US" sz="1400" b="1" i="1" dirty="0" smtClean="0">
                <a:solidFill>
                  <a:schemeClr val="accent1"/>
                </a:solidFill>
                <a:latin typeface="Times New Roman" panose="02020603050405020304" pitchFamily="18" charset="0"/>
                <a:cs typeface="Times New Roman" panose="02020603050405020304" pitchFamily="18" charset="0"/>
              </a:rPr>
              <a:t>Psychology of Learning and Human Development       </a:t>
            </a:r>
            <a:endParaRPr lang="en-US" sz="1400" b="1" i="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219200"/>
            <a:ext cx="8686800" cy="4860925"/>
          </a:xfrm>
        </p:spPr>
        <p:txBody>
          <a:bodyPr>
            <a:noAutofit/>
          </a:bodyPr>
          <a:lstStyle/>
          <a:p>
            <a:r>
              <a:rPr lang="en-US" sz="2000" dirty="0" smtClean="0">
                <a:latin typeface="Times New Roman" panose="02020603050405020304" pitchFamily="18" charset="0"/>
                <a:cs typeface="Times New Roman" panose="02020603050405020304" pitchFamily="18" charset="0"/>
              </a:rPr>
              <a:t>7/	Defects in the Educational System : </a:t>
            </a:r>
            <a:endParaRPr lang="en-US" sz="2000" dirty="0" smtClean="0">
              <a:latin typeface="Times New Roman" panose="02020603050405020304" pitchFamily="18" charset="0"/>
              <a:cs typeface="Times New Roman" panose="02020603050405020304" pitchFamily="18" charset="0"/>
            </a:endParaRPr>
          </a:p>
          <a:p>
            <a:pPr>
              <a:buNone/>
            </a:pPr>
            <a:r>
              <a:rPr lang="en-US" sz="20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a/   today’s education system does not prepare the students for a vocation or career in 	life.</a:t>
            </a:r>
            <a:endParaRPr lang="en-US" sz="1600" dirty="0" smtClean="0">
              <a:latin typeface="Times New Roman" panose="02020603050405020304" pitchFamily="18" charset="0"/>
              <a:cs typeface="Times New Roman" panose="02020603050405020304" pitchFamily="18" charset="0"/>
            </a:endParaRPr>
          </a:p>
          <a:p>
            <a:pPr>
              <a:buNone/>
            </a:pPr>
            <a:r>
              <a:rPr lang="en-US" sz="1600" dirty="0" smtClean="0">
                <a:latin typeface="Times New Roman" panose="02020603050405020304" pitchFamily="18" charset="0"/>
                <a:cs typeface="Times New Roman" panose="02020603050405020304" pitchFamily="18" charset="0"/>
              </a:rPr>
              <a:t>		b/   it gives importance to degrees and diplomas rather than the intellectual development of 	the students</a:t>
            </a:r>
            <a:endParaRPr lang="en-US" sz="1600" dirty="0" smtClean="0">
              <a:latin typeface="Times New Roman" panose="02020603050405020304" pitchFamily="18" charset="0"/>
              <a:cs typeface="Times New Roman" panose="02020603050405020304" pitchFamily="18" charset="0"/>
            </a:endParaRPr>
          </a:p>
          <a:p>
            <a:pPr>
              <a:buNone/>
            </a:pPr>
            <a:r>
              <a:rPr lang="en-US" sz="1600" dirty="0" smtClean="0">
                <a:latin typeface="Times New Roman" panose="02020603050405020304" pitchFamily="18" charset="0"/>
                <a:cs typeface="Times New Roman" panose="02020603050405020304" pitchFamily="18" charset="0"/>
              </a:rPr>
              <a:t>		c    it encourages rote memory rather than applying the knowledge 	and skills intelligently to 	solve the problems.</a:t>
            </a:r>
            <a:endParaRPr lang="en-US" sz="1600" dirty="0" smtClean="0">
              <a:latin typeface="Times New Roman" panose="02020603050405020304" pitchFamily="18" charset="0"/>
              <a:cs typeface="Times New Roman" panose="02020603050405020304" pitchFamily="18" charset="0"/>
            </a:endParaRPr>
          </a:p>
          <a:p>
            <a:pPr>
              <a:buNone/>
            </a:pPr>
            <a:r>
              <a:rPr lang="en-US" sz="1600" dirty="0" smtClean="0">
                <a:latin typeface="Times New Roman" panose="02020603050405020304" pitchFamily="18" charset="0"/>
                <a:cs typeface="Times New Roman" panose="02020603050405020304" pitchFamily="18" charset="0"/>
              </a:rPr>
              <a:t>		d/   it gives undue importance to the final examination rather than evaluating the students’ 	achievement continuously.</a:t>
            </a:r>
            <a:endParaRPr lang="en-US" sz="1600" dirty="0" smtClean="0">
              <a:latin typeface="Times New Roman" panose="02020603050405020304" pitchFamily="18" charset="0"/>
              <a:cs typeface="Times New Roman" panose="02020603050405020304" pitchFamily="18" charset="0"/>
            </a:endParaRPr>
          </a:p>
          <a:p>
            <a:pPr>
              <a:buNone/>
            </a:pPr>
            <a:r>
              <a:rPr lang="en-US" sz="1600" dirty="0" smtClean="0">
                <a:latin typeface="Times New Roman" panose="02020603050405020304" pitchFamily="18" charset="0"/>
                <a:cs typeface="Times New Roman" panose="02020603050405020304" pitchFamily="18" charset="0"/>
              </a:rPr>
              <a:t>		e/   it does not take appropriate measures to eradicate corrupt practices in examinations. </a:t>
            </a:r>
            <a:endParaRPr lang="en-US" sz="1600" dirty="0" smtClean="0">
              <a:latin typeface="Times New Roman" panose="02020603050405020304" pitchFamily="18" charset="0"/>
              <a:cs typeface="Times New Roman" panose="02020603050405020304" pitchFamily="18" charset="0"/>
            </a:endParaRPr>
          </a:p>
          <a:p>
            <a:pPr>
              <a:buNone/>
            </a:pPr>
            <a:r>
              <a:rPr lang="en-US" sz="2000" dirty="0" smtClean="0">
                <a:latin typeface="Times New Roman" panose="02020603050405020304" pitchFamily="18" charset="0"/>
                <a:cs typeface="Times New Roman" panose="02020603050405020304" pitchFamily="18" charset="0"/>
              </a:rPr>
              <a:t>	8//	Change in Teacher-Pupil Relationship : Commercialization of 	education 	has reduced the commitment of teachers to the students’ </a:t>
            </a:r>
            <a:r>
              <a:rPr lang="en-US" sz="2000" dirty="0" err="1" smtClean="0">
                <a:latin typeface="Times New Roman" panose="02020603050405020304" pitchFamily="18" charset="0"/>
                <a:cs typeface="Times New Roman" panose="02020603050405020304" pitchFamily="18" charset="0"/>
              </a:rPr>
              <a:t>upliftment</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a:buNone/>
            </a:pPr>
            <a:r>
              <a:rPr lang="en-US" sz="2000" dirty="0" smtClean="0">
                <a:latin typeface="Times New Roman" panose="02020603050405020304" pitchFamily="18" charset="0"/>
                <a:cs typeface="Times New Roman" panose="02020603050405020304" pitchFamily="18" charset="0"/>
              </a:rPr>
              <a:t>	9/	Political Interferences : patronage of politicians, indulging in corrupt 	practices and violent protests, intimidating higher authorities and 	officials ; are some of the undesirable </a:t>
            </a:r>
            <a:r>
              <a:rPr lang="en-US" sz="2000" dirty="0" err="1" smtClean="0">
                <a:latin typeface="Times New Roman" panose="02020603050405020304" pitchFamily="18" charset="0"/>
                <a:cs typeface="Times New Roman" panose="02020603050405020304" pitchFamily="18" charset="0"/>
              </a:rPr>
              <a:t>behaviour</a:t>
            </a:r>
            <a:r>
              <a:rPr lang="en-US" sz="2000" dirty="0" smtClean="0">
                <a:latin typeface="Times New Roman" panose="02020603050405020304" pitchFamily="18" charset="0"/>
                <a:cs typeface="Times New Roman" panose="02020603050405020304" pitchFamily="18" charset="0"/>
              </a:rPr>
              <a:t> in the student and  	academic community. </a:t>
            </a:r>
            <a:endParaRPr lang="en-US" sz="2000" dirty="0" smtClean="0">
              <a:latin typeface="Times New Roman" panose="02020603050405020304" pitchFamily="18" charset="0"/>
              <a:cs typeface="Times New Roman" panose="02020603050405020304" pitchFamily="18" charset="0"/>
            </a:endParaRPr>
          </a:p>
          <a:p>
            <a:pPr>
              <a:buNone/>
            </a:pPr>
            <a:r>
              <a:rPr lang="en-US" sz="2000" dirty="0" smtClean="0">
                <a:latin typeface="Times New Roman" panose="02020603050405020304" pitchFamily="18" charset="0"/>
                <a:cs typeface="Times New Roman" panose="02020603050405020304" pitchFamily="18" charset="0"/>
              </a:rPr>
              <a:t>	</a:t>
            </a:r>
            <a:endParaRPr lang="en-US" sz="20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855"/>
            <a:ext cx="8229600" cy="937895"/>
          </a:xfrm>
        </p:spPr>
        <p:txBody>
          <a:bodyPr>
            <a:no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10.0   CAUSES OF LEARNING DISABILITIES</a:t>
            </a:r>
            <a:br>
              <a:rPr lang="en-US" sz="2400" b="1" dirty="0" smtClean="0">
                <a:solidFill>
                  <a:schemeClr val="accent1"/>
                </a:solidFill>
                <a:latin typeface="Times New Roman" panose="02020603050405020304" pitchFamily="18" charset="0"/>
                <a:cs typeface="Times New Roman" panose="02020603050405020304" pitchFamily="18" charset="0"/>
              </a:rPr>
            </a:b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Heredity</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Problem during pregnancy and birth</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Accidents after birth</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10.1	Learning disabilities</a:t>
            </a: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019810"/>
            <a:ext cx="8686800" cy="5060315"/>
          </a:xfrm>
        </p:spPr>
        <p:txBody>
          <a:bodyPr>
            <a:normAutofit lnSpcReduction="10000"/>
          </a:bodyPr>
          <a:lstStyle/>
          <a:p>
            <a:r>
              <a:rPr lang="en-US" sz="2600" dirty="0" smtClean="0">
                <a:latin typeface="Times New Roman" panose="02020603050405020304" pitchFamily="18" charset="0"/>
                <a:cs typeface="Times New Roman" panose="02020603050405020304" pitchFamily="18" charset="0"/>
              </a:rPr>
              <a:t>Is a </a:t>
            </a:r>
            <a:r>
              <a:rPr lang="en-US" sz="2600" dirty="0" err="1" smtClean="0">
                <a:latin typeface="Times New Roman" panose="02020603050405020304" pitchFamily="18" charset="0"/>
                <a:cs typeface="Times New Roman" panose="02020603050405020304" pitchFamily="18" charset="0"/>
              </a:rPr>
              <a:t>neuro-behavioural</a:t>
            </a:r>
            <a:r>
              <a:rPr lang="en-US" sz="2600" dirty="0" smtClean="0">
                <a:latin typeface="Times New Roman" panose="02020603050405020304" pitchFamily="18" charset="0"/>
                <a:cs typeface="Times New Roman" panose="02020603050405020304" pitchFamily="18" charset="0"/>
              </a:rPr>
              <a:t> disorder – a specific development disorder like disability in reading, writing and numerical computations.</a:t>
            </a:r>
            <a:endParaRPr lang="en-US" sz="2600" dirty="0" smtClean="0">
              <a:latin typeface="Times New Roman" panose="02020603050405020304" pitchFamily="18" charset="0"/>
              <a:cs typeface="Times New Roman" panose="02020603050405020304" pitchFamily="18" charset="0"/>
            </a:endParaRPr>
          </a:p>
          <a:p>
            <a:endParaRPr lang="en-US" sz="2600" dirty="0" smtClean="0">
              <a:latin typeface="Times New Roman" panose="02020603050405020304" pitchFamily="18" charset="0"/>
              <a:cs typeface="Times New Roman" panose="02020603050405020304" pitchFamily="18" charset="0"/>
            </a:endParaRPr>
          </a:p>
          <a:p>
            <a:pPr marL="0" indent="0">
              <a:buNone/>
            </a:pPr>
            <a:r>
              <a:rPr lang="en-US" sz="2000" b="1" dirty="0" smtClean="0">
                <a:solidFill>
                  <a:schemeClr val="accent1"/>
                </a:solidFill>
                <a:latin typeface="Times New Roman" panose="02020603050405020304" pitchFamily="18" charset="0"/>
                <a:cs typeface="Times New Roman" panose="02020603050405020304" pitchFamily="18" charset="0"/>
              </a:rPr>
              <a:t>TYPES OF LEARNING DISABILITY :</a:t>
            </a:r>
            <a:endParaRPr lang="en-US" sz="2000" b="1" dirty="0" smtClean="0">
              <a:solidFill>
                <a:schemeClr val="accent1"/>
              </a:solidFill>
              <a:latin typeface="Times New Roman" panose="02020603050405020304" pitchFamily="18" charset="0"/>
              <a:cs typeface="Times New Roman" panose="02020603050405020304" pitchFamily="18" charset="0"/>
            </a:endParaRPr>
          </a:p>
          <a:p>
            <a:r>
              <a:rPr lang="en-US" sz="2200" b="1" dirty="0" smtClean="0">
                <a:latin typeface="Times New Roman" panose="02020603050405020304" pitchFamily="18" charset="0"/>
                <a:cs typeface="Times New Roman" panose="02020603050405020304" pitchFamily="18" charset="0"/>
              </a:rPr>
              <a:t>Dyslexia </a:t>
            </a:r>
            <a:r>
              <a:rPr lang="en-US" sz="2200" dirty="0" smtClean="0">
                <a:latin typeface="Times New Roman" panose="02020603050405020304" pitchFamily="18" charset="0"/>
                <a:cs typeface="Times New Roman" panose="02020603050405020304" pitchFamily="18" charset="0"/>
              </a:rPr>
              <a:t>: is a brain based type of learning disability which impairs a person’s ability to read, difficulty in spelling, </a:t>
            </a:r>
            <a:r>
              <a:rPr lang="en-US" sz="2200" dirty="0" err="1" smtClean="0">
                <a:latin typeface="Times New Roman" panose="02020603050405020304" pitchFamily="18" charset="0"/>
                <a:cs typeface="Times New Roman" panose="02020603050405020304" pitchFamily="18" charset="0"/>
              </a:rPr>
              <a:t>phonologous</a:t>
            </a:r>
            <a:r>
              <a:rPr lang="en-US" sz="2200" dirty="0" smtClean="0">
                <a:latin typeface="Times New Roman" panose="02020603050405020304" pitchFamily="18" charset="0"/>
                <a:cs typeface="Times New Roman" panose="02020603050405020304" pitchFamily="18" charset="0"/>
              </a:rPr>
              <a:t> processing of sounds and/or rapid visual verbal responding. </a:t>
            </a:r>
            <a:endParaRPr lang="en-US" sz="2200" dirty="0" smtClean="0">
              <a:latin typeface="Times New Roman" panose="02020603050405020304" pitchFamily="18" charset="0"/>
              <a:cs typeface="Times New Roman" panose="02020603050405020304" pitchFamily="18" charset="0"/>
            </a:endParaRPr>
          </a:p>
          <a:p>
            <a:r>
              <a:rPr lang="en-US" sz="2200" b="1" dirty="0" err="1" smtClean="0">
                <a:latin typeface="Times New Roman" panose="02020603050405020304" pitchFamily="18" charset="0"/>
                <a:cs typeface="Times New Roman" panose="02020603050405020304" pitchFamily="18" charset="0"/>
              </a:rPr>
              <a:t>Dysgraphia</a:t>
            </a:r>
            <a:r>
              <a:rPr lang="en-US" sz="2200" dirty="0" smtClean="0">
                <a:latin typeface="Times New Roman" panose="02020603050405020304" pitchFamily="18" charset="0"/>
                <a:cs typeface="Times New Roman" panose="02020603050405020304" pitchFamily="18" charset="0"/>
              </a:rPr>
              <a:t> :difficulty in recognizing certain letters and wrong spelling or write letters improperly.</a:t>
            </a:r>
            <a:endParaRPr lang="en-US" sz="2200" dirty="0" smtClean="0">
              <a:latin typeface="Times New Roman" panose="02020603050405020304" pitchFamily="18" charset="0"/>
              <a:cs typeface="Times New Roman" panose="02020603050405020304" pitchFamily="18" charset="0"/>
            </a:endParaRPr>
          </a:p>
          <a:p>
            <a:r>
              <a:rPr lang="en-US" sz="2200" b="1" dirty="0" smtClean="0">
                <a:latin typeface="Times New Roman" panose="02020603050405020304" pitchFamily="18" charset="0"/>
                <a:cs typeface="Times New Roman" panose="02020603050405020304" pitchFamily="18" charset="0"/>
              </a:rPr>
              <a:t>Dysphasia</a:t>
            </a:r>
            <a:r>
              <a:rPr lang="en-US" sz="2200" dirty="0" smtClean="0">
                <a:latin typeface="Times New Roman" panose="02020603050405020304" pitchFamily="18" charset="0"/>
                <a:cs typeface="Times New Roman" panose="02020603050405020304" pitchFamily="18" charset="0"/>
              </a:rPr>
              <a:t> : children with inadequate speech skills phonological disorder.</a:t>
            </a:r>
            <a:endParaRPr lang="en-US" sz="2200" dirty="0" smtClean="0">
              <a:latin typeface="Times New Roman" panose="02020603050405020304" pitchFamily="18" charset="0"/>
              <a:cs typeface="Times New Roman" panose="02020603050405020304" pitchFamily="18" charset="0"/>
            </a:endParaRPr>
          </a:p>
          <a:p>
            <a:r>
              <a:rPr lang="en-US" sz="2200" b="1" dirty="0" smtClean="0">
                <a:latin typeface="Times New Roman" panose="02020603050405020304" pitchFamily="18" charset="0"/>
                <a:cs typeface="Times New Roman" panose="02020603050405020304" pitchFamily="18" charset="0"/>
              </a:rPr>
              <a:t>Dyscalculia</a:t>
            </a:r>
            <a:r>
              <a:rPr lang="en-US" sz="2200" dirty="0" smtClean="0">
                <a:latin typeface="Times New Roman" panose="02020603050405020304" pitchFamily="18" charset="0"/>
                <a:cs typeface="Times New Roman" panose="02020603050405020304" pitchFamily="18" charset="0"/>
              </a:rPr>
              <a:t> : difficulty in learning or comprehending steps in arithmetic problems, in understanding numbers etc. ‘poor number sense’.</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8950"/>
            <a:ext cx="8229600" cy="724535"/>
          </a:xfrm>
        </p:spPr>
        <p:txBody>
          <a:bodyPr>
            <a:noAutofit/>
          </a:bodyPr>
          <a:lstStyle/>
          <a:p>
            <a:r>
              <a:rPr lang="en-US" sz="2400" b="1" dirty="0" smtClean="0">
                <a:solidFill>
                  <a:schemeClr val="accent1"/>
                </a:solidFill>
                <a:latin typeface="Times New Roman" panose="02020603050405020304" pitchFamily="18" charset="0"/>
                <a:cs typeface="Times New Roman" panose="02020603050405020304" pitchFamily="18" charset="0"/>
              </a:rPr>
              <a:t>10.2	Intervention Techniques for learning disabilities </a:t>
            </a:r>
            <a:br>
              <a:rPr lang="en-US" sz="2400" b="1" dirty="0" smtClean="0">
                <a:solidFill>
                  <a:schemeClr val="accent1"/>
                </a:solidFill>
                <a:latin typeface="Times New Roman" panose="02020603050405020304" pitchFamily="18" charset="0"/>
                <a:cs typeface="Times New Roman" panose="02020603050405020304" pitchFamily="18" charset="0"/>
              </a:rPr>
            </a:br>
            <a:endParaRPr lang="en-US" sz="2400" b="1" dirty="0" smtClean="0">
              <a:solidFill>
                <a:schemeClr val="accent1"/>
              </a:solidFill>
              <a:latin typeface="Times New Roman" panose="02020603050405020304" pitchFamily="18" charset="0"/>
              <a:cs typeface="Times New Roman" panose="02020603050405020304" pitchFamily="18" charset="0"/>
            </a:endParaRPr>
          </a:p>
        </p:txBody>
      </p:sp>
      <p:sp>
        <p:nvSpPr>
          <p:cNvPr id="3" name="Rectangle 2"/>
          <p:cNvSpPr/>
          <p:nvPr/>
        </p:nvSpPr>
        <p:spPr>
          <a:xfrm>
            <a:off x="609600" y="1295400"/>
            <a:ext cx="7391400" cy="5631180"/>
          </a:xfrm>
          <a:prstGeom prst="rect">
            <a:avLst/>
          </a:prstGeom>
        </p:spPr>
        <p:txBody>
          <a:bodyPr wrap="square">
            <a:spAutoFit/>
          </a:bodyPr>
          <a:lstStyle/>
          <a:p>
            <a:pPr>
              <a:buNone/>
            </a:pPr>
            <a:r>
              <a:rPr lang="en-US" sz="2400" dirty="0" smtClean="0"/>
              <a:t>- Motivation</a:t>
            </a:r>
            <a:endParaRPr lang="en-US" sz="2400" dirty="0" smtClean="0"/>
          </a:p>
          <a:p>
            <a:pPr>
              <a:buNone/>
            </a:pPr>
            <a:r>
              <a:rPr lang="en-US" sz="2400" dirty="0" smtClean="0"/>
              <a:t>- Practice</a:t>
            </a:r>
            <a:endParaRPr lang="en-US" sz="2400" dirty="0" smtClean="0"/>
          </a:p>
          <a:p>
            <a:pPr>
              <a:buNone/>
            </a:pPr>
            <a:r>
              <a:rPr lang="en-US" sz="2400" dirty="0" smtClean="0"/>
              <a:t>- Highly structured , intensive instruction</a:t>
            </a:r>
            <a:endParaRPr lang="en-US" sz="2400" dirty="0" smtClean="0"/>
          </a:p>
          <a:p>
            <a:pPr>
              <a:buNone/>
            </a:pPr>
            <a:r>
              <a:rPr lang="en-US" sz="2400" dirty="0" smtClean="0"/>
              <a:t>- Emphasizes carefully lessons for small learning    </a:t>
            </a:r>
            <a:endParaRPr lang="en-US" sz="2400" dirty="0" smtClean="0"/>
          </a:p>
          <a:p>
            <a:pPr>
              <a:buNone/>
            </a:pPr>
            <a:r>
              <a:rPr lang="en-US" sz="2400" dirty="0" smtClean="0"/>
              <a:t>  increments</a:t>
            </a:r>
            <a:endParaRPr lang="en-US" sz="2400" dirty="0" smtClean="0"/>
          </a:p>
          <a:p>
            <a:pPr>
              <a:buNone/>
            </a:pPr>
            <a:r>
              <a:rPr lang="en-US" sz="2400" dirty="0" smtClean="0"/>
              <a:t>- Scripted lesson plans </a:t>
            </a:r>
            <a:endParaRPr lang="en-US" sz="2400" dirty="0" smtClean="0"/>
          </a:p>
          <a:p>
            <a:pPr>
              <a:buNone/>
            </a:pPr>
            <a:r>
              <a:rPr lang="en-US" sz="2400" dirty="0" smtClean="0"/>
              <a:t>- Rapid paced interaction between teacher and   </a:t>
            </a:r>
            <a:endParaRPr lang="en-US" sz="2400" dirty="0" smtClean="0"/>
          </a:p>
          <a:p>
            <a:pPr>
              <a:buNone/>
            </a:pPr>
            <a:r>
              <a:rPr lang="en-US" sz="2400" dirty="0" smtClean="0"/>
              <a:t>  students</a:t>
            </a:r>
            <a:endParaRPr lang="en-US" sz="2400" dirty="0" smtClean="0"/>
          </a:p>
          <a:p>
            <a:pPr>
              <a:buNone/>
            </a:pPr>
            <a:r>
              <a:rPr lang="en-US" sz="2400" dirty="0" smtClean="0"/>
              <a:t>- Correcting mistakes immediately</a:t>
            </a:r>
            <a:endParaRPr lang="en-US" sz="2400" dirty="0" smtClean="0"/>
          </a:p>
          <a:p>
            <a:pPr>
              <a:buNone/>
            </a:pPr>
            <a:r>
              <a:rPr lang="en-US" sz="2400" dirty="0" smtClean="0"/>
              <a:t>- Frequent progress assessments</a:t>
            </a:r>
            <a:endParaRPr lang="en-US" sz="2400" dirty="0" smtClean="0"/>
          </a:p>
          <a:p>
            <a:pPr>
              <a:buNone/>
            </a:pPr>
            <a:r>
              <a:rPr lang="en-US" sz="2400" dirty="0" smtClean="0"/>
              <a:t>- Classroom adjustments</a:t>
            </a:r>
            <a:endParaRPr lang="en-US" sz="2400" dirty="0" smtClean="0"/>
          </a:p>
          <a:p>
            <a:pPr>
              <a:buNone/>
            </a:pPr>
            <a:r>
              <a:rPr lang="en-US" sz="2400" dirty="0" smtClean="0"/>
              <a:t>- Special seating arrangements</a:t>
            </a:r>
            <a:endParaRPr lang="en-US" sz="2400" dirty="0" smtClean="0"/>
          </a:p>
          <a:p>
            <a:pPr>
              <a:buNone/>
            </a:pPr>
            <a:r>
              <a:rPr lang="en-US" sz="2400" dirty="0" smtClean="0"/>
              <a:t>- Modified testing  procedures</a:t>
            </a:r>
            <a:endParaRPr lang="en-US" sz="2400" dirty="0" smtClean="0"/>
          </a:p>
          <a:p>
            <a:pPr>
              <a:buNone/>
            </a:pPr>
            <a:r>
              <a:rPr lang="en-US" sz="2400" dirty="0" smtClean="0"/>
              <a:t>- Enrollment in a special school for learning disabled     </a:t>
            </a:r>
            <a:endParaRPr lang="en-US" sz="2400" dirty="0" smtClean="0"/>
          </a:p>
          <a:p>
            <a:pPr>
              <a:buNone/>
            </a:pPr>
            <a:r>
              <a:rPr lang="en-US" sz="2400" dirty="0" smtClean="0"/>
              <a:t>  students </a:t>
            </a:r>
            <a:endParaRPr 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1" dirty="0" smtClean="0">
                <a:solidFill>
                  <a:schemeClr val="accent1"/>
                </a:solidFill>
                <a:latin typeface="Times New Roman" panose="02020603050405020304" pitchFamily="18" charset="0"/>
                <a:cs typeface="Times New Roman" panose="02020603050405020304" pitchFamily="18" charset="0"/>
              </a:rPr>
              <a:t>Thank you !</a:t>
            </a:r>
            <a:endParaRPr lang="en-US" i="1" dirty="0" smtClean="0">
              <a:solidFill>
                <a:schemeClr val="accent1"/>
              </a:solidFill>
              <a:latin typeface="Times New Roman" panose="02020603050405020304" pitchFamily="18" charset="0"/>
              <a:cs typeface="Times New Roman" panose="02020603050405020304" pitchFamily="18" charset="0"/>
            </a:endParaRPr>
          </a:p>
        </p:txBody>
      </p:sp>
      <p:pic>
        <p:nvPicPr>
          <p:cNvPr id="71682" name="Picture 2"/>
          <p:cNvPicPr>
            <a:picLocks noGrp="1" noChangeAspect="1" noChangeArrowheads="1"/>
          </p:cNvPicPr>
          <p:nvPr>
            <p:ph idx="1"/>
          </p:nvPr>
        </p:nvPicPr>
        <p:blipFill>
          <a:blip r:embed="rId1"/>
          <a:srcRect/>
          <a:stretch>
            <a:fillRect/>
          </a:stretch>
        </p:blipFill>
        <p:spPr bwMode="auto">
          <a:xfrm>
            <a:off x="2600581" y="1295400"/>
            <a:ext cx="4095238" cy="39623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17078</Words>
  <Application>WPS Presentation</Application>
  <PresentationFormat>On-screen Show (4:3)</PresentationFormat>
  <Paragraphs>404</Paragraphs>
  <Slides>29</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29</vt:i4>
      </vt:variant>
    </vt:vector>
  </HeadingPairs>
  <TitlesOfParts>
    <vt:vector size="41" baseType="lpstr">
      <vt:lpstr>Arial</vt:lpstr>
      <vt:lpstr>SimSun</vt:lpstr>
      <vt:lpstr>Wingdings</vt:lpstr>
      <vt:lpstr>Times New Roman</vt:lpstr>
      <vt:lpstr>BatangChe</vt:lpstr>
      <vt:lpstr>Microsoft YaHei</vt:lpstr>
      <vt:lpstr>Arial Unicode MS</vt:lpstr>
      <vt:lpstr>Calibri</vt:lpstr>
      <vt:lpstr>Baskerville Old Face</vt:lpstr>
      <vt:lpstr>Blue Waves</vt:lpstr>
      <vt:lpstr>Word.Document.12</vt:lpstr>
      <vt:lpstr>Word.Document.12</vt:lpstr>
      <vt:lpstr>DEVELOPMENTAL  PSYCHOLOGY, STUDENTS’ GUIDANCE &amp; COUNSELLING  by Philomena Kanagaraj </vt:lpstr>
      <vt:lpstr>Children</vt:lpstr>
      <vt:lpstr>PSYCHOLOGY &amp; Child Psychology</vt:lpstr>
      <vt:lpstr>PowerPoint 演示文稿</vt:lpstr>
      <vt:lpstr>STAGES OF SOCIAL DEVELOPMENT   E.H. ERIKSON</vt:lpstr>
      <vt:lpstr>STAGES OF SOCIAL DEVELOPMENT … p/2</vt:lpstr>
      <vt:lpstr>3.0   ADOLESCENCE</vt:lpstr>
      <vt:lpstr>3.0 ADOLESCENCE (cont’d…p/2)</vt:lpstr>
      <vt:lpstr>3.2  DEVELOPMENTAL PROBLEMS OF  ADOLESCENTS IN INDIA </vt:lpstr>
      <vt:lpstr>3.2	Developmental problems in adolscents … p/2</vt:lpstr>
      <vt:lpstr>3.3 Frustrations </vt:lpstr>
      <vt:lpstr>    Causes for Problem behaviour in children</vt:lpstr>
      <vt:lpstr>3.4  COMMON TYPES OF DEFENCE MECHANISMS</vt:lpstr>
      <vt:lpstr>3.4      Common types of defence mechanisms</vt:lpstr>
      <vt:lpstr>3.4	Common types of  Defense Mechanisms</vt:lpstr>
      <vt:lpstr> 4.0	HOW TO RESOLVE ISSUES WITH CHILDREN, ADOLESCENTS  (brain-storming) </vt:lpstr>
      <vt:lpstr>7.0   A Christian Counsellor’s role  </vt:lpstr>
      <vt:lpstr>SELF WORTH AND IDENTITY IN CHRIST</vt:lpstr>
      <vt:lpstr>5.0  IDENTITY IN CHRIST </vt:lpstr>
      <vt:lpstr>PowerPoint 演示文稿</vt:lpstr>
      <vt:lpstr>PowerPoint 演示文稿</vt:lpstr>
      <vt:lpstr>6.0        Approaches to Christian Counselling </vt:lpstr>
      <vt:lpstr>8.0	GOAL OF CHRISTIAN  COUNSELLING </vt:lpstr>
      <vt:lpstr>9.0           STUDENTS’  UNREST AND ITS CAUSES 	    Prof K. Nagarajan     in   Psychology of Learning and Human Development</vt:lpstr>
      <vt:lpstr>9.0	STUDENTS’  UNREST AND ITS CAUSES (cont’d.....  p/2) Prof K. Nagarajan     in   Psychology of Learning and Human Development       </vt:lpstr>
      <vt:lpstr>10.0   CAUSES OF LEARNING DISABILITIES </vt:lpstr>
      <vt:lpstr>10.1	Learning disabilities</vt:lpstr>
      <vt:lpstr>10.2	Intervention Techniques for learning disabilities  </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DEVELOPMENTAL PSYCHOLOGY by   philomena    kanagaraj</dc:title>
  <dc:creator>india</dc:creator>
  <cp:lastModifiedBy>india</cp:lastModifiedBy>
  <cp:revision>123</cp:revision>
  <dcterms:created xsi:type="dcterms:W3CDTF">2017-05-28T14:55:00Z</dcterms:created>
  <dcterms:modified xsi:type="dcterms:W3CDTF">2024-06-11T14:08:44Z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1FB976602F234DE88575DD95E611E390_13</vt:lpwstr>
  </property>
  <property fmtid="{D5CDD505-2E9C-101B-9397-08002B2CF9AE}" pid="3" name="KSOProductBuildVer">
    <vt:lpwstr>1033-12.2.0.17119</vt:lpwstr>
  </property>
</Properties>
</file>