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0"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4" d="100"/>
          <a:sy n="64" d="100"/>
        </p:scale>
        <p:origin x="-1336" y="-6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oogle.com/search?sca_esv=e7ffc2aa8a0c2507&amp;rlz=1C1NDCM_enAE1032AE1032&amp;sxsrf=ANbL-n5CUgwUhn4kCTiW0a4FwnBALZ3cFw%3A1769800365048&amp;q=Ishmael&amp;sa=X&amp;ved=2ahUKEwih-tOygrSSAxUtTmwGHfFCMscQgK4QegQIAxAD&amp;biw=1422&amp;bih=612&amp;dpr=1.35&amp;aic=0&amp;mstk=AUtExfARAc3BpKS5oagBe-offr6iDSIQEz7YpTXdNVAlw2-jphwSP81ahHzU82_VgLXmWQYtGzfK5x_XIWyLZRMP8tHfr757w_sQMaYBNvhnUsLD_xJx5gYAtXNdjt95gTYtUO2dhxSHM2zNQ-Ft9KHjl8xfraquaYbvOA9KRKtiGIZAJOEvKPyEEqYzg41w5gpDWrfPv116JRNt_iNZrelVdy2SMjPqBaPeSKvIu0pCmsr32nrjMItkHocW3kDE4lfOk0IOavP7aCptTxO0ouvfsuNGd1pfLgUL5tycVBcs5cx8rQ&amp;csui=3" TargetMode="External"/><Relationship Id="rId2" Type="http://schemas.openxmlformats.org/officeDocument/2006/relationships/hyperlink" Target="https://www.google.com/search?sca_esv=e7ffc2aa8a0c2507&amp;rlz=1C1NDCM_enAE1032AE1032&amp;sxsrf=ANbL-n5CUgwUhn4kCTiW0a4FwnBALZ3cFw%3A1769800365048&amp;q=Joseph&amp;sa=X&amp;ved=2ahUKEwih-tOygrSSAxUtTmwGHfFCMscQgK4QegQIAxAB&amp;biw=1422&amp;bih=612&amp;dpr=1.35&amp;aic=0&amp;mstk=AUtExfARAc3BpKS5oagBe-offr6iDSIQEz7YpTXdNVAlw2-jphwSP81ahHzU82_VgLXmWQYtGzfK5x_XIWyLZRMP8tHfr757w_sQMaYBNvhnUsLD_xJx5gYAtXNdjt95gTYtUO2dhxSHM2zNQ-Ft9KHjl8xfraquaYbvOA9KRKtiGIZAJOEvKPyEEqYzg41w5gpDWrfPv116JRNt_iNZrelVdy2SMjPqBaPeSKvIu0pCmsr32nrjMItkHocW3kDE4lfOk0IOavP7aCptTxO0ouvfsuNGd1pfLgUL5tycVBcs5cx8rQ&amp;csui=3" TargetMode="External"/><Relationship Id="rId1" Type="http://schemas.openxmlformats.org/officeDocument/2006/relationships/slideLayout" Target="../slideLayouts/slideLayout2.xml"/><Relationship Id="rId6" Type="http://schemas.openxmlformats.org/officeDocument/2006/relationships/hyperlink" Target="https://www.google.com/search?sca_esv=e7ffc2aa8a0c2507&amp;rlz=1C1NDCM_enAE1032AE1032&amp;sxsrf=ANbL-n5CUgwUhn4kCTiW0a4FwnBALZ3cFw%3A1769800365048&amp;q=Jesus&amp;sa=X&amp;ved=2ahUKEwih-tOygrSSAxUtTmwGHfFCMscQgK4QegQIAxAJ&amp;biw=1422&amp;bih=612&amp;dpr=1.35&amp;aic=0&amp;mstk=AUtExfARAc3BpKS5oagBe-offr6iDSIQEz7YpTXdNVAlw2-jphwSP81ahHzU82_VgLXmWQYtGzfK5x_XIWyLZRMP8tHfr757w_sQMaYBNvhnUsLD_xJx5gYAtXNdjt95gTYtUO2dhxSHM2zNQ-Ft9KHjl8xfraquaYbvOA9KRKtiGIZAJOEvKPyEEqYzg41w5gpDWrfPv116JRNt_iNZrelVdy2SMjPqBaPeSKvIu0pCmsr32nrjMItkHocW3kDE4lfOk0IOavP7aCptTxO0ouvfsuNGd1pfLgUL5tycVBcs5cx8rQ&amp;csui=3" TargetMode="External"/><Relationship Id="rId5" Type="http://schemas.openxmlformats.org/officeDocument/2006/relationships/hyperlink" Target="https://www.google.com/search?sca_esv=e7ffc2aa8a0c2507&amp;rlz=1C1NDCM_enAE1032AE1032&amp;sxsrf=ANbL-n5CUgwUhn4kCTiW0a4FwnBALZ3cFw%3A1769800365048&amp;q=Jephthah&amp;sa=X&amp;ved=2ahUKEwih-tOygrSSAxUtTmwGHfFCMscQgK4QegQIAxAH&amp;biw=1422&amp;bih=612&amp;dpr=1.35&amp;aic=0&amp;mstk=AUtExfARAc3BpKS5oagBe-offr6iDSIQEz7YpTXdNVAlw2-jphwSP81ahHzU82_VgLXmWQYtGzfK5x_XIWyLZRMP8tHfr757w_sQMaYBNvhnUsLD_xJx5gYAtXNdjt95gTYtUO2dhxSHM2zNQ-Ft9KHjl8xfraquaYbvOA9KRKtiGIZAJOEvKPyEEqYzg41w5gpDWrfPv116JRNt_iNZrelVdy2SMjPqBaPeSKvIu0pCmsr32nrjMItkHocW3kDE4lfOk0IOavP7aCptTxO0ouvfsuNGd1pfLgUL5tycVBcs5cx8rQ&amp;csui=3" TargetMode="External"/><Relationship Id="rId4" Type="http://schemas.openxmlformats.org/officeDocument/2006/relationships/hyperlink" Target="https://www.google.com/search?sca_esv=e7ffc2aa8a0c2507&amp;rlz=1C1NDCM_enAE1032AE1032&amp;sxsrf=ANbL-n5CUgwUhn4kCTiW0a4FwnBALZ3cFw%3A1769800365048&amp;q=Moses&amp;sa=X&amp;ved=2ahUKEwih-tOygrSSAxUtTmwGHfFCMscQgK4QegQIAxAF&amp;biw=1422&amp;bih=612&amp;dpr=1.35&amp;aic=0&amp;mstk=AUtExfARAc3BpKS5oagBe-offr6iDSIQEz7YpTXdNVAlw2-jphwSP81ahHzU82_VgLXmWQYtGzfK5x_XIWyLZRMP8tHfr757w_sQMaYBNvhnUsLD_xJx5gYAtXNdjt95gTYtUO2dhxSHM2zNQ-Ft9KHjl8xfraquaYbvOA9KRKtiGIZAJOEvKPyEEqYzg41w5gpDWrfPv116JRNt_iNZrelVdy2SMjPqBaPeSKvIu0pCmsr32nrjMItkHocW3kDE4lfOk0IOavP7aCptTxO0ouvfsuNGd1pfLgUL5tycVBcs5cx8rQ&amp;csui=3"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google.com/search?sca_esv=e7ffc2aa8a0c2507&amp;rlz=1C1NDCM_enAE1032AE1032&amp;sxsrf=ANbL-n4a_S_f8s-0oDcJa9a4I3oebLwsdQ%3A1769803787650&amp;q=Job&amp;sa=X&amp;ved=2ahUKEwiy6ZXKibSSAxUuS2cHHeh4BtYQgK4QegQIAxAA&amp;biw=1422&amp;bih=612&amp;dpr=1.35&amp;aic=0"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google.com/search?sca_esv=e7ffc2aa8a0c2507&amp;rlz=1C1NDCM_enAE1032AE1032&amp;sxsrf=ANbL-n4a_S_f8s-0oDcJa9a4I3oebLwsdQ%3A1769803787650&amp;q=Joseph&amp;sa=X&amp;ved=2ahUKEwiy6ZXKibSSAxUuS2cHHeh4BtYQgK4QegQIBRAA&amp;biw=1422&amp;bih=612&amp;dpr=1.35&amp;aic=0"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google.com/search?sca_esv=e7ffc2aa8a0c2507&amp;rlz=1C1NDCM_enAE1032AE1032&amp;sxsrf=ANbL-n4a_S_f8s-0oDcJa9a4I3oebLwsdQ%3A1769803787650&amp;q=Moses&amp;sa=X&amp;ved=2ahUKEwiy6ZXKibSSAxUuS2cHHeh4BtYQgK4QegQIBxAA&amp;biw=1422&amp;bih=612&amp;dpr=1.35&amp;aic=0"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google.com/search?sca_esv=e7ffc2aa8a0c2507&amp;rlz=1C1NDCM_enAE1032AE1032&amp;sxsrf=ANbL-n4a_S_f8s-0oDcJa9a4I3oebLwsdQ%3A1769803787650&amp;q=Elijah&amp;sa=X&amp;ved=2ahUKEwiy6ZXKibSSAxUuS2cHHeh4BtYQgK4QegQICRAA&amp;biw=1422&amp;bih=612&amp;dpr=1.35&amp;aic=0"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google.com/search?sca_esv=e7ffc2aa8a0c2507&amp;rlz=1C1NDCM_enAE1032AE1032&amp;sxsrf=ANbL-n4a_S_f8s-0oDcJa9a4I3oebLwsdQ%3A1769803787650&amp;q=Hannah&amp;sa=X&amp;ved=2ahUKEwiy6ZXKibSSAxUuS2cHHeh4BtYQgK4QegQICxAA&amp;biw=1422&amp;bih=612&amp;dpr=1.35&amp;aic=0"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google.com/search?sca_esv=e7ffc2aa8a0c2507&amp;rlz=1C1NDCM_enAE1032AE1032&amp;sxsrf=ANbL-n4a_S_f8s-0oDcJa9a4I3oebLwsdQ%3A1769803787650&amp;q=Jeremiah&amp;sa=X&amp;ved=2ahUKEwiy6ZXKibSSAxUuS2cHHeh4BtYQgK4QegQIDRAA&amp;biw=1422&amp;bih=612&amp;dpr=1.35&amp;aic=0"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google.com/search?sca_esv=e7ffc2aa8a0c2507&amp;rlz=1C1NDCM_enAE1032AE1032&amp;sxsrf=ANbL-n4a_S_f8s-0oDcJa9a4I3oebLwsdQ%3A1769803787650&amp;q=Sarah&amp;sa=X&amp;ved=2ahUKEwiy6ZXKibSSAxUuS2cHHeh4BtYQgK4QegQIDxAA&amp;biw=1422&amp;bih=612&amp;dpr=1.35&amp;aic=0"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google.com/search?sca_esv=e7ffc2aa8a0c2507&amp;rlz=1C1NDCM_enAE1032AE1032&amp;sxsrf=ANbL-n4a_S_f8s-0oDcJa9a4I3oebLwsdQ%3A1769803787650&amp;q=Paul&amp;sa=X&amp;ved=2ahUKEwiy6ZXKibSSAxUuS2cHHeh4BtYQgK4QegQIEhAA&amp;biw=1422&amp;bih=612&amp;dpr=1.35&amp;aic=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0"/>
            <a:ext cx="7772400" cy="2133600"/>
          </a:xfrm>
        </p:spPr>
        <p:txBody>
          <a:bodyPr>
            <a:normAutofit fontScale="90000"/>
          </a:bodyPr>
          <a:lstStyle/>
          <a:p>
            <a:r>
              <a:rPr lang="en-US" sz="8000" dirty="0" smtClean="0">
                <a:solidFill>
                  <a:schemeClr val="accent2"/>
                </a:solidFill>
              </a:rPr>
              <a:t>Trauma</a:t>
            </a:r>
            <a:r>
              <a:rPr lang="en-US" dirty="0" smtClean="0">
                <a:solidFill>
                  <a:schemeClr val="accent2"/>
                </a:solidFill>
              </a:rPr>
              <a:t> From A</a:t>
            </a:r>
            <a:r>
              <a:rPr lang="en-US" sz="8000" dirty="0" smtClean="0">
                <a:solidFill>
                  <a:schemeClr val="accent2"/>
                </a:solidFill>
              </a:rPr>
              <a:t> Biblical Perspectives </a:t>
            </a:r>
            <a:endParaRPr lang="en-US" sz="8000" dirty="0">
              <a:solidFill>
                <a:schemeClr val="accent2"/>
              </a:solidFill>
            </a:endParaRPr>
          </a:p>
        </p:txBody>
      </p:sp>
      <p:sp>
        <p:nvSpPr>
          <p:cNvPr id="3" name="Subtitle 2"/>
          <p:cNvSpPr>
            <a:spLocks noGrp="1"/>
          </p:cNvSpPr>
          <p:nvPr>
            <p:ph type="subTitle" idx="1"/>
          </p:nvPr>
        </p:nvSpPr>
        <p:spPr/>
        <p:txBody>
          <a:bodyPr/>
          <a:lstStyle/>
          <a:p>
            <a:endParaRPr lang="en-US" dirty="0"/>
          </a:p>
        </p:txBody>
      </p:sp>
      <p:pic>
        <p:nvPicPr>
          <p:cNvPr id="4" name="Picture 3" descr="Trauma and The Bible – Trauma Recovery"/>
          <p:cNvPicPr/>
          <p:nvPr/>
        </p:nvPicPr>
        <p:blipFill>
          <a:blip r:embed="rId2"/>
          <a:stretch>
            <a:fillRect/>
          </a:stretch>
        </p:blipFill>
        <p:spPr bwMode="auto">
          <a:xfrm>
            <a:off x="914400" y="2819400"/>
            <a:ext cx="7315200" cy="382905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noAutofit/>
          </a:bodyPr>
          <a:lstStyle/>
          <a:p>
            <a:pPr algn="just"/>
            <a:r>
              <a:rPr lang="en-US" sz="4800" dirty="0" smtClean="0"/>
              <a:t>The historical and social context of the Bible includes trauma. </a:t>
            </a:r>
          </a:p>
          <a:p>
            <a:pPr algn="just"/>
            <a:r>
              <a:rPr lang="en-US" sz="4800" dirty="0" smtClean="0"/>
              <a:t>It becomes more relatable to our lives and existence when we acknowledge that the people in Scripture went through similar hardships.</a:t>
            </a:r>
            <a:endParaRPr lang="en-US" sz="4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0" y="0"/>
            <a:ext cx="9144000" cy="7467600"/>
          </a:xfrm>
        </p:spPr>
        <p:txBody>
          <a:bodyPr>
            <a:noAutofit/>
          </a:bodyPr>
          <a:lstStyle/>
          <a:p>
            <a:pPr algn="just"/>
            <a:r>
              <a:rPr lang="en-US" sz="4400" dirty="0" smtClean="0"/>
              <a:t>To identify and recognize the laments, the anger, the emotions, and the confusion embedded in Hebrew Scripture is to say, “That’s where I can find myself connecting with this ancient Scripture.” And with that initial act of identification, one can begin narrating one’s own journey through trauma alongside Scripture. </a:t>
            </a:r>
            <a:endParaRPr lang="en-US" sz="4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52400"/>
            <a:ext cx="8229600" cy="5973763"/>
          </a:xfrm>
        </p:spPr>
        <p:txBody>
          <a:bodyPr>
            <a:noAutofit/>
          </a:bodyPr>
          <a:lstStyle/>
          <a:p>
            <a:pPr algn="just"/>
            <a:r>
              <a:rPr lang="en-US" sz="4400" dirty="0" smtClean="0"/>
              <a:t>We are able to co-journey with the biblical stories because of this comparison between my own existential experience and the experiences found within the pages of Scripture. Scripture reflects and inflects our stories, and we can see the truth of Scripture mirrored in our own lives.</a:t>
            </a:r>
            <a:endParaRPr lang="en-US" sz="4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Examples of Childhood/Early Life Trauma in the Bible</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77500" lnSpcReduction="20000"/>
          </a:bodyPr>
          <a:lstStyle/>
          <a:p>
            <a:pPr lvl="0"/>
            <a:r>
              <a:rPr lang="en-US" b="1" u="sng" dirty="0" smtClean="0">
                <a:hlinkClick r:id="rId2"/>
              </a:rPr>
              <a:t>Joseph</a:t>
            </a:r>
            <a:r>
              <a:rPr lang="en-US" b="1" dirty="0" smtClean="0"/>
              <a:t>:</a:t>
            </a:r>
            <a:r>
              <a:rPr lang="en-US" dirty="0" smtClean="0"/>
              <a:t> Hated by his brothers, sold into slavery, and separated from his family at a young age, which later triggered PTSD-like responses in him (betrayal, fear).</a:t>
            </a:r>
          </a:p>
          <a:p>
            <a:pPr lvl="0"/>
            <a:r>
              <a:rPr lang="en-US" b="1" u="sng" dirty="0" smtClean="0">
                <a:hlinkClick r:id="rId3"/>
              </a:rPr>
              <a:t>Ishmael</a:t>
            </a:r>
            <a:r>
              <a:rPr lang="en-US" b="1" dirty="0" smtClean="0"/>
              <a:t>:</a:t>
            </a:r>
            <a:r>
              <a:rPr lang="en-US" dirty="0" smtClean="0"/>
              <a:t> Cast out into the wilderness with his mother, Hagar, to face potential death, representing deep abandonment trauma.</a:t>
            </a:r>
          </a:p>
          <a:p>
            <a:pPr lvl="0"/>
            <a:r>
              <a:rPr lang="en-US" b="1" u="sng" dirty="0" smtClean="0">
                <a:hlinkClick r:id="rId4"/>
              </a:rPr>
              <a:t>Moses</a:t>
            </a:r>
            <a:r>
              <a:rPr lang="en-US" b="1" dirty="0" smtClean="0"/>
              <a:t>:</a:t>
            </a:r>
            <a:r>
              <a:rPr lang="en-US" dirty="0" smtClean="0"/>
              <a:t> Placed in a basket to avoid infanticide, then raised in a foreign, hostile household, facing early displacement.</a:t>
            </a:r>
          </a:p>
          <a:p>
            <a:pPr lvl="0"/>
            <a:r>
              <a:rPr lang="en-US" b="1" u="sng" dirty="0" err="1" smtClean="0">
                <a:hlinkClick r:id="rId5"/>
              </a:rPr>
              <a:t>Jephthah</a:t>
            </a:r>
            <a:r>
              <a:rPr lang="en-US" b="1" dirty="0" smtClean="0"/>
              <a:t>:</a:t>
            </a:r>
            <a:r>
              <a:rPr lang="en-US" dirty="0" smtClean="0"/>
              <a:t> Driven away by his half-brothers because of his mother's identity, experiencing familial rejection.</a:t>
            </a:r>
          </a:p>
          <a:p>
            <a:pPr lvl="0"/>
            <a:r>
              <a:rPr lang="en-US" b="1" u="sng" dirty="0" smtClean="0">
                <a:hlinkClick r:id="rId6"/>
              </a:rPr>
              <a:t>Jesus</a:t>
            </a:r>
            <a:r>
              <a:rPr lang="en-US" b="1" dirty="0" smtClean="0"/>
              <a:t>:</a:t>
            </a:r>
            <a:r>
              <a:rPr lang="en-US" dirty="0" smtClean="0"/>
              <a:t> As a toddler, he was forced to flee to Egypt as a refugee to escape the, Herod’s massacre of children in Bethlehem. </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Abraham and  </a:t>
            </a:r>
            <a:r>
              <a:rPr lang="en-US" b="1" dirty="0" smtClean="0"/>
              <a:t>Isaac</a:t>
            </a:r>
            <a:endParaRPr lang="en-US" b="1" dirty="0"/>
          </a:p>
        </p:txBody>
      </p:sp>
      <p:sp>
        <p:nvSpPr>
          <p:cNvPr id="3" name="Content Placeholder 2"/>
          <p:cNvSpPr>
            <a:spLocks noGrp="1"/>
          </p:cNvSpPr>
          <p:nvPr>
            <p:ph idx="1"/>
          </p:nvPr>
        </p:nvSpPr>
        <p:spPr/>
        <p:txBody>
          <a:bodyPr/>
          <a:lstStyle/>
          <a:p>
            <a:r>
              <a:rPr lang="en-US" dirty="0" smtClean="0"/>
              <a:t> He was tied to a pile of wood and almost killed by his own father. </a:t>
            </a:r>
            <a:endParaRPr lang="en-US" dirty="0" smtClean="0"/>
          </a:p>
          <a:p>
            <a:r>
              <a:rPr lang="en-US" dirty="0" smtClean="0"/>
              <a:t>Even </a:t>
            </a:r>
            <a:r>
              <a:rPr lang="en-US" dirty="0" smtClean="0"/>
              <a:t>though Abraham was seeking to be faithful to God, that experience surely left a lasting impact. </a:t>
            </a:r>
            <a:endParaRPr lang="en-US" dirty="0" smtClean="0"/>
          </a:p>
          <a:p>
            <a:r>
              <a:rPr lang="en-US" dirty="0" smtClean="0"/>
              <a:t>Imagine </a:t>
            </a:r>
            <a:r>
              <a:rPr lang="en-US" dirty="0" smtClean="0"/>
              <a:t>how Isaac must have felt the next time Abraham asked him to gather wood for a sacrifice.</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Joseph</a:t>
            </a:r>
            <a:endParaRPr lang="en-US" dirty="0"/>
          </a:p>
        </p:txBody>
      </p:sp>
      <p:sp>
        <p:nvSpPr>
          <p:cNvPr id="3" name="Content Placeholder 2"/>
          <p:cNvSpPr>
            <a:spLocks noGrp="1"/>
          </p:cNvSpPr>
          <p:nvPr>
            <p:ph idx="1"/>
          </p:nvPr>
        </p:nvSpPr>
        <p:spPr/>
        <p:txBody>
          <a:bodyPr/>
          <a:lstStyle/>
          <a:p>
            <a:r>
              <a:rPr lang="en-US" dirty="0" smtClean="0"/>
              <a:t>He </a:t>
            </a:r>
            <a:r>
              <a:rPr lang="en-US" dirty="0" smtClean="0"/>
              <a:t>was sold into slavery by his brothers, falsely accused of sexual assault, imprisoned, and all alone in a foreign land. Imagine how he must have felt the first time he saw his betrayers.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cap="all" dirty="0" smtClean="0"/>
              <a:t>women of the Bible who endured through suffering:</a:t>
            </a:r>
            <a:endParaRPr lang="en-US" dirty="0"/>
          </a:p>
        </p:txBody>
      </p:sp>
      <p:sp>
        <p:nvSpPr>
          <p:cNvPr id="3" name="Content Placeholder 2"/>
          <p:cNvSpPr>
            <a:spLocks noGrp="1"/>
          </p:cNvSpPr>
          <p:nvPr>
            <p:ph idx="1"/>
          </p:nvPr>
        </p:nvSpPr>
        <p:spPr/>
        <p:txBody>
          <a:bodyPr>
            <a:normAutofit fontScale="92500"/>
          </a:bodyPr>
          <a:lstStyle/>
          <a:p>
            <a:pPr algn="ctr">
              <a:buNone/>
            </a:pPr>
            <a:r>
              <a:rPr lang="en-US" b="1" cap="all" dirty="0" smtClean="0"/>
              <a:t>Hagar </a:t>
            </a:r>
            <a:endParaRPr lang="en-US" b="1" dirty="0" smtClean="0"/>
          </a:p>
          <a:p>
            <a:r>
              <a:rPr lang="en-US" dirty="0" smtClean="0"/>
              <a:t>Hagar is one of the most desperate accounts in the Bible. </a:t>
            </a:r>
            <a:endParaRPr lang="en-US" dirty="0" smtClean="0"/>
          </a:p>
          <a:p>
            <a:r>
              <a:rPr lang="en-US" dirty="0" smtClean="0"/>
              <a:t>Her </a:t>
            </a:r>
            <a:r>
              <a:rPr lang="en-US" dirty="0" smtClean="0"/>
              <a:t>life was hard. She was an enslaved woman without many options. </a:t>
            </a:r>
            <a:endParaRPr lang="en-US" dirty="0" smtClean="0"/>
          </a:p>
          <a:p>
            <a:r>
              <a:rPr lang="en-US" dirty="0" smtClean="0"/>
              <a:t>But </a:t>
            </a:r>
            <a:r>
              <a:rPr lang="en-US" dirty="0" smtClean="0"/>
              <a:t>God saw her and spoke to her. Remarkably, she was the first person in the Bible to use a personal name for God because, in her suffering, she realized that God saw her. </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all" dirty="0" smtClean="0"/>
              <a:t>Hannah</a:t>
            </a:r>
            <a:endParaRPr lang="en-US" b="1" dirty="0" smtClean="0"/>
          </a:p>
        </p:txBody>
      </p:sp>
      <p:sp>
        <p:nvSpPr>
          <p:cNvPr id="3" name="Content Placeholder 2"/>
          <p:cNvSpPr>
            <a:spLocks noGrp="1"/>
          </p:cNvSpPr>
          <p:nvPr>
            <p:ph idx="1"/>
          </p:nvPr>
        </p:nvSpPr>
        <p:spPr/>
        <p:txBody>
          <a:bodyPr>
            <a:normAutofit fontScale="92500" lnSpcReduction="20000"/>
          </a:bodyPr>
          <a:lstStyle/>
          <a:p>
            <a:r>
              <a:rPr lang="en-US" dirty="0" smtClean="0"/>
              <a:t>Hannah’s </a:t>
            </a:r>
            <a:r>
              <a:rPr lang="en-US" dirty="0" smtClean="0"/>
              <a:t>story always stands out </a:t>
            </a:r>
            <a:r>
              <a:rPr lang="en-US" dirty="0" smtClean="0"/>
              <a:t>because </a:t>
            </a:r>
            <a:r>
              <a:rPr lang="en-US" dirty="0" smtClean="0"/>
              <a:t>it specifically says that the Lord had closed her womb. </a:t>
            </a:r>
          </a:p>
          <a:p>
            <a:r>
              <a:rPr lang="en-US" dirty="0" smtClean="0"/>
              <a:t>God had a plan for Hannah, but for a time that plan included pain and unfulfilled dreams. </a:t>
            </a:r>
          </a:p>
          <a:p>
            <a:r>
              <a:rPr lang="en-US" dirty="0" smtClean="0"/>
              <a:t>Her story </a:t>
            </a:r>
            <a:r>
              <a:rPr lang="en-US" dirty="0" smtClean="0"/>
              <a:t>reminds </a:t>
            </a:r>
            <a:r>
              <a:rPr lang="en-US" dirty="0" smtClean="0"/>
              <a:t>of two things. First, that sometimes, God specifically brings suffering into our lives. Second, that He still welcomes our prayers. God had stopped Hannah from having children, but He still looked kindly upon her and listened to her request.</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cap="all" dirty="0" smtClean="0"/>
              <a:t>Ruth</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r>
              <a:rPr lang="en-US" dirty="0" smtClean="0"/>
              <a:t>Ruth’s </a:t>
            </a:r>
            <a:r>
              <a:rPr lang="en-US" dirty="0" smtClean="0"/>
              <a:t>struggle was primarily economic. </a:t>
            </a:r>
            <a:endParaRPr lang="en-US" dirty="0" smtClean="0"/>
          </a:p>
          <a:p>
            <a:r>
              <a:rPr lang="en-US" dirty="0" smtClean="0"/>
              <a:t>Her </a:t>
            </a:r>
            <a:r>
              <a:rPr lang="en-US" dirty="0" smtClean="0"/>
              <a:t>in-laws had moved to her country to escape famine, both their sons married, then death came to them anyways. </a:t>
            </a:r>
            <a:endParaRPr lang="en-US" dirty="0" smtClean="0"/>
          </a:p>
          <a:p>
            <a:r>
              <a:rPr lang="en-US" dirty="0" smtClean="0"/>
              <a:t>One </a:t>
            </a:r>
            <a:r>
              <a:rPr lang="en-US" dirty="0" smtClean="0"/>
              <a:t>by one, then men of the family, the only ways able to provide financially, died. </a:t>
            </a:r>
            <a:endParaRPr lang="en-US" dirty="0" smtClean="0"/>
          </a:p>
          <a:p>
            <a:r>
              <a:rPr lang="en-US" dirty="0" smtClean="0"/>
              <a:t>The </a:t>
            </a:r>
            <a:r>
              <a:rPr lang="en-US" dirty="0" smtClean="0"/>
              <a:t>women were left to fend for themselves in an unwelcoming age. </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152400"/>
            <a:ext cx="7543800" cy="685800"/>
          </a:xfrm>
        </p:spPr>
        <p:txBody>
          <a:bodyPr>
            <a:normAutofit fontScale="90000"/>
          </a:bodyPr>
          <a:lstStyle/>
          <a:p>
            <a:r>
              <a:rPr lang="en-US" b="1" cap="all" dirty="0" smtClean="0"/>
              <a:t>Esther</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Esther </a:t>
            </a:r>
            <a:r>
              <a:rPr lang="en-US" dirty="0" smtClean="0"/>
              <a:t>suffered from knowledge and position. She knew of the great genocide that was going to be carried out against her people</a:t>
            </a:r>
            <a:r>
              <a:rPr lang="en-US" dirty="0" smtClean="0"/>
              <a:t>.</a:t>
            </a:r>
          </a:p>
          <a:p>
            <a:r>
              <a:rPr lang="en-US" dirty="0" smtClean="0"/>
              <a:t> </a:t>
            </a:r>
            <a:r>
              <a:rPr lang="en-US" dirty="0" smtClean="0"/>
              <a:t>Because of her position, she was likely to be spared this suffering. </a:t>
            </a:r>
            <a:endParaRPr lang="en-US" dirty="0" smtClean="0"/>
          </a:p>
          <a:p>
            <a:r>
              <a:rPr lang="en-US" dirty="0" smtClean="0"/>
              <a:t>But </a:t>
            </a:r>
            <a:r>
              <a:rPr lang="en-US" dirty="0" smtClean="0"/>
              <a:t>advocating for her people could also have meant her execution. </a:t>
            </a:r>
          </a:p>
          <a:p>
            <a:r>
              <a:rPr lang="en-US" dirty="0" smtClean="0"/>
              <a:t>When Esther was faced with this dilemma between putting herself in harm’s way or remaining silent while those she loved were massacred, she committed herself to prayer and fasting and asked others to join her. </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cap="all" dirty="0" smtClean="0"/>
              <a:t>Mary </a:t>
            </a:r>
            <a:r>
              <a:rPr lang="en-US" b="1" dirty="0" smtClean="0"/>
              <a:t/>
            </a:r>
            <a:br>
              <a:rPr lang="en-US" b="1" dirty="0" smtClean="0"/>
            </a:br>
            <a:endParaRPr lang="en-US" dirty="0"/>
          </a:p>
        </p:txBody>
      </p:sp>
      <p:sp>
        <p:nvSpPr>
          <p:cNvPr id="3" name="Content Placeholder 2"/>
          <p:cNvSpPr>
            <a:spLocks noGrp="1"/>
          </p:cNvSpPr>
          <p:nvPr>
            <p:ph idx="1"/>
          </p:nvPr>
        </p:nvSpPr>
        <p:spPr>
          <a:xfrm>
            <a:off x="457200" y="914400"/>
            <a:ext cx="8229600" cy="5211763"/>
          </a:xfrm>
        </p:spPr>
        <p:txBody>
          <a:bodyPr>
            <a:normAutofit fontScale="77500" lnSpcReduction="20000"/>
          </a:bodyPr>
          <a:lstStyle/>
          <a:p>
            <a:r>
              <a:rPr lang="en-US" dirty="0" smtClean="0"/>
              <a:t>Mary’s </a:t>
            </a:r>
            <a:r>
              <a:rPr lang="en-US" dirty="0" smtClean="0"/>
              <a:t>life is a unique example of a bittersweet intermingling of both intense joy and deep pain. Because she was the Mother of our Lord, she had the singular joy of carrying the Jesus and raising Him. She looked God in the eye and sustained His frail, human form with her own </a:t>
            </a:r>
            <a:r>
              <a:rPr lang="en-US" dirty="0" smtClean="0"/>
              <a:t>body</a:t>
            </a:r>
          </a:p>
          <a:p>
            <a:r>
              <a:rPr lang="en-US" dirty="0" smtClean="0"/>
              <a:t> Certainly, there was joy, but Mary’s life also was marked by unique burdens and pain. The prophecy of Simeon that her soul would be pierced was evident in many ways</a:t>
            </a:r>
            <a:r>
              <a:rPr lang="en-US" dirty="0" smtClean="0"/>
              <a:t>.</a:t>
            </a:r>
            <a:endParaRPr lang="en-US" dirty="0" smtClean="0"/>
          </a:p>
          <a:p>
            <a:r>
              <a:rPr lang="en-US" i="1" dirty="0" smtClean="0"/>
              <a:t>But Mary kept all these things, pondering them in her heart. – Luke 2:19, </a:t>
            </a:r>
            <a:endParaRPr lang="en-US" dirty="0" smtClean="0"/>
          </a:p>
          <a:p>
            <a:r>
              <a:rPr lang="en-US" dirty="0" smtClean="0"/>
              <a:t>She pondered what God had done. I think this pondering, this remembering and taking to heart the good and marvelous things God had done and was doing helped strengthen her in the difficult stretches of her journey. </a:t>
            </a:r>
          </a:p>
          <a:p>
            <a:endParaRPr lang="en-US" dirty="0" smtClean="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Bathsheba</a:t>
            </a:r>
            <a:r>
              <a:rPr lang="en-US" dirty="0" smtClean="0"/>
              <a:t> </a:t>
            </a:r>
            <a:endParaRPr lang="en-US" dirty="0"/>
          </a:p>
        </p:txBody>
      </p:sp>
      <p:sp>
        <p:nvSpPr>
          <p:cNvPr id="3" name="Content Placeholder 2"/>
          <p:cNvSpPr>
            <a:spLocks noGrp="1"/>
          </p:cNvSpPr>
          <p:nvPr>
            <p:ph idx="1"/>
          </p:nvPr>
        </p:nvSpPr>
        <p:spPr/>
        <p:txBody>
          <a:bodyPr/>
          <a:lstStyle/>
          <a:p>
            <a:pPr algn="just">
              <a:buNone/>
            </a:pPr>
            <a:r>
              <a:rPr lang="en-US" dirty="0" smtClean="0"/>
              <a:t>    She </a:t>
            </a:r>
            <a:r>
              <a:rPr lang="en-US" dirty="0" smtClean="0"/>
              <a:t>was beckoned by King David, </a:t>
            </a:r>
            <a:r>
              <a:rPr lang="en-US" dirty="0" smtClean="0"/>
              <a:t>objectified, and </a:t>
            </a:r>
            <a:r>
              <a:rPr lang="en-US" dirty="0" smtClean="0"/>
              <a:t>used to satisfy his desires. She walked through an unwanted pregnancy as a widow. She suffered the loss of a child because of the sin of another. Imagine the weight of shame and grief she must have carried. </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Tamar</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Tamar </a:t>
            </a:r>
            <a:r>
              <a:rPr lang="en-US" dirty="0" smtClean="0"/>
              <a:t>experienced immediate and lasting impact from the trauma of her rape. The impact of trauma was “stored” in her embodied-soul—living the rest of her life a desolate woman (2 Samuel 13:20). </a:t>
            </a:r>
            <a:endParaRPr lang="en-US" dirty="0" smtClean="0"/>
          </a:p>
          <a:p>
            <a:r>
              <a:rPr lang="en-US" dirty="0" smtClean="0"/>
              <a:t>The </a:t>
            </a:r>
            <a:r>
              <a:rPr lang="en-US" dirty="0" smtClean="0"/>
              <a:t>Hebrew word for “desolate” portrays ongoing inner and outer responses—emotional and physical—lifeless, frozen, appalled, a condition of paralysis, utter emptiness, laid waste inside and out.</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05800" cy="792162"/>
          </a:xfrm>
        </p:spPr>
        <p:txBody>
          <a:bodyPr>
            <a:normAutofit fontScale="90000"/>
          </a:bodyPr>
          <a:lstStyle/>
          <a:p>
            <a:r>
              <a:rPr lang="en-US" b="1" dirty="0" smtClean="0"/>
              <a:t>Key Aspects of Female Trauma in the Bible</a:t>
            </a:r>
            <a:r>
              <a:rPr lang="en-US" dirty="0" smtClean="0"/>
              <a:t/>
            </a:r>
            <a:br>
              <a:rPr lang="en-US" dirty="0" smtClean="0"/>
            </a:br>
            <a:endParaRPr lang="en-US" dirty="0"/>
          </a:p>
        </p:txBody>
      </p:sp>
      <p:sp>
        <p:nvSpPr>
          <p:cNvPr id="3" name="Content Placeholder 2"/>
          <p:cNvSpPr>
            <a:spLocks noGrp="1"/>
          </p:cNvSpPr>
          <p:nvPr>
            <p:ph idx="1"/>
          </p:nvPr>
        </p:nvSpPr>
        <p:spPr>
          <a:xfrm>
            <a:off x="0" y="1295400"/>
            <a:ext cx="9144000" cy="4830763"/>
          </a:xfrm>
        </p:spPr>
        <p:txBody>
          <a:bodyPr>
            <a:normAutofit fontScale="92500" lnSpcReduction="20000"/>
          </a:bodyPr>
          <a:lstStyle/>
          <a:p>
            <a:pPr lvl="0"/>
            <a:r>
              <a:rPr lang="en-US" b="1" dirty="0" smtClean="0"/>
              <a:t>Sexual </a:t>
            </a:r>
            <a:r>
              <a:rPr lang="en-US" b="1" dirty="0" smtClean="0"/>
              <a:t>Violence and Rape:</a:t>
            </a:r>
            <a:r>
              <a:rPr lang="en-US" dirty="0" smtClean="0"/>
              <a:t> Narratives include the rape of Tamar (2 Samuel 13), Dinah (Genesis 34), and the Levite’s concubine in Judges 19.</a:t>
            </a:r>
          </a:p>
          <a:p>
            <a:pPr lvl="0"/>
            <a:r>
              <a:rPr lang="en-US" b="1" dirty="0" smtClean="0"/>
              <a:t>Domestic and Social Abuse:</a:t>
            </a:r>
            <a:r>
              <a:rPr lang="en-US" dirty="0" smtClean="0"/>
              <a:t> Women were often treated as property, resulting in abandonment, forced marriages, and, in some cases, violence against them (e.g., </a:t>
            </a:r>
            <a:r>
              <a:rPr lang="en-US" dirty="0" err="1" smtClean="0"/>
              <a:t>Jephthah’s</a:t>
            </a:r>
            <a:r>
              <a:rPr lang="en-US" dirty="0" smtClean="0"/>
              <a:t> daughter).</a:t>
            </a:r>
          </a:p>
          <a:p>
            <a:pPr lvl="0"/>
            <a:r>
              <a:rPr lang="en-US" b="1" dirty="0" smtClean="0"/>
              <a:t>Prophetic Imagery:</a:t>
            </a:r>
            <a:r>
              <a:rPr lang="en-US" dirty="0" smtClean="0"/>
              <a:t> Some prophetic books use harsh metaphors of abuse against women to illustrate Israel’s infidelity.</a:t>
            </a:r>
          </a:p>
          <a:p>
            <a:pPr lvl="0"/>
            <a:r>
              <a:rPr lang="en-US" b="1" dirty="0" smtClean="0"/>
              <a:t>Marginalization:</a:t>
            </a:r>
            <a:r>
              <a:rPr lang="en-US" dirty="0" smtClean="0"/>
              <a:t> Many stories focus on the loss of agency, with women subjected to the actions of men. </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Biblical Perspectives on Healing and Support</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pPr lvl="0"/>
            <a:r>
              <a:rPr lang="en-US" b="1" dirty="0" smtClean="0"/>
              <a:t>God’s </a:t>
            </a:r>
            <a:r>
              <a:rPr lang="en-US" b="1" dirty="0" smtClean="0"/>
              <a:t>Presence in Suffering:</a:t>
            </a:r>
            <a:r>
              <a:rPr lang="en-US" dirty="0" smtClean="0"/>
              <a:t> Despite the violence, Scripture highlights that God often hears the cries of </a:t>
            </a:r>
            <a:r>
              <a:rPr lang="en-US" dirty="0" smtClean="0"/>
              <a:t>vulnerable, </a:t>
            </a:r>
            <a:r>
              <a:rPr lang="en-US" dirty="0" smtClean="0"/>
              <a:t>acting to defend them and seek </a:t>
            </a:r>
            <a:r>
              <a:rPr lang="en-US" dirty="0" smtClean="0"/>
              <a:t>justice.</a:t>
            </a:r>
            <a:endParaRPr lang="en-US" dirty="0" smtClean="0"/>
          </a:p>
          <a:p>
            <a:pPr lvl="0"/>
            <a:r>
              <a:rPr lang="en-US" b="1" dirty="0" smtClean="0"/>
              <a:t>Divine Comfort:</a:t>
            </a:r>
            <a:r>
              <a:rPr lang="en-US" dirty="0" smtClean="0"/>
              <a:t> Stories of Hagar, Hannah, Ruth, Esther, and Mary show how women survived suffering and found God’s purpose.</a:t>
            </a:r>
          </a:p>
          <a:p>
            <a:pPr lvl="0"/>
            <a:r>
              <a:rPr lang="en-US" b="1" dirty="0" smtClean="0"/>
              <a:t>Healing Through Faith:</a:t>
            </a:r>
            <a:r>
              <a:rPr lang="en-US" dirty="0" smtClean="0"/>
              <a:t> Modern interpretations emphasize that Jesus offers comfort, validation, and healing for broken, betrayed, or hurting </a:t>
            </a:r>
            <a:r>
              <a:rPr lang="en-US" dirty="0" smtClean="0"/>
              <a:t>.</a:t>
            </a:r>
            <a:endParaRPr lang="en-US" dirty="0" smtClean="0"/>
          </a:p>
          <a:p>
            <a:pPr lvl="0"/>
            <a:r>
              <a:rPr lang="en-US" b="1" dirty="0" smtClean="0"/>
              <a:t>Hope and Redemption:</a:t>
            </a:r>
            <a:r>
              <a:rPr lang="en-US" dirty="0" smtClean="0"/>
              <a:t> The narratives, while violent, often lead to themes of redemption and God’s care for the marginalized. </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Biblical </a:t>
            </a:r>
            <a:r>
              <a:rPr lang="en-US" b="1" dirty="0" smtClean="0"/>
              <a:t>characters who went through hard times and the lessons they learned</a:t>
            </a:r>
            <a:endParaRPr lang="en-US" b="1" dirty="0"/>
          </a:p>
        </p:txBody>
      </p:sp>
      <p:sp>
        <p:nvSpPr>
          <p:cNvPr id="3" name="Content Placeholder 2"/>
          <p:cNvSpPr>
            <a:spLocks noGrp="1"/>
          </p:cNvSpPr>
          <p:nvPr>
            <p:ph idx="1"/>
          </p:nvPr>
        </p:nvSpPr>
        <p:spPr/>
        <p:txBody>
          <a:bodyPr/>
          <a:lstStyle/>
          <a:p>
            <a:r>
              <a:rPr lang="en-US" b="1" dirty="0" smtClean="0"/>
              <a:t>1. </a:t>
            </a:r>
            <a:r>
              <a:rPr lang="en-US" b="1" u="sng" dirty="0" smtClean="0">
                <a:hlinkClick r:id="rId2"/>
              </a:rPr>
              <a:t>Job</a:t>
            </a:r>
            <a:r>
              <a:rPr lang="en-US" b="1" dirty="0" smtClean="0"/>
              <a:t>: Suffering and Loss</a:t>
            </a:r>
            <a:endParaRPr lang="en-US" dirty="0" smtClean="0"/>
          </a:p>
          <a:p>
            <a:pPr lvl="0"/>
            <a:r>
              <a:rPr lang="en-US" b="1" dirty="0" smtClean="0"/>
              <a:t>The Hard Time:</a:t>
            </a:r>
            <a:r>
              <a:rPr lang="en-US" dirty="0" smtClean="0"/>
              <a:t> Lost his children, wealth, and health .</a:t>
            </a:r>
          </a:p>
          <a:p>
            <a:pPr lvl="0"/>
            <a:r>
              <a:rPr lang="en-US" b="1" dirty="0" smtClean="0"/>
              <a:t>What He Learned:</a:t>
            </a:r>
            <a:r>
              <a:rPr lang="en-US" dirty="0" smtClean="0"/>
              <a:t> Job learned to trust in God’s wisdom even in deep sorrow and confusion. </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2. </a:t>
            </a:r>
            <a:r>
              <a:rPr lang="en-US" b="1" u="sng" dirty="0" smtClean="0">
                <a:hlinkClick r:id="rId2"/>
              </a:rPr>
              <a:t>Joseph</a:t>
            </a:r>
            <a:r>
              <a:rPr lang="en-US" b="1" dirty="0" smtClean="0"/>
              <a:t>: Betrayal and Injustice</a:t>
            </a:r>
            <a:endParaRPr lang="en-US" dirty="0" smtClean="0"/>
          </a:p>
          <a:p>
            <a:pPr lvl="0"/>
            <a:r>
              <a:rPr lang="en-US" b="1" dirty="0" smtClean="0"/>
              <a:t>The Hard Time:</a:t>
            </a:r>
            <a:r>
              <a:rPr lang="en-US" dirty="0" smtClean="0"/>
              <a:t> Sold into slavery by his brothers, falsely accused of rape, and imprisoned.</a:t>
            </a:r>
          </a:p>
          <a:p>
            <a:pPr lvl="0"/>
            <a:r>
              <a:rPr lang="en-US" b="1" dirty="0" smtClean="0"/>
              <a:t>What He Learned:</a:t>
            </a:r>
            <a:r>
              <a:rPr lang="en-US" dirty="0" smtClean="0"/>
              <a:t> Joseph learned to be patient, exercise grace, and trust in God's ultimate plan, realizing that what others intended for evil, God used for good. </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b="1" dirty="0" smtClean="0"/>
              <a:t>3. </a:t>
            </a:r>
            <a:r>
              <a:rPr lang="en-US" b="1" u="sng" dirty="0" smtClean="0">
                <a:hlinkClick r:id="rId2"/>
              </a:rPr>
              <a:t>Moses</a:t>
            </a:r>
            <a:r>
              <a:rPr lang="en-US" b="1" dirty="0" smtClean="0"/>
              <a:t>: Insecurity and Leadership Struggles </a:t>
            </a:r>
            <a:endParaRPr lang="en-US" dirty="0" smtClean="0"/>
          </a:p>
          <a:p>
            <a:pPr lvl="0"/>
            <a:r>
              <a:rPr lang="en-US" b="1" dirty="0" smtClean="0"/>
              <a:t>The Hard Time:</a:t>
            </a:r>
            <a:r>
              <a:rPr lang="en-US" dirty="0" smtClean="0"/>
              <a:t> Fled for his life, faced insecurity in his calling, and endured the stubbornness of the Israelites.</a:t>
            </a:r>
          </a:p>
          <a:p>
            <a:pPr lvl="0"/>
            <a:r>
              <a:rPr lang="en-US" b="1" dirty="0" smtClean="0"/>
              <a:t>What He Learned:</a:t>
            </a:r>
            <a:r>
              <a:rPr lang="en-US" dirty="0" smtClean="0"/>
              <a:t> Moses learned to rely on God for strength rather than his own abilities. He learned that God is a provider, a protector, and to stand still and let the Lord fight his battles. </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4. </a:t>
            </a:r>
            <a:r>
              <a:rPr lang="en-US" b="1" u="sng" dirty="0" smtClean="0">
                <a:hlinkClick r:id="rId2"/>
              </a:rPr>
              <a:t>Elijah</a:t>
            </a:r>
            <a:r>
              <a:rPr lang="en-US" b="1" dirty="0" smtClean="0"/>
              <a:t>: Burnout and Fear </a:t>
            </a:r>
            <a:endParaRPr lang="en-US" dirty="0" smtClean="0"/>
          </a:p>
          <a:p>
            <a:pPr lvl="0"/>
            <a:r>
              <a:rPr lang="en-US" b="1" dirty="0" smtClean="0"/>
              <a:t>The Hard Time:</a:t>
            </a:r>
            <a:r>
              <a:rPr lang="en-US" dirty="0" smtClean="0"/>
              <a:t> Suffered from depression, fear, and exhaustion after being threatened by Queen Jezebel.</a:t>
            </a:r>
          </a:p>
          <a:p>
            <a:pPr lvl="0"/>
            <a:r>
              <a:rPr lang="en-US" b="1" dirty="0" smtClean="0"/>
              <a:t>What He Learned:</a:t>
            </a:r>
            <a:r>
              <a:rPr lang="en-US" dirty="0" smtClean="0"/>
              <a:t> God taught Elijah that it is okay to rest and that God is the ultimate sustainer, providing for him in the darkest places. </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5. </a:t>
            </a:r>
            <a:r>
              <a:rPr lang="en-US" b="1" u="sng" dirty="0" smtClean="0">
                <a:hlinkClick r:id="rId2"/>
              </a:rPr>
              <a:t>Hannah</a:t>
            </a:r>
            <a:r>
              <a:rPr lang="en-US" b="1" dirty="0" smtClean="0"/>
              <a:t>: Infertility and Emotional Pain </a:t>
            </a:r>
            <a:endParaRPr lang="en-US" dirty="0" smtClean="0"/>
          </a:p>
          <a:p>
            <a:pPr lvl="0"/>
            <a:r>
              <a:rPr lang="en-US" b="1" dirty="0" smtClean="0"/>
              <a:t>The Hard Time:</a:t>
            </a:r>
            <a:r>
              <a:rPr lang="en-US" dirty="0" smtClean="0"/>
              <a:t> Endured infertility and mocking from her husband’s other wife.</a:t>
            </a:r>
          </a:p>
          <a:p>
            <a:pPr lvl="0"/>
            <a:r>
              <a:rPr lang="en-US" b="1" dirty="0" smtClean="0"/>
              <a:t>What He Learned:</a:t>
            </a:r>
            <a:r>
              <a:rPr lang="en-US" dirty="0" smtClean="0"/>
              <a:t> She learned to pour her heart out to God, finding comfort in Him rather than wallowing in negative emotions. </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6. </a:t>
            </a:r>
            <a:r>
              <a:rPr lang="en-US" b="1" u="sng" dirty="0" smtClean="0">
                <a:hlinkClick r:id="rId2"/>
              </a:rPr>
              <a:t>Jeremiah</a:t>
            </a:r>
            <a:r>
              <a:rPr lang="en-US" b="1" dirty="0" smtClean="0"/>
              <a:t>: Loneliness and Rejection </a:t>
            </a:r>
            <a:endParaRPr lang="en-US" dirty="0" smtClean="0"/>
          </a:p>
          <a:p>
            <a:pPr lvl="0"/>
            <a:r>
              <a:rPr lang="en-US" b="1" dirty="0" smtClean="0"/>
              <a:t>The Hard Time:</a:t>
            </a:r>
            <a:r>
              <a:rPr lang="en-US" dirty="0" smtClean="0"/>
              <a:t> Called to preach a message that no one wanted to hear, leading to isolation and persecution.</a:t>
            </a:r>
          </a:p>
          <a:p>
            <a:pPr lvl="0"/>
            <a:r>
              <a:rPr lang="en-US" b="1" dirty="0" smtClean="0"/>
              <a:t>What He Learned:</a:t>
            </a:r>
            <a:r>
              <a:rPr lang="en-US" dirty="0" smtClean="0"/>
              <a:t> Jeremiah learned that obedience to God is more important than popularity and that God is a constant source of strength. </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7. </a:t>
            </a:r>
            <a:r>
              <a:rPr lang="en-US" b="1" u="sng" dirty="0" smtClean="0">
                <a:hlinkClick r:id="rId2"/>
              </a:rPr>
              <a:t>Sarah</a:t>
            </a:r>
            <a:r>
              <a:rPr lang="en-US" b="1" dirty="0" smtClean="0"/>
              <a:t>: Doubt and Impatience </a:t>
            </a:r>
            <a:endParaRPr lang="en-US" dirty="0" smtClean="0"/>
          </a:p>
          <a:p>
            <a:pPr lvl="0"/>
            <a:r>
              <a:rPr lang="en-US" b="1" dirty="0" smtClean="0"/>
              <a:t>The Hard Time:</a:t>
            </a:r>
            <a:r>
              <a:rPr lang="en-US" dirty="0" smtClean="0"/>
              <a:t> Waited decades for the promise of a child, leading to doubt.</a:t>
            </a:r>
          </a:p>
          <a:p>
            <a:pPr lvl="0"/>
            <a:r>
              <a:rPr lang="en-US" b="1" dirty="0" smtClean="0"/>
              <a:t>What He Learned:</a:t>
            </a:r>
            <a:r>
              <a:rPr lang="en-US" dirty="0" smtClean="0"/>
              <a:t> Sarah learned that God's timing is perfect and that taking matters into her own hands only caused more pain, teaching her to trust in God's faithfulness. </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8. </a:t>
            </a:r>
            <a:r>
              <a:rPr lang="en-US" b="1" u="sng" dirty="0" smtClean="0">
                <a:hlinkClick r:id="rId2"/>
              </a:rPr>
              <a:t>Paul</a:t>
            </a:r>
            <a:r>
              <a:rPr lang="en-US" b="1" dirty="0" smtClean="0"/>
              <a:t>: Physical and Emotional Suffering </a:t>
            </a:r>
            <a:endParaRPr lang="en-US" dirty="0" smtClean="0"/>
          </a:p>
          <a:p>
            <a:pPr lvl="0"/>
            <a:r>
              <a:rPr lang="en-US" b="1" dirty="0" smtClean="0"/>
              <a:t>The Hard Time:</a:t>
            </a:r>
            <a:r>
              <a:rPr lang="en-US" dirty="0" smtClean="0"/>
              <a:t> Experienced shipwrecks, beatings, imprisonment, and a "thorn in the flesh".</a:t>
            </a:r>
          </a:p>
          <a:p>
            <a:pPr lvl="0"/>
            <a:r>
              <a:rPr lang="en-US" b="1" dirty="0" smtClean="0"/>
              <a:t>What He Learned:</a:t>
            </a:r>
            <a:r>
              <a:rPr lang="en-US" dirty="0" smtClean="0"/>
              <a:t> Paul learned that God's grace is sufficient and that His power is made perfect in human weakness. </a:t>
            </a:r>
            <a:endParaRPr lang="en-US" smtClean="0"/>
          </a:p>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TotalTime>
  <Words>526</Words>
  <Application>Microsoft Office PowerPoint</Application>
  <PresentationFormat>On-screen Show (4:3)</PresentationFormat>
  <Paragraphs>81</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Trauma From A Biblical Perspectives </vt:lpstr>
      <vt:lpstr>Slide 2</vt:lpstr>
      <vt:lpstr>Slide 3</vt:lpstr>
      <vt:lpstr>Slide 4</vt:lpstr>
      <vt:lpstr>Examples of Childhood/Early Life Trauma in the Bible </vt:lpstr>
      <vt:lpstr>Abraham and  Isaac</vt:lpstr>
      <vt:lpstr>Joseph</vt:lpstr>
      <vt:lpstr>women of the Bible who endured through suffering:</vt:lpstr>
      <vt:lpstr>Hannah</vt:lpstr>
      <vt:lpstr>Ruth </vt:lpstr>
      <vt:lpstr>Esther </vt:lpstr>
      <vt:lpstr>Mary  </vt:lpstr>
      <vt:lpstr>Bathsheba </vt:lpstr>
      <vt:lpstr>Tamar</vt:lpstr>
      <vt:lpstr>Key Aspects of Female Trauma in the Bible </vt:lpstr>
      <vt:lpstr>Biblical Perspectives on Healing and Support </vt:lpstr>
      <vt:lpstr>Biblical characters who went through hard times and the lessons they learned</vt:lpstr>
      <vt:lpstr>Slide 18</vt:lpstr>
      <vt:lpstr>Slide 19</vt:lpstr>
      <vt:lpstr>Slide 20</vt:lpstr>
      <vt:lpstr>Slide 21</vt:lpstr>
      <vt:lpstr>Slide 22</vt:lpstr>
      <vt:lpstr>Slide 23</vt:lpstr>
      <vt:lpstr>Slide 24</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 From A Biblical Perspectives </dc:title>
  <dc:creator>JOHN</dc:creator>
  <cp:lastModifiedBy>JOHN</cp:lastModifiedBy>
  <cp:revision>16</cp:revision>
  <dcterms:created xsi:type="dcterms:W3CDTF">2006-08-16T00:00:00Z</dcterms:created>
  <dcterms:modified xsi:type="dcterms:W3CDTF">2026-01-31T05:38:19Z</dcterms:modified>
</cp:coreProperties>
</file>